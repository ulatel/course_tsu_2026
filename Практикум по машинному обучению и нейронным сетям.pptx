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3" name="Ульяна Ларионова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5E1284-0C6D-492B-91D2-5580E3AB36BF}">
  <a:tblStyle styleId="{D45E1284-0C6D-492B-91D2-5580E3AB36B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35D448D-0B1D-4F9C-8593-2ADDCC5D963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commentAuthors" Target="commentAuthors.xml"/><Relationship Id="rId19" Type="http://schemas.openxmlformats.org/officeDocument/2006/relationships/font" Target="fonts/Roboto-boldItalic.fntdata"/><Relationship Id="rId6" Type="http://schemas.openxmlformats.org/officeDocument/2006/relationships/slideMaster" Target="slideMasters/slideMaster1.xml"/><Relationship Id="rId18" Type="http://schemas.openxmlformats.org/officeDocument/2006/relationships/font" Target="fonts/Roboto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2-25T03:04:13.419">
    <p:pos x="170" y="510"/>
    <p:text>могут ходить на консультацию на пару любой группы</p:text>
  </p:cm>
  <p:cm authorId="0" idx="2" dt="2025-12-25T08:03:39.133">
    <p:pos x="170" y="610"/>
    <p:text>в начале модуля публикуется запись на сдачу с ограниченным кол-вом команд на сдачу за пару, например не более 3 команд за пару. Так студенты заранее запланируют дедлайны для себя</p:text>
  </p:cm>
  <p:cm authorId="0" idx="3" dt="2025-12-25T03:08:13.351">
    <p:pos x="170" y="710"/>
    <p:text>теоретическая часть - научная статья или отредактированный мной текст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38da7d3d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38da7d3d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38da7d3d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38da7d3d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38da7d3d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38da7d3d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38da7d3d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38da7d3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38da7d3d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38da7d3d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38da7d3df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38da7d3df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38da7d3df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38da7d3df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1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kaggle.com/competitions/higgs-spring-2024/overview" TargetMode="External"/><Relationship Id="rId4" Type="http://schemas.openxmlformats.org/officeDocument/2006/relationships/hyperlink" Target="https://www.kaggle.com/competitions/flavours-of-physics/overview" TargetMode="External"/><Relationship Id="rId5" Type="http://schemas.openxmlformats.org/officeDocument/2006/relationships/hyperlink" Target="https://www.kaggle.com/datasets/cboychinedu/hole-deviation" TargetMode="External"/><Relationship Id="rId6" Type="http://schemas.openxmlformats.org/officeDocument/2006/relationships/hyperlink" Target="https://www.kaggle.com/datasets/cboychinedu/hole-deviation" TargetMode="External"/><Relationship Id="rId7" Type="http://schemas.openxmlformats.org/officeDocument/2006/relationships/hyperlink" Target="https://www.kaggle.com/datasets/cboychinedu/hole-deviation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kaggle.com/datasets/patrickfleith/nasa-battery-dataset/data" TargetMode="External"/><Relationship Id="rId4" Type="http://schemas.openxmlformats.org/officeDocument/2006/relationships/hyperlink" Target="https://www.kaggle.com/competitions/understanding_cloud_organization" TargetMode="External"/><Relationship Id="rId5" Type="http://schemas.openxmlformats.org/officeDocument/2006/relationships/hyperlink" Target="https://www.kaggle.com/competitions/understanding_cloud_organization" TargetMode="External"/><Relationship Id="rId6" Type="http://schemas.openxmlformats.org/officeDocument/2006/relationships/hyperlink" Target="https://github.com/MenshikovDmitry/TSU_AI_Course/blob/main/module_2.%20Object%20detection%20and%20segmentation/README.md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Практикум по машинному обучению и нейронным сетям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Программа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254000" y="176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Ключевые образовательные результаты. 1 семестр.</a:t>
            </a:r>
            <a:endParaRPr/>
          </a:p>
        </p:txBody>
      </p:sp>
      <p:graphicFrame>
        <p:nvGraphicFramePr>
          <p:cNvPr id="61" name="Google Shape;61;p14"/>
          <p:cNvGraphicFramePr/>
          <p:nvPr/>
        </p:nvGraphicFramePr>
        <p:xfrm>
          <a:off x="254000" y="749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{D45E1284-0C6D-492B-91D2-5580E3AB36BF}</a:tableStyleId>
              </a:tblPr>
              <a:tblGrid>
                <a:gridCol w="666750"/>
                <a:gridCol w="2743200"/>
                <a:gridCol w="4072925"/>
                <a:gridCol w="11202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знают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умеют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понимают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модуль 1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Базовая терминология. </a:t>
                      </a: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Типы задач машинного обучения (классификация, регрессия и др.).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Общий процесс (pipeline) обучения модели: постановка задачи, подготовка данных, выбор и обучение модели, применение.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Проводить разведочный анализ данных (EDA).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Выполнять первичную обработку и feature engineering.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Обучать простую модель для решения задачи классификации.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Оценивать модель с помощью стандартных метрик.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8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модуль 2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Основные показатели качества данных (точность, полнота, </a:t>
                      </a: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согласованность</a:t>
                      </a: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своевременность)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Принцип работы и постановку задачи регрессии.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Понятия гиперпараметров и переобучения/недообучения.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Строить и валидировать регрессионные модели.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Реализовывать градиентный спуск для линейной регрессии "с нуля".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Подбирать гиперпараметры модели.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Интерпретировать результаты обучения регрессионной модели.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</a:t>
                      </a: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птимизация функции потерь через градиентный спуск.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модуль 3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Принципы построения ансамблевых моделей (бэггинг, бустинг).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Особенности применения ML для задач в предметной области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Применять алгоритмы машинного обучения к задачам классификации в физике. Использовать популярные ансамблевые модели (например, XGBoost, Random Forest). Обучать модели на несбалансированных данных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как работает бустинг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модуль 4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Что такое нейронные сети и многослойный перцептрон.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Базовые принципы работы нейросетей (функция активации, прямой проход).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Ключевые задачи, решаемые нейросетями.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Применять простейшие модели нейронных сетей.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Работать c PyTorch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Реализовывать архитектуру перцептрона.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Использовать нейросеть для решения задачи классификации изображений (MNIST) или регрессии.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работа простейшего перцептрона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254000" y="176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Ключевые образовательные результаты. 2 семестр.</a:t>
            </a:r>
            <a:endParaRPr/>
          </a:p>
        </p:txBody>
      </p:sp>
      <p:graphicFrame>
        <p:nvGraphicFramePr>
          <p:cNvPr id="67" name="Google Shape;67;p15"/>
          <p:cNvGraphicFramePr/>
          <p:nvPr/>
        </p:nvGraphicFramePr>
        <p:xfrm>
          <a:off x="254000" y="749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{D45E1284-0C6D-492B-91D2-5580E3AB36BF}</a:tableStyleId>
              </a:tblPr>
              <a:tblGrid>
                <a:gridCol w="666750"/>
                <a:gridCol w="2170025"/>
                <a:gridCol w="4174000"/>
                <a:gridCol w="16176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знают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умеют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понимают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модуль 5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Архитектуру нейронной сети на основе её текстового описания.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Модифицировать расчет функции потерь для учета соответствия предсказаний законам физики.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Применять Physics-Informed Neural Networks для решения прикладных инженерных или научных задач.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Как рассчитывается функция потерь (loss) в нейросетях.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8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модуль 6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Основы аугментации данных.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Размечать данные для задач компьютерного зрения.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Дообучать готовые сложные архитектуры (например, YOLO) под конкретную задачу.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Применять методы аугментации данных.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Принципы дообучения (fine-tuning) масштабных предобученных моделей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модуль 7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Критерии выбора семейства моделей под задачу.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Подбор оптимальной метрики для оценки своей задачи.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как подойти к решению задачи в своей области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Самостоятельно ставить задачу машинного обучения в рамках предметной области.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Определять подходящее семейство моделей (среди нейросетей или классического ML).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Полностью реализовывать pipeline: от данных до выбора, обучения и применения модели.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модуль 8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Назначение и области применения современных архитектур: Transformer, GAN, GNN, Autoencoders.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Применять готовые реализации сложных архитектур для решения нетривиальных задач (кластеризация текстов, классификация с помощью энкодеров и т.д.).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7375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Формат</a:t>
            </a:r>
            <a:endParaRPr/>
          </a:p>
        </p:txBody>
      </p:sp>
      <p:sp>
        <p:nvSpPr>
          <p:cNvPr id="73" name="Google Shape;73;p16"/>
          <p:cNvSpPr txBox="1"/>
          <p:nvPr/>
        </p:nvSpPr>
        <p:spPr>
          <a:xfrm>
            <a:off x="271350" y="811150"/>
            <a:ext cx="8601300" cy="43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Формат курса: проектное обучение через Kaggle-соревнования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Курс разбит на 8 модулей. В каждом модуле: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AutoNum type="arabicPeriod"/>
            </a:pPr>
            <a:r>
              <a:rPr lang="ru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Публикация </a:t>
            </a:r>
            <a:r>
              <a:rPr lang="ru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материала: </a:t>
            </a:r>
            <a:r>
              <a:rPr lang="ru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теоретическая часть</a:t>
            </a:r>
            <a:r>
              <a:rPr lang="ru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и задание.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AutoNum type="arabicPeriod"/>
            </a:pPr>
            <a:r>
              <a:rPr lang="ru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Вводная лекцию по теории + разбор задания.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AutoNum type="arabicPeriod"/>
            </a:pPr>
            <a:r>
              <a:rPr lang="ru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Работа в команде (3-4 человека) над реализацией проекта — соревнования на Kaggle.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AutoNum type="arabicPeriod"/>
            </a:pPr>
            <a:r>
              <a:rPr lang="ru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Посещение консультаций (</a:t>
            </a:r>
            <a:r>
              <a:rPr lang="ru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3 в неделю, по желанию</a:t>
            </a:r>
            <a:r>
              <a:rPr lang="ru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) для помощи. </a:t>
            </a:r>
            <a:r>
              <a:rPr lang="ru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Обязательно показать прогресс команды минимум 2 раза до КТ.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AutoNum type="arabicPeriod"/>
            </a:pPr>
            <a:r>
              <a:rPr lang="ru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Отправка </a:t>
            </a:r>
            <a:r>
              <a:rPr lang="ru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итогового</a:t>
            </a:r>
            <a:r>
              <a:rPr lang="ru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Jupyter notebook в конце модуля. Все работы проверяются через антиплагиат.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Контрольная точка: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Проходит командой.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Команда рассказывает о своей реализации, вопросы от принимающего по реализации к каждому члену команды.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Итоговая оценка за модуль = сумма баллов за: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AutoNum type="arabicPeriod"/>
            </a:pPr>
            <a:r>
              <a:rPr lang="ru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Баллы за сдачу ноутбука (качество кода, понимание) (максимум 50 баллов).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AutoNum type="arabicPeriod"/>
            </a:pPr>
            <a:r>
              <a:rPr lang="ru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Баллы за результат в соревновании Kaggle (достижение порога по метрике)</a:t>
            </a:r>
            <a:r>
              <a:rPr lang="ru" sz="1200">
                <a:solidFill>
                  <a:srgbClr val="0F111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(максимум 50 баллов)</a:t>
            </a:r>
            <a:r>
              <a:rPr lang="ru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Итоговая оценка за семестр — средняя арифметическая оценок за все 4 модуля.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74750" y="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Программа. 1 семестр</a:t>
            </a:r>
            <a:endParaRPr/>
          </a:p>
        </p:txBody>
      </p:sp>
      <p:graphicFrame>
        <p:nvGraphicFramePr>
          <p:cNvPr id="79" name="Google Shape;79;p17"/>
          <p:cNvGraphicFramePr/>
          <p:nvPr/>
        </p:nvGraphicFramePr>
        <p:xfrm>
          <a:off x="65175" y="632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{A35D448D-0B1D-4F9C-8593-2ADDCC5D9639}</a:tableStyleId>
              </a:tblPr>
              <a:tblGrid>
                <a:gridCol w="972250"/>
                <a:gridCol w="1840750"/>
                <a:gridCol w="2022800"/>
                <a:gridCol w="1892100"/>
                <a:gridCol w="19854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модуль 1, </a:t>
                      </a: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Введение в ML.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модуль 2, </a:t>
                      </a: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Регрессия и градиентный спуск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модуль 3, </a:t>
                      </a: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Ансамбль. Задача классификации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модуль 4, </a:t>
                      </a: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введение в нейросети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Ключевые образовательные результаты (кратко)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Знают, умеют общий процесс обучения модели (постановка задачи, подготовка данных, обучение модели, применение)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Умеют строить и валидировать регрессионные модели, понимают принцип оптимизации через градиентный спуск, умеют подбирать гиперпараметры, умеют интерпретировать результат обучения модели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Понимают принципы построения ансамблей, умеют использовать ансамблиевые модели при решении задач, умеют применять алгоритмы ML для задач в области физики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знают, что такое нейронные сети, умеют применять, понимают базовые принципы работы нейросетей. Умеют применть простейшие модели нейронных сетей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Проект (Kaggle)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соревнование Kaggel. Задача классификации, titanic (выжил, не выжил)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Прогнозирование стоимости домов.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uFill>
                            <a:noFill/>
                          </a:uFill>
                          <a:latin typeface="Calibri"/>
                          <a:ea typeface="Calibri"/>
                          <a:cs typeface="Calibri"/>
                          <a:sym typeface="Calibri"/>
                          <a:hlinkClick r:id="rId3"/>
                        </a:rPr>
                        <a:t>прогнозирование Бозона Хиггса </a:t>
                      </a: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или </a:t>
                      </a:r>
                      <a:r>
                        <a:rPr lang="ru" sz="1000">
                          <a:uFill>
                            <a:noFill/>
                          </a:uFill>
                          <a:latin typeface="Calibri"/>
                          <a:ea typeface="Calibri"/>
                          <a:cs typeface="Calibri"/>
                          <a:sym typeface="Calibri"/>
                          <a:hlinkClick r:id="rId4"/>
                        </a:rPr>
                        <a:t>поиск редких частиц 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Классифицировать цифры (Датасет с рукописными цифрами MNIST) или </a:t>
                      </a:r>
                      <a:r>
                        <a:rPr lang="ru" sz="1000">
                          <a:uFill>
                            <a:noFill/>
                          </a:uFill>
                          <a:latin typeface="Calibri"/>
                          <a:ea typeface="Calibri"/>
                          <a:cs typeface="Calibri"/>
                          <a:sym typeface="Calibri"/>
                          <a:hlinkClick r:id="rId5"/>
                        </a:rPr>
                        <a:t>на основе геофизических параметров </a:t>
                      </a:r>
                      <a:r>
                        <a:rPr lang="ru" sz="1000">
                          <a:uFill>
                            <a:noFill/>
                          </a:uFill>
                          <a:latin typeface="Calibri"/>
                          <a:ea typeface="Calibri"/>
                          <a:cs typeface="Calibri"/>
                          <a:sym typeface="Calibri"/>
                          <a:hlinkClick r:id="rId6"/>
                        </a:rPr>
                        <a:t>на заданной глубине </a:t>
                      </a:r>
                      <a:r>
                        <a:rPr lang="ru" sz="1000">
                          <a:uFill>
                            <a:noFill/>
                          </a:uFill>
                          <a:latin typeface="Calibri"/>
                          <a:ea typeface="Calibri"/>
                          <a:cs typeface="Calibri"/>
                          <a:sym typeface="Calibri"/>
                          <a:hlinkClick r:id="rId7"/>
                        </a:rPr>
                        <a:t>предсказать вероятность отклонения бурового долота от нормы</a:t>
                      </a: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материалы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Лекция: что такое ml, какие </a:t>
                      </a: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бывают </a:t>
                      </a: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задачи, общий процесс обучения модели. Шаблон юпитер ноутбука с разбором синтаксиса и шаблоном пайплайна обучения.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Лекция: постановка задачи регресси. Как проходит процесс обучения. Минимизация ошибки через градиентный спуск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Теор. текст: как работает градиентный спуск, обучение регрессии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Лекция: принцип работы ансамблей, виды ансамблей.</a:t>
                      </a:r>
                      <a:b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Статья: как работает бустинг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Шаблон юпитер ноутбука с пояснениями по предобработке данных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Лекция: введение в нейросети, задачи, решаемые нейросетями, обучение нейронных сетей.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Ноутбук с разбором синтаксиса torch.</a:t>
                      </a:r>
                      <a:b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Статья: архитектура многослойного перцептрона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T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74750" y="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Программа. </a:t>
            </a:r>
            <a:r>
              <a:rPr lang="ru"/>
              <a:t>2 семестр</a:t>
            </a:r>
            <a:endParaRPr/>
          </a:p>
        </p:txBody>
      </p:sp>
      <p:graphicFrame>
        <p:nvGraphicFramePr>
          <p:cNvPr id="85" name="Google Shape;85;p18"/>
          <p:cNvGraphicFramePr/>
          <p:nvPr/>
        </p:nvGraphicFramePr>
        <p:xfrm>
          <a:off x="52625" y="64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{A35D448D-0B1D-4F9C-8593-2ADDCC5D9639}</a:tableStyleId>
              </a:tblPr>
              <a:tblGrid>
                <a:gridCol w="801750"/>
                <a:gridCol w="2011250"/>
                <a:gridCol w="2022800"/>
                <a:gridCol w="1892100"/>
                <a:gridCol w="19854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Модуль 5. </a:t>
                      </a: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Physics-Informed Neural Networks (PINNs)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Модуль 6. </a:t>
                      </a: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Работа с крупными моделями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Модуль 7. </a:t>
                      </a: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Свободное решение задачи нейросетями или классическим ML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Модуль 8. </a:t>
                      </a: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Сложные архитектуры нейронных сетей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Ключевые образовательные результаты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(кратко)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Понимают, как происходит расчет loss. Умеют модифицировать расчет loss для учитывания соответсвия предсказания законам физики. Умеют разобраться в архитектуре NN по ее текстовому описанию. Умеют применять PINN для прикладных задач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Умеют размечать данные, умеют дообучать масштабные модели, умеют применять готовые архитектуры на задачах, умеют аугментировать данные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Умеют сами поставить задачу, определить семейство модели, подобрать модель, применить на практике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Знают про модели, такие как Transformer, GAN, GNN, Autoencoders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Проект (Kaggle)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"/>
                        </a:rPr>
                        <a:t>Прогнозирование оставшегося времени заряда литьевой батареии </a:t>
                      </a:r>
                      <a:endParaRPr sz="10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Дообучить YOLO + обучить свою NN, например, UNet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4"/>
                        </a:rPr>
                        <a:t>Классификация типов облаков  </a:t>
                      </a:r>
                      <a:endParaRPr sz="10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  <a:hlinkClick r:id="rId5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Либо, </a:t>
                      </a:r>
                      <a:r>
                        <a:rPr lang="ru" sz="10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6"/>
                        </a:rPr>
                        <a:t>детекция брака на конвейере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проект в области студентов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Кластеризация текстов с помощью обученых Encoder для LLM,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либо классификация текстов с разметкой или оценкой с помощью LLM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либо еще один проект в области студентов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материалы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Лекция: подробнее про обучение nn, как считается loss, как его можно модифицировать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Статья про PINN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Лекция: принципы дообучения моделей</a:t>
                      </a: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Архитектура UNet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Лекция про передовые архитектуры моделей.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Необходимые знания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83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ru"/>
              <a:t>Линейная алгебра: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ru"/>
              <a:t>Векторы и матрицы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ru"/>
              <a:t>Собственные значения и собственные векторы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ru"/>
              <a:t>Транспонирование и обращение матрицы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ru"/>
              <a:t>Умножение матриц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ru"/>
              <a:t>Математический анализ: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ru"/>
              <a:t>Что такое производная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ru"/>
              <a:t>Дифференцирование (предел, непрерывность и частные производные)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ru"/>
              <a:t>Максимумы и минимумы функции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ru"/>
              <a:t>градиент функции, градиентный спуск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ru"/>
              <a:t>Дифференцирование сложной функции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ru"/>
              <a:t>Теория вероятностей и статистика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ru"/>
              <a:t>Распределения вероятностей (нормальное, биномиальное, Стьюдента и т. д.)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ru"/>
              <a:t>Описательная статистика (среднее значение, медиана, стандартное отклонение)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ru"/>
              <a:t>Проверка гипотез (нулевая гипотеза, p-значение)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ru"/>
              <a:t>Условная вероятность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ru"/>
              <a:t>Корреляция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ru"/>
              <a:t>Программирование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ru"/>
              <a:t> Базовый синтаксис Python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ru"/>
              <a:t>Основы алгоритмов и структур данных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ru"/>
              <a:t>Soft skills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ru"/>
              <a:t>командная работа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