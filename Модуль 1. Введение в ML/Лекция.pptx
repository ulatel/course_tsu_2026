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y="6858000" cx="12192000"/>
  <p:notesSz cx="6858000" cy="9144000"/>
  <p:embeddedFontLst>
    <p:embeddedFont>
      <p:font typeface="IBM Plex Sans"/>
      <p:regular r:id="rId85"/>
      <p:bold r:id="rId86"/>
      <p:italic r:id="rId87"/>
      <p:boldItalic r:id="rId88"/>
    </p:embeddedFont>
    <p:embeddedFont>
      <p:font typeface="Montserrat SemiBold"/>
      <p:regular r:id="rId89"/>
      <p:bold r:id="rId90"/>
      <p:italic r:id="rId91"/>
      <p:boldItalic r:id="rId92"/>
    </p:embeddedFont>
    <p:embeddedFont>
      <p:font typeface="Roboto"/>
      <p:regular r:id="rId93"/>
      <p:bold r:id="rId94"/>
      <p:italic r:id="rId95"/>
      <p:boldItalic r:id="rId96"/>
    </p:embeddedFont>
    <p:embeddedFont>
      <p:font typeface="Proxima Nova"/>
      <p:regular r:id="rId97"/>
      <p:bold r:id="rId98"/>
      <p:italic r:id="rId99"/>
      <p:boldItalic r:id="rId100"/>
    </p:embeddedFont>
    <p:embeddedFont>
      <p:font typeface="Nunito"/>
      <p:regular r:id="rId101"/>
      <p:bold r:id="rId102"/>
      <p:italic r:id="rId103"/>
      <p:boldItalic r:id="rId104"/>
    </p:embeddedFont>
    <p:embeddedFont>
      <p:font typeface="Roboto Mono"/>
      <p:regular r:id="rId105"/>
      <p:bold r:id="rId106"/>
      <p:italic r:id="rId107"/>
      <p:boldItalic r:id="rId108"/>
    </p:embeddedFont>
    <p:embeddedFont>
      <p:font typeface="IBM Plex Sans SemiBold"/>
      <p:regular r:id="rId109"/>
      <p:bold r:id="rId110"/>
      <p:italic r:id="rId111"/>
      <p:boldItalic r:id="rId1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26">
          <p15:clr>
            <a:srgbClr val="A4A3A4"/>
          </p15:clr>
        </p15:guide>
        <p15:guide id="2" pos="665">
          <p15:clr>
            <a:srgbClr val="A4A3A4"/>
          </p15:clr>
        </p15:guide>
      </p15:sldGuideLst>
    </p:ext>
    <p:ext uri="GoogleSlidesCustomDataVersion2">
      <go:slidesCustomData xmlns:go="http://customooxmlschemas.google.com/" r:id="rId113" roundtripDataSignature="AMtx7mieMakUvhOChR7n+/23fPooxqTP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B0E0E1-4E68-4C5C-ACD4-11C2C6A234C4}">
  <a:tblStyle styleId="{A9B0E0E1-4E68-4C5C-ACD4-11C2C6A234C4}" styleName="Table_0">
    <a:wholeTbl>
      <a:tcTxStyle b="off" i="off">
        <a:font>
          <a:latin typeface="Arial"/>
          <a:ea typeface="Arial"/>
          <a:cs typeface="Arial"/>
        </a:font>
        <a:srgbClr val="15110E"/>
      </a:tcTxStyle>
      <a:tcStyle>
        <a:tcBdr>
          <a:left>
            <a:ln cap="flat" cmpd="sng" w="9525">
              <a:solidFill>
                <a:srgbClr val="135669"/>
              </a:solidFill>
              <a:prstDash val="solid"/>
              <a:round/>
              <a:headEnd len="sm" w="sm" type="none"/>
              <a:tailEnd len="sm" w="sm" type="none"/>
            </a:ln>
          </a:left>
          <a:right>
            <a:ln cap="flat" cmpd="sng" w="9525">
              <a:solidFill>
                <a:srgbClr val="135669"/>
              </a:solidFill>
              <a:prstDash val="solid"/>
              <a:round/>
              <a:headEnd len="sm" w="sm" type="none"/>
              <a:tailEnd len="sm" w="sm" type="none"/>
            </a:ln>
          </a:right>
          <a:top>
            <a:ln cap="flat" cmpd="sng" w="9525">
              <a:solidFill>
                <a:srgbClr val="135669"/>
              </a:solidFill>
              <a:prstDash val="solid"/>
              <a:round/>
              <a:headEnd len="sm" w="sm" type="none"/>
              <a:tailEnd len="sm" w="sm" type="none"/>
            </a:ln>
          </a:top>
          <a:bottom>
            <a:ln cap="flat" cmpd="sng" w="9525">
              <a:solidFill>
                <a:srgbClr val="135669"/>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tcBdr>
          <a:top>
            <a:ln cap="flat" cmpd="sng" w="9525">
              <a:solidFill>
                <a:srgbClr val="135669"/>
              </a:solidFill>
              <a:prstDash val="solid"/>
              <a:round/>
              <a:headEnd len="sm" w="sm" type="none"/>
              <a:tailEnd len="sm" w="sm" type="none"/>
            </a:ln>
          </a:top>
          <a:bottom>
            <a:ln cap="flat" cmpd="sng" w="9525">
              <a:solidFill>
                <a:srgbClr val="135669"/>
              </a:solidFill>
              <a:prstDash val="solid"/>
              <a:round/>
              <a:headEnd len="sm" w="sm" type="none"/>
              <a:tailEnd len="sm" w="sm" type="none"/>
            </a:ln>
          </a:bottom>
        </a:tcBdr>
      </a:tcStyle>
    </a:band1H>
    <a:band2H>
      <a:tcTxStyle b="off" i="off"/>
    </a:band2H>
    <a:band1V>
      <a:tcTxStyle b="off" i="off"/>
      <a:tcStyle>
        <a:tcBdr>
          <a:left>
            <a:ln cap="flat" cmpd="sng" w="9525">
              <a:solidFill>
                <a:srgbClr val="135669"/>
              </a:solidFill>
              <a:prstDash val="solid"/>
              <a:round/>
              <a:headEnd len="sm" w="sm" type="none"/>
              <a:tailEnd len="sm" w="sm" type="none"/>
            </a:ln>
          </a:left>
          <a:right>
            <a:ln cap="flat" cmpd="sng" w="9525">
              <a:solidFill>
                <a:srgbClr val="135669"/>
              </a:solidFill>
              <a:prstDash val="solid"/>
              <a:round/>
              <a:headEnd len="sm" w="sm" type="none"/>
              <a:tailEnd len="sm" w="sm" type="none"/>
            </a:ln>
          </a:right>
        </a:tcBdr>
      </a:tcStyle>
    </a:band1V>
    <a:band2V>
      <a:tcTxStyle b="off" i="off"/>
      <a:tcStyle>
        <a:tcBdr>
          <a:left>
            <a:ln cap="flat" cmpd="sng" w="9525">
              <a:solidFill>
                <a:srgbClr val="135669"/>
              </a:solidFill>
              <a:prstDash val="solid"/>
              <a:round/>
              <a:headEnd len="sm" w="sm" type="none"/>
              <a:tailEnd len="sm" w="sm" type="none"/>
            </a:ln>
          </a:left>
          <a:right>
            <a:ln cap="flat" cmpd="sng" w="9525">
              <a:solidFill>
                <a:srgbClr val="135669"/>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rgbClr val="135669"/>
              </a:solidFill>
              <a:prstDash val="solid"/>
              <a:round/>
              <a:headEnd len="sm" w="sm" type="none"/>
              <a:tailEnd len="sm" w="sm" type="none"/>
            </a:ln>
          </a:top>
        </a:tcBdr>
      </a:tcStyle>
    </a:lastRow>
    <a:seCell>
      <a:tcTxStyle b="off" i="off"/>
    </a:seCell>
    <a:swCell>
      <a:tcTxStyle b="off" i="off"/>
    </a:swCell>
    <a:firstRow>
      <a:tcTxStyle b="on" i="off">
        <a:font>
          <a:latin typeface="Arial"/>
          <a:ea typeface="Arial"/>
          <a:cs typeface="Arial"/>
        </a:font>
        <a:srgbClr val="FFFAF6"/>
      </a:tcTxStyle>
      <a:tcStyle>
        <a:fill>
          <a:solidFill>
            <a:srgbClr val="135669"/>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26" orient="horz"/>
        <p:guide pos="665"/>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RobotoMono-italic.fntdata"/><Relationship Id="rId106" Type="http://schemas.openxmlformats.org/officeDocument/2006/relationships/font" Target="fonts/RobotoMono-bold.fntdata"/><Relationship Id="rId105" Type="http://schemas.openxmlformats.org/officeDocument/2006/relationships/font" Target="fonts/RobotoMono-regular.fntdata"/><Relationship Id="rId104" Type="http://schemas.openxmlformats.org/officeDocument/2006/relationships/font" Target="fonts/Nunito-boldItalic.fntdata"/><Relationship Id="rId109" Type="http://schemas.openxmlformats.org/officeDocument/2006/relationships/font" Target="fonts/IBMPlexSansSemiBold-regular.fntdata"/><Relationship Id="rId108" Type="http://schemas.openxmlformats.org/officeDocument/2006/relationships/font" Target="fonts/RobotoMono-boldItalic.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Nunito-italic.fntdata"/><Relationship Id="rId102" Type="http://schemas.openxmlformats.org/officeDocument/2006/relationships/font" Target="fonts/Nunito-bold.fntdata"/><Relationship Id="rId101" Type="http://schemas.openxmlformats.org/officeDocument/2006/relationships/font" Target="fonts/Nunito-regular.fntdata"/><Relationship Id="rId100" Type="http://schemas.openxmlformats.org/officeDocument/2006/relationships/font" Target="fonts/ProximaNova-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Roboto-italic.fntdata"/><Relationship Id="rId94" Type="http://schemas.openxmlformats.org/officeDocument/2006/relationships/font" Target="fonts/Roboto-bold.fntdata"/><Relationship Id="rId97" Type="http://schemas.openxmlformats.org/officeDocument/2006/relationships/font" Target="fonts/ProximaNova-regular.fntdata"/><Relationship Id="rId96" Type="http://schemas.openxmlformats.org/officeDocument/2006/relationships/font" Target="fonts/Roboto-boldItalic.fntdata"/><Relationship Id="rId11" Type="http://schemas.openxmlformats.org/officeDocument/2006/relationships/slide" Target="slides/slide5.xml"/><Relationship Id="rId99" Type="http://schemas.openxmlformats.org/officeDocument/2006/relationships/font" Target="fonts/ProximaNova-italic.fntdata"/><Relationship Id="rId10" Type="http://schemas.openxmlformats.org/officeDocument/2006/relationships/slide" Target="slides/slide4.xml"/><Relationship Id="rId98" Type="http://schemas.openxmlformats.org/officeDocument/2006/relationships/font" Target="fonts/ProximaNova-bold.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MontserratSemiBold-italic.fntdata"/><Relationship Id="rId90" Type="http://schemas.openxmlformats.org/officeDocument/2006/relationships/font" Target="fonts/MontserratSemiBold-bold.fntdata"/><Relationship Id="rId93" Type="http://schemas.openxmlformats.org/officeDocument/2006/relationships/font" Target="fonts/Roboto-regular.fntdata"/><Relationship Id="rId92" Type="http://schemas.openxmlformats.org/officeDocument/2006/relationships/font" Target="fonts/MontserratSemiBold-boldItalic.fntdata"/><Relationship Id="rId15" Type="http://schemas.openxmlformats.org/officeDocument/2006/relationships/slide" Target="slides/slide9.xml"/><Relationship Id="rId110" Type="http://schemas.openxmlformats.org/officeDocument/2006/relationships/font" Target="fonts/IBMPlexSansSemiBold-bold.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113" Type="http://customschemas.google.com/relationships/presentationmetadata" Target="metadata"/><Relationship Id="rId112" Type="http://schemas.openxmlformats.org/officeDocument/2006/relationships/font" Target="fonts/IBMPlexSansSemiBold-boldItalic.fntdata"/><Relationship Id="rId111" Type="http://schemas.openxmlformats.org/officeDocument/2006/relationships/font" Target="fonts/IBMPlexSansSemiBold-italic.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font" Target="fonts/IBMPlexSans-bold.fntdata"/><Relationship Id="rId85" Type="http://schemas.openxmlformats.org/officeDocument/2006/relationships/font" Target="fonts/IBMPlexSans-regular.fntdata"/><Relationship Id="rId88" Type="http://schemas.openxmlformats.org/officeDocument/2006/relationships/font" Target="fonts/IBMPlexSans-boldItalic.fntdata"/><Relationship Id="rId87" Type="http://schemas.openxmlformats.org/officeDocument/2006/relationships/font" Target="fonts/IBMPlexSans-italic.fntdata"/><Relationship Id="rId89" Type="http://schemas.openxmlformats.org/officeDocument/2006/relationships/font" Target="fonts/MontserratSemiBold-regular.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ru-R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u.wikipedia.org/wiki/%D0%9A%D0%BE%D0%BC%D0%BF%D1%8C%D1%8E%D1%82%D0%B5%D1%80%D0%BD%D1%8B%D0%B5_%D1%88%D0%B0%D1%85%D0%BC%D0%B0%D1%82%D1%8B" TargetMode="External"/><Relationship Id="rId3" Type="http://schemas.openxmlformats.org/officeDocument/2006/relationships/hyperlink" Target="https://ru.wikipedia.org/wiki/Deep_Blue#cite_note-_38b4ed192731cfdf-1" TargetMode="External"/><Relationship Id="rId4" Type="http://schemas.openxmlformats.org/officeDocument/2006/relationships/hyperlink" Target="https://ru.wikipedia.org/wiki/Deep_Blue#cite_note-autogenerated1-2" TargetMode="External"/><Relationship Id="rId5" Type="http://schemas.openxmlformats.org/officeDocument/2006/relationships/hyperlink" Target="https://ru.wikipedia.org/wiki/%D0%9A%D0%B0%D1%81%D0%BF%D0%B0%D1%80%D0%BE%D0%B2,_%D0%93%D0%B0%D1%80%D1%80%D0%B8_%D0%9A%D0%B8%D0%BC%D0%BE%D0%B2%D0%B8%D1%87"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Ладно, давайте начинать, меня зовут ульяна, и вот с чего начнем. Очень часто Большинство курсов врут вам. Не намеренно — но врут.</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Они дают вам чистые данные, пошаговые инструкции и правильные ответы в конце учебника. Выполнив все задания вы остаетесь с ощущением, что вы что-то умеете. А потом попадаете на реальный проект — и всё разваливается.</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Потому что в реальности инструкцию, что делать, вам никто не написал.</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Именно поэтому существует этот курс. </a:t>
            </a:r>
            <a:endParaRPr/>
          </a:p>
        </p:txBody>
      </p:sp>
      <p:sp>
        <p:nvSpPr>
          <p:cNvPr id="63" name="Google Shape;6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cb2c61a5be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Не будет лекций и лабораторных с инструкциями.</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Следующие пять недель вы будете работать с задчей Титаника — одной из самых известных в машинном обучении. Задача простая: предсказать, кто выжил. Но именно в этой простоте и скрыта основная сложность.</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Готовых инструкций не будет. Никто не скажет, какую модель взять, какие признаки создать, где ошибка в вашем коде. У вас будет теория, она будет рассказана либо сегодня, либо описана в курсе. Однако, вы столкнетесь с этим сами — в команде, в реальном времени.</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Вы будете изучать, разбираться, объяснять друг другу, спорить. Заходить в тупики. Переделывать то, что казалось готовым. Именно так и выглядит настоящая работа над ML-проектом.</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Почему это важно?</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Потому что навык — это не то, что вы знаете. Это то, что вы можете сделать, когда столкнетесь с проблемой.</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Теорию вы освоите самостоятельно — и это тоже часть задания. Но я буду рядом, когда вы зайдёте в тупик и не будете понимать, почему модель не работает. Мы разберёмся вместе. Для этого у нас будут практики каждую неделю. На них вы можете мне задавать вопросы, просить консультации.</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Цель меня как преподавателя - создать для вас оптимальные условия для получения опыта.</a:t>
            </a:r>
            <a:endParaRPr sz="1100">
              <a:latin typeface="Arial"/>
              <a:ea typeface="Arial"/>
              <a:cs typeface="Arial"/>
              <a:sym typeface="Arial"/>
            </a:endParaRPr>
          </a:p>
          <a:p>
            <a:pPr indent="0" lvl="0" marL="0" rtl="0" algn="l">
              <a:lnSpc>
                <a:spcPct val="100000"/>
              </a:lnSpc>
              <a:spcBef>
                <a:spcPts val="0"/>
              </a:spcBef>
              <a:spcAft>
                <a:spcPts val="0"/>
              </a:spcAft>
              <a:buClr>
                <a:srgbClr val="000000"/>
              </a:buClr>
              <a:buSzPts val="1400"/>
              <a:buFont typeface="Arial"/>
              <a:buNone/>
            </a:pPr>
            <a:r>
              <a:t/>
            </a:r>
            <a:endParaRPr sz="1100">
              <a:latin typeface="Arial"/>
              <a:ea typeface="Arial"/>
              <a:cs typeface="Arial"/>
              <a:sym typeface="Arial"/>
            </a:endParaRPr>
          </a:p>
        </p:txBody>
      </p:sp>
      <p:sp>
        <p:nvSpPr>
          <p:cNvPr id="77" name="Google Shape;77;g3cb2c61a5be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1a00d9b9a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ru-RU" sz="1100">
                <a:latin typeface="Arial"/>
                <a:ea typeface="Arial"/>
                <a:cs typeface="Arial"/>
                <a:sym typeface="Arial"/>
              </a:rPr>
              <a:t>Как будет выставляться оценка</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ru-RU" sz="1100">
                <a:latin typeface="Arial"/>
                <a:ea typeface="Arial"/>
                <a:cs typeface="Arial"/>
                <a:sym typeface="Arial"/>
              </a:rPr>
              <a:t>Всего за проект можно получить 100 баллов</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ru-RU" sz="1100">
                <a:latin typeface="Arial"/>
                <a:ea typeface="Arial"/>
                <a:cs typeface="Arial"/>
                <a:sym typeface="Arial"/>
              </a:rPr>
              <a:t>для получения зачета по дисциплине вам надо набрать 60 баллов</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ru-RU" sz="1100">
                <a:latin typeface="Arial"/>
                <a:ea typeface="Arial"/>
                <a:cs typeface="Arial"/>
                <a:sym typeface="Arial"/>
              </a:rPr>
              <a:t>баллы складываются из двух частей - оценка вашего кода (макс 50) + качество вашей модели (макс 50) </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ru-RU" sz="1100">
                <a:latin typeface="Arial"/>
                <a:ea typeface="Arial"/>
                <a:cs typeface="Arial"/>
                <a:sym typeface="Arial"/>
              </a:rPr>
              <a:t>как они конкретно будут оцениваться - разберем сегодня в конце лекции</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ru-RU" sz="1100">
                <a:latin typeface="Arial"/>
                <a:ea typeface="Arial"/>
                <a:cs typeface="Arial"/>
                <a:sym typeface="Arial"/>
              </a:rPr>
              <a:t>помимо этого - вам надо 2 раза показать прогресс до итоговой сдачи.</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ru-RU" sz="1100">
                <a:latin typeface="Arial"/>
                <a:ea typeface="Arial"/>
                <a:cs typeface="Arial"/>
                <a:sym typeface="Arial"/>
              </a:rPr>
              <a:t>Я вам скину таблицу, куда вам с командой надо будет вписаться, когда вы планируете показать прогресс. Вам надо показать один раз прогресс в первой половине курса + во второй половине курса.</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ru-RU" sz="1100">
                <a:latin typeface="Arial"/>
                <a:ea typeface="Arial"/>
                <a:cs typeface="Arial"/>
                <a:sym typeface="Arial"/>
              </a:rPr>
              <a:t>То есть на практике вы подходите ко мне, показываете, что у вас получилось. Я ставлю вам отметку, что прогресс показан.</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ru-RU" sz="1100">
                <a:latin typeface="Arial"/>
                <a:ea typeface="Arial"/>
                <a:cs typeface="Arial"/>
                <a:sym typeface="Arial"/>
              </a:rPr>
              <a:t>если вы не показали прогресс -20 баллов к итоговой оценке</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ru-RU" sz="1100">
                <a:latin typeface="Arial"/>
                <a:ea typeface="Arial"/>
                <a:cs typeface="Arial"/>
                <a:sym typeface="Arial"/>
              </a:rPr>
              <a:t>посещаемость на оценку не влияет, однако, вам все равно придется прийти, чтобы показать прогресс.</a:t>
            </a:r>
            <a:endParaRPr sz="1100">
              <a:latin typeface="Arial"/>
              <a:ea typeface="Arial"/>
              <a:cs typeface="Arial"/>
              <a:sym typeface="Arial"/>
            </a:endParaRPr>
          </a:p>
        </p:txBody>
      </p:sp>
      <p:sp>
        <p:nvSpPr>
          <p:cNvPr id="92" name="Google Shape;92;g3d1a00d9b9a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cb2c61a5be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Главное, что нужно понять про наш курс: он про результат и понимание, а не про формальное выполнения заданий</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Про списывание (или "заимствование"): Если вы взяли чужой код (у другой команды, с GitHub, из статьи), есть два условия, чтобы это не считалось списыванием:</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Вы обязаны предупредить об этом заранее или явно указать это в работе.</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Вы должны продемонстрировать, что понимаете этот код. Я задам вопросы. Если вы скопировали сложную модель и не можете объяснить, как она работает, — это провал.</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Санкции: Если будет замечено злоупотребление (скопировали и выдали за свое), работа получает 0 баллов — команда теряет право сдать эту работу в принципе. Будьте честны с нами и с собой.</a:t>
            </a:r>
            <a:endParaRPr sz="1100">
              <a:latin typeface="Arial"/>
              <a:ea typeface="Arial"/>
              <a:cs typeface="Arial"/>
              <a:sym typeface="Arial"/>
            </a:endParaRPr>
          </a:p>
        </p:txBody>
      </p:sp>
      <p:sp>
        <p:nvSpPr>
          <p:cNvPr id="108" name="Google Shape;108;g3cb2c61a5be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3e78d848d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ru-RU" sz="1100">
                <a:latin typeface="Arial"/>
                <a:ea typeface="Arial"/>
                <a:cs typeface="Arial"/>
                <a:sym typeface="Arial"/>
              </a:rPr>
              <a:t>Вы имеете полное право пользоваться любыми инструментами, включая ChatGPT и аналоги для пояснения теории или кода. Настоятельно не рекомендую просить генерировать готовый код. Разобраться в таком коде - гораздо сложнее. Если вы все таки сгенерируете код, правила аналогичные использованию чужого кода</a:t>
            </a:r>
            <a:endParaRPr sz="1100">
              <a:latin typeface="Arial"/>
              <a:ea typeface="Arial"/>
              <a:cs typeface="Arial"/>
              <a:sym typeface="Arial"/>
            </a:endParaRPr>
          </a:p>
        </p:txBody>
      </p:sp>
      <p:sp>
        <p:nvSpPr>
          <p:cNvPr id="124" name="Google Shape;124;g3d3e78d848d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cb2c61a5b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ru-RU" sz="1100">
                <a:latin typeface="Arial"/>
                <a:ea typeface="Arial"/>
                <a:cs typeface="Arial"/>
                <a:sym typeface="Arial"/>
              </a:rPr>
              <a:t>Сейчас мы с вами погрузимся в основные термины и теорию</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ru-RU" sz="1100">
                <a:latin typeface="Arial"/>
                <a:ea typeface="Arial"/>
                <a:cs typeface="Arial"/>
                <a:sym typeface="Arial"/>
              </a:rPr>
              <a:t>Во второй половине мы обсудим, какое задание вам надо выполнить</a:t>
            </a:r>
            <a:endParaRPr sz="1100">
              <a:latin typeface="Arial"/>
              <a:ea typeface="Arial"/>
              <a:cs typeface="Arial"/>
              <a:sym typeface="Arial"/>
            </a:endParaRPr>
          </a:p>
        </p:txBody>
      </p:sp>
      <p:sp>
        <p:nvSpPr>
          <p:cNvPr id="140" name="Google Shape;140;g3cb2c61a5b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начала, разберемся, что таккое ИИ</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Это Система, способная так или иначе принимать решения на основе состояния мира</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Наприме</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56" name="Google Shape;1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b20f13e01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ru-RU" sz="1100">
                <a:latin typeface="Arial"/>
                <a:ea typeface="Arial"/>
                <a:cs typeface="Arial"/>
                <a:sym typeface="Arial"/>
              </a:rPr>
              <a:t>Например, один из первых, ИИ - Deep Blue</a:t>
            </a:r>
            <a:r>
              <a:rPr lang="ru-RU" sz="1100">
                <a:latin typeface="Arial"/>
                <a:ea typeface="Arial"/>
                <a:cs typeface="Arial"/>
                <a:sym typeface="Arial"/>
              </a:rPr>
              <a:t> —это </a:t>
            </a:r>
            <a:r>
              <a:rPr lang="ru-RU" sz="1100" u="sng">
                <a:solidFill>
                  <a:schemeClr val="hlink"/>
                </a:solidFill>
                <a:latin typeface="Arial"/>
                <a:ea typeface="Arial"/>
                <a:cs typeface="Arial"/>
                <a:sym typeface="Arial"/>
                <a:hlinkClick r:id="rId2"/>
              </a:rPr>
              <a:t>шахматный суперкомпьютер</a:t>
            </a:r>
            <a:r>
              <a:rPr baseline="30000" lang="ru-RU" sz="1100" u="sng">
                <a:solidFill>
                  <a:schemeClr val="hlink"/>
                </a:solidFill>
                <a:latin typeface="Arial"/>
                <a:ea typeface="Arial"/>
                <a:cs typeface="Arial"/>
                <a:sym typeface="Arial"/>
                <a:hlinkClick r:id="rId3"/>
              </a:rPr>
              <a:t>[1]</a:t>
            </a:r>
            <a:r>
              <a:rPr baseline="30000" lang="ru-RU" sz="1100" u="sng">
                <a:solidFill>
                  <a:schemeClr val="hlink"/>
                </a:solidFill>
                <a:latin typeface="Arial"/>
                <a:ea typeface="Arial"/>
                <a:cs typeface="Arial"/>
                <a:sym typeface="Arial"/>
                <a:hlinkClick r:id="rId4"/>
              </a:rPr>
              <a:t>[2]</a:t>
            </a:r>
            <a:r>
              <a:rPr lang="ru-RU" sz="1100">
                <a:latin typeface="Arial"/>
                <a:ea typeface="Arial"/>
                <a:cs typeface="Arial"/>
                <a:sym typeface="Arial"/>
              </a:rPr>
              <a:t>,. 11 мая 1997 года </a:t>
            </a:r>
            <a:r>
              <a:rPr b="1" lang="ru-RU" sz="1100">
                <a:latin typeface="Arial"/>
                <a:ea typeface="Arial"/>
                <a:cs typeface="Arial"/>
                <a:sym typeface="Arial"/>
              </a:rPr>
              <a:t>он </a:t>
            </a:r>
            <a:r>
              <a:rPr lang="ru-RU" sz="1100">
                <a:latin typeface="Arial"/>
                <a:ea typeface="Arial"/>
                <a:cs typeface="Arial"/>
                <a:sym typeface="Arial"/>
              </a:rPr>
              <a:t>выиграл матч из 6 партий у тогдашнего чемпиона мира </a:t>
            </a:r>
            <a:r>
              <a:rPr lang="ru-RU" sz="1100" u="sng">
                <a:solidFill>
                  <a:schemeClr val="hlink"/>
                </a:solidFill>
                <a:latin typeface="Arial"/>
                <a:ea typeface="Arial"/>
                <a:cs typeface="Arial"/>
                <a:sym typeface="Arial"/>
                <a:hlinkClick r:id="rId5"/>
              </a:rPr>
              <a:t>Гарри Каспарова</a:t>
            </a:r>
            <a:r>
              <a:rPr lang="ru-RU" sz="1100">
                <a:latin typeface="Arial"/>
                <a:ea typeface="Arial"/>
                <a:cs typeface="Arial"/>
                <a:sym typeface="Arial"/>
              </a:rPr>
              <a:t>.</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Если упрощенно, как он работал:</a:t>
            </a:r>
            <a:endParaRPr sz="1100">
              <a:latin typeface="Arial"/>
              <a:ea typeface="Arial"/>
              <a:cs typeface="Arial"/>
              <a:sym typeface="Arial"/>
            </a:endParaRPr>
          </a:p>
          <a:p>
            <a:pPr indent="-171450" lvl="0" marL="171450" rtl="0" algn="l">
              <a:lnSpc>
                <a:spcPct val="100000"/>
              </a:lnSpc>
              <a:spcBef>
                <a:spcPts val="0"/>
              </a:spcBef>
              <a:spcAft>
                <a:spcPts val="0"/>
              </a:spcAft>
              <a:buClr>
                <a:schemeClr val="dk1"/>
              </a:buClr>
              <a:buSzPts val="1100"/>
              <a:buChar char="-"/>
            </a:pPr>
            <a:r>
              <a:rPr lang="ru-RU" sz="1100">
                <a:latin typeface="Arial"/>
                <a:ea typeface="Arial"/>
                <a:cs typeface="Arial"/>
                <a:sym typeface="Arial"/>
              </a:rPr>
              <a:t>Система анализировала положение шахмат на доске</a:t>
            </a:r>
            <a:endParaRPr sz="1100">
              <a:latin typeface="Arial"/>
              <a:ea typeface="Arial"/>
              <a:cs typeface="Arial"/>
              <a:sym typeface="Arial"/>
            </a:endParaRPr>
          </a:p>
          <a:p>
            <a:pPr indent="-171450" lvl="0" marL="171450" rtl="0" algn="l">
              <a:lnSpc>
                <a:spcPct val="100000"/>
              </a:lnSpc>
              <a:spcBef>
                <a:spcPts val="0"/>
              </a:spcBef>
              <a:spcAft>
                <a:spcPts val="0"/>
              </a:spcAft>
              <a:buClr>
                <a:schemeClr val="dk1"/>
              </a:buClr>
              <a:buSzPts val="1100"/>
              <a:buChar char="-"/>
            </a:pPr>
            <a:r>
              <a:rPr lang="ru-RU" sz="1100">
                <a:latin typeface="Arial"/>
                <a:ea typeface="Arial"/>
                <a:cs typeface="Arial"/>
                <a:sym typeface="Arial"/>
              </a:rPr>
              <a:t>Оптимизированным перебором среди всех возможных ходов искала лучший</a:t>
            </a:r>
            <a:endParaRPr sz="1100">
              <a:latin typeface="Arial"/>
              <a:ea typeface="Arial"/>
              <a:cs typeface="Arial"/>
              <a:sym typeface="Arial"/>
            </a:endParaRPr>
          </a:p>
          <a:p>
            <a:pPr indent="-171450" lvl="0" marL="171450" rtl="0" algn="l">
              <a:lnSpc>
                <a:spcPct val="100000"/>
              </a:lnSpc>
              <a:spcBef>
                <a:spcPts val="0"/>
              </a:spcBef>
              <a:spcAft>
                <a:spcPts val="0"/>
              </a:spcAft>
              <a:buClr>
                <a:schemeClr val="dk1"/>
              </a:buClr>
              <a:buSzPts val="1100"/>
              <a:buChar char="-"/>
            </a:pPr>
            <a:r>
              <a:rPr lang="ru-RU" sz="1100">
                <a:latin typeface="Arial"/>
                <a:ea typeface="Arial"/>
                <a:cs typeface="Arial"/>
                <a:sym typeface="Arial"/>
              </a:rPr>
              <a:t>Определяла, какие ходы последуют далее</a:t>
            </a:r>
            <a:endParaRPr sz="1100">
              <a:latin typeface="Arial"/>
              <a:ea typeface="Arial"/>
              <a:cs typeface="Arial"/>
              <a:sym typeface="Arial"/>
            </a:endParaRPr>
          </a:p>
          <a:p>
            <a:pPr indent="-171450" lvl="0" marL="171450" rtl="0" algn="l">
              <a:lnSpc>
                <a:spcPct val="100000"/>
              </a:lnSpc>
              <a:spcBef>
                <a:spcPts val="0"/>
              </a:spcBef>
              <a:spcAft>
                <a:spcPts val="0"/>
              </a:spcAft>
              <a:buClr>
                <a:schemeClr val="dk1"/>
              </a:buClr>
              <a:buSzPts val="1100"/>
              <a:buChar char="-"/>
            </a:pPr>
            <a:r>
              <a:rPr lang="ru-RU" sz="1100">
                <a:latin typeface="Arial"/>
                <a:ea typeface="Arial"/>
                <a:cs typeface="Arial"/>
                <a:sym typeface="Arial"/>
              </a:rPr>
              <a:t>Решала, как все таки лучше пойти</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этого работала </a:t>
            </a:r>
            <a:r>
              <a:rPr i="1" lang="ru-RU" sz="1100">
                <a:latin typeface="Arial"/>
                <a:ea typeface="Arial"/>
                <a:cs typeface="Arial"/>
                <a:sym typeface="Arial"/>
              </a:rPr>
              <a:t>целая экосистема сложных алгоритмов для принятия оптимального решения</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i="1"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i="1"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i="1" lang="ru-RU" sz="1100">
                <a:latin typeface="Arial"/>
                <a:ea typeface="Arial"/>
                <a:cs typeface="Arial"/>
                <a:sym typeface="Arial"/>
              </a:rPr>
              <a:t>В данном примере позиции фигур на шахматном поле – состояние мира, </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71" name="Google Shape;171;g3cb20f13e01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cb20f13e01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i="1" lang="ru-RU" sz="1100">
                <a:latin typeface="Arial"/>
                <a:ea typeface="Arial"/>
                <a:cs typeface="Arial"/>
                <a:sym typeface="Arial"/>
              </a:rPr>
              <a:t>а </a:t>
            </a:r>
            <a:r>
              <a:rPr b="1" lang="ru-RU" sz="1100">
                <a:latin typeface="Arial"/>
                <a:ea typeface="Arial"/>
                <a:cs typeface="Arial"/>
                <a:sym typeface="Arial"/>
              </a:rPr>
              <a:t>Deep Blue - </a:t>
            </a:r>
            <a:r>
              <a:rPr lang="ru-RU" sz="1100">
                <a:latin typeface="Arial"/>
                <a:ea typeface="Arial"/>
                <a:cs typeface="Arial"/>
                <a:sym typeface="Arial"/>
              </a:rPr>
              <a:t>Система,</a:t>
            </a:r>
            <a:endParaRPr/>
          </a:p>
        </p:txBody>
      </p:sp>
      <p:sp>
        <p:nvSpPr>
          <p:cNvPr id="188" name="Google Shape;188;g3cb20f13e01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b20f13e01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 способная принимать решения</a:t>
            </a:r>
            <a:endParaRPr/>
          </a:p>
          <a:p>
            <a:pPr indent="0" lvl="0" marL="0" rtl="0" algn="l">
              <a:lnSpc>
                <a:spcPct val="100000"/>
              </a:lnSpc>
              <a:spcBef>
                <a:spcPts val="0"/>
              </a:spcBef>
              <a:spcAft>
                <a:spcPts val="0"/>
              </a:spcAft>
              <a:buSzPts val="1400"/>
              <a:buNone/>
            </a:pPr>
            <a:r>
              <a:t/>
            </a:r>
            <a:endParaRPr/>
          </a:p>
        </p:txBody>
      </p:sp>
      <p:sp>
        <p:nvSpPr>
          <p:cNvPr id="205" name="Google Shape;205;g3cb20f13e01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b20f13e01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ML – подобласть ИИ - Система, принимающая решения на основе накопленного опыта и состояния мира</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222" name="Google Shape;222;g3cb20f13e01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cb20f13e01_0_1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того, чтобы понять, что это значит, обратимся к тому, как принимает решение человек.</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Предположим, вы вышли на улицу, там хмурое небо, вскоре идет дождь.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 следующий день вы выходите на улицу – небо ясное. Дождя не было.        – это ваш накопленный опыт.</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241" name="Google Shape;241;g3cb20f13e01_0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cb20f13e01_0_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 следующий день вы видите хмурое небо и берете зонт</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В данном примере - Хмурое небо – состояние мира,</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265" name="Google Shape;265;g3cb20f13e01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cb20f13e01_0_1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 а вы система, которая приняла решение на основе накопленного опыта и состояния мира</a:t>
            </a:r>
            <a:endParaRPr/>
          </a:p>
        </p:txBody>
      </p:sp>
      <p:sp>
        <p:nvSpPr>
          <p:cNvPr id="288" name="Google Shape;288;g3cb20f13e01_0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cb20f13e01_0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Если на более реальных примера, вы смотрите Клипы, и вам почему-то попадаются невероятно интересные, что хочется листать их вечно.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Подбирают вам эти клипы с помощью МО</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Система имеет накопленный опыт – информацию о всех пользователях, какие клипы они смотрели, какие лайкали, а какие быстро пролистывали</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Состояние мира в данном случае – это то, какие клипы понравились именно вам.</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Система на основе опыта понимает, что нравилось пользователям, которые лайкали примерно то же самое, и принимает решение – что показать дальше вам</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311" name="Google Shape;311;g3cb20f13e01_0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cb20f13e01_0_2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ru-RU"/>
              <a:t>Или задача перевода аудио записи в текст.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ru-RU"/>
              <a:t>системы, занимающихся переводом из текст в аудио, принимают решения на основе большого набора пар аудио записи и их текстовой расшифровки - это накопленный опыт</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ru-RU"/>
              <a:t>ваше голосовое сообщение - состояние мира</a:t>
            </a:r>
            <a:endParaRPr/>
          </a:p>
          <a:p>
            <a:pPr indent="0" lvl="0" marL="0" rtl="0" algn="l">
              <a:lnSpc>
                <a:spcPct val="100000"/>
              </a:lnSpc>
              <a:spcBef>
                <a:spcPts val="0"/>
              </a:spcBef>
              <a:spcAft>
                <a:spcPts val="0"/>
              </a:spcAft>
              <a:buSzPts val="1400"/>
              <a:buNone/>
            </a:pPr>
            <a:r>
              <a:rPr lang="ru-RU"/>
              <a:t>а принятое решение - то, как его перевести в текст</a:t>
            </a:r>
            <a:endParaRPr/>
          </a:p>
        </p:txBody>
      </p:sp>
      <p:sp>
        <p:nvSpPr>
          <p:cNvPr id="348" name="Google Shape;348;g3cb20f13e01_0_2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cb20f13e01_0_3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ru-RU"/>
              <a:t>Или предположим некая компания, продающая свечи, хочет знать, сколько будет гореть свечка по ее составу.</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ru-RU"/>
              <a:t>Уже есть набор данных, содержащий n свечей с их составом и скоростью горения. это накопленный опыт</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ru-RU"/>
              <a:t>новая свечка, скорость горения, которой нам неизветска - состояние мира, а сколько она будет гореть - принятое решение</a:t>
            </a:r>
            <a:endParaRPr/>
          </a:p>
        </p:txBody>
      </p:sp>
      <p:sp>
        <p:nvSpPr>
          <p:cNvPr id="375" name="Google Shape;375;g3cb20f13e01_0_3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d1a00d9b9a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g3d1a00d9b9a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d484a96bb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g3d484a96bb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поймем, почему МО появилось</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этого сравним его с традиционным программированием</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Обычно мы пишем код слебущим путем:</a:t>
            </a:r>
            <a:endParaRPr sz="1100">
              <a:latin typeface="Arial"/>
              <a:ea typeface="Arial"/>
              <a:cs typeface="Arial"/>
              <a:sym typeface="Arial"/>
            </a:endParaRPr>
          </a:p>
          <a:p>
            <a:pPr indent="-298450" lvl="0" marL="457200" rtl="0" algn="l">
              <a:lnSpc>
                <a:spcPct val="100000"/>
              </a:lnSpc>
              <a:spcBef>
                <a:spcPts val="0"/>
              </a:spcBef>
              <a:spcAft>
                <a:spcPts val="0"/>
              </a:spcAft>
              <a:buClr>
                <a:schemeClr val="dk1"/>
              </a:buClr>
              <a:buSzPts val="1100"/>
              <a:buAutoNum type="arabicPeriod"/>
            </a:pPr>
            <a:r>
              <a:rPr lang="ru-RU" sz="1100">
                <a:latin typeface="Arial"/>
                <a:ea typeface="Arial"/>
                <a:cs typeface="Arial"/>
                <a:sym typeface="Arial"/>
              </a:rPr>
              <a:t>Анализируем проблему, для которой нужен код</a:t>
            </a:r>
            <a:endParaRPr sz="1100">
              <a:latin typeface="Arial"/>
              <a:ea typeface="Arial"/>
              <a:cs typeface="Arial"/>
              <a:sym typeface="Arial"/>
            </a:endParaRPr>
          </a:p>
          <a:p>
            <a:pPr indent="-298450" lvl="0" marL="457200" rtl="0" algn="l">
              <a:lnSpc>
                <a:spcPct val="100000"/>
              </a:lnSpc>
              <a:spcBef>
                <a:spcPts val="0"/>
              </a:spcBef>
              <a:spcAft>
                <a:spcPts val="0"/>
              </a:spcAft>
              <a:buClr>
                <a:schemeClr val="dk1"/>
              </a:buClr>
              <a:buSzPts val="1100"/>
              <a:buAutoNum type="arabicPeriod"/>
            </a:pPr>
            <a:r>
              <a:rPr lang="ru-RU" sz="1100">
                <a:latin typeface="Arial"/>
                <a:ea typeface="Arial"/>
                <a:cs typeface="Arial"/>
                <a:sym typeface="Arial"/>
              </a:rPr>
              <a:t>Строим план решения и кодируете его</a:t>
            </a:r>
            <a:endParaRPr sz="1100">
              <a:latin typeface="Arial"/>
              <a:ea typeface="Arial"/>
              <a:cs typeface="Arial"/>
              <a:sym typeface="Arial"/>
            </a:endParaRPr>
          </a:p>
          <a:p>
            <a:pPr indent="-298450" lvl="0" marL="457200" rtl="0" algn="l">
              <a:lnSpc>
                <a:spcPct val="100000"/>
              </a:lnSpc>
              <a:spcBef>
                <a:spcPts val="0"/>
              </a:spcBef>
              <a:spcAft>
                <a:spcPts val="0"/>
              </a:spcAft>
              <a:buClr>
                <a:schemeClr val="dk1"/>
              </a:buClr>
              <a:buSzPts val="1100"/>
              <a:buAutoNum type="arabicPeriod"/>
            </a:pPr>
            <a:r>
              <a:rPr lang="ru-RU" sz="1100">
                <a:latin typeface="Arial"/>
                <a:ea typeface="Arial"/>
                <a:cs typeface="Arial"/>
                <a:sym typeface="Arial"/>
              </a:rPr>
              <a:t>Отправляете данные в программу.</a:t>
            </a:r>
            <a:endParaRPr sz="1100">
              <a:latin typeface="Arial"/>
              <a:ea typeface="Arial"/>
              <a:cs typeface="Arial"/>
              <a:sym typeface="Arial"/>
            </a:endParaRPr>
          </a:p>
          <a:p>
            <a:pPr indent="-298450" lvl="0" marL="457200" rtl="0" algn="l">
              <a:lnSpc>
                <a:spcPct val="100000"/>
              </a:lnSpc>
              <a:spcBef>
                <a:spcPts val="0"/>
              </a:spcBef>
              <a:spcAft>
                <a:spcPts val="0"/>
              </a:spcAft>
              <a:buClr>
                <a:schemeClr val="dk1"/>
              </a:buClr>
              <a:buSzPts val="1100"/>
              <a:buAutoNum type="arabicPeriod"/>
            </a:pPr>
            <a:r>
              <a:rPr lang="ru-RU" sz="1100">
                <a:latin typeface="Arial"/>
                <a:ea typeface="Arial"/>
                <a:cs typeface="Arial"/>
                <a:sym typeface="Arial"/>
              </a:rPr>
              <a:t>Получите желаемый результат на основе жестко закодированной логики.</a:t>
            </a:r>
            <a:endParaRPr sz="1100">
              <a:latin typeface="Arial"/>
              <a:ea typeface="Arial"/>
              <a:cs typeface="Arial"/>
              <a:sym typeface="Arial"/>
            </a:endParaRPr>
          </a:p>
          <a:p>
            <a:pPr indent="-228600" lvl="0" marL="45720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например</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432" name="Google Shape;43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cb20f13e01_0_3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например, сложение</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449" name="Google Shape;449;g3cb20f13e01_0_3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cb20f13e01_0_3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или если вернуться к примеру с DEEP blue</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Этот подход работает очень хорошо до тех пор, пока в игру не вступает определенный тип проблем.</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471" name="Google Shape;471;g3cb20f13e01_0_3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Бывают задачи, которые для людей особенного труда не составляют, но которые почему-то крайне трудно запрограммировать, например:</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298450" lvl="0" marL="457200" rtl="0" algn="l">
              <a:lnSpc>
                <a:spcPct val="100000"/>
              </a:lnSpc>
              <a:spcBef>
                <a:spcPts val="0"/>
              </a:spcBef>
              <a:spcAft>
                <a:spcPts val="0"/>
              </a:spcAft>
              <a:buClr>
                <a:schemeClr val="dk1"/>
              </a:buClr>
              <a:buSzPts val="1100"/>
              <a:buChar char="●"/>
            </a:pPr>
            <a:r>
              <a:rPr lang="ru-RU" sz="1100">
                <a:latin typeface="Arial"/>
                <a:ea typeface="Arial"/>
                <a:cs typeface="Arial"/>
                <a:sym typeface="Arial"/>
              </a:rPr>
              <a:t>перевести текст с одного языка на другой;</a:t>
            </a:r>
            <a:endParaRPr sz="1100">
              <a:latin typeface="Arial"/>
              <a:ea typeface="Arial"/>
              <a:cs typeface="Arial"/>
              <a:sym typeface="Arial"/>
            </a:endParaRPr>
          </a:p>
          <a:p>
            <a:pPr indent="-298450" lvl="0" marL="457200" rtl="0" algn="l">
              <a:lnSpc>
                <a:spcPct val="100000"/>
              </a:lnSpc>
              <a:spcBef>
                <a:spcPts val="0"/>
              </a:spcBef>
              <a:spcAft>
                <a:spcPts val="0"/>
              </a:spcAft>
              <a:buClr>
                <a:schemeClr val="dk1"/>
              </a:buClr>
              <a:buSzPts val="1100"/>
              <a:buChar char="●"/>
            </a:pPr>
            <a:r>
              <a:rPr lang="ru-RU" sz="1100">
                <a:latin typeface="Arial"/>
                <a:ea typeface="Arial"/>
                <a:cs typeface="Arial"/>
                <a:sym typeface="Arial"/>
              </a:rPr>
              <a:t>диагностировать болезнь по симптомам;</a:t>
            </a:r>
            <a:endParaRPr sz="1100">
              <a:latin typeface="Arial"/>
              <a:ea typeface="Arial"/>
              <a:cs typeface="Arial"/>
              <a:sym typeface="Arial"/>
            </a:endParaRPr>
          </a:p>
          <a:p>
            <a:pPr indent="-298450" lvl="0" marL="457200" rtl="0" algn="l">
              <a:lnSpc>
                <a:spcPct val="100000"/>
              </a:lnSpc>
              <a:spcBef>
                <a:spcPts val="0"/>
              </a:spcBef>
              <a:spcAft>
                <a:spcPts val="0"/>
              </a:spcAft>
              <a:buClr>
                <a:schemeClr val="dk1"/>
              </a:buClr>
              <a:buSzPts val="1100"/>
              <a:buChar char="●"/>
            </a:pPr>
            <a:r>
              <a:rPr lang="ru-RU" sz="1100">
                <a:latin typeface="Arial"/>
                <a:ea typeface="Arial"/>
                <a:cs typeface="Arial"/>
                <a:sym typeface="Arial"/>
              </a:rPr>
              <a:t>И другой бесчисленный список задач</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493" name="Google Shape;49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Чтобы написать компьютерную программу, решающую проблемы, которые мы не можем описать, пришлось изменить подход</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Теперь, мы не формируем аналитически правила нахождения ответа, а формируем правила основываясь на данных и ответе</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Итак, обычно процесс машинного обучения выглядит следующим образом:</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Сбор данных о проблеме и определение правильных ответов . То есть - (накопление опыта)</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Отправка данных и ответов в систему</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Получить правила, решающие задачу с определенным уровнем точности.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515" name="Google Shape;51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cb20f13e01_0_4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Итак, мы перешли от написания логической структуры программы к тому, чтобы заставить компьютер написать программу за нас, потому что она слишком сложна для нас, чтобы описать и написать ее.</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534" name="Google Shape;534;g3cb20f13e01_0_4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cb20f13e01_0_5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Если бы писали калькулятор</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559" name="Google Shape;559;g3cb20f13e01_0_5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cb20f13e01_0_5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Теперь перейдем к основным терминам</a:t>
            </a:r>
            <a:endParaRPr sz="1100">
              <a:latin typeface="Arial"/>
              <a:ea typeface="Arial"/>
              <a:cs typeface="Arial"/>
              <a:sym typeface="Arial"/>
            </a:endParaRPr>
          </a:p>
          <a:p>
            <a:pPr indent="-228600" lvl="0" marL="45720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298450" lvl="0" marL="457200" rtl="0" algn="l">
              <a:lnSpc>
                <a:spcPct val="100000"/>
              </a:lnSpc>
              <a:spcBef>
                <a:spcPts val="0"/>
              </a:spcBef>
              <a:spcAft>
                <a:spcPts val="0"/>
              </a:spcAft>
              <a:buClr>
                <a:schemeClr val="dk1"/>
              </a:buClr>
              <a:buSzPts val="1100"/>
              <a:buChar char="●"/>
            </a:pPr>
            <a:r>
              <a:rPr lang="ru-RU" sz="1100">
                <a:latin typeface="Arial"/>
                <a:ea typeface="Arial"/>
                <a:cs typeface="Arial"/>
                <a:sym typeface="Arial"/>
              </a:rPr>
              <a:t>В примере с дождем правила выводили вы</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583" name="Google Shape;583;g3cb20f13e01_0_5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cb20f13e01_0_6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Однако в машинном обучении правила определяет модель машиного обучения</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603" name="Google Shape;603;g3cb20f13e01_0_6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cb20f13e01_0_6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Процесс определения правил называется обучением</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625" name="Google Shape;625;g3cb20f13e01_0_6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cb20f13e01_0_6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А правила называют - </a:t>
            </a:r>
            <a:r>
              <a:rPr lang="ru-RU"/>
              <a:t>истинной зависимостью</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ru-RU"/>
              <a:t>то естьзависимость между данными и ответом</a:t>
            </a:r>
            <a:endParaRPr/>
          </a:p>
        </p:txBody>
      </p:sp>
      <p:sp>
        <p:nvSpPr>
          <p:cNvPr id="649" name="Google Shape;649;g3cb20f13e01_0_6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cb20f13e01_0_6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Данные называют обучающей выборкой. Они обычно имеют табличный вид, где все колонки с данными называются признаками (features), а ответ – целевая переменная (target) или же X и y.</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25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674" name="Google Shape;674;g3cb20f13e01_0_6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cb20f13e01_0_1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Каждая отдельная взятая строка называется Обьектом или </a:t>
            </a:r>
            <a:endParaRPr sz="1100">
              <a:latin typeface="Arial"/>
              <a:ea typeface="Arial"/>
              <a:cs typeface="Arial"/>
              <a:sym typeface="Arial"/>
            </a:endParaRPr>
          </a:p>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наблюдением</a:t>
            </a:r>
            <a:endParaRPr sz="1100">
              <a:latin typeface="Arial"/>
              <a:ea typeface="Arial"/>
              <a:cs typeface="Arial"/>
              <a:sym typeface="Arial"/>
            </a:endParaRPr>
          </a:p>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object, sample.</a:t>
            </a:r>
            <a:endParaRPr/>
          </a:p>
        </p:txBody>
      </p:sp>
      <p:sp>
        <p:nvSpPr>
          <p:cNvPr id="698" name="Google Shape;698;g3cb20f13e01_0_1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d3e78d848d_0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зафиксируем смысл терминов</a:t>
            </a:r>
            <a:endParaRPr/>
          </a:p>
        </p:txBody>
      </p:sp>
      <p:sp>
        <p:nvSpPr>
          <p:cNvPr id="724" name="Google Shape;724;g3d3e78d848d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d3e78d848d_0_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зафиксируем смысл терминов</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740" name="Google Shape;740;g3d3e78d848d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d3e78d848d_0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зафиксируем смысл терминов</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760" name="Google Shape;760;g3d3e78d848d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d3e78d848d_0_1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зафиксируем смысл терминов</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784" name="Google Shape;784;g3d3e78d848d_0_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d3e78d848d_0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зафиксируем смысл терминов</a:t>
            </a:r>
            <a:endParaRPr/>
          </a:p>
        </p:txBody>
      </p:sp>
      <p:sp>
        <p:nvSpPr>
          <p:cNvPr id="812" name="Google Shape;812;g3d3e78d848d_0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Вернемся к примеру с шахматами. Предположим, мы решили сделать ИИ для игры в шахматы с помощью Машинного обучения</a:t>
            </a:r>
            <a:endParaRPr sz="1100">
              <a:latin typeface="Arial"/>
              <a:ea typeface="Arial"/>
              <a:cs typeface="Arial"/>
              <a:sym typeface="Arial"/>
            </a:endParaRPr>
          </a:p>
          <a:p>
            <a:pPr indent="0" lvl="0" marL="15875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этого нам необходимо собрать и подготовить данные.</a:t>
            </a:r>
            <a:endParaRPr sz="1100">
              <a:latin typeface="Arial"/>
              <a:ea typeface="Arial"/>
              <a:cs typeface="Arial"/>
              <a:sym typeface="Arial"/>
            </a:endParaRPr>
          </a:p>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Берем огромное кол-во партий гроссмейстеров и формируем на них данные</a:t>
            </a:r>
            <a:endParaRPr sz="1100">
              <a:latin typeface="Arial"/>
              <a:ea typeface="Arial"/>
              <a:cs typeface="Arial"/>
              <a:sym typeface="Arial"/>
            </a:endParaRPr>
          </a:p>
          <a:p>
            <a:pPr indent="0" lvl="0" marL="15875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Из каждой партии формируем следующие признаки, например, состояние поля (какие фигуры где стоят) и предыдущий ход сопреника. </a:t>
            </a:r>
            <a:endParaRPr sz="1100">
              <a:latin typeface="Arial"/>
              <a:ea typeface="Arial"/>
              <a:cs typeface="Arial"/>
              <a:sym typeface="Arial"/>
            </a:endParaRPr>
          </a:p>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Целевая переменная – какой ход гроссмейстер сделал следующим.</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840" name="Google Shape;84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cb20f13e01_0_7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Далее обучаем нашу модель. Мы подаем обучающую выборку в модель машинного обучения для определения зависимостей.</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862" name="Google Shape;862;g3cb20f13e01_0_7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cb20f13e01_0_8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После того, как модель обучена, мы можем подавать в нее новые данные и получать для них ответ с некоторой точностью. </a:t>
            </a:r>
            <a:endParaRPr sz="1100">
              <a:latin typeface="Arial"/>
              <a:ea typeface="Arial"/>
              <a:cs typeface="Arial"/>
              <a:sym typeface="Arial"/>
            </a:endParaRPr>
          </a:p>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Этот процесс называется предсказание.</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881" name="Google Shape;881;g3cb20f13e01_0_8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сравним, в чем принципиальная разница на примере Deep Blue</a:t>
            </a:r>
            <a:endParaRPr sz="1100">
              <a:latin typeface="Arial"/>
              <a:ea typeface="Arial"/>
              <a:cs typeface="Arial"/>
              <a:sym typeface="Arial"/>
            </a:endParaRPr>
          </a:p>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Deep Blue принимает решение на основе алгоритма с правилами, определенными человеком аналитическим путем</a:t>
            </a:r>
            <a:endParaRPr sz="1100">
              <a:latin typeface="Arial"/>
              <a:ea typeface="Arial"/>
              <a:cs typeface="Arial"/>
              <a:sym typeface="Arial"/>
            </a:endParaRPr>
          </a:p>
          <a:p>
            <a:pPr indent="0" lvl="0" marL="15875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15875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Модель машинного обучения принимает решение на основе правил, выведенных из накопленного опыта, то есть данных.</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901" name="Google Shape;90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cb20f13e01_0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Еще одна подоблать МЛ -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 - это машинное обучение, где в качестве модели используются нейросети.</a:t>
            </a:r>
            <a:endParaRPr/>
          </a:p>
          <a:p>
            <a:pPr indent="0" lvl="0" marL="0" rtl="0" algn="l">
              <a:lnSpc>
                <a:spcPct val="100000"/>
              </a:lnSpc>
              <a:spcBef>
                <a:spcPts val="0"/>
              </a:spcBef>
              <a:spcAft>
                <a:spcPts val="0"/>
              </a:spcAft>
              <a:buSzPts val="1400"/>
              <a:buNone/>
            </a:pPr>
            <a:r>
              <a:t/>
            </a:r>
            <a:endParaRPr/>
          </a:p>
        </p:txBody>
      </p:sp>
      <p:sp>
        <p:nvSpPr>
          <p:cNvPr id="919" name="Google Shape;919;g3cb20f13e01_0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cb20f13e01_0_8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2" name="Google Shape;942;g3cb20f13e01_0_8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d3e78d848d_0_2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4" name="Google Shape;954;g3d3e78d848d_0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7" name="Google Shape;96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cb20f13e01_0_8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cb20f13e01_0_8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cb20f13e01_0_8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9" name="Google Shape;999;g3cb20f13e01_0_8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d3e78d848d_0_2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7" name="Google Shape;1027;g3d3e78d848d_0_2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cb20f13e01_0_9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cb20f13e01_0_9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 данном слайде представлена визуализация разных областей машинного оубчения. пройдемся по самым распространенным из них</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056" name="Google Shape;10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Все приведенные ранее в этом курме примеры являются обучением с учителем (supervised learning), так как правильные ответы для каждого объекта обучающей выборки заранее известны. Важно понять: под учителем подразумевается именно набор ответов. Никакого реального учителя с указкой нет.</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Задачи обучения с учителем делятся на разные виды в зависимости от того, каким может быть множество всех возможных ответов Y</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067" name="Google Shape;106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ru-RU">
                <a:solidFill>
                  <a:srgbClr val="15110E"/>
                </a:solidFill>
                <a:latin typeface="Nunito"/>
                <a:ea typeface="Nunito"/>
                <a:cs typeface="Nunito"/>
                <a:sym typeface="Nunito"/>
              </a:rPr>
              <a:t>Первый вид задач обучения с учителем - регрессия. в данном случае - ответ - любое действительное число, или набор действительных чисел</a:t>
            </a:r>
            <a:endParaRPr>
              <a:solidFill>
                <a:srgbClr val="15110E"/>
              </a:solidFill>
              <a:latin typeface="Nunito"/>
              <a:ea typeface="Nunito"/>
              <a:cs typeface="Nunito"/>
              <a:sym typeface="Nunito"/>
            </a:endParaRPr>
          </a:p>
          <a:p>
            <a:pPr indent="0" lvl="0" marL="0" rtl="0" algn="l">
              <a:lnSpc>
                <a:spcPct val="100000"/>
              </a:lnSpc>
              <a:spcBef>
                <a:spcPts val="0"/>
              </a:spcBef>
              <a:spcAft>
                <a:spcPts val="0"/>
              </a:spcAft>
              <a:buSzPts val="1400"/>
              <a:buNone/>
            </a:pPr>
            <a:r>
              <a:t/>
            </a:r>
            <a:endParaRPr>
              <a:solidFill>
                <a:srgbClr val="15110E"/>
              </a:solidFill>
              <a:latin typeface="Nunito"/>
              <a:ea typeface="Nunito"/>
              <a:cs typeface="Nunito"/>
              <a:sym typeface="Nunito"/>
            </a:endParaRPr>
          </a:p>
          <a:p>
            <a:pPr indent="0" lvl="0" marL="0" rtl="0" algn="l">
              <a:lnSpc>
                <a:spcPct val="100000"/>
              </a:lnSpc>
              <a:spcBef>
                <a:spcPts val="0"/>
              </a:spcBef>
              <a:spcAft>
                <a:spcPts val="0"/>
              </a:spcAft>
              <a:buClr>
                <a:schemeClr val="dk1"/>
              </a:buClr>
              <a:buSzPts val="1100"/>
              <a:buFont typeface="Arial"/>
              <a:buNone/>
            </a:pPr>
            <a:r>
              <a:rPr lang="ru-RU">
                <a:solidFill>
                  <a:srgbClr val="15110E"/>
                </a:solidFill>
                <a:latin typeface="Nunito"/>
                <a:ea typeface="Nunito"/>
                <a:cs typeface="Nunito"/>
                <a:sym typeface="Nunito"/>
              </a:rPr>
              <a:t>Примерами задач регрессии является предсказание продолжительности поездки на каршеринге, спрос на конкретный товар в конкретный день или погода в вашем городе на завтра</a:t>
            </a:r>
            <a:endParaRPr>
              <a:solidFill>
                <a:srgbClr val="15110E"/>
              </a:solidFill>
              <a:latin typeface="Nunito"/>
              <a:ea typeface="Nunito"/>
              <a:cs typeface="Nunito"/>
              <a:sym typeface="Nunito"/>
            </a:endParaRPr>
          </a:p>
          <a:p>
            <a:pPr indent="0" lvl="0" marL="0" rtl="0" algn="l">
              <a:lnSpc>
                <a:spcPct val="100000"/>
              </a:lnSpc>
              <a:spcBef>
                <a:spcPts val="0"/>
              </a:spcBef>
              <a:spcAft>
                <a:spcPts val="0"/>
              </a:spcAft>
              <a:buSzPts val="1400"/>
              <a:buNone/>
            </a:pPr>
            <a:r>
              <a:t/>
            </a:r>
            <a:endParaRPr/>
          </a:p>
        </p:txBody>
      </p:sp>
      <p:sp>
        <p:nvSpPr>
          <p:cNvPr id="1080" name="Google Shape;108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3cb20f13e01_0_9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ru-RU"/>
              <a:t>следующий вид - классификация</a:t>
            </a:r>
            <a:endParaRPr/>
          </a:p>
          <a:p>
            <a:pPr indent="0" lvl="0" marL="0" rtl="0" algn="l">
              <a:lnSpc>
                <a:spcPct val="100000"/>
              </a:lnSpc>
              <a:spcBef>
                <a:spcPts val="0"/>
              </a:spcBef>
              <a:spcAft>
                <a:spcPts val="0"/>
              </a:spcAft>
              <a:buClr>
                <a:schemeClr val="dk1"/>
              </a:buClr>
              <a:buSzPts val="1100"/>
              <a:buFont typeface="Arial"/>
              <a:buNone/>
            </a:pPr>
            <a:r>
              <a:rPr lang="ru-RU">
                <a:solidFill>
                  <a:srgbClr val="15110E"/>
                </a:solidFill>
                <a:latin typeface="Nunito"/>
                <a:ea typeface="Nunito"/>
                <a:cs typeface="Nunito"/>
                <a:sym typeface="Nunito"/>
              </a:rPr>
              <a:t>здесь ответом может быть ответ из заранее определенного набора.</a:t>
            </a:r>
            <a:endParaRPr>
              <a:solidFill>
                <a:srgbClr val="15110E"/>
              </a:solidFill>
              <a:latin typeface="Nunito"/>
              <a:ea typeface="Nunito"/>
              <a:cs typeface="Nunito"/>
              <a:sym typeface="Nunito"/>
            </a:endParaRPr>
          </a:p>
          <a:p>
            <a:pPr indent="0" lvl="0" marL="0" rtl="0" algn="l">
              <a:lnSpc>
                <a:spcPct val="100000"/>
              </a:lnSpc>
              <a:spcBef>
                <a:spcPts val="0"/>
              </a:spcBef>
              <a:spcAft>
                <a:spcPts val="0"/>
              </a:spcAft>
              <a:buClr>
                <a:schemeClr val="dk1"/>
              </a:buClr>
              <a:buSzPts val="1100"/>
              <a:buFont typeface="Arial"/>
              <a:buNone/>
            </a:pPr>
            <a:r>
              <a:rPr lang="ru-RU">
                <a:solidFill>
                  <a:srgbClr val="15110E"/>
                </a:solidFill>
                <a:latin typeface="Nunito"/>
                <a:ea typeface="Nunito"/>
                <a:cs typeface="Nunito"/>
                <a:sym typeface="Nunito"/>
              </a:rPr>
              <a:t>Например, определение предметной области для научной статьи (математика, биология, психология и т. д.).</a:t>
            </a:r>
            <a:endParaRPr b="1" sz="1350">
              <a:highlight>
                <a:schemeClr val="lt1"/>
              </a:highlight>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097" name="Google Shape;1097;g3cb20f13e01_0_9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cb20f13e01_0_9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a:solidFill>
                  <a:srgbClr val="15110E"/>
                </a:solidFill>
                <a:latin typeface="Nunito"/>
                <a:ea typeface="Nunito"/>
                <a:cs typeface="Nunito"/>
                <a:sym typeface="Nunito"/>
              </a:rPr>
              <a:t>бинарная классф, где набор ответов состоит из 0 и 1. мы можем предсказывать, кликнет ли пользователь по рекламному объявлению, случится ли определённое заболевание у пациента, есть ли на картинке банан.</a:t>
            </a:r>
            <a:endParaRPr b="1" sz="1350">
              <a:highlight>
                <a:schemeClr val="lt1"/>
              </a:highlight>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111" name="Google Shape;1111;g3cb20f13e01_0_9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cb20f13e01_0_9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ru-RU">
                <a:solidFill>
                  <a:srgbClr val="15110E"/>
                </a:solidFill>
                <a:latin typeface="Nunito"/>
                <a:ea typeface="Nunito"/>
                <a:cs typeface="Nunito"/>
                <a:sym typeface="Nunito"/>
              </a:rPr>
              <a:t>многоклассовая классификация с пересекающимися классами (multilabel classification). </a:t>
            </a:r>
            <a:endParaRPr>
              <a:solidFill>
                <a:srgbClr val="15110E"/>
              </a:solidFill>
              <a:latin typeface="Nunito"/>
              <a:ea typeface="Nunito"/>
              <a:cs typeface="Nunito"/>
              <a:sym typeface="Nunito"/>
            </a:endParaRPr>
          </a:p>
          <a:p>
            <a:pPr indent="0" lvl="0" marL="0" rtl="0" algn="l">
              <a:lnSpc>
                <a:spcPct val="100000"/>
              </a:lnSpc>
              <a:spcBef>
                <a:spcPts val="0"/>
              </a:spcBef>
              <a:spcAft>
                <a:spcPts val="0"/>
              </a:spcAft>
              <a:buSzPts val="1400"/>
              <a:buNone/>
            </a:pPr>
            <a:r>
              <a:rPr lang="ru-RU">
                <a:solidFill>
                  <a:srgbClr val="15110E"/>
                </a:solidFill>
                <a:latin typeface="Nunito"/>
                <a:ea typeface="Nunito"/>
                <a:cs typeface="Nunito"/>
                <a:sym typeface="Nunito"/>
              </a:rPr>
              <a:t>здесь ответ - несколько классов </a:t>
            </a:r>
            <a:endParaRPr>
              <a:solidFill>
                <a:srgbClr val="15110E"/>
              </a:solidFill>
              <a:latin typeface="Nunito"/>
              <a:ea typeface="Nunito"/>
              <a:cs typeface="Nunito"/>
              <a:sym typeface="Nunito"/>
            </a:endParaRPr>
          </a:p>
          <a:p>
            <a:pPr indent="0" lvl="0" marL="0" rtl="0" algn="l">
              <a:lnSpc>
                <a:spcPct val="100000"/>
              </a:lnSpc>
              <a:spcBef>
                <a:spcPts val="0"/>
              </a:spcBef>
              <a:spcAft>
                <a:spcPts val="0"/>
              </a:spcAft>
              <a:buSzPts val="1400"/>
              <a:buNone/>
            </a:pPr>
            <a:r>
              <a:t/>
            </a:r>
            <a:endParaRPr>
              <a:solidFill>
                <a:srgbClr val="15110E"/>
              </a:solidFill>
              <a:latin typeface="Nunito"/>
              <a:ea typeface="Nunito"/>
              <a:cs typeface="Nunito"/>
              <a:sym typeface="Nunito"/>
            </a:endParaRPr>
          </a:p>
          <a:p>
            <a:pPr indent="0" lvl="0" marL="0" rtl="0" algn="l">
              <a:lnSpc>
                <a:spcPct val="100000"/>
              </a:lnSpc>
              <a:spcBef>
                <a:spcPts val="0"/>
              </a:spcBef>
              <a:spcAft>
                <a:spcPts val="0"/>
              </a:spcAft>
              <a:buClr>
                <a:schemeClr val="dk1"/>
              </a:buClr>
              <a:buSzPts val="1100"/>
              <a:buFont typeface="Arial"/>
              <a:buNone/>
            </a:pPr>
            <a:r>
              <a:rPr lang="ru-RU">
                <a:solidFill>
                  <a:srgbClr val="15110E"/>
                </a:solidFill>
                <a:latin typeface="Nunito"/>
                <a:ea typeface="Nunito"/>
                <a:cs typeface="Nunito"/>
                <a:sym typeface="Nunito"/>
              </a:rPr>
              <a:t>Например, задача автоматического проставления тегов для ресторанов (логично, что ресторан может одновременно иметь несколько тегов).</a:t>
            </a:r>
            <a:endParaRPr>
              <a:solidFill>
                <a:srgbClr val="15110E"/>
              </a:solidFill>
              <a:latin typeface="Nunito"/>
              <a:ea typeface="Nunito"/>
              <a:cs typeface="Nunito"/>
              <a:sym typeface="Nunito"/>
            </a:endParaRPr>
          </a:p>
          <a:p>
            <a:pPr indent="0" lvl="0" marL="0" rtl="0" algn="l">
              <a:lnSpc>
                <a:spcPct val="100000"/>
              </a:lnSpc>
              <a:spcBef>
                <a:spcPts val="0"/>
              </a:spcBef>
              <a:spcAft>
                <a:spcPts val="0"/>
              </a:spcAft>
              <a:buClr>
                <a:schemeClr val="dk1"/>
              </a:buClr>
              <a:buSzPts val="1100"/>
              <a:buFont typeface="Arial"/>
              <a:buNone/>
            </a:pPr>
            <a:r>
              <a:t/>
            </a:r>
            <a:endParaRPr>
              <a:solidFill>
                <a:srgbClr val="15110E"/>
              </a:solidFill>
              <a:latin typeface="Nunito"/>
              <a:ea typeface="Nunito"/>
              <a:cs typeface="Nunito"/>
              <a:sym typeface="Nunito"/>
            </a:endParaRPr>
          </a:p>
          <a:p>
            <a:pPr indent="0" lvl="0" marL="0" rtl="0" algn="l">
              <a:lnSpc>
                <a:spcPct val="100000"/>
              </a:lnSpc>
              <a:spcBef>
                <a:spcPts val="0"/>
              </a:spcBef>
              <a:spcAft>
                <a:spcPts val="0"/>
              </a:spcAft>
              <a:buSzPts val="1400"/>
              <a:buNone/>
            </a:pPr>
            <a:r>
              <a:t/>
            </a:r>
            <a:endParaRPr/>
          </a:p>
        </p:txBody>
      </p:sp>
      <p:sp>
        <p:nvSpPr>
          <p:cNvPr id="1125" name="Google Shape;1125;g3cb20f13e01_0_9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3d3e78d848d_0_2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0" name="Google Shape;1140;g3d3e78d848d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3d3e78d848d_0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5" name="Google Shape;1155;g3d3e78d848d_0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cb20f13e01_0_10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Есть класс задач, относящихся к обучению без учителя (unsupervised learning), — это задачи, для которых нам известны только данные, а ответы неизвестны или вообще не существуют. Более того, часто поиск "правильных" ответов не является самоцелью. </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169" name="Google Shape;1169;g3cb20f13e01_0_10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Классическим примером обучения без учителя является кластеризация — задача разделения объектов на группы, обладающие некоторыми неизвестными нам, но, как мы в глубине души надеемся, интерпретируемыми свойствами. Примером может служить кластеризация документов из электронной библиотеки по темам или кластеризация новостей с целью выделения крупных сюжетов.</a:t>
            </a:r>
            <a:endParaRPr>
              <a:solidFill>
                <a:srgbClr val="15110E"/>
              </a:solidFill>
              <a:latin typeface="Nunito"/>
              <a:ea typeface="Nunito"/>
              <a:cs typeface="Nunito"/>
              <a:sym typeface="Nunito"/>
            </a:endParaRPr>
          </a:p>
          <a:p>
            <a:pPr indent="0" lvl="0" marL="0" rtl="0" algn="l">
              <a:lnSpc>
                <a:spcPct val="100000"/>
              </a:lnSpc>
              <a:spcBef>
                <a:spcPts val="0"/>
              </a:spcBef>
              <a:spcAft>
                <a:spcPts val="0"/>
              </a:spcAft>
              <a:buSzPts val="1400"/>
              <a:buNone/>
            </a:pPr>
            <a:r>
              <a:t/>
            </a:r>
            <a:endParaRPr/>
          </a:p>
        </p:txBody>
      </p:sp>
      <p:sp>
        <p:nvSpPr>
          <p:cNvPr id="1182" name="Google Shape;118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ru-RU"/>
              <a:t>еще класс задач. обучение с подкреплением.</a:t>
            </a:r>
            <a:r>
              <a:rPr lang="ru-RU" sz="1100">
                <a:latin typeface="Arial"/>
                <a:ea typeface="Arial"/>
                <a:cs typeface="Arial"/>
                <a:sym typeface="Arial"/>
              </a:rPr>
              <a:t> основан па том, что алгоритм за каждое свое действие получает награду или наказание.</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Здесь предсказание модели - следующее действие.Желательно самое выгодное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AlphaGo сыграл сам с собой миллионы партий.</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196" name="Google Shape;119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3cb20f13e01_0_10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ru-RU"/>
              <a:t>Однако, помимо рассмотренных задач, есть еще задачи, где ответ гораздо сложнее</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Так, в задаче сегментации изображения требуется для каждого пикселя предсказать, к какому объекту или типу объектов он относится,</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210" name="Google Shape;1210;g3cb20f13e01_0_10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cb20f13e01_0_10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 а в задаче машинного перевода мы должны сгенерировать предложение (или целый текст), являющееся переводом исходного. </a:t>
            </a:r>
            <a:endParaRPr/>
          </a:p>
        </p:txBody>
      </p:sp>
      <p:sp>
        <p:nvSpPr>
          <p:cNvPr id="1223" name="Google Shape;1223;g3cb20f13e01_0_10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Интерес представляют и задачи порождения новых объектов, то есть генерации правдоподобных объектов, из ничего или на основе уже существующих. С помощью такой модели также можно научиться увеличивать разрешение изображения и применять любимые всеми маски в соцсетях.</a:t>
            </a:r>
            <a:endParaRPr/>
          </a:p>
          <a:p>
            <a:pPr indent="0" lvl="0" marL="0" rtl="0" algn="l">
              <a:lnSpc>
                <a:spcPct val="100000"/>
              </a:lnSpc>
              <a:spcBef>
                <a:spcPts val="0"/>
              </a:spcBef>
              <a:spcAft>
                <a:spcPts val="0"/>
              </a:spcAft>
              <a:buSzPts val="1400"/>
              <a:buNone/>
            </a:pPr>
            <a:r>
              <a:t/>
            </a:r>
            <a:endParaRPr/>
          </a:p>
        </p:txBody>
      </p:sp>
      <p:sp>
        <p:nvSpPr>
          <p:cNvPr id="1236" name="Google Shape;123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3d1a00d9b9a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ru-RU" sz="1100">
                <a:latin typeface="Arial"/>
                <a:ea typeface="Arial"/>
                <a:cs typeface="Arial"/>
                <a:sym typeface="Arial"/>
              </a:rPr>
              <a:t>Теперь я расскажу вам о вашем первом серьезном проектном задании — </a:t>
            </a:r>
            <a:endParaRPr sz="1100">
              <a:latin typeface="Arial"/>
              <a:ea typeface="Arial"/>
              <a:cs typeface="Arial"/>
              <a:sym typeface="Arial"/>
            </a:endParaRPr>
          </a:p>
        </p:txBody>
      </p:sp>
      <p:sp>
        <p:nvSpPr>
          <p:cNvPr id="1248" name="Google Shape;1248;g3d1a00d9b9a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В чем суть:</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Крушение «Титаника», произошедшее 15 апреля 1912 года, — одна из самых известных морских катастроф в истории. Во время своего первого плавания лайнер столкнулся с айсбергом и затонул, унеся жизни 1502 человек из 2224 находившихся на борту. Эта трагедия потрясла мировое сообщество и привела к ужесточению правил безопасности на море.</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Одной из ключевых причин столь высокой смертности стало катастрофическое отсутствие спасательных шлюпок. Однако анализ трагедии показывает, что выживание не было случайностью. Определенные группы пассажиров имели значительно более высокие шансы на спасение: женщины, дети и представители высшего класса.</a:t>
            </a:r>
            <a:endParaRPr sz="1100">
              <a:latin typeface="Arial"/>
              <a:ea typeface="Arial"/>
              <a:cs typeface="Arial"/>
              <a:sym typeface="Arial"/>
            </a:endParaRPr>
          </a:p>
        </p:txBody>
      </p:sp>
      <p:sp>
        <p:nvSpPr>
          <p:cNvPr id="1263" name="Google Shape;126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d4a20b5c44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Нам даны данные о пассажирах "Титаника": их возраст, пол, класс билета, порт посадки и так далее.</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Задача: На основе этих данных обучить алгоритм, который предскажет для каждого пассажира из тестовой выборки: выжил он (1) или нет (0)».</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SzPts val="1100"/>
              <a:buNone/>
            </a:pPr>
            <a:r>
              <a:rPr lang="ru-RU" sz="1100">
                <a:latin typeface="Arial"/>
                <a:ea typeface="Arial"/>
                <a:cs typeface="Arial"/>
                <a:sym typeface="Arial"/>
              </a:rPr>
              <a:t>Ваша цель — не просто написать код, а пройти полный путь инженера по данным: от исследования данных до создания модели, которая предскажет, кто выживет, а кто погибнет в этой известной катастрофе</a:t>
            </a:r>
            <a:endParaRPr sz="1100">
              <a:latin typeface="Arial"/>
              <a:ea typeface="Arial"/>
              <a:cs typeface="Arial"/>
              <a:sym typeface="Arial"/>
            </a:endParaRPr>
          </a:p>
        </p:txBody>
      </p:sp>
      <p:sp>
        <p:nvSpPr>
          <p:cNvPr id="1276" name="Google Shape;1276;g3d4a20b5c44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a:t>Работа над любым проектом в области машинного обучения — это не просто написание кода. Это сложный и итеративный процесс, который требует системного подхода. Чтобы проект был успешным, необходимо пройти несколько ключевых этапов. Рассмотрим их последовательно.</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ru-RU"/>
              <a:t>1. Определение проблемы (Problem Definition)</a:t>
            </a:r>
            <a:endParaRPr/>
          </a:p>
          <a:p>
            <a:pPr indent="0" lvl="0" marL="0" rtl="0" algn="l">
              <a:lnSpc>
                <a:spcPct val="100000"/>
              </a:lnSpc>
              <a:spcBef>
                <a:spcPts val="0"/>
              </a:spcBef>
              <a:spcAft>
                <a:spcPts val="0"/>
              </a:spcAft>
              <a:buClr>
                <a:schemeClr val="dk1"/>
              </a:buClr>
              <a:buSzPts val="1100"/>
              <a:buFont typeface="Arial"/>
              <a:buNone/>
            </a:pPr>
            <a:r>
              <a:rPr lang="ru-RU"/>
              <a:t>2. Сбор данных (Data Gathering)</a:t>
            </a:r>
            <a:endParaRPr/>
          </a:p>
          <a:p>
            <a:pPr indent="0" lvl="0" marL="0" rtl="0" algn="l">
              <a:lnSpc>
                <a:spcPct val="100000"/>
              </a:lnSpc>
              <a:spcBef>
                <a:spcPts val="0"/>
              </a:spcBef>
              <a:spcAft>
                <a:spcPts val="0"/>
              </a:spcAft>
              <a:buClr>
                <a:schemeClr val="dk1"/>
              </a:buClr>
              <a:buSzPts val="1100"/>
              <a:buFont typeface="Arial"/>
              <a:buNone/>
            </a:pPr>
            <a:r>
              <a:rPr lang="ru-RU"/>
              <a:t>3. Подготовка данных (Data Preparation / Wrangling)): "Чистим" данные. Заполняем пропуски, превращаем текстовые данные (например, пол) в числа, создаем новые признаки (например, длину имени или размер семьи).</a:t>
            </a:r>
            <a:endParaRPr/>
          </a:p>
          <a:p>
            <a:pPr indent="0" lvl="0" marL="0" rtl="0" algn="l">
              <a:lnSpc>
                <a:spcPct val="100000"/>
              </a:lnSpc>
              <a:spcBef>
                <a:spcPts val="0"/>
              </a:spcBef>
              <a:spcAft>
                <a:spcPts val="0"/>
              </a:spcAft>
              <a:buClr>
                <a:schemeClr val="dk1"/>
              </a:buClr>
              <a:buSzPts val="1100"/>
              <a:buFont typeface="Arial"/>
              <a:buNone/>
            </a:pPr>
            <a:r>
              <a:rPr lang="ru-RU"/>
              <a:t>4. Исследовательский анализ (Exploratory Analysis): Знакомимся с данными. Ищем пропуски, рисуем графики, смотрим, какие признаки влияют на выживаемость.</a:t>
            </a:r>
            <a:endParaRPr/>
          </a:p>
          <a:p>
            <a:pPr indent="0" lvl="0" marL="0" rtl="0" algn="l">
              <a:lnSpc>
                <a:spcPct val="100000"/>
              </a:lnSpc>
              <a:spcBef>
                <a:spcPts val="0"/>
              </a:spcBef>
              <a:spcAft>
                <a:spcPts val="0"/>
              </a:spcAft>
              <a:buSzPts val="1100"/>
              <a:buNone/>
            </a:pPr>
            <a:r>
              <a:rPr lang="ru-RU"/>
              <a:t>5. инженерия признаков </a:t>
            </a:r>
            <a:endParaRPr/>
          </a:p>
          <a:p>
            <a:pPr indent="0" lvl="0" marL="0" rtl="0" algn="l">
              <a:lnSpc>
                <a:spcPct val="100000"/>
              </a:lnSpc>
              <a:spcBef>
                <a:spcPts val="0"/>
              </a:spcBef>
              <a:spcAft>
                <a:spcPts val="0"/>
              </a:spcAft>
              <a:buClr>
                <a:schemeClr val="dk1"/>
              </a:buClr>
              <a:buSzPts val="1100"/>
              <a:buFont typeface="Arial"/>
              <a:buNone/>
            </a:pPr>
            <a:r>
              <a:rPr lang="ru-RU"/>
              <a:t>6. обучение модели: Выбираем алгоритм (Логистическая регрессия, Random Forest, или даже нейросеть), обучаем на тренировочных данных.</a:t>
            </a:r>
            <a:endParaRPr/>
          </a:p>
          <a:p>
            <a:pPr indent="0" lvl="0" marL="0" rtl="0" algn="l">
              <a:lnSpc>
                <a:spcPct val="100000"/>
              </a:lnSpc>
              <a:spcBef>
                <a:spcPts val="0"/>
              </a:spcBef>
              <a:spcAft>
                <a:spcPts val="0"/>
              </a:spcAft>
              <a:buClr>
                <a:schemeClr val="dk1"/>
              </a:buClr>
              <a:buSzPts val="1100"/>
              <a:buFont typeface="Arial"/>
              <a:buNone/>
            </a:pPr>
            <a:r>
              <a:rPr lang="ru-RU"/>
              <a:t>7. Валидация и внедрение модели (Validation &amp; Implementation)</a:t>
            </a:r>
            <a:endParaRPr/>
          </a:p>
          <a:p>
            <a:pPr indent="0" lvl="0" marL="0" rtl="0" algn="l">
              <a:lnSpc>
                <a:spcPct val="100000"/>
              </a:lnSpc>
              <a:spcBef>
                <a:spcPts val="0"/>
              </a:spcBef>
              <a:spcAft>
                <a:spcPts val="0"/>
              </a:spcAft>
              <a:buSzPts val="1100"/>
              <a:buNone/>
            </a:pPr>
            <a:r>
              <a:rPr lang="ru-RU"/>
              <a:t>8. Оптимизация и стратегия (Optimization &amp; Strategize)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400"/>
              <a:buFont typeface="Arial"/>
              <a:buNone/>
            </a:pPr>
            <a:r>
              <a:rPr lang="ru-RU"/>
              <a:t>Работа с моделями состоит последовательно из этих этапов, однако бывают случаи, когда возможны исключения: мы можем комбинировать несколько этапов рабочего процесса; можем анализировать данные до и после обработки; выполнять этап несколько раз, например, этап EDA</a:t>
            </a:r>
            <a:endParaRPr/>
          </a:p>
          <a:p>
            <a:pPr indent="0" lvl="0" marL="0" rtl="0" algn="l">
              <a:lnSpc>
                <a:spcPct val="100000"/>
              </a:lnSpc>
              <a:spcBef>
                <a:spcPts val="0"/>
              </a:spcBef>
              <a:spcAft>
                <a:spcPts val="0"/>
              </a:spcAft>
              <a:buClr>
                <a:schemeClr val="dk1"/>
              </a:buClr>
              <a:buSzPts val="1400"/>
              <a:buFont typeface="Arial"/>
              <a:buNone/>
            </a:pPr>
            <a:r>
              <a:t/>
            </a:r>
            <a:endParaRPr/>
          </a:p>
          <a:p>
            <a:pPr indent="0" lvl="0" marL="0" rtl="0" algn="l">
              <a:lnSpc>
                <a:spcPct val="100000"/>
              </a:lnSpc>
              <a:spcBef>
                <a:spcPts val="0"/>
              </a:spcBef>
              <a:spcAft>
                <a:spcPts val="0"/>
              </a:spcAft>
              <a:buClr>
                <a:schemeClr val="dk1"/>
              </a:buClr>
              <a:buSzPts val="14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400"/>
              <a:buNone/>
            </a:pPr>
            <a:r>
              <a:t/>
            </a:r>
            <a:endParaRPr/>
          </a:p>
        </p:txBody>
      </p:sp>
      <p:sp>
        <p:nvSpPr>
          <p:cNvPr id="1289" name="Google Shape;128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d4a20b5c44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indent="0" lvl="0" marL="0" rtl="0" algn="l">
              <a:lnSpc>
                <a:spcPct val="100000"/>
              </a:lnSpc>
              <a:spcBef>
                <a:spcPts val="0"/>
              </a:spcBef>
              <a:spcAft>
                <a:spcPts val="0"/>
              </a:spcAft>
              <a:buSzPts val="1100"/>
              <a:buNone/>
            </a:pPr>
            <a:r>
              <a:t/>
            </a:r>
            <a:endParaRPr sz="1100">
              <a:latin typeface="Arial"/>
              <a:ea typeface="Arial"/>
              <a:cs typeface="Arial"/>
              <a:sym typeface="Arial"/>
            </a:endParaRPr>
          </a:p>
        </p:txBody>
      </p:sp>
      <p:sp>
        <p:nvSpPr>
          <p:cNvPr id="1301" name="Google Shape;1301;g3d4a20b5c44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3d4a20b5c44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indent="0" lvl="0" marL="0" rtl="0" algn="l">
              <a:lnSpc>
                <a:spcPct val="100000"/>
              </a:lnSpc>
              <a:spcBef>
                <a:spcPts val="0"/>
              </a:spcBef>
              <a:spcAft>
                <a:spcPts val="0"/>
              </a:spcAft>
              <a:buSzPts val="1100"/>
              <a:buNone/>
            </a:pPr>
            <a:r>
              <a:t/>
            </a:r>
            <a:endParaRPr sz="1100">
              <a:latin typeface="Arial"/>
              <a:ea typeface="Arial"/>
              <a:cs typeface="Arial"/>
              <a:sym typeface="Arial"/>
            </a:endParaRPr>
          </a:p>
        </p:txBody>
      </p:sp>
      <p:sp>
        <p:nvSpPr>
          <p:cNvPr id="1314" name="Google Shape;1314;g3d4a20b5c44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3d4a20b5c44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indent="0" lvl="0" marL="0" rtl="0" algn="l">
              <a:lnSpc>
                <a:spcPct val="100000"/>
              </a:lnSpc>
              <a:spcBef>
                <a:spcPts val="0"/>
              </a:spcBef>
              <a:spcAft>
                <a:spcPts val="0"/>
              </a:spcAft>
              <a:buSzPts val="1100"/>
              <a:buNone/>
            </a:pPr>
            <a:r>
              <a:t/>
            </a:r>
            <a:endParaRPr sz="1100">
              <a:latin typeface="Arial"/>
              <a:ea typeface="Arial"/>
              <a:cs typeface="Arial"/>
              <a:sym typeface="Arial"/>
            </a:endParaRPr>
          </a:p>
        </p:txBody>
      </p:sp>
      <p:sp>
        <p:nvSpPr>
          <p:cNvPr id="1327" name="Google Shape;1327;g3d4a20b5c44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3d4bbec988b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indent="0" lvl="0" marL="0" rtl="0" algn="l">
              <a:lnSpc>
                <a:spcPct val="100000"/>
              </a:lnSpc>
              <a:spcBef>
                <a:spcPts val="0"/>
              </a:spcBef>
              <a:spcAft>
                <a:spcPts val="0"/>
              </a:spcAft>
              <a:buSzPts val="1100"/>
              <a:buNone/>
            </a:pPr>
            <a:r>
              <a:t/>
            </a:r>
            <a:endParaRPr sz="1100">
              <a:latin typeface="Arial"/>
              <a:ea typeface="Arial"/>
              <a:cs typeface="Arial"/>
              <a:sym typeface="Arial"/>
            </a:endParaRPr>
          </a:p>
        </p:txBody>
      </p:sp>
      <p:sp>
        <p:nvSpPr>
          <p:cNvPr id="1340" name="Google Shape;1340;g3d4bbec988b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g3d4bbec988b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indent="0" lvl="0" marL="0" rtl="0" algn="l">
              <a:lnSpc>
                <a:spcPct val="100000"/>
              </a:lnSpc>
              <a:spcBef>
                <a:spcPts val="0"/>
              </a:spcBef>
              <a:spcAft>
                <a:spcPts val="0"/>
              </a:spcAft>
              <a:buSzPts val="1100"/>
              <a:buNone/>
            </a:pPr>
            <a:r>
              <a:t/>
            </a:r>
            <a:endParaRPr sz="1100">
              <a:latin typeface="Arial"/>
              <a:ea typeface="Arial"/>
              <a:cs typeface="Arial"/>
              <a:sym typeface="Arial"/>
            </a:endParaRPr>
          </a:p>
        </p:txBody>
      </p:sp>
      <p:sp>
        <p:nvSpPr>
          <p:cNvPr id="1353" name="Google Shape;1353;g3d4bbec988b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g3d4bbec988b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indent="0" lvl="0" marL="0" rtl="0" algn="l">
              <a:lnSpc>
                <a:spcPct val="100000"/>
              </a:lnSpc>
              <a:spcBef>
                <a:spcPts val="0"/>
              </a:spcBef>
              <a:spcAft>
                <a:spcPts val="0"/>
              </a:spcAft>
              <a:buSzPts val="1100"/>
              <a:buNone/>
            </a:pPr>
            <a:r>
              <a:t/>
            </a:r>
            <a:endParaRPr sz="1100">
              <a:latin typeface="Arial"/>
              <a:ea typeface="Arial"/>
              <a:cs typeface="Arial"/>
              <a:sym typeface="Arial"/>
            </a:endParaRPr>
          </a:p>
        </p:txBody>
      </p:sp>
      <p:sp>
        <p:nvSpPr>
          <p:cNvPr id="1366" name="Google Shape;1366;g3d4bbec988b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indent="0" lvl="0" marL="0" rtl="0" algn="l">
              <a:lnSpc>
                <a:spcPct val="100000"/>
              </a:lnSpc>
              <a:spcBef>
                <a:spcPts val="0"/>
              </a:spcBef>
              <a:spcAft>
                <a:spcPts val="0"/>
              </a:spcAft>
              <a:buSzPts val="1100"/>
              <a:buNone/>
            </a:pPr>
            <a:r>
              <a:t/>
            </a:r>
            <a:endParaRPr sz="1100">
              <a:latin typeface="Arial"/>
              <a:ea typeface="Arial"/>
              <a:cs typeface="Arial"/>
              <a:sym typeface="Arial"/>
            </a:endParaRPr>
          </a:p>
        </p:txBody>
      </p:sp>
      <p:sp>
        <p:nvSpPr>
          <p:cNvPr id="1380" name="Google Shape;138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indent="0" lvl="0" marL="0" rtl="0" algn="l">
              <a:lnSpc>
                <a:spcPct val="100000"/>
              </a:lnSpc>
              <a:spcBef>
                <a:spcPts val="0"/>
              </a:spcBef>
              <a:spcAft>
                <a:spcPts val="0"/>
              </a:spcAft>
              <a:buSzPts val="1100"/>
              <a:buNone/>
            </a:pPr>
            <a:r>
              <a:t/>
            </a:r>
            <a:endParaRPr sz="1100">
              <a:latin typeface="Arial"/>
              <a:ea typeface="Arial"/>
              <a:cs typeface="Arial"/>
              <a:sym typeface="Arial"/>
            </a:endParaRPr>
          </a:p>
        </p:txBody>
      </p:sp>
      <p:sp>
        <p:nvSpPr>
          <p:cNvPr id="1393" name="Google Shape;139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соревновании по машинному обучению "Titanic: Machine Learning from Disaster" на платформе Kaggle.</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тех, кто не знаком: Kaggle — это международная платформа для соревнований по Data Science. Вводна инструкция по работе с этой платформой уже опубликована на странице курса. "Титаник" — это стартовое соревнование, с которого начинают все специалисты в мире.</a:t>
            </a:r>
            <a:endParaRPr sz="1100">
              <a:latin typeface="Arial"/>
              <a:ea typeface="Arial"/>
              <a:cs typeface="Arial"/>
              <a:sym typeface="Arial"/>
            </a:endParaRPr>
          </a:p>
          <a:p>
            <a:pPr indent="0" lvl="0" marL="0" rtl="0" algn="l">
              <a:lnSpc>
                <a:spcPct val="100000"/>
              </a:lnSpc>
              <a:spcBef>
                <a:spcPts val="0"/>
              </a:spcBef>
              <a:spcAft>
                <a:spcPts val="0"/>
              </a:spcAft>
              <a:buSzPts val="1100"/>
              <a:buNone/>
            </a:pPr>
            <a:r>
              <a:t/>
            </a:r>
            <a:endParaRPr sz="1100">
              <a:latin typeface="Arial"/>
              <a:ea typeface="Arial"/>
              <a:cs typeface="Arial"/>
              <a:sym typeface="Arial"/>
            </a:endParaRPr>
          </a:p>
        </p:txBody>
      </p:sp>
      <p:sp>
        <p:nvSpPr>
          <p:cNvPr id="1406" name="Google Shape;140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g3cb20f13e01_0_10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9" name="Google Shape;1419;g3cb20f13e01_0_10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0" name="Google Shape;1420;g3cb20f13e01_0_10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ru-RU"/>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13" name="Shape 13"/>
        <p:cNvGrpSpPr/>
        <p:nvPr/>
      </p:nvGrpSpPr>
      <p:grpSpPr>
        <a:xfrm>
          <a:off x="0" y="0"/>
          <a:ext cx="0" cy="0"/>
          <a:chOff x="0" y="0"/>
          <a:chExt cx="0" cy="0"/>
        </a:xfrm>
      </p:grpSpPr>
      <p:sp>
        <p:nvSpPr>
          <p:cNvPr id="14" name="Google Shape;14;g3d4bbec988b_0_9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g3d4bbec988b_0_9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g3d4bbec988b_0_9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7" name="Google Shape;17;g3d4bbec988b_0_9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 name="Google Shape;18;g3d4bbec988b_0_9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g3d4bbec988b_0_51"/>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21" name="Google Shape;21;g3d4bbec988b_0_51"/>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22" name="Google Shape;22;g3d4bbec988b_0_5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g3d4bbec988b_0_55"/>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5" name="Google Shape;25;g3d4bbec988b_0_5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g3d4bbec988b_0_5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8" name="Google Shape;28;g3d4bbec988b_0_58"/>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9" name="Google Shape;29;g3d4bbec988b_0_5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g3d4bbec988b_0_62"/>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2" name="Google Shape;32;g3d4bbec988b_0_62"/>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3" name="Google Shape;33;g3d4bbec988b_0_62"/>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4" name="Google Shape;34;g3d4bbec988b_0_6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g3d4bbec988b_0_6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7" name="Google Shape;37;g3d4bbec988b_0_6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g3d4bbec988b_0_70"/>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40" name="Google Shape;40;g3d4bbec988b_0_70"/>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41" name="Google Shape;41;g3d4bbec988b_0_7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g3d4bbec988b_0_74"/>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44" name="Google Shape;44;g3d4bbec988b_0_7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g3d4bbec988b_0_77"/>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g3d4bbec988b_0_77"/>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48" name="Google Shape;48;g3d4bbec988b_0_77"/>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9" name="Google Shape;49;g3d4bbec988b_0_77"/>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50" name="Google Shape;50;g3d4bbec988b_0_7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 name="Shape 51"/>
        <p:cNvGrpSpPr/>
        <p:nvPr/>
      </p:nvGrpSpPr>
      <p:grpSpPr>
        <a:xfrm>
          <a:off x="0" y="0"/>
          <a:ext cx="0" cy="0"/>
          <a:chOff x="0" y="0"/>
          <a:chExt cx="0" cy="0"/>
        </a:xfrm>
      </p:grpSpPr>
      <p:sp>
        <p:nvSpPr>
          <p:cNvPr id="52" name="Google Shape;52;g3d4bbec988b_0_83"/>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2400"/>
              <a:buNone/>
              <a:defRPr/>
            </a:lvl1pPr>
          </a:lstStyle>
          <a:p/>
        </p:txBody>
      </p:sp>
      <p:sp>
        <p:nvSpPr>
          <p:cNvPr id="53" name="Google Shape;53;g3d4bbec988b_0_8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 name="Shape 54"/>
        <p:cNvGrpSpPr/>
        <p:nvPr/>
      </p:nvGrpSpPr>
      <p:grpSpPr>
        <a:xfrm>
          <a:off x="0" y="0"/>
          <a:ext cx="0" cy="0"/>
          <a:chOff x="0" y="0"/>
          <a:chExt cx="0" cy="0"/>
        </a:xfrm>
      </p:grpSpPr>
      <p:sp>
        <p:nvSpPr>
          <p:cNvPr id="55" name="Google Shape;55;g3d4bbec988b_0_86"/>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56" name="Google Shape;56;g3d4bbec988b_0_86"/>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57" name="Google Shape;57;g3d4bbec988b_0_8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g3d4bbec988b_0_9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Без лектора">
  <p:cSld name="Без лектора">
    <p:spTree>
      <p:nvGrpSpPr>
        <p:cNvPr id="60" name="Shape 6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d4bbec988b_0_4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1" name="Google Shape;11;g3d4bbec988b_0_47"/>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2" name="Google Shape;12;g3d4bbec988b_0_4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2.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image" Target="../media/image2.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2.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1.png"/><Relationship Id="rId7" Type="http://schemas.openxmlformats.org/officeDocument/2006/relationships/image" Target="../media/image17.png"/><Relationship Id="rId8"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png"/><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png"/><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png"/><Relationship Id="rId4" Type="http://schemas.openxmlformats.org/officeDocument/2006/relationships/image" Target="../media/image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png"/><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png"/><Relationship Id="rId4" Type="http://schemas.openxmlformats.org/officeDocument/2006/relationships/image" Target="../media/image7.jpg"/><Relationship Id="rId5" Type="http://schemas.openxmlformats.org/officeDocument/2006/relationships/image" Target="../media/image20.png"/><Relationship Id="rId6"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pn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png"/><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png"/><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24.png"/><Relationship Id="rId6"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png"/><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png"/><Relationship Id="rId4"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png"/><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25.png"/><Relationship Id="rId6"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png"/><Relationship Id="rId4" Type="http://schemas.openxmlformats.org/officeDocument/2006/relationships/image" Target="../media/image2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png"/><Relationship Id="rId4" Type="http://schemas.openxmlformats.org/officeDocument/2006/relationships/image" Target="../media/image2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png"/><Relationship Id="rId4" Type="http://schemas.openxmlformats.org/officeDocument/2006/relationships/image" Target="../media/image28.png"/><Relationship Id="rId5" Type="http://schemas.openxmlformats.org/officeDocument/2006/relationships/image" Target="../media/image3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2.png"/><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2.png"/><Relationship Id="rId4" Type="http://schemas.openxmlformats.org/officeDocument/2006/relationships/image" Target="../media/image2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2.png"/><Relationship Id="rId4" Type="http://schemas.openxmlformats.org/officeDocument/2006/relationships/image" Target="../media/image2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2.png"/><Relationship Id="rId4" Type="http://schemas.openxmlformats.org/officeDocument/2006/relationships/image" Target="../media/image28.png"/><Relationship Id="rId5" Type="http://schemas.openxmlformats.org/officeDocument/2006/relationships/image" Target="../media/image3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2.png"/><Relationship Id="rId4" Type="http://schemas.openxmlformats.org/officeDocument/2006/relationships/image" Target="../media/image2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2.png"/><Relationship Id="rId4" Type="http://schemas.openxmlformats.org/officeDocument/2006/relationships/image" Target="../media/image2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2.png"/><Relationship Id="rId4" Type="http://schemas.openxmlformats.org/officeDocument/2006/relationships/image" Target="../media/image30.png"/><Relationship Id="rId5" Type="http://schemas.openxmlformats.org/officeDocument/2006/relationships/image" Target="../media/image2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2.png"/><Relationship Id="rId4" Type="http://schemas.openxmlformats.org/officeDocument/2006/relationships/image" Target="../media/image30.png"/><Relationship Id="rId5" Type="http://schemas.openxmlformats.org/officeDocument/2006/relationships/image" Target="../media/image3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2.png"/><Relationship Id="rId4" Type="http://schemas.openxmlformats.org/officeDocument/2006/relationships/image" Target="../media/image30.png"/><Relationship Id="rId5" Type="http://schemas.openxmlformats.org/officeDocument/2006/relationships/image" Target="../media/image3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2.png"/><Relationship Id="rId4" Type="http://schemas.openxmlformats.org/officeDocument/2006/relationships/image" Target="../media/image3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2.png"/><Relationship Id="rId4" Type="http://schemas.openxmlformats.org/officeDocument/2006/relationships/image" Target="../media/image32.png"/><Relationship Id="rId5" Type="http://schemas.openxmlformats.org/officeDocument/2006/relationships/image" Target="../media/image4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2.png"/><Relationship Id="rId4" Type="http://schemas.openxmlformats.org/officeDocument/2006/relationships/image" Target="../media/image3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2.png"/><Relationship Id="rId4" Type="http://schemas.openxmlformats.org/officeDocument/2006/relationships/image" Target="../media/image3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2.png"/><Relationship Id="rId4" Type="http://schemas.openxmlformats.org/officeDocument/2006/relationships/image" Target="../media/image3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3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3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3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4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42.png"/><Relationship Id="rId6" Type="http://schemas.openxmlformats.org/officeDocument/2006/relationships/image" Target="../media/image4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2.png"/><Relationship Id="rId4" Type="http://schemas.openxmlformats.org/officeDocument/2006/relationships/image" Target="../media/image3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2.png"/><Relationship Id="rId4" Type="http://schemas.openxmlformats.org/officeDocument/2006/relationships/image" Target="../media/image3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2.png"/><Relationship Id="rId4" Type="http://schemas.openxmlformats.org/officeDocument/2006/relationships/image" Target="../media/image3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44.png"/><Relationship Id="rId4" Type="http://schemas.openxmlformats.org/officeDocument/2006/relationships/image" Target="../media/image1.png"/><Relationship Id="rId5"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txBox="1"/>
          <p:nvPr/>
        </p:nvSpPr>
        <p:spPr>
          <a:xfrm>
            <a:off x="1060850" y="2662300"/>
            <a:ext cx="6202500" cy="7749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000000"/>
              </a:buClr>
              <a:buSzPts val="4800"/>
              <a:buFont typeface="Arial"/>
              <a:buNone/>
            </a:pPr>
            <a:r>
              <a:rPr b="1" i="0" lang="ru-RU" sz="4400" u="none" cap="none" strike="noStrike">
                <a:solidFill>
                  <a:schemeClr val="dk1"/>
                </a:solidFill>
                <a:latin typeface="IBM Plex Sans"/>
                <a:ea typeface="IBM Plex Sans"/>
                <a:cs typeface="IBM Plex Sans"/>
                <a:sym typeface="IBM Plex Sans"/>
              </a:rPr>
              <a:t>Вводная информация</a:t>
            </a:r>
            <a:endParaRPr b="1" i="0" sz="4400" u="none" cap="none" strike="noStrike">
              <a:solidFill>
                <a:schemeClr val="dk1"/>
              </a:solidFill>
              <a:latin typeface="IBM Plex Sans"/>
              <a:ea typeface="IBM Plex Sans"/>
              <a:cs typeface="IBM Plex Sans"/>
              <a:sym typeface="IBM Plex Sans"/>
            </a:endParaRPr>
          </a:p>
        </p:txBody>
      </p:sp>
      <p:sp>
        <p:nvSpPr>
          <p:cNvPr id="66" name="Google Shape;66;p2"/>
          <p:cNvSpPr txBox="1"/>
          <p:nvPr/>
        </p:nvSpPr>
        <p:spPr>
          <a:xfrm>
            <a:off x="1060857" y="6033838"/>
            <a:ext cx="3771900" cy="235500"/>
          </a:xfrm>
          <a:prstGeom prst="rect">
            <a:avLst/>
          </a:prstGeom>
          <a:noFill/>
          <a:ln>
            <a:noFill/>
          </a:ln>
        </p:spPr>
        <p:txBody>
          <a:bodyPr anchorCtr="0" anchor="t" bIns="0" lIns="0" spcFirstLastPara="1" rIns="0" wrap="square" tIns="19875">
            <a:spAutoFit/>
          </a:bodyPr>
          <a:lstStyle/>
          <a:p>
            <a:pPr indent="0" lvl="0" marL="20942" marR="8377" rtl="0" algn="l">
              <a:lnSpc>
                <a:spcPct val="12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ularionova@mail.tsu.ru</a:t>
            </a:r>
            <a:endParaRPr b="0" i="0" sz="1400" u="none" cap="none" strike="noStrike">
              <a:solidFill>
                <a:schemeClr val="dk1"/>
              </a:solidFill>
              <a:latin typeface="IBM Plex Sans"/>
              <a:ea typeface="IBM Plex Sans"/>
              <a:cs typeface="IBM Plex Sans"/>
              <a:sym typeface="IBM Plex Sans"/>
            </a:endParaRPr>
          </a:p>
        </p:txBody>
      </p:sp>
      <p:sp>
        <p:nvSpPr>
          <p:cNvPr id="67" name="Google Shape;67;p2"/>
          <p:cNvSpPr txBox="1"/>
          <p:nvPr/>
        </p:nvSpPr>
        <p:spPr>
          <a:xfrm>
            <a:off x="1060857" y="5282291"/>
            <a:ext cx="4032300" cy="561900"/>
          </a:xfrm>
          <a:prstGeom prst="rect">
            <a:avLst/>
          </a:prstGeom>
          <a:noFill/>
          <a:ln>
            <a:noFill/>
          </a:ln>
        </p:spPr>
        <p:txBody>
          <a:bodyPr anchorCtr="0" anchor="t" bIns="0" lIns="0" spcFirstLastPara="1" rIns="0" wrap="square" tIns="19875">
            <a:spAutoFit/>
          </a:bodyPr>
          <a:lstStyle/>
          <a:p>
            <a:pPr indent="0" lvl="0" marL="20942" marR="8377" rtl="0" algn="l">
              <a:lnSpc>
                <a:spcPct val="12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Ларионова Ульяна</a:t>
            </a:r>
            <a:endParaRPr b="0" i="0" sz="1400" u="none" cap="none" strike="noStrike">
              <a:solidFill>
                <a:srgbClr val="000000"/>
              </a:solidFill>
              <a:latin typeface="Arial"/>
              <a:ea typeface="Arial"/>
              <a:cs typeface="Arial"/>
              <a:sym typeface="Arial"/>
            </a:endParaRPr>
          </a:p>
          <a:p>
            <a:pPr indent="0" lvl="0" marL="20942" marR="8377" rtl="0" algn="l">
              <a:lnSpc>
                <a:spcPct val="12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Преподаватель</a:t>
            </a:r>
            <a:endParaRPr b="0" i="0" sz="1600" u="none" cap="none" strike="noStrike">
              <a:solidFill>
                <a:schemeClr val="dk1"/>
              </a:solidFill>
              <a:latin typeface="IBM Plex Sans"/>
              <a:ea typeface="IBM Plex Sans"/>
              <a:cs typeface="IBM Plex Sans"/>
              <a:sym typeface="IBM Plex Sans"/>
            </a:endParaRPr>
          </a:p>
        </p:txBody>
      </p:sp>
      <p:pic>
        <p:nvPicPr>
          <p:cNvPr id="68" name="Google Shape;68;p2"/>
          <p:cNvPicPr preferRelativeResize="0"/>
          <p:nvPr/>
        </p:nvPicPr>
        <p:blipFill rotWithShape="1">
          <a:blip r:embed="rId3">
            <a:alphaModFix/>
          </a:blip>
          <a:srcRect b="0" l="0" r="0" t="0"/>
          <a:stretch/>
        </p:blipFill>
        <p:spPr>
          <a:xfrm>
            <a:off x="1055688" y="285516"/>
            <a:ext cx="677246" cy="774960"/>
          </a:xfrm>
          <a:prstGeom prst="rect">
            <a:avLst/>
          </a:prstGeom>
          <a:noFill/>
          <a:ln>
            <a:noFill/>
          </a:ln>
        </p:spPr>
      </p:pic>
      <p:grpSp>
        <p:nvGrpSpPr>
          <p:cNvPr id="69" name="Google Shape;69;p2"/>
          <p:cNvGrpSpPr/>
          <p:nvPr/>
        </p:nvGrpSpPr>
        <p:grpSpPr>
          <a:xfrm>
            <a:off x="9353973" y="-1553420"/>
            <a:ext cx="2854020" cy="13716631"/>
            <a:chOff x="9353973" y="-1553420"/>
            <a:chExt cx="2854020" cy="13716631"/>
          </a:xfrm>
        </p:grpSpPr>
        <p:grpSp>
          <p:nvGrpSpPr>
            <p:cNvPr id="70" name="Google Shape;70;p2"/>
            <p:cNvGrpSpPr/>
            <p:nvPr/>
          </p:nvGrpSpPr>
          <p:grpSpPr>
            <a:xfrm>
              <a:off x="9353973" y="-1553420"/>
              <a:ext cx="2838027" cy="13716631"/>
              <a:chOff x="9353973" y="-6079700"/>
              <a:chExt cx="2838027" cy="13716631"/>
            </a:xfrm>
          </p:grpSpPr>
          <p:pic>
            <p:nvPicPr>
              <p:cNvPr id="71" name="Google Shape;71;p2"/>
              <p:cNvPicPr preferRelativeResize="0"/>
              <p:nvPr/>
            </p:nvPicPr>
            <p:blipFill rotWithShape="1">
              <a:blip r:embed="rId4">
                <a:alphaModFix/>
              </a:blip>
              <a:srcRect b="0" l="1283" r="0" t="0"/>
              <a:stretch/>
            </p:blipFill>
            <p:spPr>
              <a:xfrm>
                <a:off x="9353973" y="778933"/>
                <a:ext cx="2838027" cy="6857998"/>
              </a:xfrm>
              <a:prstGeom prst="rect">
                <a:avLst/>
              </a:prstGeom>
              <a:noFill/>
              <a:ln>
                <a:noFill/>
              </a:ln>
            </p:spPr>
          </p:pic>
          <p:pic>
            <p:nvPicPr>
              <p:cNvPr id="72" name="Google Shape;72;p2"/>
              <p:cNvPicPr preferRelativeResize="0"/>
              <p:nvPr/>
            </p:nvPicPr>
            <p:blipFill rotWithShape="1">
              <a:blip r:embed="rId4">
                <a:alphaModFix/>
              </a:blip>
              <a:srcRect b="0" l="1283" r="0" t="0"/>
              <a:stretch/>
            </p:blipFill>
            <p:spPr>
              <a:xfrm>
                <a:off x="9353973" y="-6079700"/>
                <a:ext cx="2838027" cy="6857998"/>
              </a:xfrm>
              <a:prstGeom prst="rect">
                <a:avLst/>
              </a:prstGeom>
              <a:noFill/>
              <a:ln>
                <a:noFill/>
              </a:ln>
            </p:spPr>
          </p:pic>
        </p:grpSp>
        <p:sp>
          <p:nvSpPr>
            <p:cNvPr id="73" name="Google Shape;73;p2"/>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 name="Google Shape;74;p2"/>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3cb2c61a5be_0_15"/>
          <p:cNvSpPr txBox="1"/>
          <p:nvPr/>
        </p:nvSpPr>
        <p:spPr>
          <a:xfrm>
            <a:off x="1055700" y="2366907"/>
            <a:ext cx="5365800" cy="32010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chemeClr val="dk1"/>
              </a:buClr>
              <a:buSzPts val="1100"/>
              <a:buFont typeface="Arial"/>
              <a:buNone/>
            </a:pPr>
            <a:r>
              <a:rPr b="0" i="0" lang="ru-RU" sz="1900" u="none" cap="none" strike="noStrike">
                <a:solidFill>
                  <a:schemeClr val="dk1"/>
                </a:solidFill>
                <a:latin typeface="IBM Plex Sans"/>
                <a:ea typeface="IBM Plex Sans"/>
                <a:cs typeface="IBM Plex Sans"/>
                <a:sym typeface="IBM Plex Sans"/>
              </a:rPr>
              <a:t>Главная цель: понять, как устроена работа над ML-проектом в реальных условиях.</a:t>
            </a:r>
            <a:endParaRPr b="0" i="0" sz="19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t/>
            </a:r>
            <a:endParaRPr b="0" i="0" sz="19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1" i="0" lang="ru-RU" sz="1900" u="none" cap="none" strike="noStrike">
                <a:solidFill>
                  <a:schemeClr val="dk1"/>
                </a:solidFill>
                <a:latin typeface="IBM Plex Sans"/>
                <a:ea typeface="IBM Plex Sans"/>
                <a:cs typeface="IBM Plex Sans"/>
                <a:sym typeface="IBM Plex Sans"/>
              </a:rPr>
              <a:t>Организация работы</a:t>
            </a:r>
            <a:endParaRPr b="0" i="0" sz="19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0" i="0" lang="ru-RU" sz="1900" u="none" cap="none" strike="noStrike">
                <a:solidFill>
                  <a:schemeClr val="dk1"/>
                </a:solidFill>
                <a:latin typeface="IBM Plex Sans"/>
                <a:ea typeface="IBM Plex Sans"/>
                <a:cs typeface="IBM Plex Sans"/>
                <a:sym typeface="IBM Plex Sans"/>
              </a:rPr>
              <a:t>Формат: Проектная деятельность.</a:t>
            </a:r>
            <a:endParaRPr b="0" i="0" sz="19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0" i="0" lang="ru-RU" sz="1900" u="none" cap="none" strike="noStrike">
                <a:solidFill>
                  <a:schemeClr val="dk1"/>
                </a:solidFill>
                <a:latin typeface="IBM Plex Sans"/>
                <a:ea typeface="IBM Plex Sans"/>
                <a:cs typeface="IBM Plex Sans"/>
                <a:sym typeface="IBM Plex Sans"/>
              </a:rPr>
              <a:t>Команды: Группы по 3–4 человека.</a:t>
            </a:r>
            <a:endParaRPr b="0" i="0" sz="19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0" i="0" lang="ru-RU" sz="1900" u="none" cap="none" strike="noStrike">
                <a:solidFill>
                  <a:schemeClr val="dk1"/>
                </a:solidFill>
                <a:latin typeface="IBM Plex Sans"/>
                <a:ea typeface="IBM Plex Sans"/>
                <a:cs typeface="IBM Plex Sans"/>
                <a:sym typeface="IBM Plex Sans"/>
              </a:rPr>
              <a:t>Проект: Titanc. Предскать, кто выжил</a:t>
            </a:r>
            <a:endParaRPr b="0" i="0" sz="19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t/>
            </a:r>
            <a:endParaRPr b="0" i="0" sz="19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0" i="0" lang="ru-RU" sz="1900" u="none" cap="none" strike="noStrike">
                <a:solidFill>
                  <a:schemeClr val="dk1"/>
                </a:solidFill>
                <a:latin typeface="IBM Plex Sans"/>
                <a:ea typeface="IBM Plex Sans"/>
                <a:cs typeface="IBM Plex Sans"/>
                <a:sym typeface="IBM Plex Sans"/>
              </a:rPr>
              <a:t>Структура и расписание:</a:t>
            </a:r>
            <a:endParaRPr b="0" i="0" sz="1900" u="none" cap="none" strike="noStrike">
              <a:solidFill>
                <a:schemeClr val="dk1"/>
              </a:solidFill>
              <a:latin typeface="IBM Plex Sans"/>
              <a:ea typeface="IBM Plex Sans"/>
              <a:cs typeface="IBM Plex Sans"/>
              <a:sym typeface="IBM Plex Sans"/>
            </a:endParaRPr>
          </a:p>
          <a:p>
            <a:pPr indent="-349250" lvl="0" marL="457200" marR="0" rtl="0" algn="l">
              <a:lnSpc>
                <a:spcPct val="70000"/>
              </a:lnSpc>
              <a:spcBef>
                <a:spcPts val="0"/>
              </a:spcBef>
              <a:spcAft>
                <a:spcPts val="0"/>
              </a:spcAft>
              <a:buClr>
                <a:schemeClr val="dk1"/>
              </a:buClr>
              <a:buSzPts val="1900"/>
              <a:buFont typeface="IBM Plex Sans"/>
              <a:buChar char="●"/>
            </a:pPr>
            <a:r>
              <a:rPr b="0" i="0" lang="ru-RU" sz="1900" u="none" cap="none" strike="noStrike">
                <a:solidFill>
                  <a:schemeClr val="dk1"/>
                </a:solidFill>
                <a:latin typeface="IBM Plex Sans"/>
                <a:ea typeface="IBM Plex Sans"/>
                <a:cs typeface="IBM Plex Sans"/>
                <a:sym typeface="IBM Plex Sans"/>
              </a:rPr>
              <a:t>установочная лекция (сегодня).</a:t>
            </a:r>
            <a:endParaRPr b="0" i="0" sz="1900" u="none" cap="none" strike="noStrike">
              <a:solidFill>
                <a:schemeClr val="dk1"/>
              </a:solidFill>
              <a:latin typeface="IBM Plex Sans"/>
              <a:ea typeface="IBM Plex Sans"/>
              <a:cs typeface="IBM Plex Sans"/>
              <a:sym typeface="IBM Plex Sans"/>
            </a:endParaRPr>
          </a:p>
          <a:p>
            <a:pPr indent="-349250" lvl="0" marL="457200" marR="0" rtl="0" algn="l">
              <a:lnSpc>
                <a:spcPct val="70000"/>
              </a:lnSpc>
              <a:spcBef>
                <a:spcPts val="0"/>
              </a:spcBef>
              <a:spcAft>
                <a:spcPts val="0"/>
              </a:spcAft>
              <a:buClr>
                <a:schemeClr val="dk1"/>
              </a:buClr>
              <a:buSzPts val="1900"/>
              <a:buFont typeface="IBM Plex Sans"/>
              <a:buChar char="●"/>
            </a:pPr>
            <a:r>
              <a:rPr b="0" i="0" lang="ru-RU" sz="1900" u="none" cap="none" strike="noStrike">
                <a:solidFill>
                  <a:schemeClr val="dk1"/>
                </a:solidFill>
                <a:latin typeface="IBM Plex Sans"/>
                <a:ea typeface="IBM Plex Sans"/>
                <a:cs typeface="IBM Plex Sans"/>
                <a:sym typeface="IBM Plex Sans"/>
              </a:rPr>
              <a:t>Практики (по средам): командная работа над проектом.</a:t>
            </a:r>
            <a:endParaRPr b="0" i="0" sz="1900" u="none" cap="none" strike="noStrike">
              <a:solidFill>
                <a:schemeClr val="dk1"/>
              </a:solidFill>
              <a:latin typeface="IBM Plex Sans"/>
              <a:ea typeface="IBM Plex Sans"/>
              <a:cs typeface="IBM Plex Sans"/>
              <a:sym typeface="IBM Plex Sans"/>
            </a:endParaRPr>
          </a:p>
          <a:p>
            <a:pPr indent="-349250" lvl="0" marL="457200" marR="0" rtl="0" algn="l">
              <a:lnSpc>
                <a:spcPct val="70000"/>
              </a:lnSpc>
              <a:spcBef>
                <a:spcPts val="0"/>
              </a:spcBef>
              <a:spcAft>
                <a:spcPts val="0"/>
              </a:spcAft>
              <a:buClr>
                <a:schemeClr val="dk1"/>
              </a:buClr>
              <a:buSzPts val="1900"/>
              <a:buFont typeface="IBM Plex Sans"/>
              <a:buChar char="●"/>
            </a:pPr>
            <a:r>
              <a:rPr b="0" i="0" lang="ru-RU" sz="1900" u="none" cap="none" strike="noStrike">
                <a:solidFill>
                  <a:schemeClr val="dk1"/>
                </a:solidFill>
                <a:latin typeface="IBM Plex Sans"/>
                <a:ea typeface="IBM Plex Sans"/>
                <a:cs typeface="IBM Plex Sans"/>
                <a:sym typeface="IBM Plex Sans"/>
              </a:rPr>
              <a:t>Итоговая сдача проекта</a:t>
            </a:r>
            <a:endParaRPr b="0" i="0" sz="19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t/>
            </a:r>
            <a:endParaRPr b="0" i="0" sz="19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1900" u="none" cap="none" strike="noStrike">
              <a:solidFill>
                <a:schemeClr val="dk1"/>
              </a:solidFill>
              <a:latin typeface="IBM Plex Sans"/>
              <a:ea typeface="IBM Plex Sans"/>
              <a:cs typeface="IBM Plex Sans"/>
              <a:sym typeface="IBM Plex Sans"/>
            </a:endParaRPr>
          </a:p>
        </p:txBody>
      </p:sp>
      <p:sp>
        <p:nvSpPr>
          <p:cNvPr id="80" name="Google Shape;80;g3cb2c61a5be_0_15"/>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Про курс</a:t>
            </a:r>
            <a:endParaRPr b="1" i="0" sz="3600" u="none" cap="none" strike="noStrike">
              <a:solidFill>
                <a:schemeClr val="dk1"/>
              </a:solidFill>
              <a:latin typeface="IBM Plex Sans"/>
              <a:ea typeface="IBM Plex Sans"/>
              <a:cs typeface="IBM Plex Sans"/>
              <a:sym typeface="IBM Plex Sans"/>
            </a:endParaRPr>
          </a:p>
        </p:txBody>
      </p:sp>
      <p:sp>
        <p:nvSpPr>
          <p:cNvPr id="81" name="Google Shape;81;g3cb2c61a5be_0_15"/>
          <p:cNvSpPr txBox="1"/>
          <p:nvPr/>
        </p:nvSpPr>
        <p:spPr>
          <a:xfrm>
            <a:off x="7088000" y="32855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grpSp>
        <p:nvGrpSpPr>
          <p:cNvPr id="82" name="Google Shape;82;g3cb2c61a5be_0_15"/>
          <p:cNvGrpSpPr/>
          <p:nvPr/>
        </p:nvGrpSpPr>
        <p:grpSpPr>
          <a:xfrm>
            <a:off x="9353973" y="-1553420"/>
            <a:ext cx="2854020" cy="13716631"/>
            <a:chOff x="9353973" y="-1553420"/>
            <a:chExt cx="2854020" cy="13716631"/>
          </a:xfrm>
        </p:grpSpPr>
        <p:grpSp>
          <p:nvGrpSpPr>
            <p:cNvPr id="83" name="Google Shape;83;g3cb2c61a5be_0_15"/>
            <p:cNvGrpSpPr/>
            <p:nvPr/>
          </p:nvGrpSpPr>
          <p:grpSpPr>
            <a:xfrm>
              <a:off x="9353973" y="-1553420"/>
              <a:ext cx="2838027" cy="13716631"/>
              <a:chOff x="9353973" y="-6079700"/>
              <a:chExt cx="2838027" cy="13716631"/>
            </a:xfrm>
          </p:grpSpPr>
          <p:pic>
            <p:nvPicPr>
              <p:cNvPr id="84" name="Google Shape;84;g3cb2c61a5be_0_15"/>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85" name="Google Shape;85;g3cb2c61a5be_0_15"/>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86" name="Google Shape;86;g3cb2c61a5be_0_15"/>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 name="Google Shape;87;g3cb2c61a5be_0_15"/>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88" name="Google Shape;88;g3cb2c61a5be_0_15"/>
          <p:cNvPicPr preferRelativeResize="0"/>
          <p:nvPr/>
        </p:nvPicPr>
        <p:blipFill rotWithShape="1">
          <a:blip r:embed="rId4">
            <a:alphaModFix/>
          </a:blip>
          <a:srcRect b="0" l="0" r="0" t="35338"/>
          <a:stretch/>
        </p:blipFill>
        <p:spPr>
          <a:xfrm>
            <a:off x="7088000" y="531175"/>
            <a:ext cx="2678448" cy="2627674"/>
          </a:xfrm>
          <a:prstGeom prst="rect">
            <a:avLst/>
          </a:prstGeom>
          <a:noFill/>
          <a:ln>
            <a:noFill/>
          </a:ln>
        </p:spPr>
      </p:pic>
      <p:pic>
        <p:nvPicPr>
          <p:cNvPr id="89" name="Google Shape;89;g3cb2c61a5be_0_15"/>
          <p:cNvPicPr preferRelativeResize="0"/>
          <p:nvPr/>
        </p:nvPicPr>
        <p:blipFill rotWithShape="1">
          <a:blip r:embed="rId5">
            <a:alphaModFix/>
          </a:blip>
          <a:srcRect b="0" l="0" r="0" t="0"/>
          <a:stretch/>
        </p:blipFill>
        <p:spPr>
          <a:xfrm>
            <a:off x="7113388" y="3457600"/>
            <a:ext cx="2627673" cy="262767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d1a00d9b9a_0_9"/>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Система оценивания</a:t>
            </a:r>
            <a:endParaRPr b="1" i="0" sz="3600" u="none" cap="none" strike="noStrike">
              <a:solidFill>
                <a:schemeClr val="dk1"/>
              </a:solidFill>
              <a:latin typeface="IBM Plex Sans"/>
              <a:ea typeface="IBM Plex Sans"/>
              <a:cs typeface="IBM Plex Sans"/>
              <a:sym typeface="IBM Plex Sans"/>
            </a:endParaRPr>
          </a:p>
        </p:txBody>
      </p:sp>
      <p:sp>
        <p:nvSpPr>
          <p:cNvPr id="95" name="Google Shape;95;g3d1a00d9b9a_0_9"/>
          <p:cNvSpPr txBox="1"/>
          <p:nvPr/>
        </p:nvSpPr>
        <p:spPr>
          <a:xfrm>
            <a:off x="1055688" y="2366937"/>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chemeClr val="dk1"/>
              </a:buClr>
              <a:buSzPts val="1100"/>
              <a:buFont typeface="Arial"/>
              <a:buNone/>
            </a:pPr>
            <a:r>
              <a:rPr b="0" i="0" lang="ru-RU" sz="1600" u="none" cap="none" strike="noStrike">
                <a:solidFill>
                  <a:schemeClr val="dk1"/>
                </a:solidFill>
                <a:latin typeface="IBM Plex Sans"/>
                <a:ea typeface="IBM Plex Sans"/>
                <a:cs typeface="IBM Plex Sans"/>
                <a:sym typeface="IBM Plex Sans"/>
              </a:rPr>
              <a:t>Максимум за проект: 100 баллов</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0" i="0" lang="ru-RU" sz="1600" u="none" cap="none" strike="noStrike">
                <a:solidFill>
                  <a:schemeClr val="dk1"/>
                </a:solidFill>
                <a:latin typeface="IBM Plex Sans"/>
                <a:ea typeface="IBM Plex Sans"/>
                <a:cs typeface="IBM Plex Sans"/>
                <a:sym typeface="IBM Plex Sans"/>
              </a:rPr>
              <a:t>Порог для зачета:  60 баллов</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1" i="0" lang="ru-RU" sz="1600" u="none" cap="none" strike="noStrike">
                <a:solidFill>
                  <a:schemeClr val="dk1"/>
                </a:solidFill>
                <a:latin typeface="IBM Plex Sans"/>
                <a:ea typeface="IBM Plex Sans"/>
                <a:cs typeface="IBM Plex Sans"/>
                <a:sym typeface="IBM Plex Sans"/>
              </a:rPr>
              <a:t>Структура оценки:</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0" i="0" lang="ru-RU" sz="1600" u="none" cap="none" strike="noStrike">
                <a:solidFill>
                  <a:schemeClr val="dk1"/>
                </a:solidFill>
                <a:latin typeface="IBM Plex Sans"/>
                <a:ea typeface="IBM Plex Sans"/>
                <a:cs typeface="IBM Plex Sans"/>
                <a:sym typeface="IBM Plex Sans"/>
              </a:rPr>
              <a:t>Качество модели — максимум 50 баллов</a:t>
            </a:r>
            <a:endParaRPr b="1"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0" i="0" lang="ru-RU" sz="1600" u="none" cap="none" strike="noStrike">
                <a:solidFill>
                  <a:schemeClr val="dk1"/>
                </a:solidFill>
                <a:latin typeface="IBM Plex Sans"/>
                <a:ea typeface="IBM Plex Sans"/>
                <a:cs typeface="IBM Plex Sans"/>
                <a:sym typeface="IBM Plex Sans"/>
              </a:rPr>
              <a:t>За проект — максимум 50 баллов</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1" i="0" lang="ru-RU" sz="1600" u="none" cap="none" strike="noStrike">
                <a:solidFill>
                  <a:schemeClr val="dk1"/>
                </a:solidFill>
                <a:latin typeface="IBM Plex Sans"/>
                <a:ea typeface="IBM Plex Sans"/>
                <a:cs typeface="IBM Plex Sans"/>
                <a:sym typeface="IBM Plex Sans"/>
              </a:rPr>
              <a:t>Итоговая сдача:</a:t>
            </a:r>
            <a:endParaRPr b="1"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0" i="0" lang="ru-RU" sz="1600" u="none" cap="none" strike="noStrike">
                <a:solidFill>
                  <a:schemeClr val="dk1"/>
                </a:solidFill>
                <a:latin typeface="IBM Plex Sans"/>
                <a:ea typeface="IBM Plex Sans"/>
                <a:cs typeface="IBM Plex Sans"/>
                <a:sym typeface="IBM Plex Sans"/>
              </a:rPr>
              <a:t>Командная защита проекта.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1" i="0" lang="ru-RU" sz="1600" u="none" cap="none" strike="noStrike">
                <a:solidFill>
                  <a:schemeClr val="dk1"/>
                </a:solidFill>
                <a:latin typeface="IBM Plex Sans"/>
                <a:ea typeface="IBM Plex Sans"/>
                <a:cs typeface="IBM Plex Sans"/>
                <a:sym typeface="IBM Plex Sans"/>
              </a:rPr>
              <a:t>Контроль прогресса:</a:t>
            </a:r>
            <a:endParaRPr b="1"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0" i="0" lang="ru-RU" sz="1600" u="none" cap="none" strike="noStrike">
                <a:solidFill>
                  <a:schemeClr val="dk1"/>
                </a:solidFill>
                <a:latin typeface="IBM Plex Sans"/>
                <a:ea typeface="IBM Plex Sans"/>
                <a:cs typeface="IBM Plex Sans"/>
                <a:sym typeface="IBM Plex Sans"/>
              </a:rPr>
              <a:t>Необходимо 2 показа прогресса до итоговой сдачи:</a:t>
            </a:r>
            <a:endParaRPr b="0" i="0" sz="1600" u="none" cap="none" strike="noStrike">
              <a:solidFill>
                <a:schemeClr val="dk1"/>
              </a:solidFill>
              <a:latin typeface="IBM Plex Sans"/>
              <a:ea typeface="IBM Plex Sans"/>
              <a:cs typeface="IBM Plex Sans"/>
              <a:sym typeface="IBM Plex Sans"/>
            </a:endParaRPr>
          </a:p>
          <a:p>
            <a:pPr indent="-330200" lvl="0" marL="457200" marR="0" rtl="0" algn="l">
              <a:lnSpc>
                <a:spcPct val="70000"/>
              </a:lnSpc>
              <a:spcBef>
                <a:spcPts val="0"/>
              </a:spcBef>
              <a:spcAft>
                <a:spcPts val="0"/>
              </a:spcAft>
              <a:buClr>
                <a:schemeClr val="dk1"/>
              </a:buClr>
              <a:buSzPts val="1600"/>
              <a:buFont typeface="IBM Plex Sans"/>
              <a:buChar char="●"/>
            </a:pPr>
            <a:r>
              <a:rPr b="0" i="0" lang="ru-RU" sz="1600" u="none" cap="none" strike="noStrike">
                <a:solidFill>
                  <a:schemeClr val="dk1"/>
                </a:solidFill>
                <a:latin typeface="IBM Plex Sans"/>
                <a:ea typeface="IBM Plex Sans"/>
                <a:cs typeface="IBM Plex Sans"/>
                <a:sym typeface="IBM Plex Sans"/>
              </a:rPr>
              <a:t>1-й показ — в первой половине курса</a:t>
            </a:r>
            <a:endParaRPr b="0" i="0" sz="1600" u="none" cap="none" strike="noStrike">
              <a:solidFill>
                <a:schemeClr val="dk1"/>
              </a:solidFill>
              <a:latin typeface="IBM Plex Sans"/>
              <a:ea typeface="IBM Plex Sans"/>
              <a:cs typeface="IBM Plex Sans"/>
              <a:sym typeface="IBM Plex Sans"/>
            </a:endParaRPr>
          </a:p>
          <a:p>
            <a:pPr indent="-330200" lvl="0" marL="457200" marR="0" rtl="0" algn="l">
              <a:lnSpc>
                <a:spcPct val="70000"/>
              </a:lnSpc>
              <a:spcBef>
                <a:spcPts val="0"/>
              </a:spcBef>
              <a:spcAft>
                <a:spcPts val="0"/>
              </a:spcAft>
              <a:buClr>
                <a:schemeClr val="dk1"/>
              </a:buClr>
              <a:buSzPts val="1600"/>
              <a:buFont typeface="IBM Plex Sans"/>
              <a:buChar char="●"/>
            </a:pPr>
            <a:r>
              <a:rPr b="0" i="0" lang="ru-RU" sz="1600" u="none" cap="none" strike="noStrike">
                <a:solidFill>
                  <a:schemeClr val="dk1"/>
                </a:solidFill>
                <a:latin typeface="IBM Plex Sans"/>
                <a:ea typeface="IBM Plex Sans"/>
                <a:cs typeface="IBM Plex Sans"/>
                <a:sym typeface="IBM Plex Sans"/>
              </a:rPr>
              <a:t>2-й показ — во второй половине курса</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0" i="0" lang="ru-RU" sz="1600" u="none" cap="none" strike="noStrike">
                <a:solidFill>
                  <a:schemeClr val="dk1"/>
                </a:solidFill>
                <a:latin typeface="IBM Plex Sans"/>
                <a:ea typeface="IBM Plex Sans"/>
                <a:cs typeface="IBM Plex Sans"/>
                <a:sym typeface="IBM Plex Sans"/>
              </a:rPr>
              <a:t>Штраф: за отсутствие показа прогресса –20 баллов к итоговой оценке.</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t/>
            </a:r>
            <a:endParaRPr b="0" i="0" sz="1600" u="none" cap="none" strike="noStrike">
              <a:solidFill>
                <a:schemeClr val="dk1"/>
              </a:solidFill>
              <a:latin typeface="IBM Plex Sans"/>
              <a:ea typeface="IBM Plex Sans"/>
              <a:cs typeface="IBM Plex Sans"/>
              <a:sym typeface="IBM Plex Sans"/>
            </a:endParaRPr>
          </a:p>
        </p:txBody>
      </p:sp>
      <p:sp>
        <p:nvSpPr>
          <p:cNvPr id="96" name="Google Shape;96;g3d1a00d9b9a_0_9"/>
          <p:cNvSpPr txBox="1"/>
          <p:nvPr/>
        </p:nvSpPr>
        <p:spPr>
          <a:xfrm>
            <a:off x="7088000" y="32855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pic>
        <p:nvPicPr>
          <p:cNvPr id="97" name="Google Shape;97;g3d1a00d9b9a_0_9"/>
          <p:cNvPicPr preferRelativeResize="0"/>
          <p:nvPr/>
        </p:nvPicPr>
        <p:blipFill rotWithShape="1">
          <a:blip r:embed="rId3">
            <a:alphaModFix/>
          </a:blip>
          <a:srcRect b="0" l="0" r="0" t="0"/>
          <a:stretch/>
        </p:blipFill>
        <p:spPr>
          <a:xfrm>
            <a:off x="8826215" y="354856"/>
            <a:ext cx="2867441" cy="2867441"/>
          </a:xfrm>
          <a:prstGeom prst="rect">
            <a:avLst/>
          </a:prstGeom>
          <a:noFill/>
          <a:ln>
            <a:noFill/>
          </a:ln>
        </p:spPr>
      </p:pic>
      <p:grpSp>
        <p:nvGrpSpPr>
          <p:cNvPr id="98" name="Google Shape;98;g3d1a00d9b9a_0_9"/>
          <p:cNvGrpSpPr/>
          <p:nvPr/>
        </p:nvGrpSpPr>
        <p:grpSpPr>
          <a:xfrm>
            <a:off x="9353973" y="-1553420"/>
            <a:ext cx="2854020" cy="13716631"/>
            <a:chOff x="9353973" y="-1553420"/>
            <a:chExt cx="2854020" cy="13716631"/>
          </a:xfrm>
        </p:grpSpPr>
        <p:grpSp>
          <p:nvGrpSpPr>
            <p:cNvPr id="99" name="Google Shape;99;g3d1a00d9b9a_0_9"/>
            <p:cNvGrpSpPr/>
            <p:nvPr/>
          </p:nvGrpSpPr>
          <p:grpSpPr>
            <a:xfrm>
              <a:off x="9353973" y="-1553420"/>
              <a:ext cx="2838027" cy="13716631"/>
              <a:chOff x="9353973" y="-6079700"/>
              <a:chExt cx="2838027" cy="13716631"/>
            </a:xfrm>
          </p:grpSpPr>
          <p:pic>
            <p:nvPicPr>
              <p:cNvPr id="100" name="Google Shape;100;g3d1a00d9b9a_0_9"/>
              <p:cNvPicPr preferRelativeResize="0"/>
              <p:nvPr/>
            </p:nvPicPr>
            <p:blipFill rotWithShape="1">
              <a:blip r:embed="rId4">
                <a:alphaModFix/>
              </a:blip>
              <a:srcRect b="0" l="1283" r="0" t="0"/>
              <a:stretch/>
            </p:blipFill>
            <p:spPr>
              <a:xfrm>
                <a:off x="9353973" y="778933"/>
                <a:ext cx="2838027" cy="6857998"/>
              </a:xfrm>
              <a:prstGeom prst="rect">
                <a:avLst/>
              </a:prstGeom>
              <a:noFill/>
              <a:ln>
                <a:noFill/>
              </a:ln>
            </p:spPr>
          </p:pic>
          <p:pic>
            <p:nvPicPr>
              <p:cNvPr id="101" name="Google Shape;101;g3d1a00d9b9a_0_9"/>
              <p:cNvPicPr preferRelativeResize="0"/>
              <p:nvPr/>
            </p:nvPicPr>
            <p:blipFill rotWithShape="1">
              <a:blip r:embed="rId4">
                <a:alphaModFix/>
              </a:blip>
              <a:srcRect b="0" l="1283" r="0" t="0"/>
              <a:stretch/>
            </p:blipFill>
            <p:spPr>
              <a:xfrm>
                <a:off x="9353973" y="-6079700"/>
                <a:ext cx="2838027" cy="6857998"/>
              </a:xfrm>
              <a:prstGeom prst="rect">
                <a:avLst/>
              </a:prstGeom>
              <a:noFill/>
              <a:ln>
                <a:noFill/>
              </a:ln>
            </p:spPr>
          </p:pic>
        </p:grpSp>
        <p:sp>
          <p:nvSpPr>
            <p:cNvPr id="102" name="Google Shape;102;g3d1a00d9b9a_0_9"/>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 name="Google Shape;103;g3d1a00d9b9a_0_9"/>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04" name="Google Shape;104;g3d1a00d9b9a_0_9"/>
          <p:cNvPicPr preferRelativeResize="0"/>
          <p:nvPr/>
        </p:nvPicPr>
        <p:blipFill rotWithShape="1">
          <a:blip r:embed="rId5">
            <a:alphaModFix/>
          </a:blip>
          <a:srcRect b="0" l="0" r="0" t="35338"/>
          <a:stretch/>
        </p:blipFill>
        <p:spPr>
          <a:xfrm>
            <a:off x="7088000" y="531175"/>
            <a:ext cx="2678448" cy="2627674"/>
          </a:xfrm>
          <a:prstGeom prst="rect">
            <a:avLst/>
          </a:prstGeom>
          <a:noFill/>
          <a:ln>
            <a:noFill/>
          </a:ln>
        </p:spPr>
      </p:pic>
      <p:pic>
        <p:nvPicPr>
          <p:cNvPr id="105" name="Google Shape;105;g3d1a00d9b9a_0_9"/>
          <p:cNvPicPr preferRelativeResize="0"/>
          <p:nvPr/>
        </p:nvPicPr>
        <p:blipFill rotWithShape="1">
          <a:blip r:embed="rId6">
            <a:alphaModFix/>
          </a:blip>
          <a:srcRect b="0" l="0" r="0" t="0"/>
          <a:stretch/>
        </p:blipFill>
        <p:spPr>
          <a:xfrm>
            <a:off x="7113388" y="3457600"/>
            <a:ext cx="2627673" cy="262767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cb2c61a5be_0_38"/>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Правила использования чужого кода</a:t>
            </a:r>
            <a:endParaRPr b="1" i="0" sz="3600" u="none" cap="none" strike="noStrike">
              <a:solidFill>
                <a:schemeClr val="dk1"/>
              </a:solidFill>
              <a:latin typeface="IBM Plex Sans"/>
              <a:ea typeface="IBM Plex Sans"/>
              <a:cs typeface="IBM Plex Sans"/>
              <a:sym typeface="IBM Plex Sans"/>
            </a:endParaRPr>
          </a:p>
        </p:txBody>
      </p:sp>
      <p:sp>
        <p:nvSpPr>
          <p:cNvPr id="111" name="Google Shape;111;g3cb2c61a5be_0_38"/>
          <p:cNvSpPr txBox="1"/>
          <p:nvPr/>
        </p:nvSpPr>
        <p:spPr>
          <a:xfrm>
            <a:off x="1055700" y="2366913"/>
            <a:ext cx="5365800" cy="3550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chemeClr val="dk1"/>
              </a:buClr>
              <a:buSzPts val="1100"/>
              <a:buFont typeface="Arial"/>
              <a:buNone/>
            </a:pPr>
            <a:r>
              <a:rPr b="0" i="0" lang="ru-RU" sz="1600" u="none" cap="none" strike="noStrike">
                <a:solidFill>
                  <a:schemeClr val="dk1"/>
                </a:solidFill>
                <a:latin typeface="IBM Plex Sans"/>
                <a:ea typeface="IBM Plex Sans"/>
                <a:cs typeface="IBM Plex Sans"/>
                <a:sym typeface="IBM Plex Sans"/>
              </a:rPr>
              <a:t>Можно пользоваться любыми источниками.</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0" i="0" lang="ru-RU" sz="1600" u="none" cap="none" strike="noStrike">
                <a:solidFill>
                  <a:schemeClr val="dk1"/>
                </a:solidFill>
                <a:latin typeface="IBM Plex Sans"/>
                <a:ea typeface="IBM Plex Sans"/>
                <a:cs typeface="IBM Plex Sans"/>
                <a:sym typeface="IBM Plex Sans"/>
              </a:rPr>
              <a:t>Условие 1: Предупредить заранее или явно указать источник в работе.</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0" i="0" lang="ru-RU" sz="1600" u="none" cap="none" strike="noStrike">
                <a:solidFill>
                  <a:schemeClr val="dk1"/>
                </a:solidFill>
                <a:latin typeface="IBM Plex Sans"/>
                <a:ea typeface="IBM Plex Sans"/>
                <a:cs typeface="IBM Plex Sans"/>
                <a:sym typeface="IBM Plex Sans"/>
              </a:rPr>
              <a:t>Условие 2: Продемонстрировать понимание заимствованного кода.</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0" i="0" lang="ru-RU" sz="1600" u="none" cap="none" strike="noStrike">
                <a:solidFill>
                  <a:schemeClr val="dk1"/>
                </a:solidFill>
                <a:latin typeface="IBM Plex Sans"/>
                <a:ea typeface="IBM Plex Sans"/>
                <a:cs typeface="IBM Plex Sans"/>
                <a:sym typeface="IBM Plex Sans"/>
              </a:rPr>
              <a:t>Санкции за нарушение</a:t>
            </a:r>
            <a:endParaRPr b="0" i="0" sz="1600" u="none" cap="none" strike="noStrike">
              <a:solidFill>
                <a:schemeClr val="dk1"/>
              </a:solidFill>
              <a:latin typeface="IBM Plex Sans"/>
              <a:ea typeface="IBM Plex Sans"/>
              <a:cs typeface="IBM Plex Sans"/>
              <a:sym typeface="IBM Plex Sans"/>
            </a:endParaRPr>
          </a:p>
          <a:p>
            <a:pPr indent="-330200" lvl="0" marL="457200" marR="0" rtl="0" algn="l">
              <a:lnSpc>
                <a:spcPct val="70000"/>
              </a:lnSpc>
              <a:spcBef>
                <a:spcPts val="0"/>
              </a:spcBef>
              <a:spcAft>
                <a:spcPts val="0"/>
              </a:spcAft>
              <a:buClr>
                <a:schemeClr val="dk1"/>
              </a:buClr>
              <a:buSzPts val="1600"/>
              <a:buFont typeface="IBM Plex Sans"/>
              <a:buChar char="-"/>
            </a:pPr>
            <a:r>
              <a:rPr b="0" i="0" lang="ru-RU" sz="1600" u="none" cap="none" strike="noStrike">
                <a:solidFill>
                  <a:schemeClr val="dk1"/>
                </a:solidFill>
                <a:latin typeface="IBM Plex Sans"/>
                <a:ea typeface="IBM Plex Sans"/>
                <a:cs typeface="IBM Plex Sans"/>
                <a:sym typeface="IBM Plex Sans"/>
              </a:rPr>
              <a:t>злоупотребление (большая часть задания выполнена не вами)</a:t>
            </a:r>
            <a:endParaRPr b="0" i="0" sz="1600" u="none" cap="none" strike="noStrike">
              <a:solidFill>
                <a:schemeClr val="dk1"/>
              </a:solidFill>
              <a:latin typeface="IBM Plex Sans"/>
              <a:ea typeface="IBM Plex Sans"/>
              <a:cs typeface="IBM Plex Sans"/>
              <a:sym typeface="IBM Plex Sans"/>
            </a:endParaRPr>
          </a:p>
          <a:p>
            <a:pPr indent="-330200" lvl="0" marL="457200" marR="0" rtl="0" algn="l">
              <a:lnSpc>
                <a:spcPct val="70000"/>
              </a:lnSpc>
              <a:spcBef>
                <a:spcPts val="0"/>
              </a:spcBef>
              <a:spcAft>
                <a:spcPts val="0"/>
              </a:spcAft>
              <a:buClr>
                <a:schemeClr val="dk1"/>
              </a:buClr>
              <a:buSzPts val="1600"/>
              <a:buFont typeface="IBM Plex Sans"/>
              <a:buChar char="-"/>
            </a:pPr>
            <a:r>
              <a:rPr b="0" i="0" lang="ru-RU" sz="1600" u="none" cap="none" strike="noStrike">
                <a:solidFill>
                  <a:schemeClr val="dk1"/>
                </a:solidFill>
                <a:latin typeface="IBM Plex Sans"/>
                <a:ea typeface="IBM Plex Sans"/>
                <a:cs typeface="IBM Plex Sans"/>
                <a:sym typeface="IBM Plex Sans"/>
              </a:rPr>
              <a:t>выдача за свой код(копирование без указания)</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 → работа оценивается в 0 баллов.</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rPr b="0" i="0" lang="ru-RU" sz="1600" u="none" cap="none" strike="noStrike">
                <a:solidFill>
                  <a:schemeClr val="dk1"/>
                </a:solidFill>
                <a:latin typeface="IBM Plex Sans"/>
                <a:ea typeface="IBM Plex Sans"/>
                <a:cs typeface="IBM Plex Sans"/>
                <a:sym typeface="IBM Plex Sans"/>
              </a:rPr>
              <a:t>Команда теряет право на сдачу этой работы.</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1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1600" u="none" cap="none" strike="noStrike">
              <a:solidFill>
                <a:schemeClr val="dk1"/>
              </a:solidFill>
              <a:latin typeface="IBM Plex Sans"/>
              <a:ea typeface="IBM Plex Sans"/>
              <a:cs typeface="IBM Plex Sans"/>
              <a:sym typeface="IBM Plex Sans"/>
            </a:endParaRPr>
          </a:p>
        </p:txBody>
      </p:sp>
      <p:sp>
        <p:nvSpPr>
          <p:cNvPr id="112" name="Google Shape;112;g3cb2c61a5be_0_38"/>
          <p:cNvSpPr txBox="1"/>
          <p:nvPr/>
        </p:nvSpPr>
        <p:spPr>
          <a:xfrm>
            <a:off x="7088000" y="32855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grpSp>
        <p:nvGrpSpPr>
          <p:cNvPr id="113" name="Google Shape;113;g3cb2c61a5be_0_38"/>
          <p:cNvGrpSpPr/>
          <p:nvPr/>
        </p:nvGrpSpPr>
        <p:grpSpPr>
          <a:xfrm>
            <a:off x="9353973" y="-1553420"/>
            <a:ext cx="2854020" cy="13716631"/>
            <a:chOff x="9353973" y="-1553420"/>
            <a:chExt cx="2854020" cy="13716631"/>
          </a:xfrm>
        </p:grpSpPr>
        <p:grpSp>
          <p:nvGrpSpPr>
            <p:cNvPr id="114" name="Google Shape;114;g3cb2c61a5be_0_38"/>
            <p:cNvGrpSpPr/>
            <p:nvPr/>
          </p:nvGrpSpPr>
          <p:grpSpPr>
            <a:xfrm>
              <a:off x="9353973" y="-1553420"/>
              <a:ext cx="2838027" cy="13716631"/>
              <a:chOff x="9353973" y="-6079700"/>
              <a:chExt cx="2838027" cy="13716631"/>
            </a:xfrm>
          </p:grpSpPr>
          <p:pic>
            <p:nvPicPr>
              <p:cNvPr id="115" name="Google Shape;115;g3cb2c61a5be_0_38"/>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16" name="Google Shape;116;g3cb2c61a5be_0_38"/>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17" name="Google Shape;117;g3cb2c61a5be_0_38"/>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 name="Google Shape;118;g3cb2c61a5be_0_38"/>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19" name="Google Shape;119;g3cb2c61a5be_0_38"/>
          <p:cNvPicPr preferRelativeResize="0"/>
          <p:nvPr/>
        </p:nvPicPr>
        <p:blipFill rotWithShape="1">
          <a:blip r:embed="rId4">
            <a:alphaModFix/>
          </a:blip>
          <a:srcRect b="0" l="0" r="0" t="0"/>
          <a:stretch/>
        </p:blipFill>
        <p:spPr>
          <a:xfrm>
            <a:off x="8826215" y="354856"/>
            <a:ext cx="2867441" cy="2867441"/>
          </a:xfrm>
          <a:prstGeom prst="rect">
            <a:avLst/>
          </a:prstGeom>
          <a:noFill/>
          <a:ln>
            <a:noFill/>
          </a:ln>
        </p:spPr>
      </p:pic>
      <p:pic>
        <p:nvPicPr>
          <p:cNvPr id="120" name="Google Shape;120;g3cb2c61a5be_0_38"/>
          <p:cNvPicPr preferRelativeResize="0"/>
          <p:nvPr/>
        </p:nvPicPr>
        <p:blipFill rotWithShape="1">
          <a:blip r:embed="rId5">
            <a:alphaModFix/>
          </a:blip>
          <a:srcRect b="0" l="0" r="0" t="35338"/>
          <a:stretch/>
        </p:blipFill>
        <p:spPr>
          <a:xfrm>
            <a:off x="7088000" y="531175"/>
            <a:ext cx="2678448" cy="2627674"/>
          </a:xfrm>
          <a:prstGeom prst="rect">
            <a:avLst/>
          </a:prstGeom>
          <a:noFill/>
          <a:ln>
            <a:noFill/>
          </a:ln>
        </p:spPr>
      </p:pic>
      <p:pic>
        <p:nvPicPr>
          <p:cNvPr id="121" name="Google Shape;121;g3cb2c61a5be_0_38"/>
          <p:cNvPicPr preferRelativeResize="0"/>
          <p:nvPr/>
        </p:nvPicPr>
        <p:blipFill rotWithShape="1">
          <a:blip r:embed="rId6">
            <a:alphaModFix/>
          </a:blip>
          <a:srcRect b="0" l="0" r="0" t="0"/>
          <a:stretch/>
        </p:blipFill>
        <p:spPr>
          <a:xfrm>
            <a:off x="7113388" y="3457600"/>
            <a:ext cx="2627673" cy="262767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3e78d848d_1_0"/>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Работа с LLM</a:t>
            </a:r>
            <a:endParaRPr b="1" i="0" sz="3600" u="none" cap="none" strike="noStrike">
              <a:solidFill>
                <a:schemeClr val="dk1"/>
              </a:solidFill>
              <a:latin typeface="IBM Plex Sans"/>
              <a:ea typeface="IBM Plex Sans"/>
              <a:cs typeface="IBM Plex Sans"/>
              <a:sym typeface="IBM Plex Sans"/>
            </a:endParaRPr>
          </a:p>
        </p:txBody>
      </p:sp>
      <p:sp>
        <p:nvSpPr>
          <p:cNvPr id="127" name="Google Shape;127;g3d3e78d848d_1_0"/>
          <p:cNvSpPr txBox="1"/>
          <p:nvPr/>
        </p:nvSpPr>
        <p:spPr>
          <a:xfrm>
            <a:off x="1055700" y="1897763"/>
            <a:ext cx="5365800" cy="355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ru-RU" sz="1600" u="none" cap="none" strike="noStrike">
                <a:solidFill>
                  <a:schemeClr val="dk1"/>
                </a:solidFill>
                <a:latin typeface="IBM Plex Sans"/>
                <a:ea typeface="IBM Plex Sans"/>
                <a:cs typeface="IBM Plex Sans"/>
                <a:sym typeface="IBM Plex Sans"/>
              </a:rPr>
              <a:t>Рекомендую:</a:t>
            </a:r>
            <a:endParaRPr b="1" i="0" sz="1600" u="none" cap="none" strike="noStrike">
              <a:solidFill>
                <a:schemeClr val="dk1"/>
              </a:solidFill>
              <a:latin typeface="IBM Plex Sans"/>
              <a:ea typeface="IBM Plex Sans"/>
              <a:cs typeface="IBM Plex Sans"/>
              <a:sym typeface="IBM Plex Sans"/>
            </a:endParaRPr>
          </a:p>
          <a:p>
            <a:pPr indent="-317500" lvl="0" marL="457200" marR="0" rtl="0" algn="l">
              <a:lnSpc>
                <a:spcPct val="115000"/>
              </a:lnSpc>
              <a:spcBef>
                <a:spcPts val="1200"/>
              </a:spcBef>
              <a:spcAft>
                <a:spcPts val="0"/>
              </a:spcAft>
              <a:buClr>
                <a:srgbClr val="0F1115"/>
              </a:buClr>
              <a:buSzPts val="1400"/>
              <a:buFont typeface="Roboto"/>
              <a:buChar char="-"/>
            </a:pPr>
            <a:r>
              <a:rPr b="0" i="0" lang="ru-RU" sz="1400" u="none" cap="none" strike="noStrike">
                <a:solidFill>
                  <a:srgbClr val="0F1115"/>
                </a:solidFill>
                <a:highlight>
                  <a:srgbClr val="FFFFFF"/>
                </a:highlight>
                <a:latin typeface="Roboto"/>
                <a:ea typeface="Roboto"/>
                <a:cs typeface="Roboto"/>
                <a:sym typeface="Roboto"/>
              </a:rPr>
              <a:t>Обьяснения </a:t>
            </a:r>
            <a:endParaRPr b="0" i="0" sz="1400" u="none" cap="none" strike="noStrike">
              <a:solidFill>
                <a:srgbClr val="0F1115"/>
              </a:solidFill>
              <a:highlight>
                <a:srgbClr val="FFFFFF"/>
              </a:highlight>
              <a:latin typeface="Roboto"/>
              <a:ea typeface="Roboto"/>
              <a:cs typeface="Roboto"/>
              <a:sym typeface="Roboto"/>
            </a:endParaRPr>
          </a:p>
          <a:p>
            <a:pPr indent="-317500" lvl="1" marL="914400" marR="0" rtl="0" algn="l">
              <a:lnSpc>
                <a:spcPct val="115000"/>
              </a:lnSpc>
              <a:spcBef>
                <a:spcPts val="0"/>
              </a:spcBef>
              <a:spcAft>
                <a:spcPts val="0"/>
              </a:spcAft>
              <a:buClr>
                <a:srgbClr val="0F1115"/>
              </a:buClr>
              <a:buSzPts val="1400"/>
              <a:buFont typeface="Roboto"/>
              <a:buChar char="-"/>
            </a:pPr>
            <a:r>
              <a:rPr b="0" i="1" lang="ru-RU" sz="1400" u="none" cap="none" strike="noStrike">
                <a:solidFill>
                  <a:srgbClr val="0F1115"/>
                </a:solidFill>
                <a:highlight>
                  <a:srgbClr val="FFFFFF"/>
                </a:highlight>
                <a:latin typeface="Roboto"/>
                <a:ea typeface="Roboto"/>
                <a:cs typeface="Roboto"/>
                <a:sym typeface="Roboto"/>
              </a:rPr>
              <a:t>“Объясни, как работает линейная регрессия простыми словами.”</a:t>
            </a:r>
            <a:endParaRPr b="0" i="0" sz="1400" u="none" cap="none" strike="noStrike">
              <a:solidFill>
                <a:srgbClr val="0F1115"/>
              </a:solidFill>
              <a:highlight>
                <a:srgbClr val="FFFFFF"/>
              </a:highlight>
              <a:latin typeface="Roboto"/>
              <a:ea typeface="Roboto"/>
              <a:cs typeface="Roboto"/>
              <a:sym typeface="Roboto"/>
            </a:endParaRPr>
          </a:p>
          <a:p>
            <a:pPr indent="-317500" lvl="1" marL="914400" marR="0" rtl="0" algn="l">
              <a:lnSpc>
                <a:spcPct val="115000"/>
              </a:lnSpc>
              <a:spcBef>
                <a:spcPts val="0"/>
              </a:spcBef>
              <a:spcAft>
                <a:spcPts val="0"/>
              </a:spcAft>
              <a:buClr>
                <a:srgbClr val="0F1115"/>
              </a:buClr>
              <a:buSzPts val="1400"/>
              <a:buFont typeface="Roboto"/>
              <a:buChar char="-"/>
            </a:pPr>
            <a:r>
              <a:rPr b="0" i="1" lang="ru-RU" sz="1400" u="none" cap="none" strike="noStrike">
                <a:solidFill>
                  <a:srgbClr val="0F1115"/>
                </a:solidFill>
                <a:highlight>
                  <a:srgbClr val="FFFFFF"/>
                </a:highlight>
                <a:latin typeface="Roboto"/>
                <a:ea typeface="Roboto"/>
                <a:cs typeface="Roboto"/>
                <a:sym typeface="Roboto"/>
              </a:rPr>
              <a:t>“Напиши комментарии для кода: [код]. Что в нем происходит?”</a:t>
            </a:r>
            <a:endParaRPr b="0" i="1" sz="1400" u="none" cap="none" strike="noStrike">
              <a:solidFill>
                <a:srgbClr val="0F1115"/>
              </a:solidFill>
              <a:highlight>
                <a:srgbClr val="FFFFFF"/>
              </a:highlight>
              <a:latin typeface="Roboto"/>
              <a:ea typeface="Roboto"/>
              <a:cs typeface="Roboto"/>
              <a:sym typeface="Roboto"/>
            </a:endParaRPr>
          </a:p>
          <a:p>
            <a:pPr indent="-317500" lvl="0" marL="457200" marR="0" rtl="0" algn="l">
              <a:lnSpc>
                <a:spcPct val="115000"/>
              </a:lnSpc>
              <a:spcBef>
                <a:spcPts val="0"/>
              </a:spcBef>
              <a:spcAft>
                <a:spcPts val="0"/>
              </a:spcAft>
              <a:buClr>
                <a:srgbClr val="0F1115"/>
              </a:buClr>
              <a:buSzPts val="1400"/>
              <a:buFont typeface="Roboto"/>
              <a:buChar char="-"/>
            </a:pPr>
            <a:r>
              <a:rPr b="0" i="0" lang="ru-RU" sz="1400" u="none" cap="none" strike="noStrike">
                <a:solidFill>
                  <a:srgbClr val="0F1115"/>
                </a:solidFill>
                <a:highlight>
                  <a:srgbClr val="FFFFFF"/>
                </a:highlight>
                <a:latin typeface="Roboto"/>
                <a:ea typeface="Roboto"/>
                <a:cs typeface="Roboto"/>
                <a:sym typeface="Roboto"/>
              </a:rPr>
              <a:t>Отладка кода (Debugging)</a:t>
            </a:r>
            <a:endParaRPr b="0" i="0" sz="1400" u="none" cap="none" strike="noStrike">
              <a:solidFill>
                <a:srgbClr val="0F1115"/>
              </a:solidFill>
              <a:highlight>
                <a:srgbClr val="FFFFFF"/>
              </a:highlight>
              <a:latin typeface="Roboto"/>
              <a:ea typeface="Roboto"/>
              <a:cs typeface="Roboto"/>
              <a:sym typeface="Roboto"/>
            </a:endParaRPr>
          </a:p>
          <a:p>
            <a:pPr indent="-304800" lvl="1" marL="914400" marR="0" rtl="0" algn="l">
              <a:lnSpc>
                <a:spcPct val="115000"/>
              </a:lnSpc>
              <a:spcBef>
                <a:spcPts val="0"/>
              </a:spcBef>
              <a:spcAft>
                <a:spcPts val="0"/>
              </a:spcAft>
              <a:buClr>
                <a:srgbClr val="0F1115"/>
              </a:buClr>
              <a:buSzPts val="1200"/>
              <a:buFont typeface="Roboto"/>
              <a:buChar char="-"/>
            </a:pPr>
            <a:r>
              <a:rPr b="0" i="1" lang="ru-RU" sz="1400" u="none" cap="none" strike="noStrike">
                <a:solidFill>
                  <a:srgbClr val="0F1115"/>
                </a:solidFill>
                <a:highlight>
                  <a:srgbClr val="FFFFFF"/>
                </a:highlight>
                <a:latin typeface="Roboto"/>
                <a:ea typeface="Roboto"/>
                <a:cs typeface="Roboto"/>
                <a:sym typeface="Roboto"/>
              </a:rPr>
              <a:t>“Почему не работает код? Ошибка: </a:t>
            </a:r>
            <a:r>
              <a:rPr b="0" i="0" lang="ru-RU" sz="1250" u="none" cap="none" strike="noStrike">
                <a:solidFill>
                  <a:srgbClr val="0F1115"/>
                </a:solidFill>
                <a:highlight>
                  <a:srgbClr val="EBEEF2"/>
                </a:highlight>
                <a:latin typeface="Roboto Mono"/>
                <a:ea typeface="Roboto Mono"/>
                <a:cs typeface="Roboto Mono"/>
                <a:sym typeface="Roboto Mono"/>
              </a:rPr>
              <a:t>[текст ошибки] в коде: [код]</a:t>
            </a:r>
            <a:r>
              <a:rPr b="0" i="1" lang="ru-RU" sz="1400" u="none" cap="none" strike="noStrike">
                <a:solidFill>
                  <a:srgbClr val="0F1115"/>
                </a:solidFill>
                <a:highlight>
                  <a:srgbClr val="FFFFFF"/>
                </a:highlight>
                <a:latin typeface="Roboto"/>
                <a:ea typeface="Roboto"/>
                <a:cs typeface="Roboto"/>
                <a:sym typeface="Roboto"/>
              </a:rPr>
              <a:t>”</a:t>
            </a:r>
            <a:r>
              <a:rPr b="0" i="0" lang="ru-RU" sz="1400" u="none" cap="none" strike="noStrike">
                <a:solidFill>
                  <a:srgbClr val="0F1115"/>
                </a:solidFill>
                <a:highlight>
                  <a:srgbClr val="FFFFFF"/>
                </a:highlight>
                <a:latin typeface="Roboto"/>
                <a:ea typeface="Roboto"/>
                <a:cs typeface="Roboto"/>
                <a:sym typeface="Roboto"/>
              </a:rPr>
              <a:t>.</a:t>
            </a:r>
            <a:endParaRPr b="0" i="0" sz="1400" u="none" cap="none" strike="noStrike">
              <a:solidFill>
                <a:srgbClr val="0F1115"/>
              </a:solidFill>
              <a:highlight>
                <a:srgbClr val="FFFFFF"/>
              </a:highlight>
              <a:latin typeface="Roboto"/>
              <a:ea typeface="Roboto"/>
              <a:cs typeface="Roboto"/>
              <a:sym typeface="Roboto"/>
            </a:endParaRPr>
          </a:p>
          <a:p>
            <a:pPr indent="-317500" lvl="0" marL="457200" marR="0" rtl="0" algn="l">
              <a:lnSpc>
                <a:spcPct val="115000"/>
              </a:lnSpc>
              <a:spcBef>
                <a:spcPts val="0"/>
              </a:spcBef>
              <a:spcAft>
                <a:spcPts val="0"/>
              </a:spcAft>
              <a:buClr>
                <a:srgbClr val="0F1115"/>
              </a:buClr>
              <a:buSzPts val="1400"/>
              <a:buFont typeface="Roboto"/>
              <a:buChar char="-"/>
            </a:pPr>
            <a:r>
              <a:rPr b="0" i="0" lang="ru-RU" sz="1400" u="none" cap="none" strike="noStrike">
                <a:solidFill>
                  <a:srgbClr val="0F1115"/>
                </a:solidFill>
                <a:highlight>
                  <a:srgbClr val="FFFFFF"/>
                </a:highlight>
                <a:latin typeface="Roboto"/>
                <a:ea typeface="Roboto"/>
                <a:cs typeface="Roboto"/>
                <a:sym typeface="Roboto"/>
              </a:rPr>
              <a:t>Справка по библиотекам</a:t>
            </a:r>
            <a:endParaRPr b="0" i="0" sz="1400" u="none" cap="none" strike="noStrike">
              <a:solidFill>
                <a:srgbClr val="0F1115"/>
              </a:solidFill>
              <a:highlight>
                <a:srgbClr val="FFFFFF"/>
              </a:highlight>
              <a:latin typeface="Roboto"/>
              <a:ea typeface="Roboto"/>
              <a:cs typeface="Roboto"/>
              <a:sym typeface="Roboto"/>
            </a:endParaRPr>
          </a:p>
          <a:p>
            <a:pPr indent="-317500" lvl="1" marL="914400" marR="0" rtl="0" algn="l">
              <a:lnSpc>
                <a:spcPct val="115000"/>
              </a:lnSpc>
              <a:spcBef>
                <a:spcPts val="0"/>
              </a:spcBef>
              <a:spcAft>
                <a:spcPts val="0"/>
              </a:spcAft>
              <a:buClr>
                <a:srgbClr val="0F1115"/>
              </a:buClr>
              <a:buSzPts val="1400"/>
              <a:buFont typeface="Roboto"/>
              <a:buChar char="-"/>
            </a:pPr>
            <a:r>
              <a:rPr b="0" i="1" lang="ru-RU" sz="1400" u="none" cap="none" strike="noStrike">
                <a:solidFill>
                  <a:srgbClr val="0F1115"/>
                </a:solidFill>
                <a:highlight>
                  <a:srgbClr val="FFFFFF"/>
                </a:highlight>
                <a:latin typeface="Roboto"/>
                <a:ea typeface="Roboto"/>
                <a:cs typeface="Roboto"/>
                <a:sym typeface="Roboto"/>
              </a:rPr>
              <a:t>“Как вывести описание всех колонок pandas DataFrame?”</a:t>
            </a:r>
            <a:endParaRPr b="0" i="1" sz="1400" u="none" cap="none" strike="noStrike">
              <a:solidFill>
                <a:srgbClr val="0F1115"/>
              </a:solidFill>
              <a:highlight>
                <a:srgbClr val="FFFFFF"/>
              </a:highlight>
              <a:latin typeface="Roboto"/>
              <a:ea typeface="Roboto"/>
              <a:cs typeface="Roboto"/>
              <a:sym typeface="Roboto"/>
            </a:endParaRPr>
          </a:p>
          <a:p>
            <a:pPr indent="0" lvl="0" marL="0" marR="0" rtl="0" algn="l">
              <a:lnSpc>
                <a:spcPct val="100000"/>
              </a:lnSpc>
              <a:spcBef>
                <a:spcPts val="1200"/>
              </a:spcBef>
              <a:spcAft>
                <a:spcPts val="0"/>
              </a:spcAft>
              <a:buClr>
                <a:srgbClr val="000000"/>
              </a:buClr>
              <a:buSzPts val="1600"/>
              <a:buFont typeface="Arial"/>
              <a:buNone/>
            </a:pPr>
            <a:r>
              <a:rPr b="1" i="0" lang="ru-RU" sz="1600" u="none" cap="none" strike="noStrike">
                <a:solidFill>
                  <a:schemeClr val="dk1"/>
                </a:solidFill>
                <a:latin typeface="IBM Plex Sans"/>
                <a:ea typeface="IBM Plex Sans"/>
                <a:cs typeface="IBM Plex Sans"/>
                <a:sym typeface="IBM Plex Sans"/>
              </a:rPr>
              <a:t>Не рекоменждую:</a:t>
            </a:r>
            <a:endParaRPr b="1" i="0" sz="1600" u="none" cap="none" strike="noStrike">
              <a:solidFill>
                <a:schemeClr val="dk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IBM Plex Sans"/>
              <a:ea typeface="IBM Plex Sans"/>
              <a:cs typeface="IBM Plex Sans"/>
              <a:sym typeface="IBM Plex Sans"/>
            </a:endParaRPr>
          </a:p>
          <a:p>
            <a:pPr indent="-323850" lvl="0" marL="457200" marR="0" rtl="0" algn="l">
              <a:lnSpc>
                <a:spcPct val="100000"/>
              </a:lnSpc>
              <a:spcBef>
                <a:spcPts val="0"/>
              </a:spcBef>
              <a:spcAft>
                <a:spcPts val="0"/>
              </a:spcAft>
              <a:buClr>
                <a:schemeClr val="dk1"/>
              </a:buClr>
              <a:buSzPts val="1500"/>
              <a:buFont typeface="IBM Plex Sans"/>
              <a:buChar char="-"/>
            </a:pPr>
            <a:r>
              <a:rPr b="0" i="0" lang="ru-RU" sz="1500" u="none" cap="none" strike="noStrike">
                <a:solidFill>
                  <a:schemeClr val="dk1"/>
                </a:solidFill>
                <a:latin typeface="IBM Plex Sans"/>
                <a:ea typeface="IBM Plex Sans"/>
                <a:cs typeface="IBM Plex Sans"/>
                <a:sym typeface="IBM Plex Sans"/>
              </a:rPr>
              <a:t>Написание полноценного кода:</a:t>
            </a:r>
            <a:endParaRPr b="0" i="0" sz="1500" u="none" cap="none" strike="noStrike">
              <a:solidFill>
                <a:schemeClr val="dk1"/>
              </a:solidFill>
              <a:latin typeface="IBM Plex Sans"/>
              <a:ea typeface="IBM Plex Sans"/>
              <a:cs typeface="IBM Plex Sans"/>
              <a:sym typeface="IBM Plex Sans"/>
            </a:endParaRPr>
          </a:p>
          <a:p>
            <a:pPr indent="-323850" lvl="1" marL="914400" marR="0" rtl="0" algn="l">
              <a:lnSpc>
                <a:spcPct val="100000"/>
              </a:lnSpc>
              <a:spcBef>
                <a:spcPts val="0"/>
              </a:spcBef>
              <a:spcAft>
                <a:spcPts val="0"/>
              </a:spcAft>
              <a:buClr>
                <a:schemeClr val="dk1"/>
              </a:buClr>
              <a:buSzPts val="1500"/>
              <a:buFont typeface="IBM Plex Sans"/>
              <a:buChar char="-"/>
            </a:pPr>
            <a:r>
              <a:rPr b="0" i="1" lang="ru-RU" sz="1500" u="none" cap="none" strike="noStrike">
                <a:solidFill>
                  <a:schemeClr val="dk1"/>
                </a:solidFill>
                <a:latin typeface="IBM Plex Sans"/>
                <a:ea typeface="IBM Plex Sans"/>
                <a:cs typeface="IBM Plex Sans"/>
                <a:sym typeface="IBM Plex Sans"/>
              </a:rPr>
              <a:t>“Напиши код для предобработки данных”</a:t>
            </a:r>
            <a:endParaRPr b="0" i="1" sz="1500" u="none" cap="none" strike="noStrike">
              <a:solidFill>
                <a:schemeClr val="dk1"/>
              </a:solidFill>
              <a:latin typeface="IBM Plex Sans"/>
              <a:ea typeface="IBM Plex Sans"/>
              <a:cs typeface="IBM Plex Sans"/>
              <a:sym typeface="IBM Plex Sans"/>
            </a:endParaRPr>
          </a:p>
          <a:p>
            <a:pPr indent="-323850" lvl="1" marL="914400" marR="0" rtl="0" algn="l">
              <a:lnSpc>
                <a:spcPct val="100000"/>
              </a:lnSpc>
              <a:spcBef>
                <a:spcPts val="0"/>
              </a:spcBef>
              <a:spcAft>
                <a:spcPts val="0"/>
              </a:spcAft>
              <a:buClr>
                <a:schemeClr val="dk1"/>
              </a:buClr>
              <a:buSzPts val="1500"/>
              <a:buFont typeface="IBM Plex Sans"/>
              <a:buChar char="-"/>
            </a:pPr>
            <a:r>
              <a:rPr b="0" i="1" lang="ru-RU" sz="1500" u="none" cap="none" strike="noStrike">
                <a:solidFill>
                  <a:schemeClr val="dk1"/>
                </a:solidFill>
                <a:latin typeface="IBM Plex Sans"/>
                <a:ea typeface="IBM Plex Sans"/>
                <a:cs typeface="IBM Plex Sans"/>
                <a:sym typeface="IBM Plex Sans"/>
              </a:rPr>
              <a:t>“Напиши код для обучения нейронной сети”</a:t>
            </a:r>
            <a:endParaRPr b="0" i="1"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1700"/>
              </a:spcBef>
              <a:spcAft>
                <a:spcPts val="1200"/>
              </a:spcAft>
              <a:buClr>
                <a:srgbClr val="000000"/>
              </a:buClr>
              <a:buSzPts val="1400"/>
              <a:buFont typeface="Arial"/>
              <a:buNone/>
            </a:pPr>
            <a:r>
              <a:t/>
            </a:r>
            <a:endParaRPr b="0" i="1" sz="1400" u="none" cap="none" strike="noStrike">
              <a:solidFill>
                <a:srgbClr val="0F1115"/>
              </a:solidFill>
              <a:highlight>
                <a:srgbClr val="FFFFFF"/>
              </a:highlight>
              <a:latin typeface="Roboto"/>
              <a:ea typeface="Roboto"/>
              <a:cs typeface="Roboto"/>
              <a:sym typeface="Roboto"/>
            </a:endParaRPr>
          </a:p>
        </p:txBody>
      </p:sp>
      <p:sp>
        <p:nvSpPr>
          <p:cNvPr id="128" name="Google Shape;128;g3d3e78d848d_1_0"/>
          <p:cNvSpPr txBox="1"/>
          <p:nvPr/>
        </p:nvSpPr>
        <p:spPr>
          <a:xfrm>
            <a:off x="7088000" y="32855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grpSp>
        <p:nvGrpSpPr>
          <p:cNvPr id="129" name="Google Shape;129;g3d3e78d848d_1_0"/>
          <p:cNvGrpSpPr/>
          <p:nvPr/>
        </p:nvGrpSpPr>
        <p:grpSpPr>
          <a:xfrm>
            <a:off x="9353973" y="-1553420"/>
            <a:ext cx="2854020" cy="13716631"/>
            <a:chOff x="9353973" y="-1553420"/>
            <a:chExt cx="2854020" cy="13716631"/>
          </a:xfrm>
        </p:grpSpPr>
        <p:grpSp>
          <p:nvGrpSpPr>
            <p:cNvPr id="130" name="Google Shape;130;g3d3e78d848d_1_0"/>
            <p:cNvGrpSpPr/>
            <p:nvPr/>
          </p:nvGrpSpPr>
          <p:grpSpPr>
            <a:xfrm>
              <a:off x="9353973" y="-1553420"/>
              <a:ext cx="2838027" cy="13716631"/>
              <a:chOff x="9353973" y="-6079700"/>
              <a:chExt cx="2838027" cy="13716631"/>
            </a:xfrm>
          </p:grpSpPr>
          <p:pic>
            <p:nvPicPr>
              <p:cNvPr id="131" name="Google Shape;131;g3d3e78d848d_1_0"/>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32" name="Google Shape;132;g3d3e78d848d_1_0"/>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33" name="Google Shape;133;g3d3e78d848d_1_0"/>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4" name="Google Shape;134;g3d3e78d848d_1_0"/>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35" name="Google Shape;135;g3d3e78d848d_1_0"/>
          <p:cNvPicPr preferRelativeResize="0"/>
          <p:nvPr/>
        </p:nvPicPr>
        <p:blipFill rotWithShape="1">
          <a:blip r:embed="rId4">
            <a:alphaModFix/>
          </a:blip>
          <a:srcRect b="0" l="0" r="0" t="0"/>
          <a:stretch/>
        </p:blipFill>
        <p:spPr>
          <a:xfrm>
            <a:off x="8826215" y="354856"/>
            <a:ext cx="2867441" cy="2867441"/>
          </a:xfrm>
          <a:prstGeom prst="rect">
            <a:avLst/>
          </a:prstGeom>
          <a:noFill/>
          <a:ln>
            <a:noFill/>
          </a:ln>
        </p:spPr>
      </p:pic>
      <p:pic>
        <p:nvPicPr>
          <p:cNvPr id="136" name="Google Shape;136;g3d3e78d848d_1_0"/>
          <p:cNvPicPr preferRelativeResize="0"/>
          <p:nvPr/>
        </p:nvPicPr>
        <p:blipFill rotWithShape="1">
          <a:blip r:embed="rId5">
            <a:alphaModFix/>
          </a:blip>
          <a:srcRect b="0" l="0" r="0" t="35338"/>
          <a:stretch/>
        </p:blipFill>
        <p:spPr>
          <a:xfrm>
            <a:off x="7088000" y="531175"/>
            <a:ext cx="2678448" cy="2627674"/>
          </a:xfrm>
          <a:prstGeom prst="rect">
            <a:avLst/>
          </a:prstGeom>
          <a:noFill/>
          <a:ln>
            <a:noFill/>
          </a:ln>
        </p:spPr>
      </p:pic>
      <p:pic>
        <p:nvPicPr>
          <p:cNvPr id="137" name="Google Shape;137;g3d3e78d848d_1_0"/>
          <p:cNvPicPr preferRelativeResize="0"/>
          <p:nvPr/>
        </p:nvPicPr>
        <p:blipFill rotWithShape="1">
          <a:blip r:embed="rId6">
            <a:alphaModFix/>
          </a:blip>
          <a:srcRect b="0" l="0" r="0" t="0"/>
          <a:stretch/>
        </p:blipFill>
        <p:spPr>
          <a:xfrm>
            <a:off x="7113388" y="3457600"/>
            <a:ext cx="2627673" cy="26276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cb2c61a5be_0_0"/>
          <p:cNvSpPr txBox="1"/>
          <p:nvPr/>
        </p:nvSpPr>
        <p:spPr>
          <a:xfrm>
            <a:off x="1060850" y="2662300"/>
            <a:ext cx="6202500" cy="7749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000000"/>
              </a:buClr>
              <a:buSzPts val="4800"/>
              <a:buFont typeface="Arial"/>
              <a:buNone/>
            </a:pPr>
            <a:r>
              <a:rPr b="1" i="0" lang="ru-RU" sz="4400" u="none" cap="none" strike="noStrike">
                <a:solidFill>
                  <a:schemeClr val="dk1"/>
                </a:solidFill>
                <a:latin typeface="IBM Plex Sans"/>
                <a:ea typeface="IBM Plex Sans"/>
                <a:cs typeface="IBM Plex Sans"/>
                <a:sym typeface="IBM Plex Sans"/>
              </a:rPr>
              <a:t>Основные понятия машинного обучения</a:t>
            </a:r>
            <a:endParaRPr b="1" i="0" sz="4400" u="none" cap="none" strike="noStrike">
              <a:solidFill>
                <a:schemeClr val="dk1"/>
              </a:solidFill>
              <a:latin typeface="IBM Plex Sans"/>
              <a:ea typeface="IBM Plex Sans"/>
              <a:cs typeface="IBM Plex Sans"/>
              <a:sym typeface="IBM Plex Sans"/>
            </a:endParaRPr>
          </a:p>
        </p:txBody>
      </p:sp>
      <p:sp>
        <p:nvSpPr>
          <p:cNvPr id="143" name="Google Shape;143;g3cb2c61a5be_0_0"/>
          <p:cNvSpPr txBox="1"/>
          <p:nvPr/>
        </p:nvSpPr>
        <p:spPr>
          <a:xfrm>
            <a:off x="1060850" y="3862804"/>
            <a:ext cx="6421800" cy="9429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2400"/>
              <a:buFont typeface="Arial"/>
              <a:buNone/>
            </a:pPr>
            <a:r>
              <a:rPr b="0" i="0" lang="ru-RU" sz="2400" u="none" cap="none" strike="noStrike">
                <a:solidFill>
                  <a:schemeClr val="dk1"/>
                </a:solidFill>
                <a:latin typeface="IBM Plex Sans"/>
                <a:ea typeface="IBM Plex Sans"/>
                <a:cs typeface="IBM Plex Sans"/>
                <a:sym typeface="IBM Plex Sans"/>
              </a:rPr>
              <a:t>Часть 1</a:t>
            </a:r>
            <a:endParaRPr b="0" i="0" sz="2400" u="none" cap="none" strike="noStrike">
              <a:solidFill>
                <a:schemeClr val="dk1"/>
              </a:solidFill>
              <a:latin typeface="IBM Plex Sans"/>
              <a:ea typeface="IBM Plex Sans"/>
              <a:cs typeface="IBM Plex Sans"/>
              <a:sym typeface="IBM Plex Sans"/>
            </a:endParaRPr>
          </a:p>
        </p:txBody>
      </p:sp>
      <p:sp>
        <p:nvSpPr>
          <p:cNvPr id="144" name="Google Shape;144;g3cb2c61a5be_0_0"/>
          <p:cNvSpPr txBox="1"/>
          <p:nvPr/>
        </p:nvSpPr>
        <p:spPr>
          <a:xfrm>
            <a:off x="1060857" y="6033838"/>
            <a:ext cx="3771900" cy="235500"/>
          </a:xfrm>
          <a:prstGeom prst="rect">
            <a:avLst/>
          </a:prstGeom>
          <a:noFill/>
          <a:ln>
            <a:noFill/>
          </a:ln>
        </p:spPr>
        <p:txBody>
          <a:bodyPr anchorCtr="0" anchor="t" bIns="0" lIns="0" spcFirstLastPara="1" rIns="0" wrap="square" tIns="19875">
            <a:spAutoFit/>
          </a:bodyPr>
          <a:lstStyle/>
          <a:p>
            <a:pPr indent="0" lvl="0" marL="20942" marR="8377" rtl="0" algn="l">
              <a:lnSpc>
                <a:spcPct val="12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ularionova@mail.tsu.ru</a:t>
            </a:r>
            <a:endParaRPr b="0" i="0" sz="1400" u="none" cap="none" strike="noStrike">
              <a:solidFill>
                <a:schemeClr val="dk1"/>
              </a:solidFill>
              <a:latin typeface="IBM Plex Sans"/>
              <a:ea typeface="IBM Plex Sans"/>
              <a:cs typeface="IBM Plex Sans"/>
              <a:sym typeface="IBM Plex Sans"/>
            </a:endParaRPr>
          </a:p>
        </p:txBody>
      </p:sp>
      <p:sp>
        <p:nvSpPr>
          <p:cNvPr id="145" name="Google Shape;145;g3cb2c61a5be_0_0"/>
          <p:cNvSpPr txBox="1"/>
          <p:nvPr/>
        </p:nvSpPr>
        <p:spPr>
          <a:xfrm>
            <a:off x="1060857" y="5282291"/>
            <a:ext cx="4032300" cy="561900"/>
          </a:xfrm>
          <a:prstGeom prst="rect">
            <a:avLst/>
          </a:prstGeom>
          <a:noFill/>
          <a:ln>
            <a:noFill/>
          </a:ln>
        </p:spPr>
        <p:txBody>
          <a:bodyPr anchorCtr="0" anchor="t" bIns="0" lIns="0" spcFirstLastPara="1" rIns="0" wrap="square" tIns="19875">
            <a:spAutoFit/>
          </a:bodyPr>
          <a:lstStyle/>
          <a:p>
            <a:pPr indent="0" lvl="0" marL="20942" marR="8377" rtl="0" algn="l">
              <a:lnSpc>
                <a:spcPct val="12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Ларионова Ульяна</a:t>
            </a:r>
            <a:endParaRPr b="0" i="0" sz="1400" u="none" cap="none" strike="noStrike">
              <a:solidFill>
                <a:srgbClr val="000000"/>
              </a:solidFill>
              <a:latin typeface="Arial"/>
              <a:ea typeface="Arial"/>
              <a:cs typeface="Arial"/>
              <a:sym typeface="Arial"/>
            </a:endParaRPr>
          </a:p>
          <a:p>
            <a:pPr indent="0" lvl="0" marL="20942" marR="8377" rtl="0" algn="l">
              <a:lnSpc>
                <a:spcPct val="12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Преподаватель</a:t>
            </a:r>
            <a:endParaRPr b="0" i="0" sz="1600" u="none" cap="none" strike="noStrike">
              <a:solidFill>
                <a:schemeClr val="dk1"/>
              </a:solidFill>
              <a:latin typeface="IBM Plex Sans"/>
              <a:ea typeface="IBM Plex Sans"/>
              <a:cs typeface="IBM Plex Sans"/>
              <a:sym typeface="IBM Plex Sans"/>
            </a:endParaRPr>
          </a:p>
        </p:txBody>
      </p:sp>
      <p:pic>
        <p:nvPicPr>
          <p:cNvPr id="146" name="Google Shape;146;g3cb2c61a5be_0_0"/>
          <p:cNvPicPr preferRelativeResize="0"/>
          <p:nvPr/>
        </p:nvPicPr>
        <p:blipFill rotWithShape="1">
          <a:blip r:embed="rId3">
            <a:alphaModFix/>
          </a:blip>
          <a:srcRect b="0" l="0" r="0" t="0"/>
          <a:stretch/>
        </p:blipFill>
        <p:spPr>
          <a:xfrm flipH="1" rot="10800000">
            <a:off x="8976462" y="3862790"/>
            <a:ext cx="2872246" cy="2884213"/>
          </a:xfrm>
          <a:prstGeom prst="rect">
            <a:avLst/>
          </a:prstGeom>
          <a:noFill/>
          <a:ln>
            <a:noFill/>
          </a:ln>
        </p:spPr>
      </p:pic>
      <p:grpSp>
        <p:nvGrpSpPr>
          <p:cNvPr id="147" name="Google Shape;147;g3cb2c61a5be_0_0"/>
          <p:cNvGrpSpPr/>
          <p:nvPr/>
        </p:nvGrpSpPr>
        <p:grpSpPr>
          <a:xfrm>
            <a:off x="9353973" y="-1553420"/>
            <a:ext cx="2854020" cy="13716631"/>
            <a:chOff x="9353973" y="-1553420"/>
            <a:chExt cx="2854020" cy="13716631"/>
          </a:xfrm>
        </p:grpSpPr>
        <p:grpSp>
          <p:nvGrpSpPr>
            <p:cNvPr id="148" name="Google Shape;148;g3cb2c61a5be_0_0"/>
            <p:cNvGrpSpPr/>
            <p:nvPr/>
          </p:nvGrpSpPr>
          <p:grpSpPr>
            <a:xfrm>
              <a:off x="9353973" y="-1553420"/>
              <a:ext cx="2838027" cy="13716631"/>
              <a:chOff x="9353973" y="-6079700"/>
              <a:chExt cx="2838027" cy="13716631"/>
            </a:xfrm>
          </p:grpSpPr>
          <p:pic>
            <p:nvPicPr>
              <p:cNvPr id="149" name="Google Shape;149;g3cb2c61a5be_0_0"/>
              <p:cNvPicPr preferRelativeResize="0"/>
              <p:nvPr/>
            </p:nvPicPr>
            <p:blipFill rotWithShape="1">
              <a:blip r:embed="rId4">
                <a:alphaModFix/>
              </a:blip>
              <a:srcRect b="0" l="1283" r="0" t="0"/>
              <a:stretch/>
            </p:blipFill>
            <p:spPr>
              <a:xfrm>
                <a:off x="9353973" y="778933"/>
                <a:ext cx="2838027" cy="6857998"/>
              </a:xfrm>
              <a:prstGeom prst="rect">
                <a:avLst/>
              </a:prstGeom>
              <a:noFill/>
              <a:ln>
                <a:noFill/>
              </a:ln>
            </p:spPr>
          </p:pic>
          <p:pic>
            <p:nvPicPr>
              <p:cNvPr id="150" name="Google Shape;150;g3cb2c61a5be_0_0"/>
              <p:cNvPicPr preferRelativeResize="0"/>
              <p:nvPr/>
            </p:nvPicPr>
            <p:blipFill rotWithShape="1">
              <a:blip r:embed="rId4">
                <a:alphaModFix/>
              </a:blip>
              <a:srcRect b="0" l="1283" r="0" t="0"/>
              <a:stretch/>
            </p:blipFill>
            <p:spPr>
              <a:xfrm>
                <a:off x="9353973" y="-6079700"/>
                <a:ext cx="2838027" cy="6857998"/>
              </a:xfrm>
              <a:prstGeom prst="rect">
                <a:avLst/>
              </a:prstGeom>
              <a:noFill/>
              <a:ln>
                <a:noFill/>
              </a:ln>
            </p:spPr>
          </p:pic>
        </p:grpSp>
        <p:sp>
          <p:nvSpPr>
            <p:cNvPr id="151" name="Google Shape;151;g3cb2c61a5be_0_0"/>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2" name="Google Shape;152;g3cb2c61a5be_0_0"/>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53" name="Google Shape;153;g3cb2c61a5be_0_0"/>
          <p:cNvPicPr preferRelativeResize="0"/>
          <p:nvPr/>
        </p:nvPicPr>
        <p:blipFill rotWithShape="1">
          <a:blip r:embed="rId5">
            <a:alphaModFix/>
          </a:blip>
          <a:srcRect b="0" l="0" r="0" t="0"/>
          <a:stretch/>
        </p:blipFill>
        <p:spPr>
          <a:xfrm>
            <a:off x="1055688" y="285516"/>
            <a:ext cx="677246" cy="77496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
          <p:cNvSpPr/>
          <p:nvPr/>
        </p:nvSpPr>
        <p:spPr>
          <a:xfrm>
            <a:off x="5742275" y="3167079"/>
            <a:ext cx="3206100" cy="3174900"/>
          </a:xfrm>
          <a:prstGeom prst="ellipse">
            <a:avLst/>
          </a:prstGeom>
          <a:solidFill>
            <a:srgbClr val="8E39E2"/>
          </a:solidFill>
          <a:ln cap="flat" cmpd="sng" w="9525">
            <a:solidFill>
              <a:srgbClr val="8E39E2"/>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chemeClr val="dk1"/>
              </a:buClr>
              <a:buSzPts val="4800"/>
              <a:buFont typeface="Proxima Nova"/>
              <a:buNone/>
            </a:pPr>
            <a:r>
              <a:t/>
            </a:r>
            <a:endParaRPr b="0" i="0" sz="4600" u="none" cap="none" strike="noStrike">
              <a:solidFill>
                <a:schemeClr val="dk1"/>
              </a:solidFill>
              <a:latin typeface="Proxima Nova"/>
              <a:ea typeface="Proxima Nova"/>
              <a:cs typeface="Proxima Nova"/>
              <a:sym typeface="Proxima Nova"/>
            </a:endParaRPr>
          </a:p>
        </p:txBody>
      </p:sp>
      <p:sp>
        <p:nvSpPr>
          <p:cNvPr id="159" name="Google Shape;159;p3"/>
          <p:cNvSpPr txBox="1"/>
          <p:nvPr/>
        </p:nvSpPr>
        <p:spPr>
          <a:xfrm>
            <a:off x="1055688" y="1327688"/>
            <a:ext cx="6421729" cy="301087"/>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Artificial Intelligence</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Искусственный интеллект</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sp>
        <p:nvSpPr>
          <p:cNvPr id="160" name="Google Shape;160;p3"/>
          <p:cNvSpPr txBox="1"/>
          <p:nvPr/>
        </p:nvSpPr>
        <p:spPr>
          <a:xfrm>
            <a:off x="1055688" y="2366937"/>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400" u="none" cap="none" strike="noStrike">
                <a:solidFill>
                  <a:schemeClr val="dk1"/>
                </a:solidFill>
                <a:latin typeface="IBM Plex Sans"/>
                <a:ea typeface="IBM Plex Sans"/>
                <a:cs typeface="IBM Plex Sans"/>
                <a:sym typeface="IBM Plex Sans"/>
              </a:rPr>
              <a:t>Система, способная принимать решения на основе состояния мира</a:t>
            </a:r>
            <a:endParaRPr b="0" i="0" sz="24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400" u="none" cap="none" strike="noStrike">
              <a:solidFill>
                <a:schemeClr val="dk1"/>
              </a:solidFill>
              <a:latin typeface="IBM Plex Sans"/>
              <a:ea typeface="IBM Plex Sans"/>
              <a:cs typeface="IBM Plex Sans"/>
              <a:sym typeface="IBM Plex Sans"/>
            </a:endParaRPr>
          </a:p>
        </p:txBody>
      </p:sp>
      <p:sp>
        <p:nvSpPr>
          <p:cNvPr id="161" name="Google Shape;161;p3"/>
          <p:cNvSpPr txBox="1"/>
          <p:nvPr/>
        </p:nvSpPr>
        <p:spPr>
          <a:xfrm>
            <a:off x="7088000" y="32855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grpSp>
        <p:nvGrpSpPr>
          <p:cNvPr id="162" name="Google Shape;162;p3"/>
          <p:cNvGrpSpPr/>
          <p:nvPr/>
        </p:nvGrpSpPr>
        <p:grpSpPr>
          <a:xfrm>
            <a:off x="9353973" y="-1553420"/>
            <a:ext cx="2854020" cy="13716631"/>
            <a:chOff x="9353973" y="-1553420"/>
            <a:chExt cx="2854020" cy="13716631"/>
          </a:xfrm>
        </p:grpSpPr>
        <p:grpSp>
          <p:nvGrpSpPr>
            <p:cNvPr id="163" name="Google Shape;163;p3"/>
            <p:cNvGrpSpPr/>
            <p:nvPr/>
          </p:nvGrpSpPr>
          <p:grpSpPr>
            <a:xfrm>
              <a:off x="9353973" y="-1553420"/>
              <a:ext cx="2838027" cy="13716631"/>
              <a:chOff x="9353973" y="-6079700"/>
              <a:chExt cx="2838027" cy="13716631"/>
            </a:xfrm>
          </p:grpSpPr>
          <p:pic>
            <p:nvPicPr>
              <p:cNvPr id="164" name="Google Shape;164;p3"/>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65" name="Google Shape;165;p3"/>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66" name="Google Shape;166;p3"/>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7" name="Google Shape;167;p3"/>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68" name="Google Shape;168;p3"/>
          <p:cNvPicPr preferRelativeResize="0"/>
          <p:nvPr/>
        </p:nvPicPr>
        <p:blipFill rotWithShape="1">
          <a:blip r:embed="rId4">
            <a:alphaModFix/>
          </a:blip>
          <a:srcRect b="0" l="0" r="0" t="0"/>
          <a:stretch/>
        </p:blipFill>
        <p:spPr>
          <a:xfrm>
            <a:off x="8826215" y="354856"/>
            <a:ext cx="2867441" cy="286744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cb20f13e01_0_22"/>
          <p:cNvSpPr/>
          <p:nvPr/>
        </p:nvSpPr>
        <p:spPr>
          <a:xfrm>
            <a:off x="5742275" y="3167079"/>
            <a:ext cx="3206100" cy="3174900"/>
          </a:xfrm>
          <a:prstGeom prst="ellipse">
            <a:avLst/>
          </a:prstGeom>
          <a:solidFill>
            <a:srgbClr val="8E39E2"/>
          </a:solidFill>
          <a:ln cap="flat" cmpd="sng" w="9525">
            <a:solidFill>
              <a:srgbClr val="8E39E2"/>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chemeClr val="dk1"/>
              </a:buClr>
              <a:buSzPts val="4800"/>
              <a:buFont typeface="Proxima Nova"/>
              <a:buNone/>
            </a:pPr>
            <a:r>
              <a:t/>
            </a:r>
            <a:endParaRPr b="0" i="0" sz="4600" u="none" cap="none" strike="noStrike">
              <a:solidFill>
                <a:schemeClr val="dk1"/>
              </a:solidFill>
              <a:latin typeface="Proxima Nova"/>
              <a:ea typeface="Proxima Nova"/>
              <a:cs typeface="Proxima Nova"/>
              <a:sym typeface="Proxima Nova"/>
            </a:endParaRPr>
          </a:p>
        </p:txBody>
      </p:sp>
      <p:sp>
        <p:nvSpPr>
          <p:cNvPr id="174" name="Google Shape;174;g3cb20f13e01_0_22"/>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Artificial Intelligence</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Искусственный интеллект</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sp>
        <p:nvSpPr>
          <p:cNvPr id="175" name="Google Shape;175;g3cb20f13e01_0_22"/>
          <p:cNvSpPr txBox="1"/>
          <p:nvPr/>
        </p:nvSpPr>
        <p:spPr>
          <a:xfrm>
            <a:off x="1055688" y="2366937"/>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chemeClr val="dk1"/>
              </a:buClr>
              <a:buSzPts val="1600"/>
              <a:buFont typeface="Arial"/>
              <a:buNone/>
            </a:pPr>
            <a:r>
              <a:rPr b="0" i="0" lang="ru-RU" sz="2400" u="none" cap="none" strike="noStrike">
                <a:solidFill>
                  <a:schemeClr val="dk1"/>
                </a:solidFill>
                <a:latin typeface="IBM Plex Sans"/>
                <a:ea typeface="IBM Plex Sans"/>
                <a:cs typeface="IBM Plex Sans"/>
                <a:sym typeface="IBM Plex Sans"/>
              </a:rPr>
              <a:t>Система, способная принимать решения на основе состояния мира</a:t>
            </a:r>
            <a:endParaRPr b="0" i="0" sz="24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1600"/>
              <a:buFont typeface="Arial"/>
              <a:buNone/>
            </a:pPr>
            <a:r>
              <a:t/>
            </a:r>
            <a:endParaRPr b="0" i="0" sz="24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1600" u="none" cap="none" strike="noStrike">
              <a:solidFill>
                <a:schemeClr val="dk1"/>
              </a:solidFill>
              <a:latin typeface="IBM Plex Sans"/>
              <a:ea typeface="IBM Plex Sans"/>
              <a:cs typeface="IBM Plex Sans"/>
              <a:sym typeface="IBM Plex Sans"/>
            </a:endParaRPr>
          </a:p>
        </p:txBody>
      </p:sp>
      <p:sp>
        <p:nvSpPr>
          <p:cNvPr id="176" name="Google Shape;176;g3cb20f13e01_0_22"/>
          <p:cNvSpPr txBox="1"/>
          <p:nvPr/>
        </p:nvSpPr>
        <p:spPr>
          <a:xfrm>
            <a:off x="7088000" y="32855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pic>
        <p:nvPicPr>
          <p:cNvPr descr="Picture background" id="177" name="Google Shape;177;g3cb20f13e01_0_22"/>
          <p:cNvPicPr preferRelativeResize="0"/>
          <p:nvPr/>
        </p:nvPicPr>
        <p:blipFill rotWithShape="1">
          <a:blip r:embed="rId3">
            <a:alphaModFix/>
          </a:blip>
          <a:srcRect b="0" l="0" r="0" t="0"/>
          <a:stretch/>
        </p:blipFill>
        <p:spPr>
          <a:xfrm>
            <a:off x="1055702" y="3514668"/>
            <a:ext cx="4838458" cy="2721632"/>
          </a:xfrm>
          <a:prstGeom prst="rect">
            <a:avLst/>
          </a:prstGeom>
          <a:noFill/>
          <a:ln>
            <a:noFill/>
          </a:ln>
        </p:spPr>
      </p:pic>
      <p:sp>
        <p:nvSpPr>
          <p:cNvPr id="178" name="Google Shape;178;g3cb20f13e01_0_22"/>
          <p:cNvSpPr txBox="1"/>
          <p:nvPr/>
        </p:nvSpPr>
        <p:spPr>
          <a:xfrm>
            <a:off x="1125263" y="3120213"/>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900"/>
              <a:buFont typeface="Arial"/>
              <a:buNone/>
            </a:pPr>
            <a:r>
              <a:rPr b="1" i="0" lang="ru-RU" sz="2100" u="none" cap="none" strike="noStrike">
                <a:solidFill>
                  <a:schemeClr val="dk1"/>
                </a:solidFill>
                <a:latin typeface="IBM Plex Sans"/>
                <a:ea typeface="IBM Plex Sans"/>
                <a:cs typeface="IBM Plex Sans"/>
                <a:sym typeface="IBM Plex Sans"/>
              </a:rPr>
              <a:t>Deep Blue</a:t>
            </a:r>
            <a:endParaRPr b="1" i="0" sz="2100" u="none" cap="none" strike="noStrike">
              <a:solidFill>
                <a:schemeClr val="dk1"/>
              </a:solidFill>
              <a:latin typeface="IBM Plex Sans"/>
              <a:ea typeface="IBM Plex Sans"/>
              <a:cs typeface="IBM Plex Sans"/>
              <a:sym typeface="IBM Plex Sans"/>
            </a:endParaRPr>
          </a:p>
        </p:txBody>
      </p:sp>
      <p:grpSp>
        <p:nvGrpSpPr>
          <p:cNvPr id="179" name="Google Shape;179;g3cb20f13e01_0_22"/>
          <p:cNvGrpSpPr/>
          <p:nvPr/>
        </p:nvGrpSpPr>
        <p:grpSpPr>
          <a:xfrm>
            <a:off x="9353973" y="-1553420"/>
            <a:ext cx="2854020" cy="13716631"/>
            <a:chOff x="9353973" y="-1553420"/>
            <a:chExt cx="2854020" cy="13716631"/>
          </a:xfrm>
        </p:grpSpPr>
        <p:grpSp>
          <p:nvGrpSpPr>
            <p:cNvPr id="180" name="Google Shape;180;g3cb20f13e01_0_22"/>
            <p:cNvGrpSpPr/>
            <p:nvPr/>
          </p:nvGrpSpPr>
          <p:grpSpPr>
            <a:xfrm>
              <a:off x="9353973" y="-1553420"/>
              <a:ext cx="2838027" cy="13716631"/>
              <a:chOff x="9353973" y="-6079700"/>
              <a:chExt cx="2838027" cy="13716631"/>
            </a:xfrm>
          </p:grpSpPr>
          <p:pic>
            <p:nvPicPr>
              <p:cNvPr id="181" name="Google Shape;181;g3cb20f13e01_0_22"/>
              <p:cNvPicPr preferRelativeResize="0"/>
              <p:nvPr/>
            </p:nvPicPr>
            <p:blipFill rotWithShape="1">
              <a:blip r:embed="rId4">
                <a:alphaModFix/>
              </a:blip>
              <a:srcRect b="0" l="1283" r="0" t="0"/>
              <a:stretch/>
            </p:blipFill>
            <p:spPr>
              <a:xfrm>
                <a:off x="9353973" y="778933"/>
                <a:ext cx="2838027" cy="6857998"/>
              </a:xfrm>
              <a:prstGeom prst="rect">
                <a:avLst/>
              </a:prstGeom>
              <a:noFill/>
              <a:ln>
                <a:noFill/>
              </a:ln>
            </p:spPr>
          </p:pic>
          <p:pic>
            <p:nvPicPr>
              <p:cNvPr id="182" name="Google Shape;182;g3cb20f13e01_0_22"/>
              <p:cNvPicPr preferRelativeResize="0"/>
              <p:nvPr/>
            </p:nvPicPr>
            <p:blipFill rotWithShape="1">
              <a:blip r:embed="rId4">
                <a:alphaModFix/>
              </a:blip>
              <a:srcRect b="0" l="1283" r="0" t="0"/>
              <a:stretch/>
            </p:blipFill>
            <p:spPr>
              <a:xfrm>
                <a:off x="9353973" y="-6079700"/>
                <a:ext cx="2838027" cy="6857998"/>
              </a:xfrm>
              <a:prstGeom prst="rect">
                <a:avLst/>
              </a:prstGeom>
              <a:noFill/>
              <a:ln>
                <a:noFill/>
              </a:ln>
            </p:spPr>
          </p:pic>
        </p:grpSp>
        <p:sp>
          <p:nvSpPr>
            <p:cNvPr id="183" name="Google Shape;183;g3cb20f13e01_0_22"/>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4" name="Google Shape;184;g3cb20f13e01_0_22"/>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85" name="Google Shape;185;g3cb20f13e01_0_22"/>
          <p:cNvPicPr preferRelativeResize="0"/>
          <p:nvPr/>
        </p:nvPicPr>
        <p:blipFill rotWithShape="1">
          <a:blip r:embed="rId5">
            <a:alphaModFix/>
          </a:blip>
          <a:srcRect b="0" l="0" r="0" t="0"/>
          <a:stretch/>
        </p:blipFill>
        <p:spPr>
          <a:xfrm>
            <a:off x="8826215" y="354856"/>
            <a:ext cx="2867441" cy="286744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cb20f13e01_0_38"/>
          <p:cNvSpPr/>
          <p:nvPr/>
        </p:nvSpPr>
        <p:spPr>
          <a:xfrm>
            <a:off x="5742275" y="3167079"/>
            <a:ext cx="3206100" cy="3174900"/>
          </a:xfrm>
          <a:prstGeom prst="ellipse">
            <a:avLst/>
          </a:prstGeom>
          <a:solidFill>
            <a:srgbClr val="8E39E2"/>
          </a:solidFill>
          <a:ln cap="flat" cmpd="sng" w="9525">
            <a:solidFill>
              <a:srgbClr val="8E39E2"/>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chemeClr val="dk1"/>
              </a:buClr>
              <a:buSzPts val="4800"/>
              <a:buFont typeface="Proxima Nova"/>
              <a:buNone/>
            </a:pPr>
            <a:r>
              <a:t/>
            </a:r>
            <a:endParaRPr b="0" i="0" sz="4600" u="none" cap="none" strike="noStrike">
              <a:solidFill>
                <a:schemeClr val="dk1"/>
              </a:solidFill>
              <a:latin typeface="Proxima Nova"/>
              <a:ea typeface="Proxima Nova"/>
              <a:cs typeface="Proxima Nova"/>
              <a:sym typeface="Proxima Nova"/>
            </a:endParaRPr>
          </a:p>
        </p:txBody>
      </p:sp>
      <p:sp>
        <p:nvSpPr>
          <p:cNvPr id="191" name="Google Shape;191;g3cb20f13e01_0_38"/>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Artificial Intelligence</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Искусственный интеллект</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sp>
        <p:nvSpPr>
          <p:cNvPr id="192" name="Google Shape;192;g3cb20f13e01_0_38"/>
          <p:cNvSpPr txBox="1"/>
          <p:nvPr/>
        </p:nvSpPr>
        <p:spPr>
          <a:xfrm>
            <a:off x="1055688" y="2366937"/>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400" u="none" cap="none" strike="noStrike">
                <a:solidFill>
                  <a:schemeClr val="dk1"/>
                </a:solidFill>
                <a:latin typeface="IBM Plex Sans"/>
                <a:ea typeface="IBM Plex Sans"/>
                <a:cs typeface="IBM Plex Sans"/>
                <a:sym typeface="IBM Plex Sans"/>
              </a:rPr>
              <a:t>Система, способная принимать решения на основе </a:t>
            </a:r>
            <a:r>
              <a:rPr b="0" i="0" lang="ru-RU" sz="2400" u="none" cap="none" strike="noStrike">
                <a:solidFill>
                  <a:schemeClr val="dk1"/>
                </a:solidFill>
                <a:highlight>
                  <a:srgbClr val="F8CEEE"/>
                </a:highlight>
                <a:latin typeface="IBM Plex Sans"/>
                <a:ea typeface="IBM Plex Sans"/>
                <a:cs typeface="IBM Plex Sans"/>
                <a:sym typeface="IBM Plex Sans"/>
              </a:rPr>
              <a:t>состояния мира</a:t>
            </a:r>
            <a:endParaRPr b="0" i="0" sz="2400" u="none" cap="none" strike="noStrike">
              <a:solidFill>
                <a:schemeClr val="dk1"/>
              </a:solidFill>
              <a:highlight>
                <a:srgbClr val="F8CEEE"/>
              </a:highlight>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400" u="none" cap="none" strike="noStrike">
              <a:solidFill>
                <a:schemeClr val="dk1"/>
              </a:solidFill>
              <a:latin typeface="IBM Plex Sans"/>
              <a:ea typeface="IBM Plex Sans"/>
              <a:cs typeface="IBM Plex Sans"/>
              <a:sym typeface="IBM Plex Sans"/>
            </a:endParaRPr>
          </a:p>
        </p:txBody>
      </p:sp>
      <p:pic>
        <p:nvPicPr>
          <p:cNvPr descr="Picture background" id="193" name="Google Shape;193;g3cb20f13e01_0_38"/>
          <p:cNvPicPr preferRelativeResize="0"/>
          <p:nvPr/>
        </p:nvPicPr>
        <p:blipFill rotWithShape="1">
          <a:blip r:embed="rId3">
            <a:alphaModFix/>
          </a:blip>
          <a:srcRect b="0" l="0" r="0" t="0"/>
          <a:stretch/>
        </p:blipFill>
        <p:spPr>
          <a:xfrm>
            <a:off x="1055702" y="3514668"/>
            <a:ext cx="4838458" cy="2721632"/>
          </a:xfrm>
          <a:prstGeom prst="rect">
            <a:avLst/>
          </a:prstGeom>
          <a:noFill/>
          <a:ln>
            <a:noFill/>
          </a:ln>
        </p:spPr>
      </p:pic>
      <p:sp>
        <p:nvSpPr>
          <p:cNvPr id="194" name="Google Shape;194;g3cb20f13e01_0_38"/>
          <p:cNvSpPr txBox="1"/>
          <p:nvPr/>
        </p:nvSpPr>
        <p:spPr>
          <a:xfrm>
            <a:off x="1125263" y="3120213"/>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900"/>
              <a:buFont typeface="Arial"/>
              <a:buNone/>
            </a:pPr>
            <a:r>
              <a:rPr b="1" i="0" lang="ru-RU" sz="1900" u="none" cap="none" strike="noStrike">
                <a:solidFill>
                  <a:schemeClr val="dk1"/>
                </a:solidFill>
                <a:latin typeface="IBM Plex Sans"/>
                <a:ea typeface="IBM Plex Sans"/>
                <a:cs typeface="IBM Plex Sans"/>
                <a:sym typeface="IBM Plex Sans"/>
              </a:rPr>
              <a:t>Deep Blue</a:t>
            </a:r>
            <a:endParaRPr b="1" i="0" sz="1900" u="none" cap="none" strike="noStrike">
              <a:solidFill>
                <a:schemeClr val="dk1"/>
              </a:solidFill>
              <a:latin typeface="IBM Plex Sans"/>
              <a:ea typeface="IBM Plex Sans"/>
              <a:cs typeface="IBM Plex Sans"/>
              <a:sym typeface="IBM Plex Sans"/>
            </a:endParaRPr>
          </a:p>
        </p:txBody>
      </p:sp>
      <p:sp>
        <p:nvSpPr>
          <p:cNvPr id="195" name="Google Shape;195;g3cb20f13e01_0_38"/>
          <p:cNvSpPr txBox="1"/>
          <p:nvPr/>
        </p:nvSpPr>
        <p:spPr>
          <a:xfrm>
            <a:off x="7088000" y="32855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grpSp>
        <p:nvGrpSpPr>
          <p:cNvPr id="196" name="Google Shape;196;g3cb20f13e01_0_38"/>
          <p:cNvGrpSpPr/>
          <p:nvPr/>
        </p:nvGrpSpPr>
        <p:grpSpPr>
          <a:xfrm>
            <a:off x="9353973" y="-1553420"/>
            <a:ext cx="2854020" cy="13716631"/>
            <a:chOff x="9353973" y="-1553420"/>
            <a:chExt cx="2854020" cy="13716631"/>
          </a:xfrm>
        </p:grpSpPr>
        <p:grpSp>
          <p:nvGrpSpPr>
            <p:cNvPr id="197" name="Google Shape;197;g3cb20f13e01_0_38"/>
            <p:cNvGrpSpPr/>
            <p:nvPr/>
          </p:nvGrpSpPr>
          <p:grpSpPr>
            <a:xfrm>
              <a:off x="9353973" y="-1553420"/>
              <a:ext cx="2838027" cy="13716631"/>
              <a:chOff x="9353973" y="-6079700"/>
              <a:chExt cx="2838027" cy="13716631"/>
            </a:xfrm>
          </p:grpSpPr>
          <p:pic>
            <p:nvPicPr>
              <p:cNvPr id="198" name="Google Shape;198;g3cb20f13e01_0_38"/>
              <p:cNvPicPr preferRelativeResize="0"/>
              <p:nvPr/>
            </p:nvPicPr>
            <p:blipFill rotWithShape="1">
              <a:blip r:embed="rId4">
                <a:alphaModFix/>
              </a:blip>
              <a:srcRect b="0" l="1283" r="0" t="0"/>
              <a:stretch/>
            </p:blipFill>
            <p:spPr>
              <a:xfrm>
                <a:off x="9353973" y="778933"/>
                <a:ext cx="2838027" cy="6857998"/>
              </a:xfrm>
              <a:prstGeom prst="rect">
                <a:avLst/>
              </a:prstGeom>
              <a:noFill/>
              <a:ln>
                <a:noFill/>
              </a:ln>
            </p:spPr>
          </p:pic>
          <p:pic>
            <p:nvPicPr>
              <p:cNvPr id="199" name="Google Shape;199;g3cb20f13e01_0_38"/>
              <p:cNvPicPr preferRelativeResize="0"/>
              <p:nvPr/>
            </p:nvPicPr>
            <p:blipFill rotWithShape="1">
              <a:blip r:embed="rId4">
                <a:alphaModFix/>
              </a:blip>
              <a:srcRect b="0" l="1283" r="0" t="0"/>
              <a:stretch/>
            </p:blipFill>
            <p:spPr>
              <a:xfrm>
                <a:off x="9353973" y="-6079700"/>
                <a:ext cx="2838027" cy="6857998"/>
              </a:xfrm>
              <a:prstGeom prst="rect">
                <a:avLst/>
              </a:prstGeom>
              <a:noFill/>
              <a:ln>
                <a:noFill/>
              </a:ln>
            </p:spPr>
          </p:pic>
        </p:grpSp>
        <p:sp>
          <p:nvSpPr>
            <p:cNvPr id="200" name="Google Shape;200;g3cb20f13e01_0_38"/>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1" name="Google Shape;201;g3cb20f13e01_0_38"/>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02" name="Google Shape;202;g3cb20f13e01_0_38"/>
          <p:cNvPicPr preferRelativeResize="0"/>
          <p:nvPr/>
        </p:nvPicPr>
        <p:blipFill rotWithShape="1">
          <a:blip r:embed="rId5">
            <a:alphaModFix/>
          </a:blip>
          <a:srcRect b="0" l="0" r="0" t="0"/>
          <a:stretch/>
        </p:blipFill>
        <p:spPr>
          <a:xfrm>
            <a:off x="8826215" y="354856"/>
            <a:ext cx="2867441" cy="286744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cb20f13e01_0_54"/>
          <p:cNvSpPr/>
          <p:nvPr/>
        </p:nvSpPr>
        <p:spPr>
          <a:xfrm>
            <a:off x="5742275" y="3167079"/>
            <a:ext cx="3206100" cy="3174900"/>
          </a:xfrm>
          <a:prstGeom prst="ellipse">
            <a:avLst/>
          </a:prstGeom>
          <a:solidFill>
            <a:srgbClr val="8E39E2"/>
          </a:solidFill>
          <a:ln cap="flat" cmpd="sng" w="9525">
            <a:solidFill>
              <a:srgbClr val="8E39E2"/>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chemeClr val="dk1"/>
              </a:buClr>
              <a:buSzPts val="4800"/>
              <a:buFont typeface="Proxima Nova"/>
              <a:buNone/>
            </a:pPr>
            <a:r>
              <a:t/>
            </a:r>
            <a:endParaRPr b="0" i="0" sz="4600" u="none" cap="none" strike="noStrike">
              <a:solidFill>
                <a:schemeClr val="dk1"/>
              </a:solidFill>
              <a:latin typeface="Proxima Nova"/>
              <a:ea typeface="Proxima Nova"/>
              <a:cs typeface="Proxima Nova"/>
              <a:sym typeface="Proxima Nova"/>
            </a:endParaRPr>
          </a:p>
        </p:txBody>
      </p:sp>
      <p:sp>
        <p:nvSpPr>
          <p:cNvPr id="208" name="Google Shape;208;g3cb20f13e01_0_54"/>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Artificial Intelligence</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Искусственный интеллект</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sp>
        <p:nvSpPr>
          <p:cNvPr id="209" name="Google Shape;209;g3cb20f13e01_0_54"/>
          <p:cNvSpPr txBox="1"/>
          <p:nvPr/>
        </p:nvSpPr>
        <p:spPr>
          <a:xfrm>
            <a:off x="1055688" y="2366937"/>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400" u="none" cap="none" strike="noStrike">
                <a:solidFill>
                  <a:schemeClr val="dk1"/>
                </a:solidFill>
                <a:highlight>
                  <a:srgbClr val="F8CEEE"/>
                </a:highlight>
                <a:latin typeface="IBM Plex Sans"/>
                <a:ea typeface="IBM Plex Sans"/>
                <a:cs typeface="IBM Plex Sans"/>
                <a:sym typeface="IBM Plex Sans"/>
              </a:rPr>
              <a:t>Система</a:t>
            </a:r>
            <a:r>
              <a:rPr b="0" i="0" lang="ru-RU" sz="2400" u="none" cap="none" strike="noStrike">
                <a:solidFill>
                  <a:schemeClr val="dk1"/>
                </a:solidFill>
                <a:latin typeface="IBM Plex Sans"/>
                <a:ea typeface="IBM Plex Sans"/>
                <a:cs typeface="IBM Plex Sans"/>
                <a:sym typeface="IBM Plex Sans"/>
              </a:rPr>
              <a:t>, способная принимать решения на основе </a:t>
            </a:r>
            <a:r>
              <a:rPr b="0" i="0" lang="ru-RU" sz="2400" u="none" cap="none" strike="noStrike">
                <a:solidFill>
                  <a:schemeClr val="dk1"/>
                </a:solidFill>
                <a:highlight>
                  <a:srgbClr val="F8CEEE"/>
                </a:highlight>
                <a:latin typeface="IBM Plex Sans"/>
                <a:ea typeface="IBM Plex Sans"/>
                <a:cs typeface="IBM Plex Sans"/>
                <a:sym typeface="IBM Plex Sans"/>
              </a:rPr>
              <a:t>состояния мира</a:t>
            </a:r>
            <a:endParaRPr b="0" i="0" sz="2400" u="none" cap="none" strike="noStrike">
              <a:solidFill>
                <a:schemeClr val="dk1"/>
              </a:solidFill>
              <a:highlight>
                <a:srgbClr val="F8CEEE"/>
              </a:highlight>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400" u="none" cap="none" strike="noStrike">
              <a:solidFill>
                <a:schemeClr val="dk1"/>
              </a:solidFill>
              <a:latin typeface="IBM Plex Sans"/>
              <a:ea typeface="IBM Plex Sans"/>
              <a:cs typeface="IBM Plex Sans"/>
              <a:sym typeface="IBM Plex Sans"/>
            </a:endParaRPr>
          </a:p>
        </p:txBody>
      </p:sp>
      <p:sp>
        <p:nvSpPr>
          <p:cNvPr id="210" name="Google Shape;210;g3cb20f13e01_0_54"/>
          <p:cNvSpPr txBox="1"/>
          <p:nvPr/>
        </p:nvSpPr>
        <p:spPr>
          <a:xfrm>
            <a:off x="7088000" y="32855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pic>
        <p:nvPicPr>
          <p:cNvPr descr="Picture background" id="211" name="Google Shape;211;g3cb20f13e01_0_54"/>
          <p:cNvPicPr preferRelativeResize="0"/>
          <p:nvPr/>
        </p:nvPicPr>
        <p:blipFill rotWithShape="1">
          <a:blip r:embed="rId3">
            <a:alphaModFix/>
          </a:blip>
          <a:srcRect b="0" l="0" r="0" t="0"/>
          <a:stretch/>
        </p:blipFill>
        <p:spPr>
          <a:xfrm>
            <a:off x="1055702" y="3514668"/>
            <a:ext cx="4838458" cy="2721632"/>
          </a:xfrm>
          <a:prstGeom prst="rect">
            <a:avLst/>
          </a:prstGeom>
          <a:noFill/>
          <a:ln>
            <a:noFill/>
          </a:ln>
        </p:spPr>
      </p:pic>
      <p:sp>
        <p:nvSpPr>
          <p:cNvPr id="212" name="Google Shape;212;g3cb20f13e01_0_54"/>
          <p:cNvSpPr txBox="1"/>
          <p:nvPr/>
        </p:nvSpPr>
        <p:spPr>
          <a:xfrm>
            <a:off x="1125263" y="3120213"/>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900"/>
              <a:buFont typeface="Arial"/>
              <a:buNone/>
            </a:pPr>
            <a:r>
              <a:rPr b="1" i="0" lang="ru-RU" sz="1900" u="none" cap="none" strike="noStrike">
                <a:solidFill>
                  <a:schemeClr val="dk1"/>
                </a:solidFill>
                <a:latin typeface="IBM Plex Sans"/>
                <a:ea typeface="IBM Plex Sans"/>
                <a:cs typeface="IBM Plex Sans"/>
                <a:sym typeface="IBM Plex Sans"/>
              </a:rPr>
              <a:t>Deep Blue</a:t>
            </a:r>
            <a:endParaRPr b="1" i="0" sz="1900" u="none" cap="none" strike="noStrike">
              <a:solidFill>
                <a:schemeClr val="dk1"/>
              </a:solidFill>
              <a:latin typeface="IBM Plex Sans"/>
              <a:ea typeface="IBM Plex Sans"/>
              <a:cs typeface="IBM Plex Sans"/>
              <a:sym typeface="IBM Plex Sans"/>
            </a:endParaRPr>
          </a:p>
        </p:txBody>
      </p:sp>
      <p:grpSp>
        <p:nvGrpSpPr>
          <p:cNvPr id="213" name="Google Shape;213;g3cb20f13e01_0_54"/>
          <p:cNvGrpSpPr/>
          <p:nvPr/>
        </p:nvGrpSpPr>
        <p:grpSpPr>
          <a:xfrm>
            <a:off x="9353973" y="-1553420"/>
            <a:ext cx="2854020" cy="13716631"/>
            <a:chOff x="9353973" y="-1553420"/>
            <a:chExt cx="2854020" cy="13716631"/>
          </a:xfrm>
        </p:grpSpPr>
        <p:grpSp>
          <p:nvGrpSpPr>
            <p:cNvPr id="214" name="Google Shape;214;g3cb20f13e01_0_54"/>
            <p:cNvGrpSpPr/>
            <p:nvPr/>
          </p:nvGrpSpPr>
          <p:grpSpPr>
            <a:xfrm>
              <a:off x="9353973" y="-1553420"/>
              <a:ext cx="2838027" cy="13716631"/>
              <a:chOff x="9353973" y="-6079700"/>
              <a:chExt cx="2838027" cy="13716631"/>
            </a:xfrm>
          </p:grpSpPr>
          <p:pic>
            <p:nvPicPr>
              <p:cNvPr id="215" name="Google Shape;215;g3cb20f13e01_0_54"/>
              <p:cNvPicPr preferRelativeResize="0"/>
              <p:nvPr/>
            </p:nvPicPr>
            <p:blipFill rotWithShape="1">
              <a:blip r:embed="rId4">
                <a:alphaModFix/>
              </a:blip>
              <a:srcRect b="0" l="1283" r="0" t="0"/>
              <a:stretch/>
            </p:blipFill>
            <p:spPr>
              <a:xfrm>
                <a:off x="9353973" y="778933"/>
                <a:ext cx="2838027" cy="6857998"/>
              </a:xfrm>
              <a:prstGeom prst="rect">
                <a:avLst/>
              </a:prstGeom>
              <a:noFill/>
              <a:ln>
                <a:noFill/>
              </a:ln>
            </p:spPr>
          </p:pic>
          <p:pic>
            <p:nvPicPr>
              <p:cNvPr id="216" name="Google Shape;216;g3cb20f13e01_0_54"/>
              <p:cNvPicPr preferRelativeResize="0"/>
              <p:nvPr/>
            </p:nvPicPr>
            <p:blipFill rotWithShape="1">
              <a:blip r:embed="rId4">
                <a:alphaModFix/>
              </a:blip>
              <a:srcRect b="0" l="1283" r="0" t="0"/>
              <a:stretch/>
            </p:blipFill>
            <p:spPr>
              <a:xfrm>
                <a:off x="9353973" y="-6079700"/>
                <a:ext cx="2838027" cy="6857998"/>
              </a:xfrm>
              <a:prstGeom prst="rect">
                <a:avLst/>
              </a:prstGeom>
              <a:noFill/>
              <a:ln>
                <a:noFill/>
              </a:ln>
            </p:spPr>
          </p:pic>
        </p:grpSp>
        <p:sp>
          <p:nvSpPr>
            <p:cNvPr id="217" name="Google Shape;217;g3cb20f13e01_0_54"/>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 name="Google Shape;218;g3cb20f13e01_0_54"/>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19" name="Google Shape;219;g3cb20f13e01_0_54"/>
          <p:cNvPicPr preferRelativeResize="0"/>
          <p:nvPr/>
        </p:nvPicPr>
        <p:blipFill rotWithShape="1">
          <a:blip r:embed="rId5">
            <a:alphaModFix/>
          </a:blip>
          <a:srcRect b="0" l="0" r="0" t="0"/>
          <a:stretch/>
        </p:blipFill>
        <p:spPr>
          <a:xfrm>
            <a:off x="8826215" y="354856"/>
            <a:ext cx="2867441" cy="286744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cb20f13e01_0_149"/>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Artificial Intelligence</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Искусственный интеллект</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sp>
        <p:nvSpPr>
          <p:cNvPr id="225" name="Google Shape;225;g3cb20f13e01_0_149"/>
          <p:cNvSpPr txBox="1"/>
          <p:nvPr/>
        </p:nvSpPr>
        <p:spPr>
          <a:xfrm>
            <a:off x="1055688" y="2366937"/>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400" u="none" cap="none" strike="noStrike">
                <a:solidFill>
                  <a:schemeClr val="dk1"/>
                </a:solidFill>
                <a:latin typeface="IBM Plex Sans"/>
                <a:ea typeface="IBM Plex Sans"/>
                <a:cs typeface="IBM Plex Sans"/>
                <a:sym typeface="IBM Plex Sans"/>
              </a:rPr>
              <a:t>Система, способная принимать решения </a:t>
            </a:r>
            <a:endParaRPr b="0" i="0" sz="24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rPr b="0" i="0" lang="ru-RU" sz="2400" u="none" cap="none" strike="noStrike">
                <a:solidFill>
                  <a:schemeClr val="dk1"/>
                </a:solidFill>
                <a:latin typeface="IBM Plex Sans"/>
                <a:ea typeface="IBM Plex Sans"/>
                <a:cs typeface="IBM Plex Sans"/>
                <a:sym typeface="IBM Plex Sans"/>
              </a:rPr>
              <a:t>на основе состояния мира</a:t>
            </a:r>
            <a:endParaRPr b="0" i="0" sz="24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400" u="none" cap="none" strike="noStrike">
              <a:solidFill>
                <a:schemeClr val="dk1"/>
              </a:solidFill>
              <a:latin typeface="IBM Plex Sans"/>
              <a:ea typeface="IBM Plex Sans"/>
              <a:cs typeface="IBM Plex Sans"/>
              <a:sym typeface="IBM Plex Sans"/>
            </a:endParaRPr>
          </a:p>
        </p:txBody>
      </p:sp>
      <p:sp>
        <p:nvSpPr>
          <p:cNvPr id="226" name="Google Shape;226;g3cb20f13e01_0_149"/>
          <p:cNvSpPr/>
          <p:nvPr/>
        </p:nvSpPr>
        <p:spPr>
          <a:xfrm>
            <a:off x="5742275" y="3167079"/>
            <a:ext cx="3206100" cy="3174900"/>
          </a:xfrm>
          <a:prstGeom prst="ellipse">
            <a:avLst/>
          </a:prstGeom>
          <a:solidFill>
            <a:srgbClr val="8E39E2"/>
          </a:solidFill>
          <a:ln cap="flat" cmpd="sng" w="9525">
            <a:solidFill>
              <a:srgbClr val="8E39E2"/>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chemeClr val="dk1"/>
              </a:buClr>
              <a:buSzPts val="4800"/>
              <a:buFont typeface="Proxima Nova"/>
              <a:buNone/>
            </a:pPr>
            <a:r>
              <a:t/>
            </a:r>
            <a:endParaRPr b="0" i="0" sz="4600" u="none" cap="none" strike="noStrike">
              <a:solidFill>
                <a:schemeClr val="dk1"/>
              </a:solidFill>
              <a:latin typeface="Proxima Nova"/>
              <a:ea typeface="Proxima Nova"/>
              <a:cs typeface="Proxima Nova"/>
              <a:sym typeface="Proxima Nova"/>
            </a:endParaRPr>
          </a:p>
        </p:txBody>
      </p:sp>
      <p:sp>
        <p:nvSpPr>
          <p:cNvPr id="227" name="Google Shape;227;g3cb20f13e01_0_149"/>
          <p:cNvSpPr/>
          <p:nvPr/>
        </p:nvSpPr>
        <p:spPr>
          <a:xfrm>
            <a:off x="6175481" y="4002618"/>
            <a:ext cx="2339700" cy="2251800"/>
          </a:xfrm>
          <a:prstGeom prst="ellipse">
            <a:avLst/>
          </a:prstGeom>
          <a:solidFill>
            <a:srgbClr val="F8CEEE"/>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chemeClr val="dk1"/>
              </a:buClr>
              <a:buSzPts val="4800"/>
              <a:buFont typeface="Proxima Nova"/>
              <a:buNone/>
            </a:pPr>
            <a:r>
              <a:t/>
            </a:r>
            <a:endParaRPr b="0" i="0" sz="4600" u="none" cap="none" strike="noStrike">
              <a:solidFill>
                <a:schemeClr val="dk1"/>
              </a:solidFill>
              <a:latin typeface="Proxima Nova"/>
              <a:ea typeface="Proxima Nova"/>
              <a:cs typeface="Proxima Nova"/>
              <a:sym typeface="Proxima Nova"/>
            </a:endParaRPr>
          </a:p>
        </p:txBody>
      </p:sp>
      <p:sp>
        <p:nvSpPr>
          <p:cNvPr id="228" name="Google Shape;228;g3cb20f13e01_0_149"/>
          <p:cNvSpPr txBox="1"/>
          <p:nvPr/>
        </p:nvSpPr>
        <p:spPr>
          <a:xfrm>
            <a:off x="7101050" y="406667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15110E"/>
                </a:solidFill>
                <a:latin typeface="IBM Plex Sans"/>
                <a:ea typeface="IBM Plex Sans"/>
                <a:cs typeface="IBM Plex Sans"/>
                <a:sym typeface="IBM Plex Sans"/>
              </a:rPr>
              <a:t>ML</a:t>
            </a:r>
            <a:endParaRPr b="0" i="0" sz="1500" u="none" cap="none" strike="noStrike">
              <a:solidFill>
                <a:srgbClr val="15110E"/>
              </a:solidFill>
              <a:latin typeface="IBM Plex Sans"/>
              <a:ea typeface="IBM Plex Sans"/>
              <a:cs typeface="IBM Plex Sans"/>
              <a:sym typeface="IBM Plex Sans"/>
            </a:endParaRPr>
          </a:p>
        </p:txBody>
      </p:sp>
      <p:sp>
        <p:nvSpPr>
          <p:cNvPr id="229" name="Google Shape;229;g3cb20f13e01_0_149"/>
          <p:cNvSpPr txBox="1"/>
          <p:nvPr/>
        </p:nvSpPr>
        <p:spPr>
          <a:xfrm>
            <a:off x="7088000" y="32855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grpSp>
        <p:nvGrpSpPr>
          <p:cNvPr id="230" name="Google Shape;230;g3cb20f13e01_0_149"/>
          <p:cNvGrpSpPr/>
          <p:nvPr/>
        </p:nvGrpSpPr>
        <p:grpSpPr>
          <a:xfrm>
            <a:off x="9353973" y="-1553420"/>
            <a:ext cx="2854020" cy="13716631"/>
            <a:chOff x="9353973" y="-1553420"/>
            <a:chExt cx="2854020" cy="13716631"/>
          </a:xfrm>
        </p:grpSpPr>
        <p:grpSp>
          <p:nvGrpSpPr>
            <p:cNvPr id="231" name="Google Shape;231;g3cb20f13e01_0_149"/>
            <p:cNvGrpSpPr/>
            <p:nvPr/>
          </p:nvGrpSpPr>
          <p:grpSpPr>
            <a:xfrm>
              <a:off x="9353973" y="-1553420"/>
              <a:ext cx="2838027" cy="13716631"/>
              <a:chOff x="9353973" y="-6079700"/>
              <a:chExt cx="2838027" cy="13716631"/>
            </a:xfrm>
          </p:grpSpPr>
          <p:pic>
            <p:nvPicPr>
              <p:cNvPr id="232" name="Google Shape;232;g3cb20f13e01_0_149"/>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233" name="Google Shape;233;g3cb20f13e01_0_149"/>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234" name="Google Shape;234;g3cb20f13e01_0_149"/>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5" name="Google Shape;235;g3cb20f13e01_0_149"/>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36" name="Google Shape;236;g3cb20f13e01_0_149"/>
          <p:cNvSpPr txBox="1"/>
          <p:nvPr/>
        </p:nvSpPr>
        <p:spPr>
          <a:xfrm>
            <a:off x="1055688" y="3432713"/>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Machine learning</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pic>
        <p:nvPicPr>
          <p:cNvPr id="237" name="Google Shape;237;g3cb20f13e01_0_149"/>
          <p:cNvPicPr preferRelativeResize="0"/>
          <p:nvPr/>
        </p:nvPicPr>
        <p:blipFill rotWithShape="1">
          <a:blip r:embed="rId4">
            <a:alphaModFix/>
          </a:blip>
          <a:srcRect b="0" l="0" r="0" t="0"/>
          <a:stretch/>
        </p:blipFill>
        <p:spPr>
          <a:xfrm>
            <a:off x="8826215" y="354856"/>
            <a:ext cx="2867441" cy="2867441"/>
          </a:xfrm>
          <a:prstGeom prst="rect">
            <a:avLst/>
          </a:prstGeom>
          <a:noFill/>
          <a:ln>
            <a:noFill/>
          </a:ln>
        </p:spPr>
      </p:pic>
      <p:sp>
        <p:nvSpPr>
          <p:cNvPr id="238" name="Google Shape;238;g3cb20f13e01_0_149"/>
          <p:cNvSpPr txBox="1"/>
          <p:nvPr/>
        </p:nvSpPr>
        <p:spPr>
          <a:xfrm>
            <a:off x="1055698" y="4471950"/>
            <a:ext cx="45615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400" u="none" cap="none" strike="noStrike">
                <a:solidFill>
                  <a:schemeClr val="dk1"/>
                </a:solidFill>
                <a:latin typeface="IBM Plex Sans"/>
                <a:ea typeface="IBM Plex Sans"/>
                <a:cs typeface="IBM Plex Sans"/>
                <a:sym typeface="IBM Plex Sans"/>
              </a:rPr>
              <a:t>Система, принимающая решения на основе накопленного опыта и состояния мира</a:t>
            </a:r>
            <a:endParaRPr b="0" i="0" sz="24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4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cb20f13e01_0_174"/>
          <p:cNvSpPr/>
          <p:nvPr/>
        </p:nvSpPr>
        <p:spPr>
          <a:xfrm>
            <a:off x="5742275" y="3167079"/>
            <a:ext cx="3206100" cy="3174900"/>
          </a:xfrm>
          <a:prstGeom prst="ellipse">
            <a:avLst/>
          </a:prstGeom>
          <a:solidFill>
            <a:srgbClr val="8E39E2"/>
          </a:solidFill>
          <a:ln cap="flat" cmpd="sng" w="9525">
            <a:solidFill>
              <a:srgbClr val="8E39E2"/>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chemeClr val="dk1"/>
              </a:buClr>
              <a:buSzPts val="4800"/>
              <a:buFont typeface="Proxima Nova"/>
              <a:buNone/>
            </a:pPr>
            <a:r>
              <a:t/>
            </a:r>
            <a:endParaRPr b="0" i="0" sz="4600" u="none" cap="none" strike="noStrike">
              <a:solidFill>
                <a:schemeClr val="dk1"/>
              </a:solidFill>
              <a:latin typeface="Proxima Nova"/>
              <a:ea typeface="Proxima Nova"/>
              <a:cs typeface="Proxima Nova"/>
              <a:sym typeface="Proxima Nova"/>
            </a:endParaRPr>
          </a:p>
        </p:txBody>
      </p:sp>
      <p:sp>
        <p:nvSpPr>
          <p:cNvPr id="244" name="Google Shape;244;g3cb20f13e01_0_174"/>
          <p:cNvSpPr/>
          <p:nvPr/>
        </p:nvSpPr>
        <p:spPr>
          <a:xfrm>
            <a:off x="6175481" y="4002618"/>
            <a:ext cx="2339700" cy="2251800"/>
          </a:xfrm>
          <a:prstGeom prst="ellipse">
            <a:avLst/>
          </a:prstGeom>
          <a:solidFill>
            <a:srgbClr val="F8CEEE"/>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chemeClr val="dk1"/>
              </a:buClr>
              <a:buSzPts val="4800"/>
              <a:buFont typeface="Proxima Nova"/>
              <a:buNone/>
            </a:pPr>
            <a:r>
              <a:t/>
            </a:r>
            <a:endParaRPr b="0" i="0" sz="4600" u="none" cap="none" strike="noStrike">
              <a:solidFill>
                <a:schemeClr val="dk1"/>
              </a:solidFill>
              <a:latin typeface="Proxima Nova"/>
              <a:ea typeface="Proxima Nova"/>
              <a:cs typeface="Proxima Nova"/>
              <a:sym typeface="Proxima Nova"/>
            </a:endParaRPr>
          </a:p>
        </p:txBody>
      </p:sp>
      <p:sp>
        <p:nvSpPr>
          <p:cNvPr id="245" name="Google Shape;245;g3cb20f13e01_0_174"/>
          <p:cNvSpPr txBox="1"/>
          <p:nvPr/>
        </p:nvSpPr>
        <p:spPr>
          <a:xfrm>
            <a:off x="7101050" y="406667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15110E"/>
                </a:solidFill>
                <a:latin typeface="IBM Plex Sans"/>
                <a:ea typeface="IBM Plex Sans"/>
                <a:cs typeface="IBM Plex Sans"/>
                <a:sym typeface="IBM Plex Sans"/>
              </a:rPr>
              <a:t>ML</a:t>
            </a:r>
            <a:endParaRPr b="0" i="0" sz="1500" u="none" cap="none" strike="noStrike">
              <a:solidFill>
                <a:srgbClr val="15110E"/>
              </a:solidFill>
              <a:latin typeface="IBM Plex Sans"/>
              <a:ea typeface="IBM Plex Sans"/>
              <a:cs typeface="IBM Plex Sans"/>
              <a:sym typeface="IBM Plex Sans"/>
            </a:endParaRPr>
          </a:p>
        </p:txBody>
      </p:sp>
      <p:sp>
        <p:nvSpPr>
          <p:cNvPr id="246" name="Google Shape;246;g3cb20f13e01_0_174"/>
          <p:cNvSpPr txBox="1"/>
          <p:nvPr/>
        </p:nvSpPr>
        <p:spPr>
          <a:xfrm>
            <a:off x="7088000" y="32855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sp>
        <p:nvSpPr>
          <p:cNvPr id="247" name="Google Shape;247;g3cb20f13e01_0_174"/>
          <p:cNvSpPr txBox="1"/>
          <p:nvPr/>
        </p:nvSpPr>
        <p:spPr>
          <a:xfrm>
            <a:off x="1055688" y="1451513"/>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Machine learning</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248" name="Google Shape;248;g3cb20f13e01_0_174"/>
          <p:cNvGrpSpPr/>
          <p:nvPr/>
        </p:nvGrpSpPr>
        <p:grpSpPr>
          <a:xfrm>
            <a:off x="9353973" y="-1553420"/>
            <a:ext cx="2854020" cy="13716631"/>
            <a:chOff x="9353973" y="-1553420"/>
            <a:chExt cx="2854020" cy="13716631"/>
          </a:xfrm>
        </p:grpSpPr>
        <p:grpSp>
          <p:nvGrpSpPr>
            <p:cNvPr id="249" name="Google Shape;249;g3cb20f13e01_0_174"/>
            <p:cNvGrpSpPr/>
            <p:nvPr/>
          </p:nvGrpSpPr>
          <p:grpSpPr>
            <a:xfrm>
              <a:off x="9353973" y="-1553420"/>
              <a:ext cx="2838027" cy="13716631"/>
              <a:chOff x="9353973" y="-6079700"/>
              <a:chExt cx="2838027" cy="13716631"/>
            </a:xfrm>
          </p:grpSpPr>
          <p:pic>
            <p:nvPicPr>
              <p:cNvPr id="250" name="Google Shape;250;g3cb20f13e01_0_174"/>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251" name="Google Shape;251;g3cb20f13e01_0_174"/>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252" name="Google Shape;252;g3cb20f13e01_0_174"/>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3" name="Google Shape;253;g3cb20f13e01_0_174"/>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54" name="Google Shape;254;g3cb20f13e01_0_174"/>
          <p:cNvPicPr preferRelativeResize="0"/>
          <p:nvPr/>
        </p:nvPicPr>
        <p:blipFill rotWithShape="1">
          <a:blip r:embed="rId4">
            <a:alphaModFix/>
          </a:blip>
          <a:srcRect b="0" l="0" r="0" t="0"/>
          <a:stretch/>
        </p:blipFill>
        <p:spPr>
          <a:xfrm>
            <a:off x="8826215" y="354856"/>
            <a:ext cx="2867441" cy="2867441"/>
          </a:xfrm>
          <a:prstGeom prst="rect">
            <a:avLst/>
          </a:prstGeom>
          <a:noFill/>
          <a:ln>
            <a:noFill/>
          </a:ln>
        </p:spPr>
      </p:pic>
      <p:sp>
        <p:nvSpPr>
          <p:cNvPr id="255" name="Google Shape;255;g3cb20f13e01_0_174"/>
          <p:cNvSpPr txBox="1"/>
          <p:nvPr/>
        </p:nvSpPr>
        <p:spPr>
          <a:xfrm>
            <a:off x="1055688" y="2490762"/>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400" u="none" cap="none" strike="noStrike">
                <a:solidFill>
                  <a:schemeClr val="dk1"/>
                </a:solidFill>
                <a:latin typeface="IBM Plex Sans"/>
                <a:ea typeface="IBM Plex Sans"/>
                <a:cs typeface="IBM Plex Sans"/>
                <a:sym typeface="IBM Plex Sans"/>
              </a:rPr>
              <a:t>Система, принимающая решения на основе накопленного опыта и состояния мира</a:t>
            </a:r>
            <a:endParaRPr b="0" i="0" sz="24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400" u="none" cap="none" strike="noStrike">
              <a:solidFill>
                <a:schemeClr val="dk1"/>
              </a:solidFill>
              <a:latin typeface="IBM Plex Sans"/>
              <a:ea typeface="IBM Plex Sans"/>
              <a:cs typeface="IBM Plex Sans"/>
              <a:sym typeface="IBM Plex Sans"/>
            </a:endParaRPr>
          </a:p>
        </p:txBody>
      </p:sp>
      <p:pic>
        <p:nvPicPr>
          <p:cNvPr id="256" name="Google Shape;256;g3cb20f13e01_0_174"/>
          <p:cNvPicPr preferRelativeResize="0"/>
          <p:nvPr/>
        </p:nvPicPr>
        <p:blipFill rotWithShape="1">
          <a:blip r:embed="rId5">
            <a:alphaModFix/>
          </a:blip>
          <a:srcRect b="0" l="0" r="0" t="0"/>
          <a:stretch/>
        </p:blipFill>
        <p:spPr>
          <a:xfrm>
            <a:off x="93417" y="4224627"/>
            <a:ext cx="1800312" cy="1807800"/>
          </a:xfrm>
          <a:prstGeom prst="rect">
            <a:avLst/>
          </a:prstGeom>
          <a:noFill/>
          <a:ln>
            <a:noFill/>
          </a:ln>
        </p:spPr>
      </p:pic>
      <p:pic>
        <p:nvPicPr>
          <p:cNvPr id="257" name="Google Shape;257;g3cb20f13e01_0_174"/>
          <p:cNvPicPr preferRelativeResize="0"/>
          <p:nvPr/>
        </p:nvPicPr>
        <p:blipFill rotWithShape="1">
          <a:blip r:embed="rId5">
            <a:alphaModFix/>
          </a:blip>
          <a:srcRect b="0" l="0" r="0" t="0"/>
          <a:stretch/>
        </p:blipFill>
        <p:spPr>
          <a:xfrm>
            <a:off x="1917792" y="4224627"/>
            <a:ext cx="1800312" cy="1807800"/>
          </a:xfrm>
          <a:prstGeom prst="rect">
            <a:avLst/>
          </a:prstGeom>
          <a:noFill/>
          <a:ln>
            <a:noFill/>
          </a:ln>
        </p:spPr>
      </p:pic>
      <p:pic>
        <p:nvPicPr>
          <p:cNvPr id="258" name="Google Shape;258;g3cb20f13e01_0_174"/>
          <p:cNvPicPr preferRelativeResize="0"/>
          <p:nvPr/>
        </p:nvPicPr>
        <p:blipFill rotWithShape="1">
          <a:blip r:embed="rId5">
            <a:alphaModFix/>
          </a:blip>
          <a:srcRect b="0" l="0" r="0" t="0"/>
          <a:stretch/>
        </p:blipFill>
        <p:spPr>
          <a:xfrm>
            <a:off x="3830029" y="4224627"/>
            <a:ext cx="1800312" cy="1807800"/>
          </a:xfrm>
          <a:prstGeom prst="rect">
            <a:avLst/>
          </a:prstGeom>
          <a:noFill/>
          <a:ln>
            <a:noFill/>
          </a:ln>
        </p:spPr>
      </p:pic>
      <p:sp>
        <p:nvSpPr>
          <p:cNvPr id="259" name="Google Shape;259;g3cb20f13e01_0_174"/>
          <p:cNvSpPr/>
          <p:nvPr/>
        </p:nvSpPr>
        <p:spPr>
          <a:xfrm>
            <a:off x="564225" y="3424462"/>
            <a:ext cx="14634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В хмурый день идет дождь</a:t>
            </a:r>
            <a:endParaRPr b="0" i="0" sz="1400" u="none" cap="none" strike="noStrike">
              <a:solidFill>
                <a:schemeClr val="dk1"/>
              </a:solidFill>
              <a:latin typeface="IBM Plex Sans"/>
              <a:ea typeface="IBM Plex Sans"/>
              <a:cs typeface="IBM Plex Sans"/>
              <a:sym typeface="IBM Plex Sans"/>
            </a:endParaRPr>
          </a:p>
        </p:txBody>
      </p:sp>
      <p:sp>
        <p:nvSpPr>
          <p:cNvPr id="260" name="Google Shape;260;g3cb20f13e01_0_174"/>
          <p:cNvSpPr/>
          <p:nvPr/>
        </p:nvSpPr>
        <p:spPr>
          <a:xfrm>
            <a:off x="2592435" y="3406003"/>
            <a:ext cx="12732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Сегодня тоже хмурое небо</a:t>
            </a:r>
            <a:endParaRPr b="0" i="0" sz="1400" u="none" cap="none" strike="noStrike">
              <a:solidFill>
                <a:schemeClr val="dk1"/>
              </a:solidFill>
              <a:latin typeface="IBM Plex Sans"/>
              <a:ea typeface="IBM Plex Sans"/>
              <a:cs typeface="IBM Plex Sans"/>
              <a:sym typeface="IBM Plex Sans"/>
            </a:endParaRPr>
          </a:p>
        </p:txBody>
      </p:sp>
      <p:sp>
        <p:nvSpPr>
          <p:cNvPr id="261" name="Google Shape;261;g3cb20f13e01_0_174"/>
          <p:cNvSpPr/>
          <p:nvPr/>
        </p:nvSpPr>
        <p:spPr>
          <a:xfrm>
            <a:off x="4564336" y="3406003"/>
            <a:ext cx="12732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Будет дождь</a:t>
            </a:r>
            <a:endParaRPr b="0" i="0" sz="1400" u="none" cap="none" strike="noStrike">
              <a:solidFill>
                <a:schemeClr val="dk1"/>
              </a:solidFill>
              <a:latin typeface="IBM Plex Sans"/>
              <a:ea typeface="IBM Plex Sans"/>
              <a:cs typeface="IBM Plex Sans"/>
              <a:sym typeface="IBM Plex Sans"/>
            </a:endParaRPr>
          </a:p>
        </p:txBody>
      </p:sp>
      <p:sp>
        <p:nvSpPr>
          <p:cNvPr id="262" name="Google Shape;262;g3cb20f13e01_0_174"/>
          <p:cNvSpPr txBox="1"/>
          <p:nvPr/>
        </p:nvSpPr>
        <p:spPr>
          <a:xfrm>
            <a:off x="-2131550" y="7043350"/>
            <a:ext cx="116871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2"/>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cb20f13e01_0_86"/>
          <p:cNvSpPr/>
          <p:nvPr/>
        </p:nvSpPr>
        <p:spPr>
          <a:xfrm>
            <a:off x="5742275" y="3167079"/>
            <a:ext cx="3206100" cy="3174900"/>
          </a:xfrm>
          <a:prstGeom prst="ellipse">
            <a:avLst/>
          </a:prstGeom>
          <a:solidFill>
            <a:srgbClr val="8E39E2"/>
          </a:solidFill>
          <a:ln cap="flat" cmpd="sng" w="9525">
            <a:solidFill>
              <a:srgbClr val="8E39E2"/>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chemeClr val="dk1"/>
              </a:buClr>
              <a:buSzPts val="4800"/>
              <a:buFont typeface="Proxima Nova"/>
              <a:buNone/>
            </a:pPr>
            <a:r>
              <a:t/>
            </a:r>
            <a:endParaRPr b="0" i="0" sz="4600" u="none" cap="none" strike="noStrike">
              <a:solidFill>
                <a:schemeClr val="dk1"/>
              </a:solidFill>
              <a:latin typeface="Proxima Nova"/>
              <a:ea typeface="Proxima Nova"/>
              <a:cs typeface="Proxima Nova"/>
              <a:sym typeface="Proxima Nova"/>
            </a:endParaRPr>
          </a:p>
        </p:txBody>
      </p:sp>
      <p:sp>
        <p:nvSpPr>
          <p:cNvPr id="268" name="Google Shape;268;g3cb20f13e01_0_86"/>
          <p:cNvSpPr/>
          <p:nvPr/>
        </p:nvSpPr>
        <p:spPr>
          <a:xfrm>
            <a:off x="6175481" y="4002618"/>
            <a:ext cx="2339700" cy="2251800"/>
          </a:xfrm>
          <a:prstGeom prst="ellipse">
            <a:avLst/>
          </a:prstGeom>
          <a:solidFill>
            <a:srgbClr val="F8CEEE"/>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chemeClr val="dk1"/>
              </a:buClr>
              <a:buSzPts val="4800"/>
              <a:buFont typeface="Proxima Nova"/>
              <a:buNone/>
            </a:pPr>
            <a:r>
              <a:t/>
            </a:r>
            <a:endParaRPr b="0" i="0" sz="4600" u="none" cap="none" strike="noStrike">
              <a:solidFill>
                <a:schemeClr val="dk1"/>
              </a:solidFill>
              <a:latin typeface="Proxima Nova"/>
              <a:ea typeface="Proxima Nova"/>
              <a:cs typeface="Proxima Nova"/>
              <a:sym typeface="Proxima Nova"/>
            </a:endParaRPr>
          </a:p>
        </p:txBody>
      </p:sp>
      <p:sp>
        <p:nvSpPr>
          <p:cNvPr id="269" name="Google Shape;269;g3cb20f13e01_0_86"/>
          <p:cNvSpPr txBox="1"/>
          <p:nvPr/>
        </p:nvSpPr>
        <p:spPr>
          <a:xfrm>
            <a:off x="7101050" y="406667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15110E"/>
                </a:solidFill>
                <a:latin typeface="IBM Plex Sans"/>
                <a:ea typeface="IBM Plex Sans"/>
                <a:cs typeface="IBM Plex Sans"/>
                <a:sym typeface="IBM Plex Sans"/>
              </a:rPr>
              <a:t>ML</a:t>
            </a:r>
            <a:endParaRPr b="0" i="0" sz="1500" u="none" cap="none" strike="noStrike">
              <a:solidFill>
                <a:srgbClr val="15110E"/>
              </a:solidFill>
              <a:latin typeface="IBM Plex Sans"/>
              <a:ea typeface="IBM Plex Sans"/>
              <a:cs typeface="IBM Plex Sans"/>
              <a:sym typeface="IBM Plex Sans"/>
            </a:endParaRPr>
          </a:p>
        </p:txBody>
      </p:sp>
      <p:sp>
        <p:nvSpPr>
          <p:cNvPr id="270" name="Google Shape;270;g3cb20f13e01_0_86"/>
          <p:cNvSpPr txBox="1"/>
          <p:nvPr/>
        </p:nvSpPr>
        <p:spPr>
          <a:xfrm>
            <a:off x="7088000" y="32855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sp>
        <p:nvSpPr>
          <p:cNvPr id="271" name="Google Shape;271;g3cb20f13e01_0_86"/>
          <p:cNvSpPr txBox="1"/>
          <p:nvPr/>
        </p:nvSpPr>
        <p:spPr>
          <a:xfrm>
            <a:off x="1055688" y="1451513"/>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Machine learning</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272" name="Google Shape;272;g3cb20f13e01_0_86"/>
          <p:cNvGrpSpPr/>
          <p:nvPr/>
        </p:nvGrpSpPr>
        <p:grpSpPr>
          <a:xfrm>
            <a:off x="9353973" y="-1553420"/>
            <a:ext cx="2854020" cy="13716631"/>
            <a:chOff x="9353973" y="-1553420"/>
            <a:chExt cx="2854020" cy="13716631"/>
          </a:xfrm>
        </p:grpSpPr>
        <p:grpSp>
          <p:nvGrpSpPr>
            <p:cNvPr id="273" name="Google Shape;273;g3cb20f13e01_0_86"/>
            <p:cNvGrpSpPr/>
            <p:nvPr/>
          </p:nvGrpSpPr>
          <p:grpSpPr>
            <a:xfrm>
              <a:off x="9353973" y="-1553420"/>
              <a:ext cx="2838027" cy="13716631"/>
              <a:chOff x="9353973" y="-6079700"/>
              <a:chExt cx="2838027" cy="13716631"/>
            </a:xfrm>
          </p:grpSpPr>
          <p:pic>
            <p:nvPicPr>
              <p:cNvPr id="274" name="Google Shape;274;g3cb20f13e01_0_86"/>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275" name="Google Shape;275;g3cb20f13e01_0_86"/>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276" name="Google Shape;276;g3cb20f13e01_0_86"/>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7" name="Google Shape;277;g3cb20f13e01_0_86"/>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78" name="Google Shape;278;g3cb20f13e01_0_86"/>
          <p:cNvPicPr preferRelativeResize="0"/>
          <p:nvPr/>
        </p:nvPicPr>
        <p:blipFill rotWithShape="1">
          <a:blip r:embed="rId4">
            <a:alphaModFix/>
          </a:blip>
          <a:srcRect b="0" l="0" r="0" t="0"/>
          <a:stretch/>
        </p:blipFill>
        <p:spPr>
          <a:xfrm>
            <a:off x="8826215" y="354856"/>
            <a:ext cx="2867441" cy="2867441"/>
          </a:xfrm>
          <a:prstGeom prst="rect">
            <a:avLst/>
          </a:prstGeom>
          <a:noFill/>
          <a:ln>
            <a:noFill/>
          </a:ln>
        </p:spPr>
      </p:pic>
      <p:sp>
        <p:nvSpPr>
          <p:cNvPr id="279" name="Google Shape;279;g3cb20f13e01_0_86"/>
          <p:cNvSpPr txBox="1"/>
          <p:nvPr/>
        </p:nvSpPr>
        <p:spPr>
          <a:xfrm>
            <a:off x="1055688" y="2490762"/>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400" u="none" cap="none" strike="noStrike">
                <a:solidFill>
                  <a:schemeClr val="dk1"/>
                </a:solidFill>
                <a:latin typeface="IBM Plex Sans"/>
                <a:ea typeface="IBM Plex Sans"/>
                <a:cs typeface="IBM Plex Sans"/>
                <a:sym typeface="IBM Plex Sans"/>
              </a:rPr>
              <a:t>Система, принимающая решения на основе </a:t>
            </a:r>
            <a:r>
              <a:rPr b="0" i="0" lang="ru-RU" sz="2400" u="none" cap="none" strike="noStrike">
                <a:solidFill>
                  <a:schemeClr val="dk1"/>
                </a:solidFill>
                <a:highlight>
                  <a:srgbClr val="F8CEEE"/>
                </a:highlight>
                <a:latin typeface="IBM Plex Sans"/>
                <a:ea typeface="IBM Plex Sans"/>
                <a:cs typeface="IBM Plex Sans"/>
                <a:sym typeface="IBM Plex Sans"/>
              </a:rPr>
              <a:t>накопленного опыта</a:t>
            </a:r>
            <a:r>
              <a:rPr b="0" i="0" lang="ru-RU" sz="2400" u="none" cap="none" strike="noStrike">
                <a:solidFill>
                  <a:schemeClr val="dk1"/>
                </a:solidFill>
                <a:latin typeface="IBM Plex Sans"/>
                <a:ea typeface="IBM Plex Sans"/>
                <a:cs typeface="IBM Plex Sans"/>
                <a:sym typeface="IBM Plex Sans"/>
              </a:rPr>
              <a:t> и состояния мира</a:t>
            </a:r>
            <a:endParaRPr b="0" i="0" sz="24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400" u="none" cap="none" strike="noStrike">
              <a:solidFill>
                <a:schemeClr val="dk1"/>
              </a:solidFill>
              <a:latin typeface="IBM Plex Sans"/>
              <a:ea typeface="IBM Plex Sans"/>
              <a:cs typeface="IBM Plex Sans"/>
              <a:sym typeface="IBM Plex Sans"/>
            </a:endParaRPr>
          </a:p>
        </p:txBody>
      </p:sp>
      <p:pic>
        <p:nvPicPr>
          <p:cNvPr id="280" name="Google Shape;280;g3cb20f13e01_0_86"/>
          <p:cNvPicPr preferRelativeResize="0"/>
          <p:nvPr/>
        </p:nvPicPr>
        <p:blipFill rotWithShape="1">
          <a:blip r:embed="rId5">
            <a:alphaModFix/>
          </a:blip>
          <a:srcRect b="0" l="0" r="0" t="0"/>
          <a:stretch/>
        </p:blipFill>
        <p:spPr>
          <a:xfrm>
            <a:off x="93417" y="4224627"/>
            <a:ext cx="1800312" cy="1807800"/>
          </a:xfrm>
          <a:prstGeom prst="rect">
            <a:avLst/>
          </a:prstGeom>
          <a:noFill/>
          <a:ln>
            <a:noFill/>
          </a:ln>
        </p:spPr>
      </p:pic>
      <p:pic>
        <p:nvPicPr>
          <p:cNvPr id="281" name="Google Shape;281;g3cb20f13e01_0_86"/>
          <p:cNvPicPr preferRelativeResize="0"/>
          <p:nvPr/>
        </p:nvPicPr>
        <p:blipFill rotWithShape="1">
          <a:blip r:embed="rId5">
            <a:alphaModFix/>
          </a:blip>
          <a:srcRect b="0" l="0" r="0" t="0"/>
          <a:stretch/>
        </p:blipFill>
        <p:spPr>
          <a:xfrm>
            <a:off x="1917792" y="4224627"/>
            <a:ext cx="1800312" cy="1807800"/>
          </a:xfrm>
          <a:prstGeom prst="rect">
            <a:avLst/>
          </a:prstGeom>
          <a:noFill/>
          <a:ln>
            <a:noFill/>
          </a:ln>
        </p:spPr>
      </p:pic>
      <p:pic>
        <p:nvPicPr>
          <p:cNvPr id="282" name="Google Shape;282;g3cb20f13e01_0_86"/>
          <p:cNvPicPr preferRelativeResize="0"/>
          <p:nvPr/>
        </p:nvPicPr>
        <p:blipFill rotWithShape="1">
          <a:blip r:embed="rId5">
            <a:alphaModFix/>
          </a:blip>
          <a:srcRect b="0" l="0" r="0" t="0"/>
          <a:stretch/>
        </p:blipFill>
        <p:spPr>
          <a:xfrm>
            <a:off x="3830029" y="4224627"/>
            <a:ext cx="1800312" cy="1807800"/>
          </a:xfrm>
          <a:prstGeom prst="rect">
            <a:avLst/>
          </a:prstGeom>
          <a:noFill/>
          <a:ln>
            <a:noFill/>
          </a:ln>
        </p:spPr>
      </p:pic>
      <p:sp>
        <p:nvSpPr>
          <p:cNvPr id="283" name="Google Shape;283;g3cb20f13e01_0_86"/>
          <p:cNvSpPr/>
          <p:nvPr/>
        </p:nvSpPr>
        <p:spPr>
          <a:xfrm>
            <a:off x="564225" y="3424462"/>
            <a:ext cx="14634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В хмурый день идет дождь</a:t>
            </a:r>
            <a:endParaRPr b="0" i="0" sz="1400" u="none" cap="none" strike="noStrike">
              <a:solidFill>
                <a:schemeClr val="dk1"/>
              </a:solidFill>
              <a:latin typeface="IBM Plex Sans"/>
              <a:ea typeface="IBM Plex Sans"/>
              <a:cs typeface="IBM Plex Sans"/>
              <a:sym typeface="IBM Plex Sans"/>
            </a:endParaRPr>
          </a:p>
        </p:txBody>
      </p:sp>
      <p:sp>
        <p:nvSpPr>
          <p:cNvPr id="284" name="Google Shape;284;g3cb20f13e01_0_86"/>
          <p:cNvSpPr/>
          <p:nvPr/>
        </p:nvSpPr>
        <p:spPr>
          <a:xfrm>
            <a:off x="2592435" y="3406003"/>
            <a:ext cx="12732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Сегодня тоже хмурое небо</a:t>
            </a:r>
            <a:endParaRPr b="0" i="0" sz="1400" u="none" cap="none" strike="noStrike">
              <a:solidFill>
                <a:schemeClr val="dk1"/>
              </a:solidFill>
              <a:latin typeface="IBM Plex Sans"/>
              <a:ea typeface="IBM Plex Sans"/>
              <a:cs typeface="IBM Plex Sans"/>
              <a:sym typeface="IBM Plex Sans"/>
            </a:endParaRPr>
          </a:p>
        </p:txBody>
      </p:sp>
      <p:sp>
        <p:nvSpPr>
          <p:cNvPr id="285" name="Google Shape;285;g3cb20f13e01_0_86"/>
          <p:cNvSpPr/>
          <p:nvPr/>
        </p:nvSpPr>
        <p:spPr>
          <a:xfrm>
            <a:off x="4564336" y="3406003"/>
            <a:ext cx="12732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Будет дождь</a:t>
            </a:r>
            <a:endParaRPr b="0" i="0" sz="14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grpSp>
        <p:nvGrpSpPr>
          <p:cNvPr id="290" name="Google Shape;290;g3cb20f13e01_0_196"/>
          <p:cNvGrpSpPr/>
          <p:nvPr/>
        </p:nvGrpSpPr>
        <p:grpSpPr>
          <a:xfrm>
            <a:off x="9353973" y="-1553420"/>
            <a:ext cx="2854020" cy="13716631"/>
            <a:chOff x="9353973" y="-1553420"/>
            <a:chExt cx="2854020" cy="13716631"/>
          </a:xfrm>
        </p:grpSpPr>
        <p:grpSp>
          <p:nvGrpSpPr>
            <p:cNvPr id="291" name="Google Shape;291;g3cb20f13e01_0_196"/>
            <p:cNvGrpSpPr/>
            <p:nvPr/>
          </p:nvGrpSpPr>
          <p:grpSpPr>
            <a:xfrm>
              <a:off x="9353973" y="-1553420"/>
              <a:ext cx="2838027" cy="13716631"/>
              <a:chOff x="9353973" y="-6079700"/>
              <a:chExt cx="2838027" cy="13716631"/>
            </a:xfrm>
          </p:grpSpPr>
          <p:pic>
            <p:nvPicPr>
              <p:cNvPr id="292" name="Google Shape;292;g3cb20f13e01_0_196"/>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293" name="Google Shape;293;g3cb20f13e01_0_196"/>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294" name="Google Shape;294;g3cb20f13e01_0_196"/>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5" name="Google Shape;295;g3cb20f13e01_0_196"/>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96" name="Google Shape;296;g3cb20f13e01_0_196"/>
          <p:cNvPicPr preferRelativeResize="0"/>
          <p:nvPr/>
        </p:nvPicPr>
        <p:blipFill rotWithShape="1">
          <a:blip r:embed="rId4">
            <a:alphaModFix/>
          </a:blip>
          <a:srcRect b="0" l="0" r="0" t="0"/>
          <a:stretch/>
        </p:blipFill>
        <p:spPr>
          <a:xfrm>
            <a:off x="8826215" y="354856"/>
            <a:ext cx="2867441" cy="2867441"/>
          </a:xfrm>
          <a:prstGeom prst="rect">
            <a:avLst/>
          </a:prstGeom>
          <a:noFill/>
          <a:ln>
            <a:noFill/>
          </a:ln>
        </p:spPr>
      </p:pic>
      <p:sp>
        <p:nvSpPr>
          <p:cNvPr id="297" name="Google Shape;297;g3cb20f13e01_0_196"/>
          <p:cNvSpPr/>
          <p:nvPr/>
        </p:nvSpPr>
        <p:spPr>
          <a:xfrm>
            <a:off x="5742275" y="3167079"/>
            <a:ext cx="3206100" cy="3174900"/>
          </a:xfrm>
          <a:prstGeom prst="ellipse">
            <a:avLst/>
          </a:prstGeom>
          <a:solidFill>
            <a:srgbClr val="8E39E2"/>
          </a:solidFill>
          <a:ln cap="flat" cmpd="sng" w="9525">
            <a:solidFill>
              <a:srgbClr val="8E39E2"/>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chemeClr val="dk1"/>
              </a:buClr>
              <a:buSzPts val="4800"/>
              <a:buFont typeface="Proxima Nova"/>
              <a:buNone/>
            </a:pPr>
            <a:r>
              <a:t/>
            </a:r>
            <a:endParaRPr b="0" i="0" sz="4600" u="none" cap="none" strike="noStrike">
              <a:solidFill>
                <a:schemeClr val="dk1"/>
              </a:solidFill>
              <a:latin typeface="Proxima Nova"/>
              <a:ea typeface="Proxima Nova"/>
              <a:cs typeface="Proxima Nova"/>
              <a:sym typeface="Proxima Nova"/>
            </a:endParaRPr>
          </a:p>
        </p:txBody>
      </p:sp>
      <p:sp>
        <p:nvSpPr>
          <p:cNvPr id="298" name="Google Shape;298;g3cb20f13e01_0_196"/>
          <p:cNvSpPr/>
          <p:nvPr/>
        </p:nvSpPr>
        <p:spPr>
          <a:xfrm>
            <a:off x="6175481" y="4002618"/>
            <a:ext cx="2339700" cy="2251800"/>
          </a:xfrm>
          <a:prstGeom prst="ellipse">
            <a:avLst/>
          </a:prstGeom>
          <a:solidFill>
            <a:srgbClr val="F8CEEE"/>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chemeClr val="dk1"/>
              </a:buClr>
              <a:buSzPts val="4800"/>
              <a:buFont typeface="Proxima Nova"/>
              <a:buNone/>
            </a:pPr>
            <a:r>
              <a:t/>
            </a:r>
            <a:endParaRPr b="0" i="0" sz="4600" u="none" cap="none" strike="noStrike">
              <a:solidFill>
                <a:schemeClr val="dk1"/>
              </a:solidFill>
              <a:latin typeface="Proxima Nova"/>
              <a:ea typeface="Proxima Nova"/>
              <a:cs typeface="Proxima Nova"/>
              <a:sym typeface="Proxima Nova"/>
            </a:endParaRPr>
          </a:p>
        </p:txBody>
      </p:sp>
      <p:sp>
        <p:nvSpPr>
          <p:cNvPr id="299" name="Google Shape;299;g3cb20f13e01_0_196"/>
          <p:cNvSpPr txBox="1"/>
          <p:nvPr/>
        </p:nvSpPr>
        <p:spPr>
          <a:xfrm>
            <a:off x="7101050" y="406667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15110E"/>
                </a:solidFill>
                <a:latin typeface="IBM Plex Sans"/>
                <a:ea typeface="IBM Plex Sans"/>
                <a:cs typeface="IBM Plex Sans"/>
                <a:sym typeface="IBM Plex Sans"/>
              </a:rPr>
              <a:t>ML</a:t>
            </a:r>
            <a:endParaRPr b="0" i="0" sz="1500" u="none" cap="none" strike="noStrike">
              <a:solidFill>
                <a:srgbClr val="15110E"/>
              </a:solidFill>
              <a:latin typeface="IBM Plex Sans"/>
              <a:ea typeface="IBM Plex Sans"/>
              <a:cs typeface="IBM Plex Sans"/>
              <a:sym typeface="IBM Plex Sans"/>
            </a:endParaRPr>
          </a:p>
        </p:txBody>
      </p:sp>
      <p:sp>
        <p:nvSpPr>
          <p:cNvPr id="300" name="Google Shape;300;g3cb20f13e01_0_196"/>
          <p:cNvSpPr txBox="1"/>
          <p:nvPr/>
        </p:nvSpPr>
        <p:spPr>
          <a:xfrm>
            <a:off x="7088000" y="32855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sp>
        <p:nvSpPr>
          <p:cNvPr id="301" name="Google Shape;301;g3cb20f13e01_0_196"/>
          <p:cNvSpPr txBox="1"/>
          <p:nvPr/>
        </p:nvSpPr>
        <p:spPr>
          <a:xfrm>
            <a:off x="1055688" y="1451513"/>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Machine learning</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sp>
        <p:nvSpPr>
          <p:cNvPr id="302" name="Google Shape;302;g3cb20f13e01_0_196"/>
          <p:cNvSpPr txBox="1"/>
          <p:nvPr/>
        </p:nvSpPr>
        <p:spPr>
          <a:xfrm>
            <a:off x="1055688" y="2490762"/>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400" u="none" cap="none" strike="noStrike">
                <a:solidFill>
                  <a:schemeClr val="dk1"/>
                </a:solidFill>
                <a:latin typeface="IBM Plex Sans"/>
                <a:ea typeface="IBM Plex Sans"/>
                <a:cs typeface="IBM Plex Sans"/>
                <a:sym typeface="IBM Plex Sans"/>
              </a:rPr>
              <a:t>Система, принимающая решения на основе </a:t>
            </a:r>
            <a:r>
              <a:rPr b="0" i="0" lang="ru-RU" sz="2400" u="none" cap="none" strike="noStrike">
                <a:solidFill>
                  <a:schemeClr val="dk1"/>
                </a:solidFill>
                <a:highlight>
                  <a:srgbClr val="F8CEEE"/>
                </a:highlight>
                <a:latin typeface="IBM Plex Sans"/>
                <a:ea typeface="IBM Plex Sans"/>
                <a:cs typeface="IBM Plex Sans"/>
                <a:sym typeface="IBM Plex Sans"/>
              </a:rPr>
              <a:t>накопленного опыта</a:t>
            </a:r>
            <a:r>
              <a:rPr b="0" i="0" lang="ru-RU" sz="2400" u="none" cap="none" strike="noStrike">
                <a:solidFill>
                  <a:schemeClr val="dk1"/>
                </a:solidFill>
                <a:latin typeface="IBM Plex Sans"/>
                <a:ea typeface="IBM Plex Sans"/>
                <a:cs typeface="IBM Plex Sans"/>
                <a:sym typeface="IBM Plex Sans"/>
              </a:rPr>
              <a:t> и </a:t>
            </a:r>
            <a:r>
              <a:rPr b="0" i="0" lang="ru-RU" sz="2400" u="none" cap="none" strike="noStrike">
                <a:solidFill>
                  <a:schemeClr val="dk1"/>
                </a:solidFill>
                <a:highlight>
                  <a:srgbClr val="F8CEEE"/>
                </a:highlight>
                <a:latin typeface="IBM Plex Sans"/>
                <a:ea typeface="IBM Plex Sans"/>
                <a:cs typeface="IBM Plex Sans"/>
                <a:sym typeface="IBM Plex Sans"/>
              </a:rPr>
              <a:t>состояния мира</a:t>
            </a:r>
            <a:endParaRPr b="0" i="0" sz="2400" u="none" cap="none" strike="noStrike">
              <a:solidFill>
                <a:schemeClr val="dk1"/>
              </a:solidFill>
              <a:highlight>
                <a:srgbClr val="F8CEEE"/>
              </a:highlight>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400" u="none" cap="none" strike="noStrike">
              <a:solidFill>
                <a:schemeClr val="dk1"/>
              </a:solidFill>
              <a:latin typeface="IBM Plex Sans"/>
              <a:ea typeface="IBM Plex Sans"/>
              <a:cs typeface="IBM Plex Sans"/>
              <a:sym typeface="IBM Plex Sans"/>
            </a:endParaRPr>
          </a:p>
        </p:txBody>
      </p:sp>
      <p:pic>
        <p:nvPicPr>
          <p:cNvPr id="303" name="Google Shape;303;g3cb20f13e01_0_196"/>
          <p:cNvPicPr preferRelativeResize="0"/>
          <p:nvPr/>
        </p:nvPicPr>
        <p:blipFill rotWithShape="1">
          <a:blip r:embed="rId5">
            <a:alphaModFix/>
          </a:blip>
          <a:srcRect b="0" l="0" r="0" t="0"/>
          <a:stretch/>
        </p:blipFill>
        <p:spPr>
          <a:xfrm>
            <a:off x="93417" y="4224627"/>
            <a:ext cx="1800312" cy="1807800"/>
          </a:xfrm>
          <a:prstGeom prst="rect">
            <a:avLst/>
          </a:prstGeom>
          <a:noFill/>
          <a:ln>
            <a:noFill/>
          </a:ln>
        </p:spPr>
      </p:pic>
      <p:pic>
        <p:nvPicPr>
          <p:cNvPr id="304" name="Google Shape;304;g3cb20f13e01_0_196"/>
          <p:cNvPicPr preferRelativeResize="0"/>
          <p:nvPr/>
        </p:nvPicPr>
        <p:blipFill rotWithShape="1">
          <a:blip r:embed="rId5">
            <a:alphaModFix/>
          </a:blip>
          <a:srcRect b="0" l="0" r="0" t="0"/>
          <a:stretch/>
        </p:blipFill>
        <p:spPr>
          <a:xfrm>
            <a:off x="1917792" y="4224627"/>
            <a:ext cx="1800312" cy="1807800"/>
          </a:xfrm>
          <a:prstGeom prst="rect">
            <a:avLst/>
          </a:prstGeom>
          <a:noFill/>
          <a:ln>
            <a:noFill/>
          </a:ln>
        </p:spPr>
      </p:pic>
      <p:pic>
        <p:nvPicPr>
          <p:cNvPr id="305" name="Google Shape;305;g3cb20f13e01_0_196"/>
          <p:cNvPicPr preferRelativeResize="0"/>
          <p:nvPr/>
        </p:nvPicPr>
        <p:blipFill rotWithShape="1">
          <a:blip r:embed="rId5">
            <a:alphaModFix/>
          </a:blip>
          <a:srcRect b="0" l="0" r="0" t="0"/>
          <a:stretch/>
        </p:blipFill>
        <p:spPr>
          <a:xfrm>
            <a:off x="3830029" y="4224627"/>
            <a:ext cx="1800312" cy="1807800"/>
          </a:xfrm>
          <a:prstGeom prst="rect">
            <a:avLst/>
          </a:prstGeom>
          <a:noFill/>
          <a:ln>
            <a:noFill/>
          </a:ln>
        </p:spPr>
      </p:pic>
      <p:sp>
        <p:nvSpPr>
          <p:cNvPr id="306" name="Google Shape;306;g3cb20f13e01_0_196"/>
          <p:cNvSpPr/>
          <p:nvPr/>
        </p:nvSpPr>
        <p:spPr>
          <a:xfrm>
            <a:off x="564225" y="3424462"/>
            <a:ext cx="14634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В хмурый день идет дождь</a:t>
            </a:r>
            <a:endParaRPr b="0" i="0" sz="1400" u="none" cap="none" strike="noStrike">
              <a:solidFill>
                <a:schemeClr val="dk1"/>
              </a:solidFill>
              <a:latin typeface="IBM Plex Sans"/>
              <a:ea typeface="IBM Plex Sans"/>
              <a:cs typeface="IBM Plex Sans"/>
              <a:sym typeface="IBM Plex Sans"/>
            </a:endParaRPr>
          </a:p>
        </p:txBody>
      </p:sp>
      <p:sp>
        <p:nvSpPr>
          <p:cNvPr id="307" name="Google Shape;307;g3cb20f13e01_0_196"/>
          <p:cNvSpPr/>
          <p:nvPr/>
        </p:nvSpPr>
        <p:spPr>
          <a:xfrm>
            <a:off x="2592435" y="3406003"/>
            <a:ext cx="12732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Сегодня тоже хмурое небо</a:t>
            </a:r>
            <a:endParaRPr b="0" i="0" sz="1400" u="none" cap="none" strike="noStrike">
              <a:solidFill>
                <a:schemeClr val="dk1"/>
              </a:solidFill>
              <a:latin typeface="IBM Plex Sans"/>
              <a:ea typeface="IBM Plex Sans"/>
              <a:cs typeface="IBM Plex Sans"/>
              <a:sym typeface="IBM Plex Sans"/>
            </a:endParaRPr>
          </a:p>
        </p:txBody>
      </p:sp>
      <p:sp>
        <p:nvSpPr>
          <p:cNvPr id="308" name="Google Shape;308;g3cb20f13e01_0_196"/>
          <p:cNvSpPr/>
          <p:nvPr/>
        </p:nvSpPr>
        <p:spPr>
          <a:xfrm>
            <a:off x="4564336" y="3406003"/>
            <a:ext cx="12732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Будет дождь</a:t>
            </a:r>
            <a:endParaRPr b="0" i="0" sz="14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grpSp>
        <p:nvGrpSpPr>
          <p:cNvPr id="313" name="Google Shape;313;g3cb20f13e01_0_218"/>
          <p:cNvGrpSpPr/>
          <p:nvPr/>
        </p:nvGrpSpPr>
        <p:grpSpPr>
          <a:xfrm>
            <a:off x="9353973" y="-1553420"/>
            <a:ext cx="2854020" cy="13716631"/>
            <a:chOff x="9353973" y="-1553420"/>
            <a:chExt cx="2854020" cy="13716631"/>
          </a:xfrm>
        </p:grpSpPr>
        <p:grpSp>
          <p:nvGrpSpPr>
            <p:cNvPr id="314" name="Google Shape;314;g3cb20f13e01_0_218"/>
            <p:cNvGrpSpPr/>
            <p:nvPr/>
          </p:nvGrpSpPr>
          <p:grpSpPr>
            <a:xfrm>
              <a:off x="9353973" y="-1553420"/>
              <a:ext cx="2838027" cy="13716631"/>
              <a:chOff x="9353973" y="-6079700"/>
              <a:chExt cx="2838027" cy="13716631"/>
            </a:xfrm>
          </p:grpSpPr>
          <p:pic>
            <p:nvPicPr>
              <p:cNvPr id="315" name="Google Shape;315;g3cb20f13e01_0_218"/>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316" name="Google Shape;316;g3cb20f13e01_0_218"/>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317" name="Google Shape;317;g3cb20f13e01_0_218"/>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8" name="Google Shape;318;g3cb20f13e01_0_218"/>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319" name="Google Shape;319;g3cb20f13e01_0_218"/>
          <p:cNvPicPr preferRelativeResize="0"/>
          <p:nvPr/>
        </p:nvPicPr>
        <p:blipFill rotWithShape="1">
          <a:blip r:embed="rId4">
            <a:alphaModFix/>
          </a:blip>
          <a:srcRect b="0" l="0" r="0" t="0"/>
          <a:stretch/>
        </p:blipFill>
        <p:spPr>
          <a:xfrm>
            <a:off x="8826215" y="354856"/>
            <a:ext cx="2867441" cy="2867441"/>
          </a:xfrm>
          <a:prstGeom prst="rect">
            <a:avLst/>
          </a:prstGeom>
          <a:noFill/>
          <a:ln>
            <a:noFill/>
          </a:ln>
        </p:spPr>
      </p:pic>
      <p:sp>
        <p:nvSpPr>
          <p:cNvPr id="320" name="Google Shape;320;g3cb20f13e01_0_218"/>
          <p:cNvSpPr txBox="1"/>
          <p:nvPr/>
        </p:nvSpPr>
        <p:spPr>
          <a:xfrm>
            <a:off x="7088000" y="32855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sp>
        <p:nvSpPr>
          <p:cNvPr id="321" name="Google Shape;321;g3cb20f13e01_0_218"/>
          <p:cNvSpPr txBox="1"/>
          <p:nvPr/>
        </p:nvSpPr>
        <p:spPr>
          <a:xfrm>
            <a:off x="1055688" y="1451513"/>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Machine learning</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sp>
        <p:nvSpPr>
          <p:cNvPr id="322" name="Google Shape;322;g3cb20f13e01_0_218"/>
          <p:cNvSpPr txBox="1"/>
          <p:nvPr/>
        </p:nvSpPr>
        <p:spPr>
          <a:xfrm>
            <a:off x="1055688" y="2490762"/>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400" u="none" cap="none" strike="noStrike">
                <a:solidFill>
                  <a:schemeClr val="dk1"/>
                </a:solidFill>
                <a:latin typeface="IBM Plex Sans"/>
                <a:ea typeface="IBM Plex Sans"/>
                <a:cs typeface="IBM Plex Sans"/>
                <a:sym typeface="IBM Plex Sans"/>
              </a:rPr>
              <a:t>Система, принимающая решения на основе накопленного опыта и состояния мира</a:t>
            </a:r>
            <a:endParaRPr b="0" i="0" sz="24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400" u="none" cap="none" strike="noStrike">
              <a:solidFill>
                <a:schemeClr val="dk1"/>
              </a:solidFill>
              <a:latin typeface="IBM Plex Sans"/>
              <a:ea typeface="IBM Plex Sans"/>
              <a:cs typeface="IBM Plex Sans"/>
              <a:sym typeface="IBM Plex Sans"/>
            </a:endParaRPr>
          </a:p>
        </p:txBody>
      </p:sp>
      <p:pic>
        <p:nvPicPr>
          <p:cNvPr descr="Picture background" id="323" name="Google Shape;323;g3cb20f13e01_0_218"/>
          <p:cNvPicPr preferRelativeResize="0"/>
          <p:nvPr/>
        </p:nvPicPr>
        <p:blipFill rotWithShape="1">
          <a:blip r:embed="rId5">
            <a:alphaModFix/>
          </a:blip>
          <a:srcRect b="0" l="7217" r="75719" t="0"/>
          <a:stretch/>
        </p:blipFill>
        <p:spPr>
          <a:xfrm>
            <a:off x="1485923" y="3323470"/>
            <a:ext cx="906778" cy="2075850"/>
          </a:xfrm>
          <a:prstGeom prst="rect">
            <a:avLst/>
          </a:prstGeom>
          <a:noFill/>
          <a:ln>
            <a:noFill/>
          </a:ln>
        </p:spPr>
      </p:pic>
      <p:pic>
        <p:nvPicPr>
          <p:cNvPr descr="Picture background" id="324" name="Google Shape;324;g3cb20f13e01_0_218"/>
          <p:cNvPicPr preferRelativeResize="0"/>
          <p:nvPr/>
        </p:nvPicPr>
        <p:blipFill rotWithShape="1">
          <a:blip r:embed="rId5">
            <a:alphaModFix/>
          </a:blip>
          <a:srcRect b="-1099" l="23994" r="58942" t="1100"/>
          <a:stretch/>
        </p:blipFill>
        <p:spPr>
          <a:xfrm>
            <a:off x="1638323" y="3475870"/>
            <a:ext cx="906778" cy="2075850"/>
          </a:xfrm>
          <a:prstGeom prst="rect">
            <a:avLst/>
          </a:prstGeom>
          <a:noFill/>
          <a:ln>
            <a:noFill/>
          </a:ln>
        </p:spPr>
      </p:pic>
      <p:pic>
        <p:nvPicPr>
          <p:cNvPr descr="Picture background" id="325" name="Google Shape;325;g3cb20f13e01_0_218"/>
          <p:cNvPicPr preferRelativeResize="0"/>
          <p:nvPr/>
        </p:nvPicPr>
        <p:blipFill rotWithShape="1">
          <a:blip r:embed="rId5">
            <a:alphaModFix/>
          </a:blip>
          <a:srcRect b="-1469" l="41200" r="41736" t="1470"/>
          <a:stretch/>
        </p:blipFill>
        <p:spPr>
          <a:xfrm>
            <a:off x="1790723" y="3628270"/>
            <a:ext cx="906778" cy="2075850"/>
          </a:xfrm>
          <a:prstGeom prst="rect">
            <a:avLst/>
          </a:prstGeom>
          <a:noFill/>
          <a:ln>
            <a:noFill/>
          </a:ln>
        </p:spPr>
      </p:pic>
      <p:pic>
        <p:nvPicPr>
          <p:cNvPr descr="Picture background" id="326" name="Google Shape;326;g3cb20f13e01_0_218"/>
          <p:cNvPicPr preferRelativeResize="0"/>
          <p:nvPr/>
        </p:nvPicPr>
        <p:blipFill rotWithShape="1">
          <a:blip r:embed="rId5">
            <a:alphaModFix/>
          </a:blip>
          <a:srcRect b="-1099" l="58349" r="25133" t="1100"/>
          <a:stretch/>
        </p:blipFill>
        <p:spPr>
          <a:xfrm>
            <a:off x="1940075" y="3780670"/>
            <a:ext cx="877824" cy="2075850"/>
          </a:xfrm>
          <a:prstGeom prst="rect">
            <a:avLst/>
          </a:prstGeom>
          <a:noFill/>
          <a:ln>
            <a:noFill/>
          </a:ln>
        </p:spPr>
      </p:pic>
      <p:pic>
        <p:nvPicPr>
          <p:cNvPr descr="Picture background" id="327" name="Google Shape;327;g3cb20f13e01_0_218"/>
          <p:cNvPicPr preferRelativeResize="0"/>
          <p:nvPr/>
        </p:nvPicPr>
        <p:blipFill rotWithShape="1">
          <a:blip r:embed="rId5">
            <a:alphaModFix/>
          </a:blip>
          <a:srcRect b="730" l="75470" r="7466" t="-730"/>
          <a:stretch/>
        </p:blipFill>
        <p:spPr>
          <a:xfrm>
            <a:off x="2095523" y="3933070"/>
            <a:ext cx="906778" cy="2075850"/>
          </a:xfrm>
          <a:prstGeom prst="rect">
            <a:avLst/>
          </a:prstGeom>
          <a:noFill/>
          <a:ln>
            <a:noFill/>
          </a:ln>
        </p:spPr>
      </p:pic>
      <p:pic>
        <p:nvPicPr>
          <p:cNvPr descr="Picture background" id="328" name="Google Shape;328;g3cb20f13e01_0_218"/>
          <p:cNvPicPr preferRelativeResize="0"/>
          <p:nvPr/>
        </p:nvPicPr>
        <p:blipFill rotWithShape="1">
          <a:blip r:embed="rId6">
            <a:alphaModFix/>
          </a:blip>
          <a:srcRect b="0" l="0" r="0" t="0"/>
          <a:stretch/>
        </p:blipFill>
        <p:spPr>
          <a:xfrm>
            <a:off x="2815799" y="3573910"/>
            <a:ext cx="1018123" cy="566609"/>
          </a:xfrm>
          <a:prstGeom prst="rect">
            <a:avLst/>
          </a:prstGeom>
          <a:noFill/>
          <a:ln>
            <a:noFill/>
          </a:ln>
        </p:spPr>
      </p:pic>
      <p:pic>
        <p:nvPicPr>
          <p:cNvPr descr="Picture background" id="329" name="Google Shape;329;g3cb20f13e01_0_218"/>
          <p:cNvPicPr preferRelativeResize="0"/>
          <p:nvPr/>
        </p:nvPicPr>
        <p:blipFill rotWithShape="1">
          <a:blip r:embed="rId6">
            <a:alphaModFix/>
          </a:blip>
          <a:srcRect b="0" l="0" r="0" t="0"/>
          <a:stretch/>
        </p:blipFill>
        <p:spPr>
          <a:xfrm>
            <a:off x="2833272" y="4140518"/>
            <a:ext cx="1018123" cy="566609"/>
          </a:xfrm>
          <a:prstGeom prst="rect">
            <a:avLst/>
          </a:prstGeom>
          <a:noFill/>
          <a:ln>
            <a:noFill/>
          </a:ln>
        </p:spPr>
      </p:pic>
      <p:pic>
        <p:nvPicPr>
          <p:cNvPr descr="Picture background" id="330" name="Google Shape;330;g3cb20f13e01_0_218"/>
          <p:cNvPicPr preferRelativeResize="0"/>
          <p:nvPr/>
        </p:nvPicPr>
        <p:blipFill rotWithShape="1">
          <a:blip r:embed="rId6">
            <a:alphaModFix/>
          </a:blip>
          <a:srcRect b="0" l="0" r="0" t="0"/>
          <a:stretch/>
        </p:blipFill>
        <p:spPr>
          <a:xfrm>
            <a:off x="2833271" y="4666172"/>
            <a:ext cx="1018123" cy="566609"/>
          </a:xfrm>
          <a:prstGeom prst="rect">
            <a:avLst/>
          </a:prstGeom>
          <a:noFill/>
          <a:ln>
            <a:noFill/>
          </a:ln>
        </p:spPr>
      </p:pic>
      <p:pic>
        <p:nvPicPr>
          <p:cNvPr descr="Picture background" id="331" name="Google Shape;331;g3cb20f13e01_0_218"/>
          <p:cNvPicPr preferRelativeResize="0"/>
          <p:nvPr/>
        </p:nvPicPr>
        <p:blipFill rotWithShape="1">
          <a:blip r:embed="rId6">
            <a:alphaModFix/>
          </a:blip>
          <a:srcRect b="0" l="0" r="0" t="0"/>
          <a:stretch/>
        </p:blipFill>
        <p:spPr>
          <a:xfrm>
            <a:off x="2835655" y="5191826"/>
            <a:ext cx="1018123" cy="566609"/>
          </a:xfrm>
          <a:prstGeom prst="rect">
            <a:avLst/>
          </a:prstGeom>
          <a:noFill/>
          <a:ln>
            <a:noFill/>
          </a:ln>
        </p:spPr>
      </p:pic>
      <p:sp>
        <p:nvSpPr>
          <p:cNvPr id="332" name="Google Shape;332;g3cb20f13e01_0_218"/>
          <p:cNvSpPr/>
          <p:nvPr/>
        </p:nvSpPr>
        <p:spPr>
          <a:xfrm>
            <a:off x="3368699" y="3958934"/>
            <a:ext cx="152400" cy="155700"/>
          </a:xfrm>
          <a:prstGeom prst="heart">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AF6"/>
              </a:solidFill>
              <a:latin typeface="Arial"/>
              <a:ea typeface="Arial"/>
              <a:cs typeface="Arial"/>
              <a:sym typeface="Arial"/>
            </a:endParaRPr>
          </a:p>
        </p:txBody>
      </p:sp>
      <p:sp>
        <p:nvSpPr>
          <p:cNvPr id="333" name="Google Shape;333;g3cb20f13e01_0_218"/>
          <p:cNvSpPr/>
          <p:nvPr/>
        </p:nvSpPr>
        <p:spPr>
          <a:xfrm>
            <a:off x="3400270" y="4545467"/>
            <a:ext cx="152400" cy="155700"/>
          </a:xfrm>
          <a:prstGeom prst="heart">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AF6"/>
              </a:solidFill>
              <a:latin typeface="Arial"/>
              <a:ea typeface="Arial"/>
              <a:cs typeface="Arial"/>
              <a:sym typeface="Arial"/>
            </a:endParaRPr>
          </a:p>
        </p:txBody>
      </p:sp>
      <p:sp>
        <p:nvSpPr>
          <p:cNvPr id="334" name="Google Shape;334;g3cb20f13e01_0_218"/>
          <p:cNvSpPr/>
          <p:nvPr/>
        </p:nvSpPr>
        <p:spPr>
          <a:xfrm>
            <a:off x="3400270" y="5106136"/>
            <a:ext cx="152400" cy="155700"/>
          </a:xfrm>
          <a:prstGeom prst="heart">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AF6"/>
              </a:solidFill>
              <a:latin typeface="Arial"/>
              <a:ea typeface="Arial"/>
              <a:cs typeface="Arial"/>
              <a:sym typeface="Arial"/>
            </a:endParaRPr>
          </a:p>
        </p:txBody>
      </p:sp>
      <p:sp>
        <p:nvSpPr>
          <p:cNvPr id="335" name="Google Shape;335;g3cb20f13e01_0_218"/>
          <p:cNvSpPr/>
          <p:nvPr/>
        </p:nvSpPr>
        <p:spPr>
          <a:xfrm>
            <a:off x="3400270" y="5613890"/>
            <a:ext cx="152400" cy="155700"/>
          </a:xfrm>
          <a:prstGeom prst="heart">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AF6"/>
              </a:solidFill>
              <a:latin typeface="Arial"/>
              <a:ea typeface="Arial"/>
              <a:cs typeface="Arial"/>
              <a:sym typeface="Arial"/>
            </a:endParaRPr>
          </a:p>
        </p:txBody>
      </p:sp>
      <p:sp>
        <p:nvSpPr>
          <p:cNvPr id="336" name="Google Shape;336;g3cb20f13e01_0_218"/>
          <p:cNvSpPr txBox="1"/>
          <p:nvPr/>
        </p:nvSpPr>
        <p:spPr>
          <a:xfrm>
            <a:off x="1686299" y="5856525"/>
            <a:ext cx="21675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ru-RU" sz="2400" u="none" cap="none" strike="noStrike">
                <a:solidFill>
                  <a:srgbClr val="000000"/>
                </a:solidFill>
                <a:latin typeface="IBM Plex Sans"/>
                <a:ea typeface="IBM Plex Sans"/>
                <a:cs typeface="IBM Plex Sans"/>
                <a:sym typeface="IBM Plex Sans"/>
              </a:rPr>
              <a:t>Накопленный опыт</a:t>
            </a:r>
            <a:endParaRPr b="0" i="0" sz="2400" u="none" cap="none" strike="noStrike">
              <a:solidFill>
                <a:srgbClr val="000000"/>
              </a:solidFill>
              <a:latin typeface="IBM Plex Sans"/>
              <a:ea typeface="IBM Plex Sans"/>
              <a:cs typeface="IBM Plex Sans"/>
              <a:sym typeface="IBM Plex Sans"/>
            </a:endParaRPr>
          </a:p>
        </p:txBody>
      </p:sp>
      <p:pic>
        <p:nvPicPr>
          <p:cNvPr descr="Picture background" id="337" name="Google Shape;337;g3cb20f13e01_0_218"/>
          <p:cNvPicPr preferRelativeResize="0"/>
          <p:nvPr/>
        </p:nvPicPr>
        <p:blipFill rotWithShape="1">
          <a:blip r:embed="rId5">
            <a:alphaModFix/>
          </a:blip>
          <a:srcRect b="0" l="7217" r="75719" t="0"/>
          <a:stretch/>
        </p:blipFill>
        <p:spPr>
          <a:xfrm>
            <a:off x="4177910" y="3520834"/>
            <a:ext cx="906778" cy="2075850"/>
          </a:xfrm>
          <a:prstGeom prst="rect">
            <a:avLst/>
          </a:prstGeom>
          <a:noFill/>
          <a:ln>
            <a:noFill/>
          </a:ln>
        </p:spPr>
      </p:pic>
      <p:pic>
        <p:nvPicPr>
          <p:cNvPr descr="Picture background" id="338" name="Google Shape;338;g3cb20f13e01_0_218"/>
          <p:cNvPicPr preferRelativeResize="0"/>
          <p:nvPr/>
        </p:nvPicPr>
        <p:blipFill rotWithShape="1">
          <a:blip r:embed="rId5">
            <a:alphaModFix/>
          </a:blip>
          <a:srcRect b="-1099" l="23994" r="58942" t="1100"/>
          <a:stretch/>
        </p:blipFill>
        <p:spPr>
          <a:xfrm>
            <a:off x="4330310" y="3673234"/>
            <a:ext cx="906778" cy="2075850"/>
          </a:xfrm>
          <a:prstGeom prst="rect">
            <a:avLst/>
          </a:prstGeom>
          <a:noFill/>
          <a:ln>
            <a:noFill/>
          </a:ln>
        </p:spPr>
      </p:pic>
      <p:pic>
        <p:nvPicPr>
          <p:cNvPr descr="Picture background" id="339" name="Google Shape;339;g3cb20f13e01_0_218"/>
          <p:cNvPicPr preferRelativeResize="0"/>
          <p:nvPr/>
        </p:nvPicPr>
        <p:blipFill rotWithShape="1">
          <a:blip r:embed="rId5">
            <a:alphaModFix/>
          </a:blip>
          <a:srcRect b="-1469" l="41200" r="41736" t="1470"/>
          <a:stretch/>
        </p:blipFill>
        <p:spPr>
          <a:xfrm>
            <a:off x="4482710" y="3825634"/>
            <a:ext cx="906778" cy="2075850"/>
          </a:xfrm>
          <a:prstGeom prst="rect">
            <a:avLst/>
          </a:prstGeom>
          <a:noFill/>
          <a:ln>
            <a:noFill/>
          </a:ln>
        </p:spPr>
      </p:pic>
      <p:pic>
        <p:nvPicPr>
          <p:cNvPr descr="Picture background" id="340" name="Google Shape;340;g3cb20f13e01_0_218"/>
          <p:cNvPicPr preferRelativeResize="0"/>
          <p:nvPr/>
        </p:nvPicPr>
        <p:blipFill rotWithShape="1">
          <a:blip r:embed="rId6">
            <a:alphaModFix/>
          </a:blip>
          <a:srcRect b="0" l="0" r="0" t="0"/>
          <a:stretch/>
        </p:blipFill>
        <p:spPr>
          <a:xfrm>
            <a:off x="5290459" y="4522348"/>
            <a:ext cx="1018123" cy="566609"/>
          </a:xfrm>
          <a:prstGeom prst="rect">
            <a:avLst/>
          </a:prstGeom>
          <a:noFill/>
          <a:ln>
            <a:noFill/>
          </a:ln>
        </p:spPr>
      </p:pic>
      <p:sp>
        <p:nvSpPr>
          <p:cNvPr id="341" name="Google Shape;341;g3cb20f13e01_0_218"/>
          <p:cNvSpPr/>
          <p:nvPr/>
        </p:nvSpPr>
        <p:spPr>
          <a:xfrm>
            <a:off x="5843359" y="4907372"/>
            <a:ext cx="152400" cy="155700"/>
          </a:xfrm>
          <a:prstGeom prst="heart">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AF6"/>
              </a:solidFill>
              <a:latin typeface="Arial"/>
              <a:ea typeface="Arial"/>
              <a:cs typeface="Arial"/>
              <a:sym typeface="Arial"/>
            </a:endParaRPr>
          </a:p>
        </p:txBody>
      </p:sp>
      <p:sp>
        <p:nvSpPr>
          <p:cNvPr id="342" name="Google Shape;342;g3cb20f13e01_0_218"/>
          <p:cNvSpPr txBox="1"/>
          <p:nvPr/>
        </p:nvSpPr>
        <p:spPr>
          <a:xfrm>
            <a:off x="4314584" y="5882384"/>
            <a:ext cx="19692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ru-RU" sz="2400" u="none" cap="none" strike="noStrike">
                <a:solidFill>
                  <a:srgbClr val="000000"/>
                </a:solidFill>
                <a:latin typeface="IBM Plex Sans"/>
                <a:ea typeface="IBM Plex Sans"/>
                <a:cs typeface="IBM Plex Sans"/>
                <a:sym typeface="IBM Plex Sans"/>
              </a:rPr>
              <a:t>Состояние мира</a:t>
            </a:r>
            <a:endParaRPr b="0" i="0" sz="2400" u="none" cap="none" strike="noStrike">
              <a:solidFill>
                <a:srgbClr val="000000"/>
              </a:solidFill>
              <a:latin typeface="IBM Plex Sans"/>
              <a:ea typeface="IBM Plex Sans"/>
              <a:cs typeface="IBM Plex Sans"/>
              <a:sym typeface="IBM Plex Sans"/>
            </a:endParaRPr>
          </a:p>
        </p:txBody>
      </p:sp>
      <p:pic>
        <p:nvPicPr>
          <p:cNvPr descr="Picture background" id="343" name="Google Shape;343;g3cb20f13e01_0_218"/>
          <p:cNvPicPr preferRelativeResize="0"/>
          <p:nvPr/>
        </p:nvPicPr>
        <p:blipFill rotWithShape="1">
          <a:blip r:embed="rId5">
            <a:alphaModFix/>
          </a:blip>
          <a:srcRect b="730" l="75470" r="7466" t="-730"/>
          <a:stretch/>
        </p:blipFill>
        <p:spPr>
          <a:xfrm>
            <a:off x="2095725" y="3933070"/>
            <a:ext cx="906778" cy="2075850"/>
          </a:xfrm>
          <a:prstGeom prst="rect">
            <a:avLst/>
          </a:prstGeom>
          <a:noFill/>
          <a:ln>
            <a:noFill/>
          </a:ln>
        </p:spPr>
      </p:pic>
      <p:pic>
        <p:nvPicPr>
          <p:cNvPr descr="Picture background" id="344" name="Google Shape;344;g3cb20f13e01_0_218"/>
          <p:cNvPicPr preferRelativeResize="0"/>
          <p:nvPr/>
        </p:nvPicPr>
        <p:blipFill rotWithShape="1">
          <a:blip r:embed="rId5">
            <a:alphaModFix/>
          </a:blip>
          <a:srcRect b="730" l="75470" r="7466" t="-730"/>
          <a:stretch/>
        </p:blipFill>
        <p:spPr>
          <a:xfrm>
            <a:off x="6917184" y="3711214"/>
            <a:ext cx="906778" cy="2075850"/>
          </a:xfrm>
          <a:prstGeom prst="rect">
            <a:avLst/>
          </a:prstGeom>
          <a:noFill/>
          <a:ln>
            <a:noFill/>
          </a:ln>
        </p:spPr>
      </p:pic>
      <p:sp>
        <p:nvSpPr>
          <p:cNvPr id="345" name="Google Shape;345;g3cb20f13e01_0_218"/>
          <p:cNvSpPr txBox="1"/>
          <p:nvPr/>
        </p:nvSpPr>
        <p:spPr>
          <a:xfrm>
            <a:off x="6578017" y="5882384"/>
            <a:ext cx="19692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ru-RU" sz="2400" u="none" cap="none" strike="noStrike">
                <a:solidFill>
                  <a:srgbClr val="000000"/>
                </a:solidFill>
                <a:latin typeface="IBM Plex Sans"/>
                <a:ea typeface="IBM Plex Sans"/>
                <a:cs typeface="IBM Plex Sans"/>
                <a:sym typeface="IBM Plex Sans"/>
              </a:rPr>
              <a:t>Принятое решение</a:t>
            </a:r>
            <a:endParaRPr b="0" i="0" sz="2400" u="none" cap="none" strike="noStrike">
              <a:solidFill>
                <a:srgbClr val="000000"/>
              </a:solidFill>
              <a:latin typeface="IBM Plex Sans"/>
              <a:ea typeface="IBM Plex Sans"/>
              <a:cs typeface="IBM Plex Sans"/>
              <a:sym typeface="IBM Plex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grpSp>
        <p:nvGrpSpPr>
          <p:cNvPr id="350" name="Google Shape;350;g3cb20f13e01_0_264"/>
          <p:cNvGrpSpPr/>
          <p:nvPr/>
        </p:nvGrpSpPr>
        <p:grpSpPr>
          <a:xfrm>
            <a:off x="9353973" y="-1553420"/>
            <a:ext cx="2854020" cy="13716631"/>
            <a:chOff x="9353973" y="-1553420"/>
            <a:chExt cx="2854020" cy="13716631"/>
          </a:xfrm>
        </p:grpSpPr>
        <p:grpSp>
          <p:nvGrpSpPr>
            <p:cNvPr id="351" name="Google Shape;351;g3cb20f13e01_0_264"/>
            <p:cNvGrpSpPr/>
            <p:nvPr/>
          </p:nvGrpSpPr>
          <p:grpSpPr>
            <a:xfrm>
              <a:off x="9353973" y="-1553420"/>
              <a:ext cx="2838027" cy="13716631"/>
              <a:chOff x="9353973" y="-6079700"/>
              <a:chExt cx="2838027" cy="13716631"/>
            </a:xfrm>
          </p:grpSpPr>
          <p:pic>
            <p:nvPicPr>
              <p:cNvPr id="352" name="Google Shape;352;g3cb20f13e01_0_264"/>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353" name="Google Shape;353;g3cb20f13e01_0_264"/>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354" name="Google Shape;354;g3cb20f13e01_0_264"/>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5" name="Google Shape;355;g3cb20f13e01_0_264"/>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356" name="Google Shape;356;g3cb20f13e01_0_264"/>
          <p:cNvPicPr preferRelativeResize="0"/>
          <p:nvPr/>
        </p:nvPicPr>
        <p:blipFill rotWithShape="1">
          <a:blip r:embed="rId4">
            <a:alphaModFix/>
          </a:blip>
          <a:srcRect b="0" l="0" r="0" t="0"/>
          <a:stretch/>
        </p:blipFill>
        <p:spPr>
          <a:xfrm>
            <a:off x="8826215" y="354856"/>
            <a:ext cx="2867441" cy="2867441"/>
          </a:xfrm>
          <a:prstGeom prst="rect">
            <a:avLst/>
          </a:prstGeom>
          <a:noFill/>
          <a:ln>
            <a:noFill/>
          </a:ln>
        </p:spPr>
      </p:pic>
      <p:sp>
        <p:nvSpPr>
          <p:cNvPr id="357" name="Google Shape;357;g3cb20f13e01_0_264"/>
          <p:cNvSpPr txBox="1"/>
          <p:nvPr/>
        </p:nvSpPr>
        <p:spPr>
          <a:xfrm>
            <a:off x="7088000" y="3588600"/>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sp>
        <p:nvSpPr>
          <p:cNvPr id="358" name="Google Shape;358;g3cb20f13e01_0_264"/>
          <p:cNvSpPr txBox="1"/>
          <p:nvPr/>
        </p:nvSpPr>
        <p:spPr>
          <a:xfrm>
            <a:off x="1055688" y="1451513"/>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Machine learning</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sp>
        <p:nvSpPr>
          <p:cNvPr id="359" name="Google Shape;359;g3cb20f13e01_0_264"/>
          <p:cNvSpPr txBox="1"/>
          <p:nvPr/>
        </p:nvSpPr>
        <p:spPr>
          <a:xfrm>
            <a:off x="1055688" y="2490762"/>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400" u="none" cap="none" strike="noStrike">
                <a:solidFill>
                  <a:schemeClr val="dk1"/>
                </a:solidFill>
                <a:latin typeface="IBM Plex Sans"/>
                <a:ea typeface="IBM Plex Sans"/>
                <a:cs typeface="IBM Plex Sans"/>
                <a:sym typeface="IBM Plex Sans"/>
              </a:rPr>
              <a:t>Система, принимающая решения на основе накопленного опыта и состояния мира</a:t>
            </a:r>
            <a:endParaRPr b="0" i="0" sz="24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400" u="none" cap="none" strike="noStrike">
              <a:solidFill>
                <a:schemeClr val="dk1"/>
              </a:solidFill>
              <a:latin typeface="IBM Plex Sans"/>
              <a:ea typeface="IBM Plex Sans"/>
              <a:cs typeface="IBM Plex Sans"/>
              <a:sym typeface="IBM Plex Sans"/>
            </a:endParaRPr>
          </a:p>
        </p:txBody>
      </p:sp>
      <p:sp>
        <p:nvSpPr>
          <p:cNvPr id="360" name="Google Shape;360;g3cb20f13e01_0_264"/>
          <p:cNvSpPr txBox="1"/>
          <p:nvPr/>
        </p:nvSpPr>
        <p:spPr>
          <a:xfrm>
            <a:off x="1574408" y="5375281"/>
            <a:ext cx="2232900" cy="843600"/>
          </a:xfrm>
          <a:prstGeom prst="rect">
            <a:avLst/>
          </a:prstGeom>
          <a:noFill/>
          <a:ln>
            <a:noFill/>
          </a:ln>
        </p:spPr>
        <p:txBody>
          <a:bodyPr anchorCtr="0" anchor="t" bIns="51825" lIns="103675" spcFirstLastPara="1" rIns="103675" wrap="square" tIns="51825">
            <a:spAutoFit/>
          </a:bodyPr>
          <a:lstStyle/>
          <a:p>
            <a:pPr indent="0" lvl="0" marL="0" marR="0" rtl="0" algn="l">
              <a:lnSpc>
                <a:spcPct val="100000"/>
              </a:lnSpc>
              <a:spcBef>
                <a:spcPts val="0"/>
              </a:spcBef>
              <a:spcAft>
                <a:spcPts val="0"/>
              </a:spcAft>
              <a:buClr>
                <a:srgbClr val="000000"/>
              </a:buClr>
              <a:buSzPts val="1587"/>
              <a:buFont typeface="Arial"/>
              <a:buNone/>
            </a:pPr>
            <a:r>
              <a:rPr b="0" i="0" lang="ru-RU" sz="2400" u="none" cap="none" strike="noStrike">
                <a:solidFill>
                  <a:srgbClr val="000000"/>
                </a:solidFill>
                <a:latin typeface="IBM Plex Sans"/>
                <a:ea typeface="IBM Plex Sans"/>
                <a:cs typeface="IBM Plex Sans"/>
                <a:sym typeface="IBM Plex Sans"/>
              </a:rPr>
              <a:t>Накопленный опыт</a:t>
            </a:r>
            <a:endParaRPr b="0" i="0" sz="2400" u="none" cap="none" strike="noStrike">
              <a:solidFill>
                <a:srgbClr val="000000"/>
              </a:solidFill>
              <a:latin typeface="IBM Plex Sans"/>
              <a:ea typeface="IBM Plex Sans"/>
              <a:cs typeface="IBM Plex Sans"/>
              <a:sym typeface="IBM Plex Sans"/>
            </a:endParaRPr>
          </a:p>
        </p:txBody>
      </p:sp>
      <p:sp>
        <p:nvSpPr>
          <p:cNvPr id="361" name="Google Shape;361;g3cb20f13e01_0_264"/>
          <p:cNvSpPr txBox="1"/>
          <p:nvPr/>
        </p:nvSpPr>
        <p:spPr>
          <a:xfrm>
            <a:off x="4554594" y="5404608"/>
            <a:ext cx="2232900" cy="843600"/>
          </a:xfrm>
          <a:prstGeom prst="rect">
            <a:avLst/>
          </a:prstGeom>
          <a:noFill/>
          <a:ln>
            <a:noFill/>
          </a:ln>
        </p:spPr>
        <p:txBody>
          <a:bodyPr anchorCtr="0" anchor="t" bIns="51825" lIns="103675" spcFirstLastPara="1" rIns="103675" wrap="square" tIns="51825">
            <a:spAutoFit/>
          </a:bodyPr>
          <a:lstStyle/>
          <a:p>
            <a:pPr indent="0" lvl="0" marL="0" marR="0" rtl="0" algn="l">
              <a:lnSpc>
                <a:spcPct val="100000"/>
              </a:lnSpc>
              <a:spcBef>
                <a:spcPts val="0"/>
              </a:spcBef>
              <a:spcAft>
                <a:spcPts val="0"/>
              </a:spcAft>
              <a:buClr>
                <a:srgbClr val="000000"/>
              </a:buClr>
              <a:buSzPts val="1587"/>
              <a:buFont typeface="Arial"/>
              <a:buNone/>
            </a:pPr>
            <a:r>
              <a:rPr b="0" i="0" lang="ru-RU" sz="2400" u="none" cap="none" strike="noStrike">
                <a:solidFill>
                  <a:srgbClr val="000000"/>
                </a:solidFill>
                <a:latin typeface="IBM Plex Sans"/>
                <a:ea typeface="IBM Plex Sans"/>
                <a:cs typeface="IBM Plex Sans"/>
                <a:sym typeface="IBM Plex Sans"/>
              </a:rPr>
              <a:t>Состояние мира</a:t>
            </a:r>
            <a:endParaRPr b="0" i="0" sz="2400" u="none" cap="none" strike="noStrike">
              <a:solidFill>
                <a:srgbClr val="000000"/>
              </a:solidFill>
              <a:latin typeface="IBM Plex Sans"/>
              <a:ea typeface="IBM Plex Sans"/>
              <a:cs typeface="IBM Plex Sans"/>
              <a:sym typeface="IBM Plex Sans"/>
            </a:endParaRPr>
          </a:p>
        </p:txBody>
      </p:sp>
      <p:sp>
        <p:nvSpPr>
          <p:cNvPr id="362" name="Google Shape;362;g3cb20f13e01_0_264"/>
          <p:cNvSpPr txBox="1"/>
          <p:nvPr/>
        </p:nvSpPr>
        <p:spPr>
          <a:xfrm>
            <a:off x="7121086" y="5404608"/>
            <a:ext cx="2232900" cy="843600"/>
          </a:xfrm>
          <a:prstGeom prst="rect">
            <a:avLst/>
          </a:prstGeom>
          <a:noFill/>
          <a:ln>
            <a:noFill/>
          </a:ln>
        </p:spPr>
        <p:txBody>
          <a:bodyPr anchorCtr="0" anchor="t" bIns="51825" lIns="103675" spcFirstLastPara="1" rIns="103675" wrap="square" tIns="51825">
            <a:spAutoFit/>
          </a:bodyPr>
          <a:lstStyle/>
          <a:p>
            <a:pPr indent="0" lvl="0" marL="0" marR="0" rtl="0" algn="l">
              <a:lnSpc>
                <a:spcPct val="100000"/>
              </a:lnSpc>
              <a:spcBef>
                <a:spcPts val="0"/>
              </a:spcBef>
              <a:spcAft>
                <a:spcPts val="0"/>
              </a:spcAft>
              <a:buClr>
                <a:srgbClr val="000000"/>
              </a:buClr>
              <a:buSzPts val="1587"/>
              <a:buFont typeface="Arial"/>
              <a:buNone/>
            </a:pPr>
            <a:r>
              <a:rPr b="0" i="0" lang="ru-RU" sz="2400" u="none" cap="none" strike="noStrike">
                <a:solidFill>
                  <a:srgbClr val="000000"/>
                </a:solidFill>
                <a:latin typeface="IBM Plex Sans"/>
                <a:ea typeface="IBM Plex Sans"/>
                <a:cs typeface="IBM Plex Sans"/>
                <a:sym typeface="IBM Plex Sans"/>
              </a:rPr>
              <a:t>Принятое решение</a:t>
            </a:r>
            <a:endParaRPr b="0" i="0" sz="2400" u="none" cap="none" strike="noStrike">
              <a:solidFill>
                <a:srgbClr val="000000"/>
              </a:solidFill>
              <a:latin typeface="IBM Plex Sans"/>
              <a:ea typeface="IBM Plex Sans"/>
              <a:cs typeface="IBM Plex Sans"/>
              <a:sym typeface="IBM Plex Sans"/>
            </a:endParaRPr>
          </a:p>
        </p:txBody>
      </p:sp>
      <p:pic>
        <p:nvPicPr>
          <p:cNvPr id="363" name="Google Shape;363;g3cb20f13e01_0_264"/>
          <p:cNvPicPr preferRelativeResize="0"/>
          <p:nvPr/>
        </p:nvPicPr>
        <p:blipFill rotWithShape="1">
          <a:blip r:embed="rId5">
            <a:alphaModFix/>
          </a:blip>
          <a:srcRect b="0" l="0" r="0" t="0"/>
          <a:stretch/>
        </p:blipFill>
        <p:spPr>
          <a:xfrm>
            <a:off x="728525" y="3863324"/>
            <a:ext cx="1867379" cy="616062"/>
          </a:xfrm>
          <a:prstGeom prst="rect">
            <a:avLst/>
          </a:prstGeom>
          <a:noFill/>
          <a:ln>
            <a:noFill/>
          </a:ln>
        </p:spPr>
      </p:pic>
      <p:sp>
        <p:nvSpPr>
          <p:cNvPr id="364" name="Google Shape;364;g3cb20f13e01_0_264"/>
          <p:cNvSpPr txBox="1"/>
          <p:nvPr/>
        </p:nvSpPr>
        <p:spPr>
          <a:xfrm>
            <a:off x="1374970" y="3947621"/>
            <a:ext cx="1750500" cy="348900"/>
          </a:xfrm>
          <a:prstGeom prst="rect">
            <a:avLst/>
          </a:prstGeom>
          <a:solidFill>
            <a:srgbClr val="FFFAF6"/>
          </a:solidFill>
          <a:ln cap="flat" cmpd="sng" w="28800">
            <a:solidFill>
              <a:srgbClr val="135669"/>
            </a:solidFill>
            <a:prstDash val="solid"/>
            <a:round/>
            <a:headEnd len="sm" w="sm" type="none"/>
            <a:tailEnd len="sm" w="sm" type="none"/>
          </a:ln>
        </p:spPr>
        <p:txBody>
          <a:bodyPr anchorCtr="0" anchor="t" bIns="51825" lIns="103675" spcFirstLastPara="1" rIns="103675" wrap="square" tIns="51825">
            <a:spAutoFit/>
          </a:bodyPr>
          <a:lstStyle/>
          <a:p>
            <a:pPr indent="0" lvl="0" marL="0" marR="0" rtl="0" algn="l">
              <a:lnSpc>
                <a:spcPct val="100000"/>
              </a:lnSpc>
              <a:spcBef>
                <a:spcPts val="0"/>
              </a:spcBef>
              <a:spcAft>
                <a:spcPts val="0"/>
              </a:spcAft>
              <a:buClr>
                <a:srgbClr val="000000"/>
              </a:buClr>
              <a:buSzPts val="1587"/>
              <a:buFont typeface="Arial"/>
              <a:buNone/>
            </a:pPr>
            <a:r>
              <a:rPr b="0" i="0" lang="ru-RU" sz="1587" u="none" cap="none" strike="noStrike">
                <a:solidFill>
                  <a:srgbClr val="15110E"/>
                </a:solidFill>
                <a:latin typeface="Arial"/>
                <a:ea typeface="Arial"/>
                <a:cs typeface="Arial"/>
                <a:sym typeface="Arial"/>
              </a:rPr>
              <a:t>Привет! Как т…</a:t>
            </a:r>
            <a:endParaRPr b="0" i="0" sz="1587" u="none" cap="none" strike="noStrike">
              <a:solidFill>
                <a:srgbClr val="15110E"/>
              </a:solidFill>
              <a:latin typeface="Arial"/>
              <a:ea typeface="Arial"/>
              <a:cs typeface="Arial"/>
              <a:sym typeface="Arial"/>
            </a:endParaRPr>
          </a:p>
        </p:txBody>
      </p:sp>
      <p:pic>
        <p:nvPicPr>
          <p:cNvPr id="365" name="Google Shape;365;g3cb20f13e01_0_264"/>
          <p:cNvPicPr preferRelativeResize="0"/>
          <p:nvPr/>
        </p:nvPicPr>
        <p:blipFill rotWithShape="1">
          <a:blip r:embed="rId5">
            <a:alphaModFix/>
          </a:blip>
          <a:srcRect b="0" l="0" r="0" t="0"/>
          <a:stretch/>
        </p:blipFill>
        <p:spPr>
          <a:xfrm>
            <a:off x="901330" y="4036130"/>
            <a:ext cx="1867379" cy="616062"/>
          </a:xfrm>
          <a:prstGeom prst="rect">
            <a:avLst/>
          </a:prstGeom>
          <a:noFill/>
          <a:ln>
            <a:noFill/>
          </a:ln>
        </p:spPr>
      </p:pic>
      <p:sp>
        <p:nvSpPr>
          <p:cNvPr id="366" name="Google Shape;366;g3cb20f13e01_0_264"/>
          <p:cNvSpPr txBox="1"/>
          <p:nvPr/>
        </p:nvSpPr>
        <p:spPr>
          <a:xfrm>
            <a:off x="1547776" y="4120427"/>
            <a:ext cx="1750500" cy="348900"/>
          </a:xfrm>
          <a:prstGeom prst="rect">
            <a:avLst/>
          </a:prstGeom>
          <a:solidFill>
            <a:srgbClr val="FFFAF6"/>
          </a:solidFill>
          <a:ln cap="flat" cmpd="sng" w="28800">
            <a:solidFill>
              <a:srgbClr val="135669"/>
            </a:solidFill>
            <a:prstDash val="solid"/>
            <a:round/>
            <a:headEnd len="sm" w="sm" type="none"/>
            <a:tailEnd len="sm" w="sm" type="none"/>
          </a:ln>
        </p:spPr>
        <p:txBody>
          <a:bodyPr anchorCtr="0" anchor="t" bIns="51825" lIns="103675" spcFirstLastPara="1" rIns="103675" wrap="square" tIns="51825">
            <a:spAutoFit/>
          </a:bodyPr>
          <a:lstStyle/>
          <a:p>
            <a:pPr indent="0" lvl="0" marL="0" marR="0" rtl="0" algn="l">
              <a:lnSpc>
                <a:spcPct val="100000"/>
              </a:lnSpc>
              <a:spcBef>
                <a:spcPts val="0"/>
              </a:spcBef>
              <a:spcAft>
                <a:spcPts val="0"/>
              </a:spcAft>
              <a:buClr>
                <a:srgbClr val="000000"/>
              </a:buClr>
              <a:buSzPts val="1587"/>
              <a:buFont typeface="Arial"/>
              <a:buNone/>
            </a:pPr>
            <a:r>
              <a:rPr b="0" i="0" lang="ru-RU" sz="1587" u="none" cap="none" strike="noStrike">
                <a:solidFill>
                  <a:srgbClr val="15110E"/>
                </a:solidFill>
                <a:latin typeface="Arial"/>
                <a:ea typeface="Arial"/>
                <a:cs typeface="Arial"/>
                <a:sym typeface="Arial"/>
              </a:rPr>
              <a:t>Щыовав. Выукп</a:t>
            </a:r>
            <a:endParaRPr b="0" i="0" sz="1587" u="none" cap="none" strike="noStrike">
              <a:solidFill>
                <a:srgbClr val="15110E"/>
              </a:solidFill>
              <a:latin typeface="Arial"/>
              <a:ea typeface="Arial"/>
              <a:cs typeface="Arial"/>
              <a:sym typeface="Arial"/>
            </a:endParaRPr>
          </a:p>
        </p:txBody>
      </p:sp>
      <p:pic>
        <p:nvPicPr>
          <p:cNvPr id="367" name="Google Shape;367;g3cb20f13e01_0_264"/>
          <p:cNvPicPr preferRelativeResize="0"/>
          <p:nvPr/>
        </p:nvPicPr>
        <p:blipFill rotWithShape="1">
          <a:blip r:embed="rId5">
            <a:alphaModFix/>
          </a:blip>
          <a:srcRect b="0" l="0" r="0" t="0"/>
          <a:stretch/>
        </p:blipFill>
        <p:spPr>
          <a:xfrm>
            <a:off x="1074136" y="4208937"/>
            <a:ext cx="1867379" cy="616062"/>
          </a:xfrm>
          <a:prstGeom prst="rect">
            <a:avLst/>
          </a:prstGeom>
          <a:noFill/>
          <a:ln>
            <a:noFill/>
          </a:ln>
        </p:spPr>
      </p:pic>
      <p:sp>
        <p:nvSpPr>
          <p:cNvPr id="368" name="Google Shape;368;g3cb20f13e01_0_264"/>
          <p:cNvSpPr txBox="1"/>
          <p:nvPr/>
        </p:nvSpPr>
        <p:spPr>
          <a:xfrm>
            <a:off x="1720581" y="4293233"/>
            <a:ext cx="1750500" cy="348900"/>
          </a:xfrm>
          <a:prstGeom prst="rect">
            <a:avLst/>
          </a:prstGeom>
          <a:solidFill>
            <a:srgbClr val="FFFAF6"/>
          </a:solidFill>
          <a:ln cap="flat" cmpd="sng" w="28800">
            <a:solidFill>
              <a:srgbClr val="135669"/>
            </a:solidFill>
            <a:prstDash val="solid"/>
            <a:round/>
            <a:headEnd len="sm" w="sm" type="none"/>
            <a:tailEnd len="sm" w="sm" type="none"/>
          </a:ln>
        </p:spPr>
        <p:txBody>
          <a:bodyPr anchorCtr="0" anchor="t" bIns="51825" lIns="103675" spcFirstLastPara="1" rIns="103675" wrap="square" tIns="51825">
            <a:spAutoFit/>
          </a:bodyPr>
          <a:lstStyle/>
          <a:p>
            <a:pPr indent="0" lvl="0" marL="0" marR="0" rtl="0" algn="l">
              <a:lnSpc>
                <a:spcPct val="100000"/>
              </a:lnSpc>
              <a:spcBef>
                <a:spcPts val="0"/>
              </a:spcBef>
              <a:spcAft>
                <a:spcPts val="0"/>
              </a:spcAft>
              <a:buClr>
                <a:srgbClr val="000000"/>
              </a:buClr>
              <a:buSzPts val="1587"/>
              <a:buFont typeface="Arial"/>
              <a:buNone/>
            </a:pPr>
            <a:r>
              <a:rPr b="0" i="0" lang="ru-RU" sz="1587" u="none" cap="none" strike="noStrike">
                <a:solidFill>
                  <a:srgbClr val="15110E"/>
                </a:solidFill>
                <a:latin typeface="Arial"/>
                <a:ea typeface="Arial"/>
                <a:cs typeface="Arial"/>
                <a:sym typeface="Arial"/>
              </a:rPr>
              <a:t>Лоаы. Ыо аввав</a:t>
            </a:r>
            <a:endParaRPr b="0" i="0" sz="1587" u="none" cap="none" strike="noStrike">
              <a:solidFill>
                <a:srgbClr val="15110E"/>
              </a:solidFill>
              <a:latin typeface="Arial"/>
              <a:ea typeface="Arial"/>
              <a:cs typeface="Arial"/>
              <a:sym typeface="Arial"/>
            </a:endParaRPr>
          </a:p>
        </p:txBody>
      </p:sp>
      <p:pic>
        <p:nvPicPr>
          <p:cNvPr id="369" name="Google Shape;369;g3cb20f13e01_0_264"/>
          <p:cNvPicPr preferRelativeResize="0"/>
          <p:nvPr/>
        </p:nvPicPr>
        <p:blipFill rotWithShape="1">
          <a:blip r:embed="rId5">
            <a:alphaModFix/>
          </a:blip>
          <a:srcRect b="0" l="0" r="0" t="0"/>
          <a:stretch/>
        </p:blipFill>
        <p:spPr>
          <a:xfrm>
            <a:off x="1246941" y="4381743"/>
            <a:ext cx="1867379" cy="616062"/>
          </a:xfrm>
          <a:prstGeom prst="rect">
            <a:avLst/>
          </a:prstGeom>
          <a:noFill/>
          <a:ln>
            <a:noFill/>
          </a:ln>
        </p:spPr>
      </p:pic>
      <p:sp>
        <p:nvSpPr>
          <p:cNvPr id="370" name="Google Shape;370;g3cb20f13e01_0_264"/>
          <p:cNvSpPr txBox="1"/>
          <p:nvPr/>
        </p:nvSpPr>
        <p:spPr>
          <a:xfrm>
            <a:off x="1893387" y="4466039"/>
            <a:ext cx="1750500" cy="348900"/>
          </a:xfrm>
          <a:prstGeom prst="rect">
            <a:avLst/>
          </a:prstGeom>
          <a:solidFill>
            <a:srgbClr val="FFFAF6"/>
          </a:solidFill>
          <a:ln cap="flat" cmpd="sng" w="28800">
            <a:solidFill>
              <a:srgbClr val="135669"/>
            </a:solidFill>
            <a:prstDash val="solid"/>
            <a:round/>
            <a:headEnd len="sm" w="sm" type="none"/>
            <a:tailEnd len="sm" w="sm" type="none"/>
          </a:ln>
        </p:spPr>
        <p:txBody>
          <a:bodyPr anchorCtr="0" anchor="t" bIns="51825" lIns="103675" spcFirstLastPara="1" rIns="103675" wrap="square" tIns="51825">
            <a:spAutoFit/>
          </a:bodyPr>
          <a:lstStyle/>
          <a:p>
            <a:pPr indent="0" lvl="0" marL="0" marR="0" rtl="0" algn="l">
              <a:lnSpc>
                <a:spcPct val="100000"/>
              </a:lnSpc>
              <a:spcBef>
                <a:spcPts val="0"/>
              </a:spcBef>
              <a:spcAft>
                <a:spcPts val="0"/>
              </a:spcAft>
              <a:buClr>
                <a:srgbClr val="000000"/>
              </a:buClr>
              <a:buSzPts val="1587"/>
              <a:buFont typeface="Arial"/>
              <a:buNone/>
            </a:pPr>
            <a:r>
              <a:rPr b="0" i="0" lang="ru-RU" sz="1587" u="none" cap="none" strike="noStrike">
                <a:solidFill>
                  <a:srgbClr val="15110E"/>
                </a:solidFill>
                <a:latin typeface="Arial"/>
                <a:ea typeface="Arial"/>
                <a:cs typeface="Arial"/>
                <a:sym typeface="Arial"/>
              </a:rPr>
              <a:t>Привет! Как т…</a:t>
            </a:r>
            <a:endParaRPr b="0" i="0" sz="1587" u="none" cap="none" strike="noStrike">
              <a:solidFill>
                <a:srgbClr val="15110E"/>
              </a:solidFill>
              <a:latin typeface="Arial"/>
              <a:ea typeface="Arial"/>
              <a:cs typeface="Arial"/>
              <a:sym typeface="Arial"/>
            </a:endParaRPr>
          </a:p>
        </p:txBody>
      </p:sp>
      <p:pic>
        <p:nvPicPr>
          <p:cNvPr id="371" name="Google Shape;371;g3cb20f13e01_0_264"/>
          <p:cNvPicPr preferRelativeResize="0"/>
          <p:nvPr/>
        </p:nvPicPr>
        <p:blipFill rotWithShape="1">
          <a:blip r:embed="rId5">
            <a:alphaModFix/>
          </a:blip>
          <a:srcRect b="0" l="0" r="0" t="0"/>
          <a:stretch/>
        </p:blipFill>
        <p:spPr>
          <a:xfrm>
            <a:off x="4392000" y="4208937"/>
            <a:ext cx="1867379" cy="616062"/>
          </a:xfrm>
          <a:prstGeom prst="rect">
            <a:avLst/>
          </a:prstGeom>
          <a:noFill/>
          <a:ln>
            <a:noFill/>
          </a:ln>
        </p:spPr>
      </p:pic>
      <p:sp>
        <p:nvSpPr>
          <p:cNvPr id="372" name="Google Shape;372;g3cb20f13e01_0_264"/>
          <p:cNvSpPr txBox="1"/>
          <p:nvPr/>
        </p:nvSpPr>
        <p:spPr>
          <a:xfrm>
            <a:off x="7180152" y="4282054"/>
            <a:ext cx="1750500" cy="348900"/>
          </a:xfrm>
          <a:prstGeom prst="rect">
            <a:avLst/>
          </a:prstGeom>
          <a:solidFill>
            <a:srgbClr val="FFFAF6"/>
          </a:solidFill>
          <a:ln cap="flat" cmpd="sng" w="28800">
            <a:solidFill>
              <a:srgbClr val="135669"/>
            </a:solidFill>
            <a:prstDash val="solid"/>
            <a:round/>
            <a:headEnd len="sm" w="sm" type="none"/>
            <a:tailEnd len="sm" w="sm" type="none"/>
          </a:ln>
        </p:spPr>
        <p:txBody>
          <a:bodyPr anchorCtr="0" anchor="t" bIns="51825" lIns="103675" spcFirstLastPara="1" rIns="103675" wrap="square" tIns="51825">
            <a:spAutoFit/>
          </a:bodyPr>
          <a:lstStyle/>
          <a:p>
            <a:pPr indent="0" lvl="0" marL="0" marR="0" rtl="0" algn="l">
              <a:lnSpc>
                <a:spcPct val="100000"/>
              </a:lnSpc>
              <a:spcBef>
                <a:spcPts val="0"/>
              </a:spcBef>
              <a:spcAft>
                <a:spcPts val="0"/>
              </a:spcAft>
              <a:buClr>
                <a:srgbClr val="000000"/>
              </a:buClr>
              <a:buSzPts val="1587"/>
              <a:buFont typeface="Arial"/>
              <a:buNone/>
            </a:pPr>
            <a:r>
              <a:rPr b="0" i="0" lang="ru-RU" sz="1587" u="none" cap="none" strike="noStrike">
                <a:solidFill>
                  <a:srgbClr val="15110E"/>
                </a:solidFill>
                <a:latin typeface="Arial"/>
                <a:ea typeface="Arial"/>
                <a:cs typeface="Arial"/>
                <a:sym typeface="Arial"/>
              </a:rPr>
              <a:t>Привет! Чего д..</a:t>
            </a:r>
            <a:endParaRPr b="0" i="0" sz="1587" u="none" cap="none" strike="noStrike">
              <a:solidFill>
                <a:srgbClr val="15110E"/>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grpSp>
        <p:nvGrpSpPr>
          <p:cNvPr id="377" name="Google Shape;377;g3cb20f13e01_0_313"/>
          <p:cNvGrpSpPr/>
          <p:nvPr/>
        </p:nvGrpSpPr>
        <p:grpSpPr>
          <a:xfrm>
            <a:off x="9353973" y="-1553420"/>
            <a:ext cx="2854020" cy="13716631"/>
            <a:chOff x="9353973" y="-1553420"/>
            <a:chExt cx="2854020" cy="13716631"/>
          </a:xfrm>
        </p:grpSpPr>
        <p:grpSp>
          <p:nvGrpSpPr>
            <p:cNvPr id="378" name="Google Shape;378;g3cb20f13e01_0_313"/>
            <p:cNvGrpSpPr/>
            <p:nvPr/>
          </p:nvGrpSpPr>
          <p:grpSpPr>
            <a:xfrm>
              <a:off x="9353973" y="-1553420"/>
              <a:ext cx="2838027" cy="13716631"/>
              <a:chOff x="9353973" y="-6079700"/>
              <a:chExt cx="2838027" cy="13716631"/>
            </a:xfrm>
          </p:grpSpPr>
          <p:pic>
            <p:nvPicPr>
              <p:cNvPr id="379" name="Google Shape;379;g3cb20f13e01_0_313"/>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380" name="Google Shape;380;g3cb20f13e01_0_313"/>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381" name="Google Shape;381;g3cb20f13e01_0_313"/>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2" name="Google Shape;382;g3cb20f13e01_0_313"/>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383" name="Google Shape;383;g3cb20f13e01_0_313"/>
          <p:cNvPicPr preferRelativeResize="0"/>
          <p:nvPr/>
        </p:nvPicPr>
        <p:blipFill rotWithShape="1">
          <a:blip r:embed="rId4">
            <a:alphaModFix/>
          </a:blip>
          <a:srcRect b="0" l="0" r="0" t="0"/>
          <a:stretch/>
        </p:blipFill>
        <p:spPr>
          <a:xfrm>
            <a:off x="8826215" y="354856"/>
            <a:ext cx="2867441" cy="2867441"/>
          </a:xfrm>
          <a:prstGeom prst="rect">
            <a:avLst/>
          </a:prstGeom>
          <a:noFill/>
          <a:ln>
            <a:noFill/>
          </a:ln>
        </p:spPr>
      </p:pic>
      <p:sp>
        <p:nvSpPr>
          <p:cNvPr id="384" name="Google Shape;384;g3cb20f13e01_0_313"/>
          <p:cNvSpPr txBox="1"/>
          <p:nvPr/>
        </p:nvSpPr>
        <p:spPr>
          <a:xfrm>
            <a:off x="1055688" y="1451513"/>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Machine learning</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sp>
        <p:nvSpPr>
          <p:cNvPr id="385" name="Google Shape;385;g3cb20f13e01_0_313"/>
          <p:cNvSpPr txBox="1"/>
          <p:nvPr/>
        </p:nvSpPr>
        <p:spPr>
          <a:xfrm>
            <a:off x="1055688" y="2490762"/>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400" u="none" cap="none" strike="noStrike">
                <a:solidFill>
                  <a:schemeClr val="dk1"/>
                </a:solidFill>
                <a:latin typeface="IBM Plex Sans"/>
                <a:ea typeface="IBM Plex Sans"/>
                <a:cs typeface="IBM Plex Sans"/>
                <a:sym typeface="IBM Plex Sans"/>
              </a:rPr>
              <a:t>Система, принимающая решения на основе накопленного опыта и состояния мира</a:t>
            </a:r>
            <a:endParaRPr b="0" i="0" sz="24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400" u="none" cap="none" strike="noStrike">
              <a:solidFill>
                <a:schemeClr val="dk1"/>
              </a:solidFill>
              <a:latin typeface="IBM Plex Sans"/>
              <a:ea typeface="IBM Plex Sans"/>
              <a:cs typeface="IBM Plex Sans"/>
              <a:sym typeface="IBM Plex Sans"/>
            </a:endParaRPr>
          </a:p>
        </p:txBody>
      </p:sp>
      <p:sp>
        <p:nvSpPr>
          <p:cNvPr id="386" name="Google Shape;386;g3cb20f13e01_0_313"/>
          <p:cNvSpPr txBox="1"/>
          <p:nvPr/>
        </p:nvSpPr>
        <p:spPr>
          <a:xfrm>
            <a:off x="1883609" y="5623264"/>
            <a:ext cx="2204400" cy="842100"/>
          </a:xfrm>
          <a:prstGeom prst="rect">
            <a:avLst/>
          </a:prstGeom>
          <a:noFill/>
          <a:ln>
            <a:noFill/>
          </a:ln>
        </p:spPr>
        <p:txBody>
          <a:bodyPr anchorCtr="0" anchor="t" bIns="51150" lIns="102350" spcFirstLastPara="1" rIns="102350" wrap="square" tIns="51150">
            <a:spAutoFit/>
          </a:bodyPr>
          <a:lstStyle/>
          <a:p>
            <a:pPr indent="0" lvl="0" marL="0" marR="0" rtl="0" algn="l">
              <a:lnSpc>
                <a:spcPct val="100000"/>
              </a:lnSpc>
              <a:spcBef>
                <a:spcPts val="0"/>
              </a:spcBef>
              <a:spcAft>
                <a:spcPts val="0"/>
              </a:spcAft>
              <a:buClr>
                <a:srgbClr val="000000"/>
              </a:buClr>
              <a:buSzPts val="1567"/>
              <a:buFont typeface="Arial"/>
              <a:buNone/>
            </a:pPr>
            <a:r>
              <a:rPr b="0" i="0" lang="ru-RU" sz="2400" u="none" cap="none" strike="noStrike">
                <a:solidFill>
                  <a:srgbClr val="000000"/>
                </a:solidFill>
                <a:latin typeface="IBM Plex Sans"/>
                <a:ea typeface="IBM Plex Sans"/>
                <a:cs typeface="IBM Plex Sans"/>
                <a:sym typeface="IBM Plex Sans"/>
              </a:rPr>
              <a:t>Накопленный опыт</a:t>
            </a:r>
            <a:endParaRPr b="0" i="0" sz="2400" u="none" cap="none" strike="noStrike">
              <a:solidFill>
                <a:srgbClr val="000000"/>
              </a:solidFill>
              <a:latin typeface="IBM Plex Sans"/>
              <a:ea typeface="IBM Plex Sans"/>
              <a:cs typeface="IBM Plex Sans"/>
              <a:sym typeface="IBM Plex Sans"/>
            </a:endParaRPr>
          </a:p>
        </p:txBody>
      </p:sp>
      <p:sp>
        <p:nvSpPr>
          <p:cNvPr id="387" name="Google Shape;387;g3cb20f13e01_0_313"/>
          <p:cNvSpPr txBox="1"/>
          <p:nvPr/>
        </p:nvSpPr>
        <p:spPr>
          <a:xfrm>
            <a:off x="4825735" y="5652217"/>
            <a:ext cx="2204400" cy="842100"/>
          </a:xfrm>
          <a:prstGeom prst="rect">
            <a:avLst/>
          </a:prstGeom>
          <a:noFill/>
          <a:ln>
            <a:noFill/>
          </a:ln>
        </p:spPr>
        <p:txBody>
          <a:bodyPr anchorCtr="0" anchor="t" bIns="51150" lIns="102350" spcFirstLastPara="1" rIns="102350" wrap="square" tIns="51150">
            <a:spAutoFit/>
          </a:bodyPr>
          <a:lstStyle/>
          <a:p>
            <a:pPr indent="0" lvl="0" marL="0" marR="0" rtl="0" algn="l">
              <a:lnSpc>
                <a:spcPct val="100000"/>
              </a:lnSpc>
              <a:spcBef>
                <a:spcPts val="0"/>
              </a:spcBef>
              <a:spcAft>
                <a:spcPts val="0"/>
              </a:spcAft>
              <a:buClr>
                <a:srgbClr val="000000"/>
              </a:buClr>
              <a:buSzPts val="1567"/>
              <a:buFont typeface="Arial"/>
              <a:buNone/>
            </a:pPr>
            <a:r>
              <a:rPr b="0" i="0" lang="ru-RU" sz="2400" u="none" cap="none" strike="noStrike">
                <a:solidFill>
                  <a:srgbClr val="000000"/>
                </a:solidFill>
                <a:latin typeface="IBM Plex Sans"/>
                <a:ea typeface="IBM Plex Sans"/>
                <a:cs typeface="IBM Plex Sans"/>
                <a:sym typeface="IBM Plex Sans"/>
              </a:rPr>
              <a:t>Состояние мира</a:t>
            </a:r>
            <a:endParaRPr b="0" i="0" sz="2400" u="none" cap="none" strike="noStrike">
              <a:solidFill>
                <a:srgbClr val="000000"/>
              </a:solidFill>
              <a:latin typeface="IBM Plex Sans"/>
              <a:ea typeface="IBM Plex Sans"/>
              <a:cs typeface="IBM Plex Sans"/>
              <a:sym typeface="IBM Plex Sans"/>
            </a:endParaRPr>
          </a:p>
        </p:txBody>
      </p:sp>
      <p:sp>
        <p:nvSpPr>
          <p:cNvPr id="388" name="Google Shape;388;g3cb20f13e01_0_313"/>
          <p:cNvSpPr txBox="1"/>
          <p:nvPr/>
        </p:nvSpPr>
        <p:spPr>
          <a:xfrm>
            <a:off x="7359452" y="5652217"/>
            <a:ext cx="2204400" cy="842100"/>
          </a:xfrm>
          <a:prstGeom prst="rect">
            <a:avLst/>
          </a:prstGeom>
          <a:noFill/>
          <a:ln>
            <a:noFill/>
          </a:ln>
        </p:spPr>
        <p:txBody>
          <a:bodyPr anchorCtr="0" anchor="t" bIns="51150" lIns="102350" spcFirstLastPara="1" rIns="102350" wrap="square" tIns="51150">
            <a:spAutoFit/>
          </a:bodyPr>
          <a:lstStyle/>
          <a:p>
            <a:pPr indent="0" lvl="0" marL="0" marR="0" rtl="0" algn="l">
              <a:lnSpc>
                <a:spcPct val="100000"/>
              </a:lnSpc>
              <a:spcBef>
                <a:spcPts val="0"/>
              </a:spcBef>
              <a:spcAft>
                <a:spcPts val="0"/>
              </a:spcAft>
              <a:buClr>
                <a:srgbClr val="000000"/>
              </a:buClr>
              <a:buSzPts val="1567"/>
              <a:buFont typeface="Arial"/>
              <a:buNone/>
            </a:pPr>
            <a:r>
              <a:rPr b="0" i="0" lang="ru-RU" sz="2400" u="none" cap="none" strike="noStrike">
                <a:solidFill>
                  <a:srgbClr val="000000"/>
                </a:solidFill>
                <a:latin typeface="IBM Plex Sans"/>
                <a:ea typeface="IBM Plex Sans"/>
                <a:cs typeface="IBM Plex Sans"/>
                <a:sym typeface="IBM Plex Sans"/>
              </a:rPr>
              <a:t>Принятое решение</a:t>
            </a:r>
            <a:endParaRPr b="0" i="0" sz="2400" u="none" cap="none" strike="noStrike">
              <a:solidFill>
                <a:srgbClr val="000000"/>
              </a:solidFill>
              <a:latin typeface="IBM Plex Sans"/>
              <a:ea typeface="IBM Plex Sans"/>
              <a:cs typeface="IBM Plex Sans"/>
              <a:sym typeface="IBM Plex Sans"/>
            </a:endParaRPr>
          </a:p>
        </p:txBody>
      </p:sp>
      <p:pic>
        <p:nvPicPr>
          <p:cNvPr descr="Picture background" id="389" name="Google Shape;389;g3cb20f13e01_0_313"/>
          <p:cNvPicPr preferRelativeResize="0"/>
          <p:nvPr/>
        </p:nvPicPr>
        <p:blipFill rotWithShape="1">
          <a:blip r:embed="rId5">
            <a:alphaModFix/>
          </a:blip>
          <a:srcRect b="0" l="0" r="0" t="0"/>
          <a:stretch/>
        </p:blipFill>
        <p:spPr>
          <a:xfrm>
            <a:off x="943950" y="3011974"/>
            <a:ext cx="1618115" cy="2306908"/>
          </a:xfrm>
          <a:prstGeom prst="rect">
            <a:avLst/>
          </a:prstGeom>
          <a:noFill/>
          <a:ln>
            <a:noFill/>
          </a:ln>
        </p:spPr>
      </p:pic>
      <p:pic>
        <p:nvPicPr>
          <p:cNvPr descr="Picture background" id="390" name="Google Shape;390;g3cb20f13e01_0_313"/>
          <p:cNvPicPr preferRelativeResize="0"/>
          <p:nvPr/>
        </p:nvPicPr>
        <p:blipFill rotWithShape="1">
          <a:blip r:embed="rId6">
            <a:alphaModFix/>
          </a:blip>
          <a:srcRect b="0" l="0" r="0" t="0"/>
          <a:stretch/>
        </p:blipFill>
        <p:spPr>
          <a:xfrm>
            <a:off x="1114548" y="3182573"/>
            <a:ext cx="1618115" cy="2306908"/>
          </a:xfrm>
          <a:prstGeom prst="rect">
            <a:avLst/>
          </a:prstGeom>
          <a:noFill/>
          <a:ln>
            <a:noFill/>
          </a:ln>
        </p:spPr>
      </p:pic>
      <p:pic>
        <p:nvPicPr>
          <p:cNvPr descr="Picture background" id="391" name="Google Shape;391;g3cb20f13e01_0_313"/>
          <p:cNvPicPr preferRelativeResize="0"/>
          <p:nvPr/>
        </p:nvPicPr>
        <p:blipFill rotWithShape="1">
          <a:blip r:embed="rId7">
            <a:alphaModFix/>
          </a:blip>
          <a:srcRect b="0" l="0" r="0" t="0"/>
          <a:stretch/>
        </p:blipFill>
        <p:spPr>
          <a:xfrm>
            <a:off x="1285147" y="3353172"/>
            <a:ext cx="1618115" cy="2306908"/>
          </a:xfrm>
          <a:prstGeom prst="rect">
            <a:avLst/>
          </a:prstGeom>
          <a:noFill/>
          <a:ln>
            <a:noFill/>
          </a:ln>
        </p:spPr>
      </p:pic>
      <p:sp>
        <p:nvSpPr>
          <p:cNvPr id="392" name="Google Shape;392;g3cb20f13e01_0_313"/>
          <p:cNvSpPr/>
          <p:nvPr/>
        </p:nvSpPr>
        <p:spPr>
          <a:xfrm>
            <a:off x="2672462" y="3945870"/>
            <a:ext cx="894000" cy="33510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46000" y="135000"/>
                </a:lnTo>
              </a:path>
            </a:pathLst>
          </a:custGeom>
          <a:solidFill>
            <a:srgbClr val="8E39E2"/>
          </a:solidFill>
          <a:ln cap="flat" cmpd="sng" w="28425">
            <a:solidFill>
              <a:srgbClr val="FFFAF6"/>
            </a:solidFill>
            <a:prstDash val="solid"/>
            <a:round/>
            <a:headEnd len="sm" w="sm" type="none"/>
            <a:tailEnd len="sm" w="sm" type="none"/>
          </a:ln>
        </p:spPr>
        <p:txBody>
          <a:bodyPr anchorCtr="0" anchor="ctr" bIns="51150" lIns="102350" spcFirstLastPara="1" rIns="102350" wrap="square" tIns="51150">
            <a:noAutofit/>
          </a:bodyPr>
          <a:lstStyle/>
          <a:p>
            <a:pPr indent="0" lvl="0" marL="0" marR="0" rtl="0" algn="ctr">
              <a:lnSpc>
                <a:spcPct val="100000"/>
              </a:lnSpc>
              <a:spcBef>
                <a:spcPts val="0"/>
              </a:spcBef>
              <a:spcAft>
                <a:spcPts val="0"/>
              </a:spcAft>
              <a:buClr>
                <a:srgbClr val="000000"/>
              </a:buClr>
              <a:buSzPts val="1567"/>
              <a:buFont typeface="Arial"/>
              <a:buNone/>
            </a:pPr>
            <a:r>
              <a:rPr b="0" i="0" lang="ru-RU" sz="1567" u="none" cap="none" strike="noStrike">
                <a:solidFill>
                  <a:srgbClr val="FFFAF6"/>
                </a:solidFill>
                <a:latin typeface="IBM Plex Sans"/>
                <a:ea typeface="IBM Plex Sans"/>
                <a:cs typeface="IBM Plex Sans"/>
                <a:sym typeface="IBM Plex Sans"/>
              </a:rPr>
              <a:t>Состав</a:t>
            </a:r>
            <a:endParaRPr b="0" i="0" sz="1567" u="none" cap="none" strike="noStrike">
              <a:solidFill>
                <a:srgbClr val="FFFAF6"/>
              </a:solidFill>
              <a:latin typeface="IBM Plex Sans"/>
              <a:ea typeface="IBM Plex Sans"/>
              <a:cs typeface="IBM Plex Sans"/>
              <a:sym typeface="IBM Plex Sans"/>
            </a:endParaRPr>
          </a:p>
        </p:txBody>
      </p:sp>
      <p:sp>
        <p:nvSpPr>
          <p:cNvPr id="393" name="Google Shape;393;g3cb20f13e01_0_313"/>
          <p:cNvSpPr/>
          <p:nvPr/>
        </p:nvSpPr>
        <p:spPr>
          <a:xfrm>
            <a:off x="2707407" y="4472824"/>
            <a:ext cx="1146900" cy="45300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40676" y="-1724"/>
                </a:lnTo>
              </a:path>
            </a:pathLst>
          </a:custGeom>
          <a:solidFill>
            <a:srgbClr val="135669"/>
          </a:solidFill>
          <a:ln cap="flat" cmpd="sng" w="28425">
            <a:solidFill>
              <a:srgbClr val="0D3E4C"/>
            </a:solidFill>
            <a:prstDash val="solid"/>
            <a:round/>
            <a:headEnd len="sm" w="sm" type="none"/>
            <a:tailEnd len="sm" w="sm" type="none"/>
          </a:ln>
        </p:spPr>
        <p:txBody>
          <a:bodyPr anchorCtr="0" anchor="ctr" bIns="51150" lIns="102350" spcFirstLastPara="1" rIns="102350" wrap="square" tIns="51150">
            <a:noAutofit/>
          </a:bodyPr>
          <a:lstStyle/>
          <a:p>
            <a:pPr indent="0" lvl="0" marL="0" marR="0" rtl="0" algn="ctr">
              <a:lnSpc>
                <a:spcPct val="100000"/>
              </a:lnSpc>
              <a:spcBef>
                <a:spcPts val="0"/>
              </a:spcBef>
              <a:spcAft>
                <a:spcPts val="0"/>
              </a:spcAft>
              <a:buClr>
                <a:srgbClr val="000000"/>
              </a:buClr>
              <a:buSzPts val="1119"/>
              <a:buFont typeface="Arial"/>
              <a:buNone/>
            </a:pPr>
            <a:r>
              <a:rPr b="0" i="0" lang="ru-RU" sz="1119" u="none" cap="none" strike="noStrike">
                <a:solidFill>
                  <a:srgbClr val="FFFAF6"/>
                </a:solidFill>
                <a:latin typeface="Arial"/>
                <a:ea typeface="Arial"/>
                <a:cs typeface="Arial"/>
                <a:sym typeface="Arial"/>
              </a:rPr>
              <a:t>Длительность горения</a:t>
            </a:r>
            <a:endParaRPr b="0" i="0" sz="1119" u="none" cap="none" strike="noStrike">
              <a:solidFill>
                <a:srgbClr val="FFFAF6"/>
              </a:solidFill>
              <a:latin typeface="Arial"/>
              <a:ea typeface="Arial"/>
              <a:cs typeface="Arial"/>
              <a:sym typeface="Arial"/>
            </a:endParaRPr>
          </a:p>
        </p:txBody>
      </p:sp>
      <p:pic>
        <p:nvPicPr>
          <p:cNvPr descr="Picture background" id="394" name="Google Shape;394;g3cb20f13e01_0_313"/>
          <p:cNvPicPr preferRelativeResize="0"/>
          <p:nvPr/>
        </p:nvPicPr>
        <p:blipFill rotWithShape="1">
          <a:blip r:embed="rId8">
            <a:alphaModFix/>
          </a:blip>
          <a:srcRect b="0" l="0" r="0" t="0"/>
          <a:stretch/>
        </p:blipFill>
        <p:spPr>
          <a:xfrm>
            <a:off x="4162495" y="3296394"/>
            <a:ext cx="1618115" cy="2306908"/>
          </a:xfrm>
          <a:prstGeom prst="rect">
            <a:avLst/>
          </a:prstGeom>
          <a:noFill/>
          <a:ln>
            <a:noFill/>
          </a:ln>
        </p:spPr>
      </p:pic>
      <p:sp>
        <p:nvSpPr>
          <p:cNvPr id="395" name="Google Shape;395;g3cb20f13e01_0_313"/>
          <p:cNvSpPr/>
          <p:nvPr/>
        </p:nvSpPr>
        <p:spPr>
          <a:xfrm>
            <a:off x="5568916" y="3911243"/>
            <a:ext cx="894000" cy="33510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46000" y="135000"/>
                </a:lnTo>
              </a:path>
            </a:pathLst>
          </a:custGeom>
          <a:solidFill>
            <a:srgbClr val="8E39E2"/>
          </a:solidFill>
          <a:ln cap="flat" cmpd="sng" w="28425">
            <a:solidFill>
              <a:srgbClr val="FFFAF6"/>
            </a:solidFill>
            <a:prstDash val="solid"/>
            <a:round/>
            <a:headEnd len="sm" w="sm" type="none"/>
            <a:tailEnd len="sm" w="sm" type="none"/>
          </a:ln>
        </p:spPr>
        <p:txBody>
          <a:bodyPr anchorCtr="0" anchor="ctr" bIns="51150" lIns="102350" spcFirstLastPara="1" rIns="102350" wrap="square" tIns="51150">
            <a:noAutofit/>
          </a:bodyPr>
          <a:lstStyle/>
          <a:p>
            <a:pPr indent="0" lvl="0" marL="0" marR="0" rtl="0" algn="ctr">
              <a:lnSpc>
                <a:spcPct val="100000"/>
              </a:lnSpc>
              <a:spcBef>
                <a:spcPts val="0"/>
              </a:spcBef>
              <a:spcAft>
                <a:spcPts val="0"/>
              </a:spcAft>
              <a:buClr>
                <a:srgbClr val="000000"/>
              </a:buClr>
              <a:buSzPts val="1567"/>
              <a:buFont typeface="Arial"/>
              <a:buNone/>
            </a:pPr>
            <a:r>
              <a:rPr b="0" i="0" lang="ru-RU" sz="1567" u="none" cap="none" strike="noStrike">
                <a:solidFill>
                  <a:srgbClr val="FFFAF6"/>
                </a:solidFill>
                <a:latin typeface="IBM Plex Sans"/>
                <a:ea typeface="IBM Plex Sans"/>
                <a:cs typeface="IBM Plex Sans"/>
                <a:sym typeface="IBM Plex Sans"/>
              </a:rPr>
              <a:t>Состав</a:t>
            </a:r>
            <a:endParaRPr b="0" i="0" sz="1567" u="none" cap="none" strike="noStrike">
              <a:solidFill>
                <a:srgbClr val="FFFAF6"/>
              </a:solidFill>
              <a:latin typeface="IBM Plex Sans"/>
              <a:ea typeface="IBM Plex Sans"/>
              <a:cs typeface="IBM Plex Sans"/>
              <a:sym typeface="IBM Plex Sans"/>
            </a:endParaRPr>
          </a:p>
        </p:txBody>
      </p:sp>
      <p:sp>
        <p:nvSpPr>
          <p:cNvPr id="396" name="Google Shape;396;g3cb20f13e01_0_313"/>
          <p:cNvSpPr/>
          <p:nvPr/>
        </p:nvSpPr>
        <p:spPr>
          <a:xfrm>
            <a:off x="2703575" y="4472823"/>
            <a:ext cx="1146900" cy="45300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40676" y="-1724"/>
                </a:lnTo>
              </a:path>
            </a:pathLst>
          </a:custGeom>
          <a:solidFill>
            <a:srgbClr val="8E39E2"/>
          </a:solidFill>
          <a:ln cap="flat" cmpd="sng" w="28425">
            <a:solidFill>
              <a:srgbClr val="FFFAF6"/>
            </a:solidFill>
            <a:prstDash val="solid"/>
            <a:round/>
            <a:headEnd len="sm" w="sm" type="none"/>
            <a:tailEnd len="sm" w="sm" type="none"/>
          </a:ln>
        </p:spPr>
        <p:txBody>
          <a:bodyPr anchorCtr="0" anchor="ctr" bIns="51150" lIns="102350" spcFirstLastPara="1" rIns="102350" wrap="square" tIns="51150">
            <a:noAutofit/>
          </a:bodyPr>
          <a:lstStyle/>
          <a:p>
            <a:pPr indent="0" lvl="0" marL="0" marR="0" rtl="0" algn="ctr">
              <a:lnSpc>
                <a:spcPct val="100000"/>
              </a:lnSpc>
              <a:spcBef>
                <a:spcPts val="0"/>
              </a:spcBef>
              <a:spcAft>
                <a:spcPts val="0"/>
              </a:spcAft>
              <a:buClr>
                <a:srgbClr val="000000"/>
              </a:buClr>
              <a:buSzPts val="1119"/>
              <a:buFont typeface="Arial"/>
              <a:buNone/>
            </a:pPr>
            <a:r>
              <a:rPr b="0" i="0" lang="ru-RU" sz="1119" u="none" cap="none" strike="noStrike">
                <a:solidFill>
                  <a:srgbClr val="FFFAF6"/>
                </a:solidFill>
                <a:latin typeface="IBM Plex Sans"/>
                <a:ea typeface="IBM Plex Sans"/>
                <a:cs typeface="IBM Plex Sans"/>
                <a:sym typeface="IBM Plex Sans"/>
              </a:rPr>
              <a:t>Длительность горения</a:t>
            </a:r>
            <a:endParaRPr b="0" i="0" sz="1119" u="none" cap="none" strike="noStrike">
              <a:solidFill>
                <a:srgbClr val="FFFAF6"/>
              </a:solidFill>
              <a:latin typeface="IBM Plex Sans"/>
              <a:ea typeface="IBM Plex Sans"/>
              <a:cs typeface="IBM Plex Sans"/>
              <a:sym typeface="IBM Plex Sans"/>
            </a:endParaRPr>
          </a:p>
        </p:txBody>
      </p:sp>
      <p:sp>
        <p:nvSpPr>
          <p:cNvPr id="397" name="Google Shape;397;g3cb20f13e01_0_313"/>
          <p:cNvSpPr/>
          <p:nvPr/>
        </p:nvSpPr>
        <p:spPr>
          <a:xfrm>
            <a:off x="7685053" y="4514368"/>
            <a:ext cx="1146900" cy="45300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3190" y="18617"/>
                </a:lnTo>
              </a:path>
            </a:pathLst>
          </a:custGeom>
          <a:solidFill>
            <a:srgbClr val="8E39E2"/>
          </a:solidFill>
          <a:ln cap="flat" cmpd="sng" w="28425">
            <a:solidFill>
              <a:srgbClr val="FFFAF6"/>
            </a:solidFill>
            <a:prstDash val="solid"/>
            <a:round/>
            <a:headEnd len="sm" w="sm" type="none"/>
            <a:tailEnd len="sm" w="sm" type="none"/>
          </a:ln>
        </p:spPr>
        <p:txBody>
          <a:bodyPr anchorCtr="0" anchor="ctr" bIns="51150" lIns="102350" spcFirstLastPara="1" rIns="102350" wrap="square" tIns="51150">
            <a:noAutofit/>
          </a:bodyPr>
          <a:lstStyle/>
          <a:p>
            <a:pPr indent="0" lvl="0" marL="0" marR="0" rtl="0" algn="ctr">
              <a:lnSpc>
                <a:spcPct val="100000"/>
              </a:lnSpc>
              <a:spcBef>
                <a:spcPts val="0"/>
              </a:spcBef>
              <a:spcAft>
                <a:spcPts val="0"/>
              </a:spcAft>
              <a:buClr>
                <a:srgbClr val="000000"/>
              </a:buClr>
              <a:buSzPts val="1119"/>
              <a:buFont typeface="Arial"/>
              <a:buNone/>
            </a:pPr>
            <a:r>
              <a:rPr b="0" i="0" lang="ru-RU" sz="1119" u="none" cap="none" strike="noStrike">
                <a:solidFill>
                  <a:srgbClr val="FFFAF6"/>
                </a:solidFill>
                <a:latin typeface="IBM Plex Sans"/>
                <a:ea typeface="IBM Plex Sans"/>
                <a:cs typeface="IBM Plex Sans"/>
                <a:sym typeface="IBM Plex Sans"/>
              </a:rPr>
              <a:t>Длительность горения</a:t>
            </a:r>
            <a:endParaRPr b="0" i="0" sz="1119" u="none" cap="none" strike="noStrike">
              <a:solidFill>
                <a:srgbClr val="FFFAF6"/>
              </a:solidFill>
              <a:latin typeface="IBM Plex Sans"/>
              <a:ea typeface="IBM Plex Sans"/>
              <a:cs typeface="IBM Plex Sans"/>
              <a:sym typeface="IBM Plex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grpSp>
        <p:nvGrpSpPr>
          <p:cNvPr id="402" name="Google Shape;402;g3d1a00d9b9a_0_60"/>
          <p:cNvGrpSpPr/>
          <p:nvPr/>
        </p:nvGrpSpPr>
        <p:grpSpPr>
          <a:xfrm>
            <a:off x="9353973" y="-1553420"/>
            <a:ext cx="2854020" cy="13716631"/>
            <a:chOff x="9353973" y="-1553420"/>
            <a:chExt cx="2854020" cy="13716631"/>
          </a:xfrm>
        </p:grpSpPr>
        <p:grpSp>
          <p:nvGrpSpPr>
            <p:cNvPr id="403" name="Google Shape;403;g3d1a00d9b9a_0_60"/>
            <p:cNvGrpSpPr/>
            <p:nvPr/>
          </p:nvGrpSpPr>
          <p:grpSpPr>
            <a:xfrm>
              <a:off x="9353973" y="-1553420"/>
              <a:ext cx="2838027" cy="13716631"/>
              <a:chOff x="9353973" y="-6079700"/>
              <a:chExt cx="2838027" cy="13716631"/>
            </a:xfrm>
          </p:grpSpPr>
          <p:pic>
            <p:nvPicPr>
              <p:cNvPr id="404" name="Google Shape;404;g3d1a00d9b9a_0_60"/>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405" name="Google Shape;405;g3d1a00d9b9a_0_60"/>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406" name="Google Shape;406;g3d1a00d9b9a_0_60"/>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7" name="Google Shape;407;g3d1a00d9b9a_0_60"/>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408" name="Google Shape;408;g3d1a00d9b9a_0_60"/>
          <p:cNvPicPr preferRelativeResize="0"/>
          <p:nvPr/>
        </p:nvPicPr>
        <p:blipFill rotWithShape="1">
          <a:blip r:embed="rId4">
            <a:alphaModFix/>
          </a:blip>
          <a:srcRect b="0" l="0" r="0" t="0"/>
          <a:stretch/>
        </p:blipFill>
        <p:spPr>
          <a:xfrm>
            <a:off x="8826215" y="354856"/>
            <a:ext cx="2867441" cy="2867441"/>
          </a:xfrm>
          <a:prstGeom prst="rect">
            <a:avLst/>
          </a:prstGeom>
          <a:noFill/>
          <a:ln>
            <a:noFill/>
          </a:ln>
        </p:spPr>
      </p:pic>
      <p:sp>
        <p:nvSpPr>
          <p:cNvPr id="409" name="Google Shape;409;g3d1a00d9b9a_0_60"/>
          <p:cNvSpPr txBox="1"/>
          <p:nvPr/>
        </p:nvSpPr>
        <p:spPr>
          <a:xfrm>
            <a:off x="1055688" y="1451513"/>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Machine learning</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sp>
        <p:nvSpPr>
          <p:cNvPr id="410" name="Google Shape;410;g3d1a00d9b9a_0_60"/>
          <p:cNvSpPr txBox="1"/>
          <p:nvPr/>
        </p:nvSpPr>
        <p:spPr>
          <a:xfrm>
            <a:off x="1055688" y="2490762"/>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300" u="none" cap="none" strike="noStrike">
                <a:solidFill>
                  <a:schemeClr val="dk1"/>
                </a:solidFill>
                <a:latin typeface="IBM Plex Sans"/>
                <a:ea typeface="IBM Plex Sans"/>
                <a:cs typeface="IBM Plex Sans"/>
                <a:sym typeface="IBM Plex Sans"/>
              </a:rPr>
              <a:t>Медицинский центр хочет предсказывать вероятность развития диабета 2-го типа у пациента на основе его возраста, индекса массы тела, уровня глюкозы в крови, наследственности и образа жизни.</a:t>
            </a:r>
            <a:endParaRPr b="0" i="0" sz="2300" u="none" cap="none" strike="noStrike">
              <a:solidFill>
                <a:schemeClr val="dk1"/>
              </a:solidFill>
              <a:latin typeface="IBM Plex Sans"/>
              <a:ea typeface="IBM Plex Sans"/>
              <a:cs typeface="IBM Plex Sans"/>
              <a:sym typeface="IBM Plex Sans"/>
            </a:endParaRPr>
          </a:p>
        </p:txBody>
      </p:sp>
      <p:sp>
        <p:nvSpPr>
          <p:cNvPr id="411" name="Google Shape;411;g3d1a00d9b9a_0_60"/>
          <p:cNvSpPr txBox="1"/>
          <p:nvPr/>
        </p:nvSpPr>
        <p:spPr>
          <a:xfrm>
            <a:off x="1055709" y="4298539"/>
            <a:ext cx="2204400" cy="811500"/>
          </a:xfrm>
          <a:prstGeom prst="rect">
            <a:avLst/>
          </a:prstGeom>
          <a:noFill/>
          <a:ln>
            <a:noFill/>
          </a:ln>
        </p:spPr>
        <p:txBody>
          <a:bodyPr anchorCtr="0" anchor="t" bIns="51150" lIns="102350" spcFirstLastPara="1" rIns="102350" wrap="square" tIns="51150">
            <a:spAutoFit/>
          </a:bodyPr>
          <a:lstStyle/>
          <a:p>
            <a:pPr indent="0" lvl="0" marL="0" marR="0" rtl="0" algn="l">
              <a:lnSpc>
                <a:spcPct val="100000"/>
              </a:lnSpc>
              <a:spcBef>
                <a:spcPts val="0"/>
              </a:spcBef>
              <a:spcAft>
                <a:spcPts val="0"/>
              </a:spcAft>
              <a:buClr>
                <a:srgbClr val="000000"/>
              </a:buClr>
              <a:buSzPts val="1567"/>
              <a:buFont typeface="Arial"/>
              <a:buNone/>
            </a:pPr>
            <a:r>
              <a:rPr b="0" i="0" lang="ru-RU" sz="2300" u="none" cap="none" strike="noStrike">
                <a:solidFill>
                  <a:srgbClr val="000000"/>
                </a:solidFill>
                <a:latin typeface="IBM Plex Sans"/>
                <a:ea typeface="IBM Plex Sans"/>
                <a:cs typeface="IBM Plex Sans"/>
                <a:sym typeface="IBM Plex Sans"/>
              </a:rPr>
              <a:t>Накопленный опыт</a:t>
            </a:r>
            <a:endParaRPr b="0" i="0" sz="2300" u="none" cap="none" strike="noStrike">
              <a:solidFill>
                <a:srgbClr val="000000"/>
              </a:solidFill>
              <a:latin typeface="IBM Plex Sans"/>
              <a:ea typeface="IBM Plex Sans"/>
              <a:cs typeface="IBM Plex Sans"/>
              <a:sym typeface="IBM Plex Sans"/>
            </a:endParaRPr>
          </a:p>
        </p:txBody>
      </p:sp>
      <p:sp>
        <p:nvSpPr>
          <p:cNvPr id="412" name="Google Shape;412;g3d1a00d9b9a_0_60"/>
          <p:cNvSpPr txBox="1"/>
          <p:nvPr/>
        </p:nvSpPr>
        <p:spPr>
          <a:xfrm>
            <a:off x="3997835" y="4327492"/>
            <a:ext cx="2204400" cy="811500"/>
          </a:xfrm>
          <a:prstGeom prst="rect">
            <a:avLst/>
          </a:prstGeom>
          <a:noFill/>
          <a:ln>
            <a:noFill/>
          </a:ln>
        </p:spPr>
        <p:txBody>
          <a:bodyPr anchorCtr="0" anchor="t" bIns="51150" lIns="102350" spcFirstLastPara="1" rIns="102350" wrap="square" tIns="51150">
            <a:spAutoFit/>
          </a:bodyPr>
          <a:lstStyle/>
          <a:p>
            <a:pPr indent="0" lvl="0" marL="0" marR="0" rtl="0" algn="l">
              <a:lnSpc>
                <a:spcPct val="100000"/>
              </a:lnSpc>
              <a:spcBef>
                <a:spcPts val="0"/>
              </a:spcBef>
              <a:spcAft>
                <a:spcPts val="0"/>
              </a:spcAft>
              <a:buClr>
                <a:srgbClr val="000000"/>
              </a:buClr>
              <a:buSzPts val="1567"/>
              <a:buFont typeface="Arial"/>
              <a:buNone/>
            </a:pPr>
            <a:r>
              <a:rPr b="0" i="0" lang="ru-RU" sz="2300" u="none" cap="none" strike="noStrike">
                <a:solidFill>
                  <a:srgbClr val="000000"/>
                </a:solidFill>
                <a:latin typeface="IBM Plex Sans"/>
                <a:ea typeface="IBM Plex Sans"/>
                <a:cs typeface="IBM Plex Sans"/>
                <a:sym typeface="IBM Plex Sans"/>
              </a:rPr>
              <a:t>Состояние мира</a:t>
            </a:r>
            <a:endParaRPr b="0" i="0" sz="2300" u="none" cap="none" strike="noStrike">
              <a:solidFill>
                <a:srgbClr val="000000"/>
              </a:solidFill>
              <a:latin typeface="IBM Plex Sans"/>
              <a:ea typeface="IBM Plex Sans"/>
              <a:cs typeface="IBM Plex Sans"/>
              <a:sym typeface="IBM Plex Sans"/>
            </a:endParaRPr>
          </a:p>
        </p:txBody>
      </p:sp>
      <p:sp>
        <p:nvSpPr>
          <p:cNvPr id="413" name="Google Shape;413;g3d1a00d9b9a_0_60"/>
          <p:cNvSpPr txBox="1"/>
          <p:nvPr/>
        </p:nvSpPr>
        <p:spPr>
          <a:xfrm>
            <a:off x="6531552" y="4327492"/>
            <a:ext cx="2204400" cy="811500"/>
          </a:xfrm>
          <a:prstGeom prst="rect">
            <a:avLst/>
          </a:prstGeom>
          <a:noFill/>
          <a:ln>
            <a:noFill/>
          </a:ln>
        </p:spPr>
        <p:txBody>
          <a:bodyPr anchorCtr="0" anchor="t" bIns="51150" lIns="102350" spcFirstLastPara="1" rIns="102350" wrap="square" tIns="51150">
            <a:spAutoFit/>
          </a:bodyPr>
          <a:lstStyle/>
          <a:p>
            <a:pPr indent="0" lvl="0" marL="0" marR="0" rtl="0" algn="l">
              <a:lnSpc>
                <a:spcPct val="100000"/>
              </a:lnSpc>
              <a:spcBef>
                <a:spcPts val="0"/>
              </a:spcBef>
              <a:spcAft>
                <a:spcPts val="0"/>
              </a:spcAft>
              <a:buClr>
                <a:srgbClr val="000000"/>
              </a:buClr>
              <a:buSzPts val="1567"/>
              <a:buFont typeface="Arial"/>
              <a:buNone/>
            </a:pPr>
            <a:r>
              <a:rPr b="0" i="0" lang="ru-RU" sz="2300" u="none" cap="none" strike="noStrike">
                <a:solidFill>
                  <a:srgbClr val="000000"/>
                </a:solidFill>
                <a:latin typeface="IBM Plex Sans"/>
                <a:ea typeface="IBM Plex Sans"/>
                <a:cs typeface="IBM Plex Sans"/>
                <a:sym typeface="IBM Plex Sans"/>
              </a:rPr>
              <a:t>Принятое решение</a:t>
            </a:r>
            <a:endParaRPr b="0" i="0" sz="2300" u="none" cap="none" strike="noStrike">
              <a:solidFill>
                <a:srgbClr val="000000"/>
              </a:solidFill>
              <a:latin typeface="IBM Plex Sans"/>
              <a:ea typeface="IBM Plex Sans"/>
              <a:cs typeface="IBM Plex Sans"/>
              <a:sym typeface="IBM Plex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grpSp>
        <p:nvGrpSpPr>
          <p:cNvPr id="418" name="Google Shape;418;g3d484a96bb7_0_0"/>
          <p:cNvGrpSpPr/>
          <p:nvPr/>
        </p:nvGrpSpPr>
        <p:grpSpPr>
          <a:xfrm>
            <a:off x="9353973" y="-1553420"/>
            <a:ext cx="2854020" cy="13716631"/>
            <a:chOff x="9353973" y="-1553420"/>
            <a:chExt cx="2854020" cy="13716631"/>
          </a:xfrm>
        </p:grpSpPr>
        <p:grpSp>
          <p:nvGrpSpPr>
            <p:cNvPr id="419" name="Google Shape;419;g3d484a96bb7_0_0"/>
            <p:cNvGrpSpPr/>
            <p:nvPr/>
          </p:nvGrpSpPr>
          <p:grpSpPr>
            <a:xfrm>
              <a:off x="9353973" y="-1553420"/>
              <a:ext cx="2838027" cy="13716631"/>
              <a:chOff x="9353973" y="-6079700"/>
              <a:chExt cx="2838027" cy="13716631"/>
            </a:xfrm>
          </p:grpSpPr>
          <p:pic>
            <p:nvPicPr>
              <p:cNvPr id="420" name="Google Shape;420;g3d484a96bb7_0_0"/>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421" name="Google Shape;421;g3d484a96bb7_0_0"/>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422" name="Google Shape;422;g3d484a96bb7_0_0"/>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3" name="Google Shape;423;g3d484a96bb7_0_0"/>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424" name="Google Shape;424;g3d484a96bb7_0_0"/>
          <p:cNvPicPr preferRelativeResize="0"/>
          <p:nvPr/>
        </p:nvPicPr>
        <p:blipFill rotWithShape="1">
          <a:blip r:embed="rId4">
            <a:alphaModFix/>
          </a:blip>
          <a:srcRect b="0" l="0" r="0" t="0"/>
          <a:stretch/>
        </p:blipFill>
        <p:spPr>
          <a:xfrm>
            <a:off x="8826215" y="354856"/>
            <a:ext cx="2867441" cy="2867441"/>
          </a:xfrm>
          <a:prstGeom prst="rect">
            <a:avLst/>
          </a:prstGeom>
          <a:noFill/>
          <a:ln>
            <a:noFill/>
          </a:ln>
        </p:spPr>
      </p:pic>
      <p:sp>
        <p:nvSpPr>
          <p:cNvPr id="425" name="Google Shape;425;g3d484a96bb7_0_0"/>
          <p:cNvSpPr txBox="1"/>
          <p:nvPr/>
        </p:nvSpPr>
        <p:spPr>
          <a:xfrm>
            <a:off x="1055688" y="1451513"/>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Machine learning</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sp>
        <p:nvSpPr>
          <p:cNvPr id="426" name="Google Shape;426;g3d484a96bb7_0_0"/>
          <p:cNvSpPr txBox="1"/>
          <p:nvPr/>
        </p:nvSpPr>
        <p:spPr>
          <a:xfrm>
            <a:off x="1055688" y="2490762"/>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300" u="none" cap="none" strike="noStrike">
                <a:solidFill>
                  <a:schemeClr val="dk1"/>
                </a:solidFill>
                <a:latin typeface="IBM Plex Sans"/>
                <a:ea typeface="IBM Plex Sans"/>
                <a:cs typeface="IBM Plex Sans"/>
                <a:sym typeface="IBM Plex Sans"/>
              </a:rPr>
              <a:t>Агентство недвижимости хочет оценить рыночную стоимость квартиры на основе её характеристик (площадь, этаж, район, год постройки, материал стен).</a:t>
            </a:r>
            <a:endParaRPr b="0" i="0" sz="2300" u="none" cap="none" strike="noStrike">
              <a:solidFill>
                <a:schemeClr val="dk1"/>
              </a:solidFill>
              <a:latin typeface="IBM Plex Sans"/>
              <a:ea typeface="IBM Plex Sans"/>
              <a:cs typeface="IBM Plex Sans"/>
              <a:sym typeface="IBM Plex Sans"/>
            </a:endParaRPr>
          </a:p>
        </p:txBody>
      </p:sp>
      <p:sp>
        <p:nvSpPr>
          <p:cNvPr id="427" name="Google Shape;427;g3d484a96bb7_0_0"/>
          <p:cNvSpPr txBox="1"/>
          <p:nvPr/>
        </p:nvSpPr>
        <p:spPr>
          <a:xfrm>
            <a:off x="1055709" y="4298539"/>
            <a:ext cx="2204400" cy="811500"/>
          </a:xfrm>
          <a:prstGeom prst="rect">
            <a:avLst/>
          </a:prstGeom>
          <a:noFill/>
          <a:ln>
            <a:noFill/>
          </a:ln>
        </p:spPr>
        <p:txBody>
          <a:bodyPr anchorCtr="0" anchor="t" bIns="51150" lIns="102350" spcFirstLastPara="1" rIns="102350" wrap="square" tIns="51150">
            <a:spAutoFit/>
          </a:bodyPr>
          <a:lstStyle/>
          <a:p>
            <a:pPr indent="0" lvl="0" marL="0" marR="0" rtl="0" algn="l">
              <a:lnSpc>
                <a:spcPct val="100000"/>
              </a:lnSpc>
              <a:spcBef>
                <a:spcPts val="0"/>
              </a:spcBef>
              <a:spcAft>
                <a:spcPts val="0"/>
              </a:spcAft>
              <a:buClr>
                <a:srgbClr val="000000"/>
              </a:buClr>
              <a:buSzPts val="1567"/>
              <a:buFont typeface="Arial"/>
              <a:buNone/>
            </a:pPr>
            <a:r>
              <a:rPr b="0" i="0" lang="ru-RU" sz="2300" u="none" cap="none" strike="noStrike">
                <a:solidFill>
                  <a:srgbClr val="000000"/>
                </a:solidFill>
                <a:latin typeface="IBM Plex Sans"/>
                <a:ea typeface="IBM Plex Sans"/>
                <a:cs typeface="IBM Plex Sans"/>
                <a:sym typeface="IBM Plex Sans"/>
              </a:rPr>
              <a:t>Накопленный опыт</a:t>
            </a:r>
            <a:endParaRPr b="0" i="0" sz="2300" u="none" cap="none" strike="noStrike">
              <a:solidFill>
                <a:srgbClr val="000000"/>
              </a:solidFill>
              <a:latin typeface="IBM Plex Sans"/>
              <a:ea typeface="IBM Plex Sans"/>
              <a:cs typeface="IBM Plex Sans"/>
              <a:sym typeface="IBM Plex Sans"/>
            </a:endParaRPr>
          </a:p>
        </p:txBody>
      </p:sp>
      <p:sp>
        <p:nvSpPr>
          <p:cNvPr id="428" name="Google Shape;428;g3d484a96bb7_0_0"/>
          <p:cNvSpPr txBox="1"/>
          <p:nvPr/>
        </p:nvSpPr>
        <p:spPr>
          <a:xfrm>
            <a:off x="3997835" y="4327492"/>
            <a:ext cx="2204400" cy="811500"/>
          </a:xfrm>
          <a:prstGeom prst="rect">
            <a:avLst/>
          </a:prstGeom>
          <a:noFill/>
          <a:ln>
            <a:noFill/>
          </a:ln>
        </p:spPr>
        <p:txBody>
          <a:bodyPr anchorCtr="0" anchor="t" bIns="51150" lIns="102350" spcFirstLastPara="1" rIns="102350" wrap="square" tIns="51150">
            <a:spAutoFit/>
          </a:bodyPr>
          <a:lstStyle/>
          <a:p>
            <a:pPr indent="0" lvl="0" marL="0" marR="0" rtl="0" algn="l">
              <a:lnSpc>
                <a:spcPct val="100000"/>
              </a:lnSpc>
              <a:spcBef>
                <a:spcPts val="0"/>
              </a:spcBef>
              <a:spcAft>
                <a:spcPts val="0"/>
              </a:spcAft>
              <a:buClr>
                <a:srgbClr val="000000"/>
              </a:buClr>
              <a:buSzPts val="1567"/>
              <a:buFont typeface="Arial"/>
              <a:buNone/>
            </a:pPr>
            <a:r>
              <a:rPr b="0" i="0" lang="ru-RU" sz="2300" u="none" cap="none" strike="noStrike">
                <a:solidFill>
                  <a:srgbClr val="000000"/>
                </a:solidFill>
                <a:latin typeface="IBM Plex Sans"/>
                <a:ea typeface="IBM Plex Sans"/>
                <a:cs typeface="IBM Plex Sans"/>
                <a:sym typeface="IBM Plex Sans"/>
              </a:rPr>
              <a:t>Состояние мира</a:t>
            </a:r>
            <a:endParaRPr b="0" i="0" sz="2300" u="none" cap="none" strike="noStrike">
              <a:solidFill>
                <a:srgbClr val="000000"/>
              </a:solidFill>
              <a:latin typeface="IBM Plex Sans"/>
              <a:ea typeface="IBM Plex Sans"/>
              <a:cs typeface="IBM Plex Sans"/>
              <a:sym typeface="IBM Plex Sans"/>
            </a:endParaRPr>
          </a:p>
        </p:txBody>
      </p:sp>
      <p:sp>
        <p:nvSpPr>
          <p:cNvPr id="429" name="Google Shape;429;g3d484a96bb7_0_0"/>
          <p:cNvSpPr txBox="1"/>
          <p:nvPr/>
        </p:nvSpPr>
        <p:spPr>
          <a:xfrm>
            <a:off x="6531552" y="4327492"/>
            <a:ext cx="2204400" cy="811500"/>
          </a:xfrm>
          <a:prstGeom prst="rect">
            <a:avLst/>
          </a:prstGeom>
          <a:noFill/>
          <a:ln>
            <a:noFill/>
          </a:ln>
        </p:spPr>
        <p:txBody>
          <a:bodyPr anchorCtr="0" anchor="t" bIns="51150" lIns="102350" spcFirstLastPara="1" rIns="102350" wrap="square" tIns="51150">
            <a:spAutoFit/>
          </a:bodyPr>
          <a:lstStyle/>
          <a:p>
            <a:pPr indent="0" lvl="0" marL="0" marR="0" rtl="0" algn="l">
              <a:lnSpc>
                <a:spcPct val="100000"/>
              </a:lnSpc>
              <a:spcBef>
                <a:spcPts val="0"/>
              </a:spcBef>
              <a:spcAft>
                <a:spcPts val="0"/>
              </a:spcAft>
              <a:buClr>
                <a:srgbClr val="000000"/>
              </a:buClr>
              <a:buSzPts val="1567"/>
              <a:buFont typeface="Arial"/>
              <a:buNone/>
            </a:pPr>
            <a:r>
              <a:rPr b="0" i="0" lang="ru-RU" sz="2300" u="none" cap="none" strike="noStrike">
                <a:solidFill>
                  <a:srgbClr val="000000"/>
                </a:solidFill>
                <a:latin typeface="IBM Plex Sans"/>
                <a:ea typeface="IBM Plex Sans"/>
                <a:cs typeface="IBM Plex Sans"/>
                <a:sym typeface="IBM Plex Sans"/>
              </a:rPr>
              <a:t>Принятое решение</a:t>
            </a:r>
            <a:endParaRPr b="0" i="0" sz="2300" u="none" cap="none" strike="noStrike">
              <a:solidFill>
                <a:srgbClr val="000000"/>
              </a:solidFill>
              <a:latin typeface="IBM Plex Sans"/>
              <a:ea typeface="IBM Plex Sans"/>
              <a:cs typeface="IBM Plex Sans"/>
              <a:sym typeface="IBM Plex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
          <p:cNvSpPr txBox="1"/>
          <p:nvPr/>
        </p:nvSpPr>
        <p:spPr>
          <a:xfrm>
            <a:off x="1055688" y="1327688"/>
            <a:ext cx="6421729" cy="301087"/>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Традиционное программирование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435" name="Google Shape;435;p4"/>
          <p:cNvGrpSpPr/>
          <p:nvPr/>
        </p:nvGrpSpPr>
        <p:grpSpPr>
          <a:xfrm>
            <a:off x="9353973" y="-1553420"/>
            <a:ext cx="2853949" cy="13716633"/>
            <a:chOff x="9353973" y="-1553420"/>
            <a:chExt cx="2853949" cy="13716633"/>
          </a:xfrm>
        </p:grpSpPr>
        <p:grpSp>
          <p:nvGrpSpPr>
            <p:cNvPr id="436" name="Google Shape;436;p4"/>
            <p:cNvGrpSpPr/>
            <p:nvPr/>
          </p:nvGrpSpPr>
          <p:grpSpPr>
            <a:xfrm>
              <a:off x="9353973" y="-1553420"/>
              <a:ext cx="2838027" cy="13716633"/>
              <a:chOff x="9353973" y="-6079700"/>
              <a:chExt cx="2838027" cy="13716633"/>
            </a:xfrm>
          </p:grpSpPr>
          <p:pic>
            <p:nvPicPr>
              <p:cNvPr id="437" name="Google Shape;437;p4"/>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438" name="Google Shape;438;p4"/>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439" name="Google Shape;439;p4"/>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0" name="Google Shape;440;p4"/>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441" name="Google Shape;441;p4"/>
          <p:cNvPicPr preferRelativeResize="0"/>
          <p:nvPr/>
        </p:nvPicPr>
        <p:blipFill rotWithShape="1">
          <a:blip r:embed="rId4">
            <a:alphaModFix/>
          </a:blip>
          <a:srcRect b="0" l="0" r="0" t="0"/>
          <a:stretch/>
        </p:blipFill>
        <p:spPr>
          <a:xfrm>
            <a:off x="9353973" y="3808154"/>
            <a:ext cx="2216246" cy="2219325"/>
          </a:xfrm>
          <a:prstGeom prst="rect">
            <a:avLst/>
          </a:prstGeom>
          <a:noFill/>
          <a:ln>
            <a:noFill/>
          </a:ln>
        </p:spPr>
      </p:pic>
      <p:cxnSp>
        <p:nvCxnSpPr>
          <p:cNvPr id="442" name="Google Shape;442;p4"/>
          <p:cNvCxnSpPr>
            <a:stCxn id="443" idx="3"/>
            <a:endCxn id="444" idx="1"/>
          </p:cNvCxnSpPr>
          <p:nvPr/>
        </p:nvCxnSpPr>
        <p:spPr>
          <a:xfrm flipH="1" rot="10800000">
            <a:off x="2925487" y="3876635"/>
            <a:ext cx="781800" cy="6300"/>
          </a:xfrm>
          <a:prstGeom prst="bentConnector3">
            <a:avLst>
              <a:gd fmla="val 36401" name="adj1"/>
            </a:avLst>
          </a:prstGeom>
          <a:noFill/>
          <a:ln cap="flat" cmpd="sng" w="9525">
            <a:solidFill>
              <a:srgbClr val="000000"/>
            </a:solidFill>
            <a:prstDash val="solid"/>
            <a:round/>
            <a:headEnd len="sm" w="sm" type="none"/>
            <a:tailEnd len="med" w="med" type="stealth"/>
          </a:ln>
        </p:spPr>
      </p:cxnSp>
      <p:sp>
        <p:nvSpPr>
          <p:cNvPr id="443" name="Google Shape;443;p4"/>
          <p:cNvSpPr txBox="1"/>
          <p:nvPr/>
        </p:nvSpPr>
        <p:spPr>
          <a:xfrm>
            <a:off x="973087" y="3613085"/>
            <a:ext cx="1952400" cy="539700"/>
          </a:xfrm>
          <a:prstGeom prst="rect">
            <a:avLst/>
          </a:prstGeom>
          <a:solidFill>
            <a:srgbClr val="E4F9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ru-RU" sz="1600" u="none" cap="none" strike="noStrike">
                <a:solidFill>
                  <a:srgbClr val="000000"/>
                </a:solidFill>
                <a:latin typeface="Montserrat SemiBold"/>
                <a:ea typeface="Montserrat SemiBold"/>
                <a:cs typeface="Montserrat SemiBold"/>
                <a:sym typeface="Montserrat SemiBold"/>
              </a:rPr>
              <a:t>Данные</a:t>
            </a:r>
            <a:endParaRPr b="0" i="0" sz="1600" u="none" cap="none" strike="noStrike">
              <a:solidFill>
                <a:srgbClr val="000000"/>
              </a:solidFill>
              <a:latin typeface="Montserrat SemiBold"/>
              <a:ea typeface="Montserrat SemiBold"/>
              <a:cs typeface="Montserrat SemiBold"/>
              <a:sym typeface="Montserrat SemiBold"/>
            </a:endParaRPr>
          </a:p>
        </p:txBody>
      </p:sp>
      <p:sp>
        <p:nvSpPr>
          <p:cNvPr id="445" name="Google Shape;445;p4"/>
          <p:cNvSpPr txBox="1"/>
          <p:nvPr/>
        </p:nvSpPr>
        <p:spPr>
          <a:xfrm>
            <a:off x="6745513" y="3602925"/>
            <a:ext cx="1952400" cy="547200"/>
          </a:xfrm>
          <a:prstGeom prst="rect">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Montserrat SemiBold"/>
                <a:ea typeface="Montserrat SemiBold"/>
                <a:cs typeface="Montserrat SemiBold"/>
                <a:sym typeface="Montserrat SemiBold"/>
              </a:rPr>
              <a:t>Ответ</a:t>
            </a:r>
            <a:endParaRPr b="0" i="0" sz="1600" u="none" cap="none" strike="noStrike">
              <a:solidFill>
                <a:srgbClr val="000000"/>
              </a:solidFill>
              <a:latin typeface="Montserrat SemiBold"/>
              <a:ea typeface="Montserrat SemiBold"/>
              <a:cs typeface="Montserrat SemiBold"/>
              <a:sym typeface="Montserrat SemiBold"/>
            </a:endParaRPr>
          </a:p>
        </p:txBody>
      </p:sp>
      <p:cxnSp>
        <p:nvCxnSpPr>
          <p:cNvPr id="446" name="Google Shape;446;p4"/>
          <p:cNvCxnSpPr>
            <a:stCxn id="444" idx="3"/>
            <a:endCxn id="445" idx="1"/>
          </p:cNvCxnSpPr>
          <p:nvPr/>
        </p:nvCxnSpPr>
        <p:spPr>
          <a:xfrm>
            <a:off x="6176350" y="3876525"/>
            <a:ext cx="569100" cy="600"/>
          </a:xfrm>
          <a:prstGeom prst="bentConnector3">
            <a:avLst>
              <a:gd fmla="val 50006" name="adj1"/>
            </a:avLst>
          </a:prstGeom>
          <a:noFill/>
          <a:ln cap="flat" cmpd="sng" w="9525">
            <a:solidFill>
              <a:srgbClr val="000000"/>
            </a:solidFill>
            <a:prstDash val="solid"/>
            <a:round/>
            <a:headEnd len="sm" w="sm" type="none"/>
            <a:tailEnd len="med" w="med" type="stealth"/>
          </a:ln>
        </p:spPr>
      </p:cxnSp>
      <p:sp>
        <p:nvSpPr>
          <p:cNvPr id="444" name="Google Shape;444;p4"/>
          <p:cNvSpPr/>
          <p:nvPr/>
        </p:nvSpPr>
        <p:spPr>
          <a:xfrm>
            <a:off x="3494650" y="3414525"/>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Программа</a:t>
            </a:r>
            <a:endParaRPr b="0" i="0" sz="1500" u="none" cap="none" strike="noStrike">
              <a:solidFill>
                <a:srgbClr val="000000"/>
              </a:solidFill>
              <a:latin typeface="Montserrat SemiBold"/>
              <a:ea typeface="Montserrat SemiBold"/>
              <a:cs typeface="Montserrat SemiBold"/>
              <a:sym typeface="Montserrat SemiBo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3cb20f13e01_0_372"/>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Традиционное программирование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452" name="Google Shape;452;g3cb20f13e01_0_372"/>
          <p:cNvGrpSpPr/>
          <p:nvPr/>
        </p:nvGrpSpPr>
        <p:grpSpPr>
          <a:xfrm>
            <a:off x="9353973" y="-1553420"/>
            <a:ext cx="2854020" cy="13716631"/>
            <a:chOff x="9353973" y="-1553420"/>
            <a:chExt cx="2854020" cy="13716631"/>
          </a:xfrm>
        </p:grpSpPr>
        <p:grpSp>
          <p:nvGrpSpPr>
            <p:cNvPr id="453" name="Google Shape;453;g3cb20f13e01_0_372"/>
            <p:cNvGrpSpPr/>
            <p:nvPr/>
          </p:nvGrpSpPr>
          <p:grpSpPr>
            <a:xfrm>
              <a:off x="9353973" y="-1553420"/>
              <a:ext cx="2838027" cy="13716631"/>
              <a:chOff x="9353973" y="-6079700"/>
              <a:chExt cx="2838027" cy="13716631"/>
            </a:xfrm>
          </p:grpSpPr>
          <p:pic>
            <p:nvPicPr>
              <p:cNvPr id="454" name="Google Shape;454;g3cb20f13e01_0_372"/>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455" name="Google Shape;455;g3cb20f13e01_0_372"/>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456" name="Google Shape;456;g3cb20f13e01_0_372"/>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7" name="Google Shape;457;g3cb20f13e01_0_372"/>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458" name="Google Shape;458;g3cb20f13e01_0_372"/>
          <p:cNvPicPr preferRelativeResize="0"/>
          <p:nvPr/>
        </p:nvPicPr>
        <p:blipFill rotWithShape="1">
          <a:blip r:embed="rId4">
            <a:alphaModFix/>
          </a:blip>
          <a:srcRect b="0" l="0" r="0" t="0"/>
          <a:stretch/>
        </p:blipFill>
        <p:spPr>
          <a:xfrm>
            <a:off x="9353973" y="3808154"/>
            <a:ext cx="2216246" cy="2219325"/>
          </a:xfrm>
          <a:prstGeom prst="rect">
            <a:avLst/>
          </a:prstGeom>
          <a:noFill/>
          <a:ln>
            <a:noFill/>
          </a:ln>
        </p:spPr>
      </p:pic>
      <p:cxnSp>
        <p:nvCxnSpPr>
          <p:cNvPr id="459" name="Google Shape;459;g3cb20f13e01_0_372"/>
          <p:cNvCxnSpPr>
            <a:stCxn id="460" idx="3"/>
            <a:endCxn id="461" idx="1"/>
          </p:cNvCxnSpPr>
          <p:nvPr/>
        </p:nvCxnSpPr>
        <p:spPr>
          <a:xfrm flipH="1" rot="10800000">
            <a:off x="2687350" y="4818835"/>
            <a:ext cx="781800" cy="6300"/>
          </a:xfrm>
          <a:prstGeom prst="bentConnector3">
            <a:avLst>
              <a:gd fmla="val 36401" name="adj1"/>
            </a:avLst>
          </a:prstGeom>
          <a:noFill/>
          <a:ln cap="flat" cmpd="sng" w="9525">
            <a:solidFill>
              <a:srgbClr val="000000"/>
            </a:solidFill>
            <a:prstDash val="solid"/>
            <a:round/>
            <a:headEnd len="sm" w="sm" type="none"/>
            <a:tailEnd len="med" w="med" type="stealth"/>
          </a:ln>
        </p:spPr>
      </p:cxnSp>
      <p:sp>
        <p:nvSpPr>
          <p:cNvPr id="460" name="Google Shape;460;g3cb20f13e01_0_372"/>
          <p:cNvSpPr txBox="1"/>
          <p:nvPr/>
        </p:nvSpPr>
        <p:spPr>
          <a:xfrm>
            <a:off x="734950" y="4555285"/>
            <a:ext cx="1952400" cy="539700"/>
          </a:xfrm>
          <a:prstGeom prst="rect">
            <a:avLst/>
          </a:prstGeom>
          <a:solidFill>
            <a:srgbClr val="E4F9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ru-RU" sz="1600" u="none" cap="none" strike="noStrike">
                <a:solidFill>
                  <a:srgbClr val="000000"/>
                </a:solidFill>
                <a:latin typeface="Montserrat SemiBold"/>
                <a:ea typeface="Montserrat SemiBold"/>
                <a:cs typeface="Montserrat SemiBold"/>
                <a:sym typeface="Montserrat SemiBold"/>
              </a:rPr>
              <a:t>2 и 2</a:t>
            </a:r>
            <a:endParaRPr b="0" i="0" sz="1600" u="none" cap="none" strike="noStrike">
              <a:solidFill>
                <a:srgbClr val="000000"/>
              </a:solidFill>
              <a:latin typeface="Montserrat SemiBold"/>
              <a:ea typeface="Montserrat SemiBold"/>
              <a:cs typeface="Montserrat SemiBold"/>
              <a:sym typeface="Montserrat SemiBold"/>
            </a:endParaRPr>
          </a:p>
        </p:txBody>
      </p:sp>
      <p:sp>
        <p:nvSpPr>
          <p:cNvPr id="462" name="Google Shape;462;g3cb20f13e01_0_372"/>
          <p:cNvSpPr txBox="1"/>
          <p:nvPr/>
        </p:nvSpPr>
        <p:spPr>
          <a:xfrm>
            <a:off x="6507376" y="4545125"/>
            <a:ext cx="1952400" cy="547200"/>
          </a:xfrm>
          <a:prstGeom prst="rect">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Montserrat SemiBold"/>
                <a:ea typeface="Montserrat SemiBold"/>
                <a:cs typeface="Montserrat SemiBold"/>
                <a:sym typeface="Montserrat SemiBold"/>
              </a:rPr>
              <a:t>4</a:t>
            </a:r>
            <a:endParaRPr b="0" i="0" sz="1600" u="none" cap="none" strike="noStrike">
              <a:solidFill>
                <a:srgbClr val="000000"/>
              </a:solidFill>
              <a:latin typeface="Montserrat SemiBold"/>
              <a:ea typeface="Montserrat SemiBold"/>
              <a:cs typeface="Montserrat SemiBold"/>
              <a:sym typeface="Montserrat SemiBold"/>
            </a:endParaRPr>
          </a:p>
        </p:txBody>
      </p:sp>
      <p:cxnSp>
        <p:nvCxnSpPr>
          <p:cNvPr id="463" name="Google Shape;463;g3cb20f13e01_0_372"/>
          <p:cNvCxnSpPr>
            <a:stCxn id="461" idx="3"/>
            <a:endCxn id="462" idx="1"/>
          </p:cNvCxnSpPr>
          <p:nvPr/>
        </p:nvCxnSpPr>
        <p:spPr>
          <a:xfrm>
            <a:off x="5938213" y="4818725"/>
            <a:ext cx="569100" cy="600"/>
          </a:xfrm>
          <a:prstGeom prst="bentConnector3">
            <a:avLst>
              <a:gd fmla="val 50006" name="adj1"/>
            </a:avLst>
          </a:prstGeom>
          <a:noFill/>
          <a:ln cap="flat" cmpd="sng" w="9525">
            <a:solidFill>
              <a:srgbClr val="000000"/>
            </a:solidFill>
            <a:prstDash val="solid"/>
            <a:round/>
            <a:headEnd len="sm" w="sm" type="none"/>
            <a:tailEnd len="med" w="med" type="stealth"/>
          </a:ln>
        </p:spPr>
      </p:cxnSp>
      <p:sp>
        <p:nvSpPr>
          <p:cNvPr id="461" name="Google Shape;461;g3cb20f13e01_0_372"/>
          <p:cNvSpPr/>
          <p:nvPr/>
        </p:nvSpPr>
        <p:spPr>
          <a:xfrm>
            <a:off x="3256513" y="4356725"/>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сложить</a:t>
            </a:r>
            <a:endParaRPr b="0" i="0" sz="1500" u="none" cap="none" strike="noStrike">
              <a:solidFill>
                <a:srgbClr val="000000"/>
              </a:solidFill>
              <a:latin typeface="Montserrat SemiBold"/>
              <a:ea typeface="Montserrat SemiBold"/>
              <a:cs typeface="Montserrat SemiBold"/>
              <a:sym typeface="Montserrat SemiBold"/>
            </a:endParaRPr>
          </a:p>
        </p:txBody>
      </p:sp>
      <p:cxnSp>
        <p:nvCxnSpPr>
          <p:cNvPr id="464" name="Google Shape;464;g3cb20f13e01_0_372"/>
          <p:cNvCxnSpPr>
            <a:stCxn id="465" idx="3"/>
            <a:endCxn id="466" idx="1"/>
          </p:cNvCxnSpPr>
          <p:nvPr/>
        </p:nvCxnSpPr>
        <p:spPr>
          <a:xfrm flipH="1" rot="10800000">
            <a:off x="2687350" y="3758035"/>
            <a:ext cx="781800" cy="6300"/>
          </a:xfrm>
          <a:prstGeom prst="bentConnector3">
            <a:avLst>
              <a:gd fmla="val 36401" name="adj1"/>
            </a:avLst>
          </a:prstGeom>
          <a:noFill/>
          <a:ln cap="flat" cmpd="sng" w="9525">
            <a:solidFill>
              <a:srgbClr val="000000"/>
            </a:solidFill>
            <a:prstDash val="solid"/>
            <a:round/>
            <a:headEnd len="sm" w="sm" type="none"/>
            <a:tailEnd len="med" w="med" type="stealth"/>
          </a:ln>
        </p:spPr>
      </p:cxnSp>
      <p:sp>
        <p:nvSpPr>
          <p:cNvPr id="465" name="Google Shape;465;g3cb20f13e01_0_372"/>
          <p:cNvSpPr txBox="1"/>
          <p:nvPr/>
        </p:nvSpPr>
        <p:spPr>
          <a:xfrm>
            <a:off x="734950" y="3494485"/>
            <a:ext cx="1952400" cy="539700"/>
          </a:xfrm>
          <a:prstGeom prst="rect">
            <a:avLst/>
          </a:prstGeom>
          <a:solidFill>
            <a:srgbClr val="E4F9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ru-RU" sz="1600" u="none" cap="none" strike="noStrike">
                <a:solidFill>
                  <a:srgbClr val="000000"/>
                </a:solidFill>
                <a:latin typeface="Montserrat SemiBold"/>
                <a:ea typeface="Montserrat SemiBold"/>
                <a:cs typeface="Montserrat SemiBold"/>
                <a:sym typeface="Montserrat SemiBold"/>
              </a:rPr>
              <a:t>Данные</a:t>
            </a:r>
            <a:endParaRPr b="0" i="0" sz="1600" u="none" cap="none" strike="noStrike">
              <a:solidFill>
                <a:srgbClr val="000000"/>
              </a:solidFill>
              <a:latin typeface="Montserrat SemiBold"/>
              <a:ea typeface="Montserrat SemiBold"/>
              <a:cs typeface="Montserrat SemiBold"/>
              <a:sym typeface="Montserrat SemiBold"/>
            </a:endParaRPr>
          </a:p>
        </p:txBody>
      </p:sp>
      <p:sp>
        <p:nvSpPr>
          <p:cNvPr id="467" name="Google Shape;467;g3cb20f13e01_0_372"/>
          <p:cNvSpPr txBox="1"/>
          <p:nvPr/>
        </p:nvSpPr>
        <p:spPr>
          <a:xfrm>
            <a:off x="6507376" y="3484325"/>
            <a:ext cx="1952400" cy="547200"/>
          </a:xfrm>
          <a:prstGeom prst="rect">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Montserrat SemiBold"/>
                <a:ea typeface="Montserrat SemiBold"/>
                <a:cs typeface="Montserrat SemiBold"/>
                <a:sym typeface="Montserrat SemiBold"/>
              </a:rPr>
              <a:t>Ответ</a:t>
            </a:r>
            <a:endParaRPr b="0" i="0" sz="1600" u="none" cap="none" strike="noStrike">
              <a:solidFill>
                <a:srgbClr val="000000"/>
              </a:solidFill>
              <a:latin typeface="Montserrat SemiBold"/>
              <a:ea typeface="Montserrat SemiBold"/>
              <a:cs typeface="Montserrat SemiBold"/>
              <a:sym typeface="Montserrat SemiBold"/>
            </a:endParaRPr>
          </a:p>
        </p:txBody>
      </p:sp>
      <p:cxnSp>
        <p:nvCxnSpPr>
          <p:cNvPr id="468" name="Google Shape;468;g3cb20f13e01_0_372"/>
          <p:cNvCxnSpPr>
            <a:stCxn id="466" idx="3"/>
            <a:endCxn id="467" idx="1"/>
          </p:cNvCxnSpPr>
          <p:nvPr/>
        </p:nvCxnSpPr>
        <p:spPr>
          <a:xfrm>
            <a:off x="5938213" y="3757925"/>
            <a:ext cx="569100" cy="600"/>
          </a:xfrm>
          <a:prstGeom prst="bentConnector3">
            <a:avLst>
              <a:gd fmla="val 50006" name="adj1"/>
            </a:avLst>
          </a:prstGeom>
          <a:noFill/>
          <a:ln cap="flat" cmpd="sng" w="9525">
            <a:solidFill>
              <a:srgbClr val="000000"/>
            </a:solidFill>
            <a:prstDash val="solid"/>
            <a:round/>
            <a:headEnd len="sm" w="sm" type="none"/>
            <a:tailEnd len="med" w="med" type="stealth"/>
          </a:ln>
        </p:spPr>
      </p:cxnSp>
      <p:sp>
        <p:nvSpPr>
          <p:cNvPr id="466" name="Google Shape;466;g3cb20f13e01_0_372"/>
          <p:cNvSpPr/>
          <p:nvPr/>
        </p:nvSpPr>
        <p:spPr>
          <a:xfrm>
            <a:off x="3256513" y="3295925"/>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Программа</a:t>
            </a:r>
            <a:endParaRPr b="0" i="0" sz="1500" u="none" cap="none" strike="noStrike">
              <a:solidFill>
                <a:srgbClr val="000000"/>
              </a:solidFill>
              <a:latin typeface="Montserrat SemiBold"/>
              <a:ea typeface="Montserrat SemiBold"/>
              <a:cs typeface="Montserrat SemiBold"/>
              <a:sym typeface="Montserrat SemiBo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3cb20f13e01_0_398"/>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Традиционное программирование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474" name="Google Shape;474;g3cb20f13e01_0_398"/>
          <p:cNvGrpSpPr/>
          <p:nvPr/>
        </p:nvGrpSpPr>
        <p:grpSpPr>
          <a:xfrm>
            <a:off x="9353973" y="-1553420"/>
            <a:ext cx="2854020" cy="13716631"/>
            <a:chOff x="9353973" y="-1553420"/>
            <a:chExt cx="2854020" cy="13716631"/>
          </a:xfrm>
        </p:grpSpPr>
        <p:grpSp>
          <p:nvGrpSpPr>
            <p:cNvPr id="475" name="Google Shape;475;g3cb20f13e01_0_398"/>
            <p:cNvGrpSpPr/>
            <p:nvPr/>
          </p:nvGrpSpPr>
          <p:grpSpPr>
            <a:xfrm>
              <a:off x="9353973" y="-1553420"/>
              <a:ext cx="2838027" cy="13716631"/>
              <a:chOff x="9353973" y="-6079700"/>
              <a:chExt cx="2838027" cy="13716631"/>
            </a:xfrm>
          </p:grpSpPr>
          <p:pic>
            <p:nvPicPr>
              <p:cNvPr id="476" name="Google Shape;476;g3cb20f13e01_0_398"/>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477" name="Google Shape;477;g3cb20f13e01_0_398"/>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478" name="Google Shape;478;g3cb20f13e01_0_398"/>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9" name="Google Shape;479;g3cb20f13e01_0_398"/>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480" name="Google Shape;480;g3cb20f13e01_0_398"/>
          <p:cNvPicPr preferRelativeResize="0"/>
          <p:nvPr/>
        </p:nvPicPr>
        <p:blipFill rotWithShape="1">
          <a:blip r:embed="rId4">
            <a:alphaModFix/>
          </a:blip>
          <a:srcRect b="0" l="0" r="0" t="0"/>
          <a:stretch/>
        </p:blipFill>
        <p:spPr>
          <a:xfrm>
            <a:off x="9353973" y="3808154"/>
            <a:ext cx="2216246" cy="2219325"/>
          </a:xfrm>
          <a:prstGeom prst="rect">
            <a:avLst/>
          </a:prstGeom>
          <a:noFill/>
          <a:ln>
            <a:noFill/>
          </a:ln>
        </p:spPr>
      </p:pic>
      <p:cxnSp>
        <p:nvCxnSpPr>
          <p:cNvPr id="481" name="Google Shape;481;g3cb20f13e01_0_398"/>
          <p:cNvCxnSpPr>
            <a:stCxn id="482" idx="3"/>
            <a:endCxn id="483" idx="1"/>
          </p:cNvCxnSpPr>
          <p:nvPr/>
        </p:nvCxnSpPr>
        <p:spPr>
          <a:xfrm flipH="1" rot="10800000">
            <a:off x="2727025" y="4779135"/>
            <a:ext cx="781800" cy="6300"/>
          </a:xfrm>
          <a:prstGeom prst="bentConnector3">
            <a:avLst>
              <a:gd fmla="val 36401" name="adj1"/>
            </a:avLst>
          </a:prstGeom>
          <a:noFill/>
          <a:ln cap="flat" cmpd="sng" w="9525">
            <a:solidFill>
              <a:srgbClr val="000000"/>
            </a:solidFill>
            <a:prstDash val="solid"/>
            <a:round/>
            <a:headEnd len="sm" w="sm" type="none"/>
            <a:tailEnd len="med" w="med" type="stealth"/>
          </a:ln>
        </p:spPr>
      </p:cxnSp>
      <p:sp>
        <p:nvSpPr>
          <p:cNvPr id="482" name="Google Shape;482;g3cb20f13e01_0_398"/>
          <p:cNvSpPr txBox="1"/>
          <p:nvPr/>
        </p:nvSpPr>
        <p:spPr>
          <a:xfrm>
            <a:off x="774625" y="4515585"/>
            <a:ext cx="1952400" cy="539700"/>
          </a:xfrm>
          <a:prstGeom prst="rect">
            <a:avLst/>
          </a:prstGeom>
          <a:solidFill>
            <a:srgbClr val="E4F9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ru-RU" sz="1600" u="none" cap="none" strike="noStrike">
                <a:solidFill>
                  <a:srgbClr val="000000"/>
                </a:solidFill>
                <a:latin typeface="Montserrat SemiBold"/>
                <a:ea typeface="Montserrat SemiBold"/>
                <a:cs typeface="Montserrat SemiBold"/>
                <a:sym typeface="Montserrat SemiBold"/>
              </a:rPr>
              <a:t>положение шахмат на поле</a:t>
            </a:r>
            <a:endParaRPr b="0" i="0" sz="1600" u="none" cap="none" strike="noStrike">
              <a:solidFill>
                <a:srgbClr val="000000"/>
              </a:solidFill>
              <a:latin typeface="Montserrat SemiBold"/>
              <a:ea typeface="Montserrat SemiBold"/>
              <a:cs typeface="Montserrat SemiBold"/>
              <a:sym typeface="Montserrat SemiBold"/>
            </a:endParaRPr>
          </a:p>
        </p:txBody>
      </p:sp>
      <p:sp>
        <p:nvSpPr>
          <p:cNvPr id="484" name="Google Shape;484;g3cb20f13e01_0_398"/>
          <p:cNvSpPr txBox="1"/>
          <p:nvPr/>
        </p:nvSpPr>
        <p:spPr>
          <a:xfrm>
            <a:off x="6547051" y="4505425"/>
            <a:ext cx="1952400" cy="547200"/>
          </a:xfrm>
          <a:prstGeom prst="rect">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Montserrat SemiBold"/>
                <a:ea typeface="Montserrat SemiBold"/>
                <a:cs typeface="Montserrat SemiBold"/>
                <a:sym typeface="Montserrat SemiBold"/>
              </a:rPr>
              <a:t>следующий ход</a:t>
            </a:r>
            <a:endParaRPr b="0" i="0" sz="1600" u="none" cap="none" strike="noStrike">
              <a:solidFill>
                <a:srgbClr val="000000"/>
              </a:solidFill>
              <a:latin typeface="Montserrat SemiBold"/>
              <a:ea typeface="Montserrat SemiBold"/>
              <a:cs typeface="Montserrat SemiBold"/>
              <a:sym typeface="Montserrat SemiBold"/>
            </a:endParaRPr>
          </a:p>
        </p:txBody>
      </p:sp>
      <p:cxnSp>
        <p:nvCxnSpPr>
          <p:cNvPr id="485" name="Google Shape;485;g3cb20f13e01_0_398"/>
          <p:cNvCxnSpPr>
            <a:stCxn id="483" idx="3"/>
            <a:endCxn id="484" idx="1"/>
          </p:cNvCxnSpPr>
          <p:nvPr/>
        </p:nvCxnSpPr>
        <p:spPr>
          <a:xfrm>
            <a:off x="5977888" y="4779025"/>
            <a:ext cx="569100" cy="600"/>
          </a:xfrm>
          <a:prstGeom prst="bentConnector3">
            <a:avLst>
              <a:gd fmla="val 50006" name="adj1"/>
            </a:avLst>
          </a:prstGeom>
          <a:noFill/>
          <a:ln cap="flat" cmpd="sng" w="9525">
            <a:solidFill>
              <a:srgbClr val="000000"/>
            </a:solidFill>
            <a:prstDash val="solid"/>
            <a:round/>
            <a:headEnd len="sm" w="sm" type="none"/>
            <a:tailEnd len="med" w="med" type="stealth"/>
          </a:ln>
        </p:spPr>
      </p:cxnSp>
      <p:sp>
        <p:nvSpPr>
          <p:cNvPr id="483" name="Google Shape;483;g3cb20f13e01_0_398"/>
          <p:cNvSpPr/>
          <p:nvPr/>
        </p:nvSpPr>
        <p:spPr>
          <a:xfrm>
            <a:off x="3296188" y="4317025"/>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определить оптимальный ход</a:t>
            </a:r>
            <a:endParaRPr b="0" i="0" sz="1500" u="none" cap="none" strike="noStrike">
              <a:solidFill>
                <a:srgbClr val="000000"/>
              </a:solidFill>
              <a:latin typeface="Montserrat SemiBold"/>
              <a:ea typeface="Montserrat SemiBold"/>
              <a:cs typeface="Montserrat SemiBold"/>
              <a:sym typeface="Montserrat SemiBold"/>
            </a:endParaRPr>
          </a:p>
        </p:txBody>
      </p:sp>
      <p:cxnSp>
        <p:nvCxnSpPr>
          <p:cNvPr id="486" name="Google Shape;486;g3cb20f13e01_0_398"/>
          <p:cNvCxnSpPr>
            <a:stCxn id="487" idx="3"/>
            <a:endCxn id="488" idx="1"/>
          </p:cNvCxnSpPr>
          <p:nvPr/>
        </p:nvCxnSpPr>
        <p:spPr>
          <a:xfrm flipH="1" rot="10800000">
            <a:off x="2727025" y="3718335"/>
            <a:ext cx="781800" cy="6300"/>
          </a:xfrm>
          <a:prstGeom prst="bentConnector3">
            <a:avLst>
              <a:gd fmla="val 36401" name="adj1"/>
            </a:avLst>
          </a:prstGeom>
          <a:noFill/>
          <a:ln cap="flat" cmpd="sng" w="9525">
            <a:solidFill>
              <a:srgbClr val="000000"/>
            </a:solidFill>
            <a:prstDash val="solid"/>
            <a:round/>
            <a:headEnd len="sm" w="sm" type="none"/>
            <a:tailEnd len="med" w="med" type="stealth"/>
          </a:ln>
        </p:spPr>
      </p:cxnSp>
      <p:sp>
        <p:nvSpPr>
          <p:cNvPr id="487" name="Google Shape;487;g3cb20f13e01_0_398"/>
          <p:cNvSpPr txBox="1"/>
          <p:nvPr/>
        </p:nvSpPr>
        <p:spPr>
          <a:xfrm>
            <a:off x="774625" y="3454785"/>
            <a:ext cx="1952400" cy="539700"/>
          </a:xfrm>
          <a:prstGeom prst="rect">
            <a:avLst/>
          </a:prstGeom>
          <a:solidFill>
            <a:srgbClr val="E4F9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ru-RU" sz="1600" u="none" cap="none" strike="noStrike">
                <a:solidFill>
                  <a:srgbClr val="000000"/>
                </a:solidFill>
                <a:latin typeface="Montserrat SemiBold"/>
                <a:ea typeface="Montserrat SemiBold"/>
                <a:cs typeface="Montserrat SemiBold"/>
                <a:sym typeface="Montserrat SemiBold"/>
              </a:rPr>
              <a:t>Данные</a:t>
            </a:r>
            <a:endParaRPr b="0" i="0" sz="1600" u="none" cap="none" strike="noStrike">
              <a:solidFill>
                <a:srgbClr val="000000"/>
              </a:solidFill>
              <a:latin typeface="Montserrat SemiBold"/>
              <a:ea typeface="Montserrat SemiBold"/>
              <a:cs typeface="Montserrat SemiBold"/>
              <a:sym typeface="Montserrat SemiBold"/>
            </a:endParaRPr>
          </a:p>
        </p:txBody>
      </p:sp>
      <p:sp>
        <p:nvSpPr>
          <p:cNvPr id="489" name="Google Shape;489;g3cb20f13e01_0_398"/>
          <p:cNvSpPr txBox="1"/>
          <p:nvPr/>
        </p:nvSpPr>
        <p:spPr>
          <a:xfrm>
            <a:off x="6547051" y="3444625"/>
            <a:ext cx="1952400" cy="547200"/>
          </a:xfrm>
          <a:prstGeom prst="rect">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Montserrat SemiBold"/>
                <a:ea typeface="Montserrat SemiBold"/>
                <a:cs typeface="Montserrat SemiBold"/>
                <a:sym typeface="Montserrat SemiBold"/>
              </a:rPr>
              <a:t>Ответ</a:t>
            </a:r>
            <a:endParaRPr b="0" i="0" sz="1600" u="none" cap="none" strike="noStrike">
              <a:solidFill>
                <a:srgbClr val="000000"/>
              </a:solidFill>
              <a:latin typeface="Montserrat SemiBold"/>
              <a:ea typeface="Montserrat SemiBold"/>
              <a:cs typeface="Montserrat SemiBold"/>
              <a:sym typeface="Montserrat SemiBold"/>
            </a:endParaRPr>
          </a:p>
        </p:txBody>
      </p:sp>
      <p:cxnSp>
        <p:nvCxnSpPr>
          <p:cNvPr id="490" name="Google Shape;490;g3cb20f13e01_0_398"/>
          <p:cNvCxnSpPr>
            <a:stCxn id="488" idx="3"/>
            <a:endCxn id="489" idx="1"/>
          </p:cNvCxnSpPr>
          <p:nvPr/>
        </p:nvCxnSpPr>
        <p:spPr>
          <a:xfrm>
            <a:off x="5977888" y="3718225"/>
            <a:ext cx="569100" cy="600"/>
          </a:xfrm>
          <a:prstGeom prst="bentConnector3">
            <a:avLst>
              <a:gd fmla="val 50006" name="adj1"/>
            </a:avLst>
          </a:prstGeom>
          <a:noFill/>
          <a:ln cap="flat" cmpd="sng" w="9525">
            <a:solidFill>
              <a:srgbClr val="000000"/>
            </a:solidFill>
            <a:prstDash val="solid"/>
            <a:round/>
            <a:headEnd len="sm" w="sm" type="none"/>
            <a:tailEnd len="med" w="med" type="stealth"/>
          </a:ln>
        </p:spPr>
      </p:cxnSp>
      <p:sp>
        <p:nvSpPr>
          <p:cNvPr id="488" name="Google Shape;488;g3cb20f13e01_0_398"/>
          <p:cNvSpPr/>
          <p:nvPr/>
        </p:nvSpPr>
        <p:spPr>
          <a:xfrm>
            <a:off x="3296188" y="3256225"/>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Программа</a:t>
            </a:r>
            <a:endParaRPr b="0" i="0" sz="1500" u="none" cap="none" strike="noStrike">
              <a:solidFill>
                <a:srgbClr val="000000"/>
              </a:solidFill>
              <a:latin typeface="Montserrat SemiBold"/>
              <a:ea typeface="Montserrat SemiBold"/>
              <a:cs typeface="Montserrat SemiBold"/>
              <a:sym typeface="Montserrat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5"/>
          <p:cNvSpPr txBox="1"/>
          <p:nvPr/>
        </p:nvSpPr>
        <p:spPr>
          <a:xfrm>
            <a:off x="1055688" y="1327688"/>
            <a:ext cx="6421729" cy="301087"/>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Примеры проблем</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496" name="Google Shape;496;p5"/>
          <p:cNvGrpSpPr/>
          <p:nvPr/>
        </p:nvGrpSpPr>
        <p:grpSpPr>
          <a:xfrm>
            <a:off x="9353973" y="-1553420"/>
            <a:ext cx="2853949" cy="13716633"/>
            <a:chOff x="9353973" y="-1553420"/>
            <a:chExt cx="2853949" cy="13716633"/>
          </a:xfrm>
        </p:grpSpPr>
        <p:grpSp>
          <p:nvGrpSpPr>
            <p:cNvPr id="497" name="Google Shape;497;p5"/>
            <p:cNvGrpSpPr/>
            <p:nvPr/>
          </p:nvGrpSpPr>
          <p:grpSpPr>
            <a:xfrm>
              <a:off x="9353973" y="-1553420"/>
              <a:ext cx="2838027" cy="13716633"/>
              <a:chOff x="9353973" y="-6079700"/>
              <a:chExt cx="2838027" cy="13716633"/>
            </a:xfrm>
          </p:grpSpPr>
          <p:pic>
            <p:nvPicPr>
              <p:cNvPr id="498" name="Google Shape;498;p5"/>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499" name="Google Shape;499;p5"/>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500" name="Google Shape;500;p5"/>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1" name="Google Shape;501;p5"/>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502" name="Google Shape;502;p5"/>
          <p:cNvPicPr preferRelativeResize="0"/>
          <p:nvPr/>
        </p:nvPicPr>
        <p:blipFill rotWithShape="1">
          <a:blip r:embed="rId4">
            <a:alphaModFix/>
          </a:blip>
          <a:srcRect b="0" l="0" r="0" t="0"/>
          <a:stretch/>
        </p:blipFill>
        <p:spPr>
          <a:xfrm>
            <a:off x="8800730" y="3855493"/>
            <a:ext cx="3047977" cy="3052211"/>
          </a:xfrm>
          <a:prstGeom prst="rect">
            <a:avLst/>
          </a:prstGeom>
          <a:noFill/>
          <a:ln>
            <a:noFill/>
          </a:ln>
        </p:spPr>
      </p:pic>
      <p:sp>
        <p:nvSpPr>
          <p:cNvPr id="503" name="Google Shape;503;p5"/>
          <p:cNvSpPr txBox="1"/>
          <p:nvPr/>
        </p:nvSpPr>
        <p:spPr>
          <a:xfrm>
            <a:off x="1377552" y="2172625"/>
            <a:ext cx="4701000" cy="4104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1900" u="none" cap="none" strike="noStrike">
                <a:solidFill>
                  <a:schemeClr val="dk1"/>
                </a:solidFill>
                <a:latin typeface="IBM Plex Sans"/>
                <a:ea typeface="IBM Plex Sans"/>
                <a:cs typeface="IBM Plex Sans"/>
                <a:sym typeface="IBM Plex Sans"/>
              </a:rPr>
              <a:t>перевести текст с одного языка на другой</a:t>
            </a:r>
            <a:endParaRPr b="0" i="0" sz="3900" u="none" cap="none" strike="noStrike">
              <a:solidFill>
                <a:schemeClr val="dk1"/>
              </a:solidFill>
              <a:latin typeface="IBM Plex Sans"/>
              <a:ea typeface="IBM Plex Sans"/>
              <a:cs typeface="IBM Plex Sans"/>
              <a:sym typeface="IBM Plex Sans"/>
            </a:endParaRPr>
          </a:p>
        </p:txBody>
      </p:sp>
      <p:pic>
        <p:nvPicPr>
          <p:cNvPr id="504" name="Google Shape;504;p5"/>
          <p:cNvPicPr preferRelativeResize="0"/>
          <p:nvPr/>
        </p:nvPicPr>
        <p:blipFill rotWithShape="1">
          <a:blip r:embed="rId5">
            <a:alphaModFix/>
          </a:blip>
          <a:srcRect b="0" l="0" r="0" t="0"/>
          <a:stretch/>
        </p:blipFill>
        <p:spPr>
          <a:xfrm>
            <a:off x="1055688" y="2185847"/>
            <a:ext cx="235091" cy="235091"/>
          </a:xfrm>
          <a:prstGeom prst="rect">
            <a:avLst/>
          </a:prstGeom>
          <a:noFill/>
          <a:ln>
            <a:noFill/>
          </a:ln>
        </p:spPr>
      </p:pic>
      <p:sp>
        <p:nvSpPr>
          <p:cNvPr id="505" name="Google Shape;505;p5"/>
          <p:cNvSpPr txBox="1"/>
          <p:nvPr/>
        </p:nvSpPr>
        <p:spPr>
          <a:xfrm>
            <a:off x="1377552" y="2735375"/>
            <a:ext cx="4277700" cy="4104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1900" u="none" cap="none" strike="noStrike">
                <a:solidFill>
                  <a:schemeClr val="dk1"/>
                </a:solidFill>
                <a:latin typeface="IBM Plex Sans"/>
                <a:ea typeface="IBM Plex Sans"/>
                <a:cs typeface="IBM Plex Sans"/>
                <a:sym typeface="IBM Plex Sans"/>
              </a:rPr>
              <a:t>диагностировать болезнь по симптомам</a:t>
            </a:r>
            <a:endParaRPr b="0" i="0" sz="3900" u="none" cap="none" strike="noStrike">
              <a:solidFill>
                <a:schemeClr val="dk1"/>
              </a:solidFill>
              <a:latin typeface="IBM Plex Sans"/>
              <a:ea typeface="IBM Plex Sans"/>
              <a:cs typeface="IBM Plex Sans"/>
              <a:sym typeface="IBM Plex Sans"/>
            </a:endParaRPr>
          </a:p>
        </p:txBody>
      </p:sp>
      <p:pic>
        <p:nvPicPr>
          <p:cNvPr id="506" name="Google Shape;506;p5"/>
          <p:cNvPicPr preferRelativeResize="0"/>
          <p:nvPr/>
        </p:nvPicPr>
        <p:blipFill rotWithShape="1">
          <a:blip r:embed="rId5">
            <a:alphaModFix/>
          </a:blip>
          <a:srcRect b="0" l="0" r="0" t="0"/>
          <a:stretch/>
        </p:blipFill>
        <p:spPr>
          <a:xfrm>
            <a:off x="1055688" y="2748610"/>
            <a:ext cx="235091" cy="235091"/>
          </a:xfrm>
          <a:prstGeom prst="rect">
            <a:avLst/>
          </a:prstGeom>
          <a:noFill/>
          <a:ln>
            <a:noFill/>
          </a:ln>
        </p:spPr>
      </p:pic>
      <p:sp>
        <p:nvSpPr>
          <p:cNvPr id="507" name="Google Shape;507;p5"/>
          <p:cNvSpPr txBox="1"/>
          <p:nvPr/>
        </p:nvSpPr>
        <p:spPr>
          <a:xfrm>
            <a:off x="1377552" y="3289700"/>
            <a:ext cx="4701000" cy="4104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1900" u="none" cap="none" strike="noStrike">
                <a:solidFill>
                  <a:schemeClr val="dk1"/>
                </a:solidFill>
                <a:latin typeface="IBM Plex Sans"/>
                <a:ea typeface="IBM Plex Sans"/>
                <a:cs typeface="IBM Plex Sans"/>
                <a:sym typeface="IBM Plex Sans"/>
              </a:rPr>
              <a:t>сравнить, какой из двух документов в интернете лучше подходит под данный поисковый запрос</a:t>
            </a:r>
            <a:endParaRPr b="0" i="0" sz="19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1900" u="none" cap="none" strike="noStrike">
              <a:solidFill>
                <a:schemeClr val="dk1"/>
              </a:solidFill>
              <a:latin typeface="IBM Plex Sans"/>
              <a:ea typeface="IBM Plex Sans"/>
              <a:cs typeface="IBM Plex Sans"/>
              <a:sym typeface="IBM Plex Sans"/>
            </a:endParaRPr>
          </a:p>
        </p:txBody>
      </p:sp>
      <p:pic>
        <p:nvPicPr>
          <p:cNvPr id="508" name="Google Shape;508;p5"/>
          <p:cNvPicPr preferRelativeResize="0"/>
          <p:nvPr/>
        </p:nvPicPr>
        <p:blipFill rotWithShape="1">
          <a:blip r:embed="rId5">
            <a:alphaModFix/>
          </a:blip>
          <a:srcRect b="0" l="0" r="0" t="0"/>
          <a:stretch/>
        </p:blipFill>
        <p:spPr>
          <a:xfrm>
            <a:off x="1055688" y="3302924"/>
            <a:ext cx="235091" cy="235091"/>
          </a:xfrm>
          <a:prstGeom prst="rect">
            <a:avLst/>
          </a:prstGeom>
          <a:noFill/>
          <a:ln>
            <a:noFill/>
          </a:ln>
        </p:spPr>
      </p:pic>
      <p:sp>
        <p:nvSpPr>
          <p:cNvPr id="509" name="Google Shape;509;p5"/>
          <p:cNvSpPr txBox="1"/>
          <p:nvPr/>
        </p:nvSpPr>
        <p:spPr>
          <a:xfrm>
            <a:off x="1377552" y="4061829"/>
            <a:ext cx="4875000" cy="4104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1900" u="none" cap="none" strike="noStrike">
                <a:solidFill>
                  <a:schemeClr val="dk1"/>
                </a:solidFill>
                <a:latin typeface="IBM Plex Sans"/>
                <a:ea typeface="IBM Plex Sans"/>
                <a:cs typeface="IBM Plex Sans"/>
                <a:sym typeface="IBM Plex Sans"/>
              </a:rPr>
              <a:t>сказать, что изображено на картинке</a:t>
            </a:r>
            <a:endParaRPr b="0" i="0" sz="3900" u="none" cap="none" strike="noStrike">
              <a:solidFill>
                <a:schemeClr val="dk1"/>
              </a:solidFill>
              <a:latin typeface="IBM Plex Sans"/>
              <a:ea typeface="IBM Plex Sans"/>
              <a:cs typeface="IBM Plex Sans"/>
              <a:sym typeface="IBM Plex Sans"/>
            </a:endParaRPr>
          </a:p>
        </p:txBody>
      </p:sp>
      <p:pic>
        <p:nvPicPr>
          <p:cNvPr id="510" name="Google Shape;510;p5"/>
          <p:cNvPicPr preferRelativeResize="0"/>
          <p:nvPr/>
        </p:nvPicPr>
        <p:blipFill rotWithShape="1">
          <a:blip r:embed="rId5">
            <a:alphaModFix/>
          </a:blip>
          <a:srcRect b="0" l="0" r="0" t="0"/>
          <a:stretch/>
        </p:blipFill>
        <p:spPr>
          <a:xfrm>
            <a:off x="1055688" y="4075062"/>
            <a:ext cx="235091" cy="235091"/>
          </a:xfrm>
          <a:prstGeom prst="rect">
            <a:avLst/>
          </a:prstGeom>
          <a:noFill/>
          <a:ln>
            <a:noFill/>
          </a:ln>
        </p:spPr>
      </p:pic>
      <p:sp>
        <p:nvSpPr>
          <p:cNvPr id="511" name="Google Shape;511;p5"/>
          <p:cNvSpPr txBox="1"/>
          <p:nvPr/>
        </p:nvSpPr>
        <p:spPr>
          <a:xfrm>
            <a:off x="1377552" y="4478475"/>
            <a:ext cx="4599600" cy="4104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1900" u="none" cap="none" strike="noStrike">
                <a:solidFill>
                  <a:schemeClr val="dk1"/>
                </a:solidFill>
                <a:latin typeface="IBM Plex Sans"/>
                <a:ea typeface="IBM Plex Sans"/>
                <a:cs typeface="IBM Plex Sans"/>
                <a:sym typeface="IBM Plex Sans"/>
              </a:rPr>
              <a:t>оценить, по какой цене удастся продать квартиру</a:t>
            </a:r>
            <a:endParaRPr b="0" i="0" sz="3900" u="none" cap="none" strike="noStrike">
              <a:solidFill>
                <a:schemeClr val="dk1"/>
              </a:solidFill>
              <a:latin typeface="IBM Plex Sans"/>
              <a:ea typeface="IBM Plex Sans"/>
              <a:cs typeface="IBM Plex Sans"/>
              <a:sym typeface="IBM Plex Sans"/>
            </a:endParaRPr>
          </a:p>
        </p:txBody>
      </p:sp>
      <p:pic>
        <p:nvPicPr>
          <p:cNvPr id="512" name="Google Shape;512;p5"/>
          <p:cNvPicPr preferRelativeResize="0"/>
          <p:nvPr/>
        </p:nvPicPr>
        <p:blipFill rotWithShape="1">
          <a:blip r:embed="rId5">
            <a:alphaModFix/>
          </a:blip>
          <a:srcRect b="0" l="0" r="0" t="0"/>
          <a:stretch/>
        </p:blipFill>
        <p:spPr>
          <a:xfrm>
            <a:off x="1055688" y="4491705"/>
            <a:ext cx="235091" cy="23509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6"/>
          <p:cNvSpPr txBox="1"/>
          <p:nvPr/>
        </p:nvSpPr>
        <p:spPr>
          <a:xfrm>
            <a:off x="1055688" y="1327688"/>
            <a:ext cx="6421729" cy="301087"/>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Машинное обучение</a:t>
            </a:r>
            <a:endParaRPr b="1" i="0" sz="3600" u="none" cap="none" strike="noStrike">
              <a:solidFill>
                <a:schemeClr val="dk1"/>
              </a:solidFill>
              <a:latin typeface="IBM Plex Sans"/>
              <a:ea typeface="IBM Plex Sans"/>
              <a:cs typeface="IBM Plex Sans"/>
              <a:sym typeface="IBM Plex Sans"/>
            </a:endParaRPr>
          </a:p>
        </p:txBody>
      </p:sp>
      <p:grpSp>
        <p:nvGrpSpPr>
          <p:cNvPr id="518" name="Google Shape;518;p6"/>
          <p:cNvGrpSpPr/>
          <p:nvPr/>
        </p:nvGrpSpPr>
        <p:grpSpPr>
          <a:xfrm>
            <a:off x="9353973" y="-1553420"/>
            <a:ext cx="2853949" cy="13716633"/>
            <a:chOff x="9353973" y="-1553420"/>
            <a:chExt cx="2853949" cy="13716633"/>
          </a:xfrm>
        </p:grpSpPr>
        <p:grpSp>
          <p:nvGrpSpPr>
            <p:cNvPr id="519" name="Google Shape;519;p6"/>
            <p:cNvGrpSpPr/>
            <p:nvPr/>
          </p:nvGrpSpPr>
          <p:grpSpPr>
            <a:xfrm>
              <a:off x="9353973" y="-1553420"/>
              <a:ext cx="2838027" cy="13716633"/>
              <a:chOff x="9353973" y="-6079700"/>
              <a:chExt cx="2838027" cy="13716633"/>
            </a:xfrm>
          </p:grpSpPr>
          <p:pic>
            <p:nvPicPr>
              <p:cNvPr id="520" name="Google Shape;520;p6"/>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521" name="Google Shape;521;p6"/>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522" name="Google Shape;522;p6"/>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3" name="Google Shape;523;p6"/>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524" name="Google Shape;524;p6"/>
          <p:cNvPicPr preferRelativeResize="0"/>
          <p:nvPr/>
        </p:nvPicPr>
        <p:blipFill rotWithShape="1">
          <a:blip r:embed="rId4">
            <a:alphaModFix/>
          </a:blip>
          <a:srcRect b="0" l="0" r="0" t="0"/>
          <a:stretch/>
        </p:blipFill>
        <p:spPr>
          <a:xfrm rot="-3600000">
            <a:off x="8854340" y="3963089"/>
            <a:ext cx="3047977" cy="3052211"/>
          </a:xfrm>
          <a:prstGeom prst="rect">
            <a:avLst/>
          </a:prstGeom>
          <a:noFill/>
          <a:ln>
            <a:noFill/>
          </a:ln>
        </p:spPr>
      </p:pic>
      <p:cxnSp>
        <p:nvCxnSpPr>
          <p:cNvPr id="525" name="Google Shape;525;p6"/>
          <p:cNvCxnSpPr>
            <a:stCxn id="526" idx="3"/>
            <a:endCxn id="527" idx="1"/>
          </p:cNvCxnSpPr>
          <p:nvPr/>
        </p:nvCxnSpPr>
        <p:spPr>
          <a:xfrm>
            <a:off x="2875838" y="3676175"/>
            <a:ext cx="781800" cy="432600"/>
          </a:xfrm>
          <a:prstGeom prst="bentConnector3">
            <a:avLst>
              <a:gd fmla="val 36402" name="adj1"/>
            </a:avLst>
          </a:prstGeom>
          <a:noFill/>
          <a:ln cap="flat" cmpd="sng" w="9525">
            <a:solidFill>
              <a:srgbClr val="000000"/>
            </a:solidFill>
            <a:prstDash val="solid"/>
            <a:round/>
            <a:headEnd len="sm" w="sm" type="none"/>
            <a:tailEnd len="med" w="med" type="stealth"/>
          </a:ln>
        </p:spPr>
      </p:cxnSp>
      <p:cxnSp>
        <p:nvCxnSpPr>
          <p:cNvPr id="528" name="Google Shape;528;p6"/>
          <p:cNvCxnSpPr>
            <a:stCxn id="529" idx="3"/>
            <a:endCxn id="527" idx="1"/>
          </p:cNvCxnSpPr>
          <p:nvPr/>
        </p:nvCxnSpPr>
        <p:spPr>
          <a:xfrm flipH="1" rot="10800000">
            <a:off x="2875838" y="4108850"/>
            <a:ext cx="781800" cy="524100"/>
          </a:xfrm>
          <a:prstGeom prst="bentConnector3">
            <a:avLst>
              <a:gd fmla="val 36402" name="adj1"/>
            </a:avLst>
          </a:prstGeom>
          <a:noFill/>
          <a:ln cap="flat" cmpd="sng" w="9525">
            <a:solidFill>
              <a:srgbClr val="000000"/>
            </a:solidFill>
            <a:prstDash val="solid"/>
            <a:round/>
            <a:headEnd len="sm" w="sm" type="none"/>
            <a:tailEnd len="med" w="med" type="stealth"/>
          </a:ln>
        </p:spPr>
      </p:cxnSp>
      <p:sp>
        <p:nvSpPr>
          <p:cNvPr id="526" name="Google Shape;526;p6"/>
          <p:cNvSpPr txBox="1"/>
          <p:nvPr/>
        </p:nvSpPr>
        <p:spPr>
          <a:xfrm>
            <a:off x="923438" y="3406325"/>
            <a:ext cx="1952400" cy="539700"/>
          </a:xfrm>
          <a:prstGeom prst="rect">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Montserrat SemiBold"/>
                <a:ea typeface="Montserrat SemiBold"/>
                <a:cs typeface="Montserrat SemiBold"/>
                <a:sym typeface="Montserrat SemiBold"/>
              </a:rPr>
              <a:t>Ответ</a:t>
            </a:r>
            <a:endParaRPr b="0" i="0" sz="1600" u="none" cap="none" strike="noStrike">
              <a:solidFill>
                <a:srgbClr val="000000"/>
              </a:solidFill>
              <a:latin typeface="Montserrat SemiBold"/>
              <a:ea typeface="Montserrat SemiBold"/>
              <a:cs typeface="Montserrat SemiBold"/>
              <a:sym typeface="Montserrat SemiBold"/>
            </a:endParaRPr>
          </a:p>
        </p:txBody>
      </p:sp>
      <p:sp>
        <p:nvSpPr>
          <p:cNvPr id="529" name="Google Shape;529;p6"/>
          <p:cNvSpPr txBox="1"/>
          <p:nvPr/>
        </p:nvSpPr>
        <p:spPr>
          <a:xfrm>
            <a:off x="923438" y="4363100"/>
            <a:ext cx="1952400" cy="539700"/>
          </a:xfrm>
          <a:prstGeom prst="rect">
            <a:avLst/>
          </a:prstGeom>
          <a:solidFill>
            <a:srgbClr val="E4F9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ru-RU" sz="1600" u="none" cap="none" strike="noStrike">
                <a:solidFill>
                  <a:srgbClr val="000000"/>
                </a:solidFill>
                <a:latin typeface="Montserrat SemiBold"/>
                <a:ea typeface="Montserrat SemiBold"/>
                <a:cs typeface="Montserrat SemiBold"/>
                <a:sym typeface="Montserrat SemiBold"/>
              </a:rPr>
              <a:t>Данные</a:t>
            </a:r>
            <a:endParaRPr b="0" i="0" sz="1600" u="none" cap="none" strike="noStrike">
              <a:solidFill>
                <a:srgbClr val="000000"/>
              </a:solidFill>
              <a:latin typeface="Montserrat SemiBold"/>
              <a:ea typeface="Montserrat SemiBold"/>
              <a:cs typeface="Montserrat SemiBold"/>
              <a:sym typeface="Montserrat SemiBold"/>
            </a:endParaRPr>
          </a:p>
        </p:txBody>
      </p:sp>
      <p:sp>
        <p:nvSpPr>
          <p:cNvPr id="530" name="Google Shape;530;p6"/>
          <p:cNvSpPr txBox="1"/>
          <p:nvPr/>
        </p:nvSpPr>
        <p:spPr>
          <a:xfrm>
            <a:off x="6695888" y="3835275"/>
            <a:ext cx="1952400" cy="547200"/>
          </a:xfrm>
          <a:prstGeom prst="rect">
            <a:avLst/>
          </a:prstGeom>
          <a:solidFill>
            <a:srgbClr val="E4F9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Montserrat SemiBold"/>
                <a:ea typeface="Montserrat SemiBold"/>
                <a:cs typeface="Montserrat SemiBold"/>
                <a:sym typeface="Montserrat SemiBold"/>
              </a:rPr>
              <a:t>Правила</a:t>
            </a:r>
            <a:endParaRPr b="0" i="0" sz="1600" u="none" cap="none" strike="noStrike">
              <a:solidFill>
                <a:srgbClr val="000000"/>
              </a:solidFill>
              <a:latin typeface="Montserrat SemiBold"/>
              <a:ea typeface="Montserrat SemiBold"/>
              <a:cs typeface="Montserrat SemiBold"/>
              <a:sym typeface="Montserrat SemiBold"/>
            </a:endParaRPr>
          </a:p>
        </p:txBody>
      </p:sp>
      <p:cxnSp>
        <p:nvCxnSpPr>
          <p:cNvPr id="531" name="Google Shape;531;p6"/>
          <p:cNvCxnSpPr>
            <a:stCxn id="527" idx="3"/>
            <a:endCxn id="530" idx="1"/>
          </p:cNvCxnSpPr>
          <p:nvPr/>
        </p:nvCxnSpPr>
        <p:spPr>
          <a:xfrm>
            <a:off x="6126725" y="4108875"/>
            <a:ext cx="569100" cy="600"/>
          </a:xfrm>
          <a:prstGeom prst="bentConnector3">
            <a:avLst>
              <a:gd fmla="val 50006" name="adj1"/>
            </a:avLst>
          </a:prstGeom>
          <a:noFill/>
          <a:ln cap="flat" cmpd="sng" w="9525">
            <a:solidFill>
              <a:srgbClr val="000000"/>
            </a:solidFill>
            <a:prstDash val="solid"/>
            <a:round/>
            <a:headEnd len="sm" w="sm" type="none"/>
            <a:tailEnd len="med" w="med" type="stealth"/>
          </a:ln>
        </p:spPr>
      </p:cxnSp>
      <p:sp>
        <p:nvSpPr>
          <p:cNvPr id="527" name="Google Shape;527;p6"/>
          <p:cNvSpPr/>
          <p:nvPr/>
        </p:nvSpPr>
        <p:spPr>
          <a:xfrm>
            <a:off x="3445025" y="3646875"/>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Система</a:t>
            </a:r>
            <a:endParaRPr b="0" i="0" sz="1500" u="none" cap="none" strike="noStrike">
              <a:solidFill>
                <a:srgbClr val="000000"/>
              </a:solidFill>
              <a:latin typeface="Montserrat SemiBold"/>
              <a:ea typeface="Montserrat SemiBold"/>
              <a:cs typeface="Montserrat SemiBold"/>
              <a:sym typeface="Montserrat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grpSp>
        <p:nvGrpSpPr>
          <p:cNvPr id="536" name="Google Shape;536;g3cb20f13e01_0_474"/>
          <p:cNvGrpSpPr/>
          <p:nvPr/>
        </p:nvGrpSpPr>
        <p:grpSpPr>
          <a:xfrm>
            <a:off x="9353973" y="-1553420"/>
            <a:ext cx="2854020" cy="13716631"/>
            <a:chOff x="9353973" y="-1553420"/>
            <a:chExt cx="2854020" cy="13716631"/>
          </a:xfrm>
        </p:grpSpPr>
        <p:grpSp>
          <p:nvGrpSpPr>
            <p:cNvPr id="537" name="Google Shape;537;g3cb20f13e01_0_474"/>
            <p:cNvGrpSpPr/>
            <p:nvPr/>
          </p:nvGrpSpPr>
          <p:grpSpPr>
            <a:xfrm>
              <a:off x="9353973" y="-1553420"/>
              <a:ext cx="2838027" cy="13716631"/>
              <a:chOff x="9353973" y="-6079700"/>
              <a:chExt cx="2838027" cy="13716631"/>
            </a:xfrm>
          </p:grpSpPr>
          <p:pic>
            <p:nvPicPr>
              <p:cNvPr id="538" name="Google Shape;538;g3cb20f13e01_0_474"/>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539" name="Google Shape;539;g3cb20f13e01_0_474"/>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540" name="Google Shape;540;g3cb20f13e01_0_474"/>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1" name="Google Shape;541;g3cb20f13e01_0_474"/>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542" name="Google Shape;542;g3cb20f13e01_0_474"/>
          <p:cNvPicPr preferRelativeResize="0"/>
          <p:nvPr/>
        </p:nvPicPr>
        <p:blipFill rotWithShape="1">
          <a:blip r:embed="rId4">
            <a:alphaModFix/>
          </a:blip>
          <a:srcRect b="0" l="0" r="0" t="0"/>
          <a:stretch/>
        </p:blipFill>
        <p:spPr>
          <a:xfrm rot="-3600001">
            <a:off x="8854340" y="3963088"/>
            <a:ext cx="3047977" cy="3052211"/>
          </a:xfrm>
          <a:prstGeom prst="rect">
            <a:avLst/>
          </a:prstGeom>
          <a:noFill/>
          <a:ln>
            <a:noFill/>
          </a:ln>
        </p:spPr>
      </p:pic>
      <p:cxnSp>
        <p:nvCxnSpPr>
          <p:cNvPr id="543" name="Google Shape;543;g3cb20f13e01_0_474"/>
          <p:cNvCxnSpPr>
            <a:stCxn id="544" idx="3"/>
            <a:endCxn id="545" idx="1"/>
          </p:cNvCxnSpPr>
          <p:nvPr/>
        </p:nvCxnSpPr>
        <p:spPr>
          <a:xfrm>
            <a:off x="2741438" y="4792075"/>
            <a:ext cx="781800" cy="432600"/>
          </a:xfrm>
          <a:prstGeom prst="bentConnector3">
            <a:avLst>
              <a:gd fmla="val 36402" name="adj1"/>
            </a:avLst>
          </a:prstGeom>
          <a:noFill/>
          <a:ln cap="flat" cmpd="sng" w="9525">
            <a:solidFill>
              <a:srgbClr val="000000"/>
            </a:solidFill>
            <a:prstDash val="solid"/>
            <a:round/>
            <a:headEnd len="sm" w="sm" type="none"/>
            <a:tailEnd len="med" w="med" type="stealth"/>
          </a:ln>
        </p:spPr>
      </p:cxnSp>
      <p:cxnSp>
        <p:nvCxnSpPr>
          <p:cNvPr id="546" name="Google Shape;546;g3cb20f13e01_0_474"/>
          <p:cNvCxnSpPr>
            <a:stCxn id="547" idx="3"/>
            <a:endCxn id="545" idx="1"/>
          </p:cNvCxnSpPr>
          <p:nvPr/>
        </p:nvCxnSpPr>
        <p:spPr>
          <a:xfrm flipH="1" rot="10800000">
            <a:off x="2741438" y="5224750"/>
            <a:ext cx="781800" cy="524100"/>
          </a:xfrm>
          <a:prstGeom prst="bentConnector3">
            <a:avLst>
              <a:gd fmla="val 36402" name="adj1"/>
            </a:avLst>
          </a:prstGeom>
          <a:noFill/>
          <a:ln cap="flat" cmpd="sng" w="9525">
            <a:solidFill>
              <a:srgbClr val="000000"/>
            </a:solidFill>
            <a:prstDash val="solid"/>
            <a:round/>
            <a:headEnd len="sm" w="sm" type="none"/>
            <a:tailEnd len="med" w="med" type="stealth"/>
          </a:ln>
        </p:spPr>
      </p:cxnSp>
      <p:sp>
        <p:nvSpPr>
          <p:cNvPr id="544" name="Google Shape;544;g3cb20f13e01_0_474"/>
          <p:cNvSpPr txBox="1"/>
          <p:nvPr/>
        </p:nvSpPr>
        <p:spPr>
          <a:xfrm>
            <a:off x="789038" y="4522225"/>
            <a:ext cx="1952400" cy="539700"/>
          </a:xfrm>
          <a:prstGeom prst="rect">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Montserrat SemiBold"/>
                <a:ea typeface="Montserrat SemiBold"/>
                <a:cs typeface="Montserrat SemiBold"/>
                <a:sym typeface="Montserrat SemiBold"/>
              </a:rPr>
              <a:t>Ответ</a:t>
            </a:r>
            <a:endParaRPr b="0" i="0" sz="1600" u="none" cap="none" strike="noStrike">
              <a:solidFill>
                <a:srgbClr val="000000"/>
              </a:solidFill>
              <a:latin typeface="Montserrat SemiBold"/>
              <a:ea typeface="Montserrat SemiBold"/>
              <a:cs typeface="Montserrat SemiBold"/>
              <a:sym typeface="Montserrat SemiBold"/>
            </a:endParaRPr>
          </a:p>
        </p:txBody>
      </p:sp>
      <p:sp>
        <p:nvSpPr>
          <p:cNvPr id="547" name="Google Shape;547;g3cb20f13e01_0_474"/>
          <p:cNvSpPr txBox="1"/>
          <p:nvPr/>
        </p:nvSpPr>
        <p:spPr>
          <a:xfrm>
            <a:off x="789038" y="5479000"/>
            <a:ext cx="1952400" cy="539700"/>
          </a:xfrm>
          <a:prstGeom prst="rect">
            <a:avLst/>
          </a:prstGeom>
          <a:solidFill>
            <a:srgbClr val="E4F9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ru-RU" sz="1600" u="none" cap="none" strike="noStrike">
                <a:solidFill>
                  <a:srgbClr val="000000"/>
                </a:solidFill>
                <a:latin typeface="Montserrat SemiBold"/>
                <a:ea typeface="Montserrat SemiBold"/>
                <a:cs typeface="Montserrat SemiBold"/>
                <a:sym typeface="Montserrat SemiBold"/>
              </a:rPr>
              <a:t>Данные</a:t>
            </a:r>
            <a:endParaRPr b="0" i="0" sz="1600" u="none" cap="none" strike="noStrike">
              <a:solidFill>
                <a:srgbClr val="000000"/>
              </a:solidFill>
              <a:latin typeface="Montserrat SemiBold"/>
              <a:ea typeface="Montserrat SemiBold"/>
              <a:cs typeface="Montserrat SemiBold"/>
              <a:sym typeface="Montserrat SemiBold"/>
            </a:endParaRPr>
          </a:p>
        </p:txBody>
      </p:sp>
      <p:sp>
        <p:nvSpPr>
          <p:cNvPr id="548" name="Google Shape;548;g3cb20f13e01_0_474"/>
          <p:cNvSpPr txBox="1"/>
          <p:nvPr/>
        </p:nvSpPr>
        <p:spPr>
          <a:xfrm>
            <a:off x="6561488" y="4951175"/>
            <a:ext cx="1952400" cy="547200"/>
          </a:xfrm>
          <a:prstGeom prst="rect">
            <a:avLst/>
          </a:prstGeom>
          <a:solidFill>
            <a:srgbClr val="E4F9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Montserrat SemiBold"/>
                <a:ea typeface="Montserrat SemiBold"/>
                <a:cs typeface="Montserrat SemiBold"/>
                <a:sym typeface="Montserrat SemiBold"/>
              </a:rPr>
              <a:t>Правила</a:t>
            </a:r>
            <a:endParaRPr b="0" i="0" sz="1600" u="none" cap="none" strike="noStrike">
              <a:solidFill>
                <a:srgbClr val="000000"/>
              </a:solidFill>
              <a:latin typeface="Montserrat SemiBold"/>
              <a:ea typeface="Montserrat SemiBold"/>
              <a:cs typeface="Montserrat SemiBold"/>
              <a:sym typeface="Montserrat SemiBold"/>
            </a:endParaRPr>
          </a:p>
        </p:txBody>
      </p:sp>
      <p:cxnSp>
        <p:nvCxnSpPr>
          <p:cNvPr id="549" name="Google Shape;549;g3cb20f13e01_0_474"/>
          <p:cNvCxnSpPr>
            <a:stCxn id="545" idx="3"/>
            <a:endCxn id="548" idx="1"/>
          </p:cNvCxnSpPr>
          <p:nvPr/>
        </p:nvCxnSpPr>
        <p:spPr>
          <a:xfrm>
            <a:off x="5992325" y="5224775"/>
            <a:ext cx="569100" cy="600"/>
          </a:xfrm>
          <a:prstGeom prst="bentConnector3">
            <a:avLst>
              <a:gd fmla="val 50006" name="adj1"/>
            </a:avLst>
          </a:prstGeom>
          <a:noFill/>
          <a:ln cap="flat" cmpd="sng" w="9525">
            <a:solidFill>
              <a:srgbClr val="000000"/>
            </a:solidFill>
            <a:prstDash val="solid"/>
            <a:round/>
            <a:headEnd len="sm" w="sm" type="none"/>
            <a:tailEnd len="med" w="med" type="stealth"/>
          </a:ln>
        </p:spPr>
      </p:cxnSp>
      <p:sp>
        <p:nvSpPr>
          <p:cNvPr id="545" name="Google Shape;545;g3cb20f13e01_0_474"/>
          <p:cNvSpPr/>
          <p:nvPr/>
        </p:nvSpPr>
        <p:spPr>
          <a:xfrm>
            <a:off x="3310625" y="4762775"/>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Модель машинного обучения</a:t>
            </a:r>
            <a:endParaRPr b="0" i="0" sz="1500" u="none" cap="none" strike="noStrike">
              <a:solidFill>
                <a:srgbClr val="000000"/>
              </a:solidFill>
              <a:latin typeface="Montserrat SemiBold"/>
              <a:ea typeface="Montserrat SemiBold"/>
              <a:cs typeface="Montserrat SemiBold"/>
              <a:sym typeface="Montserrat SemiBold"/>
            </a:endParaRPr>
          </a:p>
        </p:txBody>
      </p:sp>
      <p:cxnSp>
        <p:nvCxnSpPr>
          <p:cNvPr id="550" name="Google Shape;550;g3cb20f13e01_0_474"/>
          <p:cNvCxnSpPr>
            <a:stCxn id="551" idx="3"/>
            <a:endCxn id="552" idx="1"/>
          </p:cNvCxnSpPr>
          <p:nvPr/>
        </p:nvCxnSpPr>
        <p:spPr>
          <a:xfrm flipH="1" rot="10800000">
            <a:off x="2741438" y="3440700"/>
            <a:ext cx="787500" cy="3600"/>
          </a:xfrm>
          <a:prstGeom prst="bentConnector3">
            <a:avLst>
              <a:gd fmla="val 36490" name="adj1"/>
            </a:avLst>
          </a:prstGeom>
          <a:noFill/>
          <a:ln cap="flat" cmpd="sng" w="9525">
            <a:solidFill>
              <a:srgbClr val="000000"/>
            </a:solidFill>
            <a:prstDash val="solid"/>
            <a:round/>
            <a:headEnd len="sm" w="sm" type="none"/>
            <a:tailEnd len="med" w="med" type="stealth"/>
          </a:ln>
        </p:spPr>
      </p:cxnSp>
      <p:sp>
        <p:nvSpPr>
          <p:cNvPr id="551" name="Google Shape;551;g3cb20f13e01_0_474"/>
          <p:cNvSpPr txBox="1"/>
          <p:nvPr/>
        </p:nvSpPr>
        <p:spPr>
          <a:xfrm>
            <a:off x="789038" y="3174450"/>
            <a:ext cx="1952400" cy="539700"/>
          </a:xfrm>
          <a:prstGeom prst="rect">
            <a:avLst/>
          </a:prstGeom>
          <a:solidFill>
            <a:srgbClr val="E4F9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ru-RU" sz="1600" u="none" cap="none" strike="noStrike">
                <a:solidFill>
                  <a:srgbClr val="000000"/>
                </a:solidFill>
                <a:latin typeface="Montserrat SemiBold"/>
                <a:ea typeface="Montserrat SemiBold"/>
                <a:cs typeface="Montserrat SemiBold"/>
                <a:sym typeface="Montserrat SemiBold"/>
              </a:rPr>
              <a:t>Данные</a:t>
            </a:r>
            <a:endParaRPr b="0" i="0" sz="1600" u="none" cap="none" strike="noStrike">
              <a:solidFill>
                <a:srgbClr val="000000"/>
              </a:solidFill>
              <a:latin typeface="Montserrat SemiBold"/>
              <a:ea typeface="Montserrat SemiBold"/>
              <a:cs typeface="Montserrat SemiBold"/>
              <a:sym typeface="Montserrat SemiBold"/>
            </a:endParaRPr>
          </a:p>
        </p:txBody>
      </p:sp>
      <p:sp>
        <p:nvSpPr>
          <p:cNvPr id="553" name="Google Shape;553;g3cb20f13e01_0_474"/>
          <p:cNvSpPr txBox="1"/>
          <p:nvPr/>
        </p:nvSpPr>
        <p:spPr>
          <a:xfrm>
            <a:off x="6567013" y="3166950"/>
            <a:ext cx="1952400" cy="547200"/>
          </a:xfrm>
          <a:prstGeom prst="rect">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Montserrat SemiBold"/>
                <a:ea typeface="Montserrat SemiBold"/>
                <a:cs typeface="Montserrat SemiBold"/>
                <a:sym typeface="Montserrat SemiBold"/>
              </a:rPr>
              <a:t>Ответ</a:t>
            </a:r>
            <a:endParaRPr b="0" i="0" sz="1600" u="none" cap="none" strike="noStrike">
              <a:solidFill>
                <a:srgbClr val="000000"/>
              </a:solidFill>
              <a:latin typeface="Montserrat SemiBold"/>
              <a:ea typeface="Montserrat SemiBold"/>
              <a:cs typeface="Montserrat SemiBold"/>
              <a:sym typeface="Montserrat SemiBold"/>
            </a:endParaRPr>
          </a:p>
        </p:txBody>
      </p:sp>
      <p:cxnSp>
        <p:nvCxnSpPr>
          <p:cNvPr id="554" name="Google Shape;554;g3cb20f13e01_0_474"/>
          <p:cNvCxnSpPr>
            <a:stCxn id="552" idx="3"/>
            <a:endCxn id="553" idx="1"/>
          </p:cNvCxnSpPr>
          <p:nvPr/>
        </p:nvCxnSpPr>
        <p:spPr>
          <a:xfrm>
            <a:off x="5997850" y="3440550"/>
            <a:ext cx="569100" cy="600"/>
          </a:xfrm>
          <a:prstGeom prst="bentConnector3">
            <a:avLst>
              <a:gd fmla="val 50006" name="adj1"/>
            </a:avLst>
          </a:prstGeom>
          <a:noFill/>
          <a:ln cap="flat" cmpd="sng" w="9525">
            <a:solidFill>
              <a:srgbClr val="000000"/>
            </a:solidFill>
            <a:prstDash val="solid"/>
            <a:round/>
            <a:headEnd len="sm" w="sm" type="none"/>
            <a:tailEnd len="med" w="med" type="stealth"/>
          </a:ln>
        </p:spPr>
      </p:cxnSp>
      <p:sp>
        <p:nvSpPr>
          <p:cNvPr id="552" name="Google Shape;552;g3cb20f13e01_0_474"/>
          <p:cNvSpPr/>
          <p:nvPr/>
        </p:nvSpPr>
        <p:spPr>
          <a:xfrm>
            <a:off x="3316150" y="2978550"/>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Программа</a:t>
            </a:r>
            <a:endParaRPr b="0" i="0" sz="1500" u="none" cap="none" strike="noStrike">
              <a:solidFill>
                <a:srgbClr val="000000"/>
              </a:solidFill>
              <a:latin typeface="Montserrat SemiBold"/>
              <a:ea typeface="Montserrat SemiBold"/>
              <a:cs typeface="Montserrat SemiBold"/>
              <a:sym typeface="Montserrat SemiBold"/>
            </a:endParaRPr>
          </a:p>
        </p:txBody>
      </p:sp>
      <p:sp>
        <p:nvSpPr>
          <p:cNvPr id="555" name="Google Shape;555;g3cb20f13e01_0_474"/>
          <p:cNvSpPr/>
          <p:nvPr/>
        </p:nvSpPr>
        <p:spPr>
          <a:xfrm>
            <a:off x="3316150" y="4762775"/>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Система</a:t>
            </a:r>
            <a:endParaRPr b="0" i="0" sz="1500" u="none" cap="none" strike="noStrike">
              <a:solidFill>
                <a:srgbClr val="000000"/>
              </a:solidFill>
              <a:latin typeface="Montserrat SemiBold"/>
              <a:ea typeface="Montserrat SemiBold"/>
              <a:cs typeface="Montserrat SemiBold"/>
              <a:sym typeface="Montserrat SemiBold"/>
            </a:endParaRPr>
          </a:p>
        </p:txBody>
      </p:sp>
      <p:sp>
        <p:nvSpPr>
          <p:cNvPr id="556" name="Google Shape;556;g3cb20f13e01_0_474"/>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Сравнение традиционного программирования и машинного обучения</a:t>
            </a:r>
            <a:endParaRPr b="1" i="0" sz="36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grpSp>
        <p:nvGrpSpPr>
          <p:cNvPr id="561" name="Google Shape;561;g3cb20f13e01_0_506"/>
          <p:cNvGrpSpPr/>
          <p:nvPr/>
        </p:nvGrpSpPr>
        <p:grpSpPr>
          <a:xfrm>
            <a:off x="9353973" y="-1553420"/>
            <a:ext cx="2854020" cy="13716631"/>
            <a:chOff x="9353973" y="-1553420"/>
            <a:chExt cx="2854020" cy="13716631"/>
          </a:xfrm>
        </p:grpSpPr>
        <p:grpSp>
          <p:nvGrpSpPr>
            <p:cNvPr id="562" name="Google Shape;562;g3cb20f13e01_0_506"/>
            <p:cNvGrpSpPr/>
            <p:nvPr/>
          </p:nvGrpSpPr>
          <p:grpSpPr>
            <a:xfrm>
              <a:off x="9353973" y="-1553420"/>
              <a:ext cx="2838027" cy="13716631"/>
              <a:chOff x="9353973" y="-6079700"/>
              <a:chExt cx="2838027" cy="13716631"/>
            </a:xfrm>
          </p:grpSpPr>
          <p:pic>
            <p:nvPicPr>
              <p:cNvPr id="563" name="Google Shape;563;g3cb20f13e01_0_506"/>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564" name="Google Shape;564;g3cb20f13e01_0_506"/>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565" name="Google Shape;565;g3cb20f13e01_0_506"/>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6" name="Google Shape;566;g3cb20f13e01_0_506"/>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567" name="Google Shape;567;g3cb20f13e01_0_506"/>
          <p:cNvPicPr preferRelativeResize="0"/>
          <p:nvPr/>
        </p:nvPicPr>
        <p:blipFill rotWithShape="1">
          <a:blip r:embed="rId4">
            <a:alphaModFix/>
          </a:blip>
          <a:srcRect b="0" l="0" r="0" t="0"/>
          <a:stretch/>
        </p:blipFill>
        <p:spPr>
          <a:xfrm rot="-3600001">
            <a:off x="8854340" y="3963088"/>
            <a:ext cx="3047977" cy="3052211"/>
          </a:xfrm>
          <a:prstGeom prst="rect">
            <a:avLst/>
          </a:prstGeom>
          <a:noFill/>
          <a:ln>
            <a:noFill/>
          </a:ln>
        </p:spPr>
      </p:pic>
      <p:sp>
        <p:nvSpPr>
          <p:cNvPr id="568" name="Google Shape;568;g3cb20f13e01_0_506"/>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Сравнение традиционного программирования и машинного обучения</a:t>
            </a:r>
            <a:endParaRPr b="1" i="0" sz="3600" u="none" cap="none" strike="noStrike">
              <a:solidFill>
                <a:schemeClr val="dk1"/>
              </a:solidFill>
              <a:latin typeface="IBM Plex Sans"/>
              <a:ea typeface="IBM Plex Sans"/>
              <a:cs typeface="IBM Plex Sans"/>
              <a:sym typeface="IBM Plex Sans"/>
            </a:endParaRPr>
          </a:p>
        </p:txBody>
      </p:sp>
      <p:cxnSp>
        <p:nvCxnSpPr>
          <p:cNvPr id="569" name="Google Shape;569;g3cb20f13e01_0_506"/>
          <p:cNvCxnSpPr>
            <a:stCxn id="570" idx="3"/>
            <a:endCxn id="571" idx="1"/>
          </p:cNvCxnSpPr>
          <p:nvPr/>
        </p:nvCxnSpPr>
        <p:spPr>
          <a:xfrm>
            <a:off x="2659213" y="4732625"/>
            <a:ext cx="781800" cy="432600"/>
          </a:xfrm>
          <a:prstGeom prst="bentConnector3">
            <a:avLst>
              <a:gd fmla="val 36402" name="adj1"/>
            </a:avLst>
          </a:prstGeom>
          <a:noFill/>
          <a:ln cap="flat" cmpd="sng" w="9525">
            <a:solidFill>
              <a:srgbClr val="000000"/>
            </a:solidFill>
            <a:prstDash val="solid"/>
            <a:round/>
            <a:headEnd len="sm" w="sm" type="none"/>
            <a:tailEnd len="med" w="med" type="stealth"/>
          </a:ln>
        </p:spPr>
      </p:cxnSp>
      <p:cxnSp>
        <p:nvCxnSpPr>
          <p:cNvPr id="572" name="Google Shape;572;g3cb20f13e01_0_506"/>
          <p:cNvCxnSpPr>
            <a:stCxn id="573" idx="3"/>
            <a:endCxn id="571" idx="1"/>
          </p:cNvCxnSpPr>
          <p:nvPr/>
        </p:nvCxnSpPr>
        <p:spPr>
          <a:xfrm flipH="1" rot="10800000">
            <a:off x="2659213" y="5165300"/>
            <a:ext cx="781800" cy="524100"/>
          </a:xfrm>
          <a:prstGeom prst="bentConnector3">
            <a:avLst>
              <a:gd fmla="val 36402" name="adj1"/>
            </a:avLst>
          </a:prstGeom>
          <a:noFill/>
          <a:ln cap="flat" cmpd="sng" w="9525">
            <a:solidFill>
              <a:srgbClr val="000000"/>
            </a:solidFill>
            <a:prstDash val="solid"/>
            <a:round/>
            <a:headEnd len="sm" w="sm" type="none"/>
            <a:tailEnd len="med" w="med" type="stealth"/>
          </a:ln>
        </p:spPr>
      </p:cxnSp>
      <p:sp>
        <p:nvSpPr>
          <p:cNvPr id="570" name="Google Shape;570;g3cb20f13e01_0_506"/>
          <p:cNvSpPr txBox="1"/>
          <p:nvPr/>
        </p:nvSpPr>
        <p:spPr>
          <a:xfrm>
            <a:off x="706813" y="4462775"/>
            <a:ext cx="1952400" cy="539700"/>
          </a:xfrm>
          <a:prstGeom prst="rect">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Montserrat SemiBold"/>
                <a:ea typeface="Montserrat SemiBold"/>
                <a:cs typeface="Montserrat SemiBold"/>
                <a:sym typeface="Montserrat SemiBold"/>
              </a:rPr>
              <a:t>4</a:t>
            </a:r>
            <a:endParaRPr b="0" i="0" sz="1600" u="none" cap="none" strike="noStrike">
              <a:solidFill>
                <a:srgbClr val="000000"/>
              </a:solidFill>
              <a:latin typeface="Montserrat SemiBold"/>
              <a:ea typeface="Montserrat SemiBold"/>
              <a:cs typeface="Montserrat SemiBold"/>
              <a:sym typeface="Montserrat SemiBold"/>
            </a:endParaRPr>
          </a:p>
        </p:txBody>
      </p:sp>
      <p:sp>
        <p:nvSpPr>
          <p:cNvPr id="573" name="Google Shape;573;g3cb20f13e01_0_506"/>
          <p:cNvSpPr txBox="1"/>
          <p:nvPr/>
        </p:nvSpPr>
        <p:spPr>
          <a:xfrm>
            <a:off x="706813" y="5419550"/>
            <a:ext cx="1952400" cy="539700"/>
          </a:xfrm>
          <a:prstGeom prst="rect">
            <a:avLst/>
          </a:prstGeom>
          <a:solidFill>
            <a:srgbClr val="E4F9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ru-RU" sz="1600" u="none" cap="none" strike="noStrike">
                <a:solidFill>
                  <a:srgbClr val="000000"/>
                </a:solidFill>
                <a:latin typeface="Montserrat SemiBold"/>
                <a:ea typeface="Montserrat SemiBold"/>
                <a:cs typeface="Montserrat SemiBold"/>
                <a:sym typeface="Montserrat SemiBold"/>
              </a:rPr>
              <a:t>2 и 2</a:t>
            </a:r>
            <a:endParaRPr b="0" i="0" sz="1600" u="none" cap="none" strike="noStrike">
              <a:solidFill>
                <a:srgbClr val="000000"/>
              </a:solidFill>
              <a:latin typeface="Montserrat SemiBold"/>
              <a:ea typeface="Montserrat SemiBold"/>
              <a:cs typeface="Montserrat SemiBold"/>
              <a:sym typeface="Montserrat SemiBold"/>
            </a:endParaRPr>
          </a:p>
        </p:txBody>
      </p:sp>
      <p:sp>
        <p:nvSpPr>
          <p:cNvPr id="574" name="Google Shape;574;g3cb20f13e01_0_506"/>
          <p:cNvSpPr txBox="1"/>
          <p:nvPr/>
        </p:nvSpPr>
        <p:spPr>
          <a:xfrm>
            <a:off x="6479263" y="4891725"/>
            <a:ext cx="1952400" cy="547200"/>
          </a:xfrm>
          <a:prstGeom prst="rect">
            <a:avLst/>
          </a:prstGeom>
          <a:solidFill>
            <a:srgbClr val="E4F9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Montserrat SemiBold"/>
                <a:ea typeface="Montserrat SemiBold"/>
                <a:cs typeface="Montserrat SemiBold"/>
                <a:sym typeface="Montserrat SemiBold"/>
              </a:rPr>
              <a:t>сложить</a:t>
            </a:r>
            <a:endParaRPr b="0" i="0" sz="1600" u="none" cap="none" strike="noStrike">
              <a:solidFill>
                <a:srgbClr val="000000"/>
              </a:solidFill>
              <a:latin typeface="Montserrat SemiBold"/>
              <a:ea typeface="Montserrat SemiBold"/>
              <a:cs typeface="Montserrat SemiBold"/>
              <a:sym typeface="Montserrat SemiBold"/>
            </a:endParaRPr>
          </a:p>
        </p:txBody>
      </p:sp>
      <p:cxnSp>
        <p:nvCxnSpPr>
          <p:cNvPr id="575" name="Google Shape;575;g3cb20f13e01_0_506"/>
          <p:cNvCxnSpPr>
            <a:stCxn id="571" idx="3"/>
            <a:endCxn id="574" idx="1"/>
          </p:cNvCxnSpPr>
          <p:nvPr/>
        </p:nvCxnSpPr>
        <p:spPr>
          <a:xfrm>
            <a:off x="5910100" y="5165325"/>
            <a:ext cx="569100" cy="600"/>
          </a:xfrm>
          <a:prstGeom prst="bentConnector3">
            <a:avLst>
              <a:gd fmla="val 50006" name="adj1"/>
            </a:avLst>
          </a:prstGeom>
          <a:noFill/>
          <a:ln cap="flat" cmpd="sng" w="9525">
            <a:solidFill>
              <a:srgbClr val="000000"/>
            </a:solidFill>
            <a:prstDash val="solid"/>
            <a:round/>
            <a:headEnd len="sm" w="sm" type="none"/>
            <a:tailEnd len="med" w="med" type="stealth"/>
          </a:ln>
        </p:spPr>
      </p:cxnSp>
      <p:sp>
        <p:nvSpPr>
          <p:cNvPr id="571" name="Google Shape;571;g3cb20f13e01_0_506"/>
          <p:cNvSpPr/>
          <p:nvPr/>
        </p:nvSpPr>
        <p:spPr>
          <a:xfrm>
            <a:off x="3228400" y="4703325"/>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Система</a:t>
            </a:r>
            <a:endParaRPr b="0" i="0" sz="1500" u="none" cap="none" strike="noStrike">
              <a:solidFill>
                <a:srgbClr val="000000"/>
              </a:solidFill>
              <a:latin typeface="Montserrat SemiBold"/>
              <a:ea typeface="Montserrat SemiBold"/>
              <a:cs typeface="Montserrat SemiBold"/>
              <a:sym typeface="Montserrat SemiBold"/>
            </a:endParaRPr>
          </a:p>
        </p:txBody>
      </p:sp>
      <p:cxnSp>
        <p:nvCxnSpPr>
          <p:cNvPr id="576" name="Google Shape;576;g3cb20f13e01_0_506"/>
          <p:cNvCxnSpPr>
            <a:stCxn id="577" idx="3"/>
            <a:endCxn id="578" idx="1"/>
          </p:cNvCxnSpPr>
          <p:nvPr/>
        </p:nvCxnSpPr>
        <p:spPr>
          <a:xfrm flipH="1" rot="10800000">
            <a:off x="2659212" y="3381250"/>
            <a:ext cx="787500" cy="3600"/>
          </a:xfrm>
          <a:prstGeom prst="bentConnector3">
            <a:avLst>
              <a:gd fmla="val 36490" name="adj1"/>
            </a:avLst>
          </a:prstGeom>
          <a:noFill/>
          <a:ln cap="flat" cmpd="sng" w="9525">
            <a:solidFill>
              <a:srgbClr val="000000"/>
            </a:solidFill>
            <a:prstDash val="solid"/>
            <a:round/>
            <a:headEnd len="sm" w="sm" type="none"/>
            <a:tailEnd len="med" w="med" type="stealth"/>
          </a:ln>
        </p:spPr>
      </p:cxnSp>
      <p:sp>
        <p:nvSpPr>
          <p:cNvPr id="577" name="Google Shape;577;g3cb20f13e01_0_506"/>
          <p:cNvSpPr txBox="1"/>
          <p:nvPr/>
        </p:nvSpPr>
        <p:spPr>
          <a:xfrm>
            <a:off x="706812" y="3115000"/>
            <a:ext cx="1952400" cy="539700"/>
          </a:xfrm>
          <a:prstGeom prst="rect">
            <a:avLst/>
          </a:prstGeom>
          <a:solidFill>
            <a:srgbClr val="E4F9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ru-RU" sz="1600" u="none" cap="none" strike="noStrike">
                <a:solidFill>
                  <a:srgbClr val="000000"/>
                </a:solidFill>
                <a:latin typeface="Montserrat SemiBold"/>
                <a:ea typeface="Montserrat SemiBold"/>
                <a:cs typeface="Montserrat SemiBold"/>
                <a:sym typeface="Montserrat SemiBold"/>
              </a:rPr>
              <a:t>2 и 2</a:t>
            </a:r>
            <a:endParaRPr b="0" i="0" sz="1600" u="none" cap="none" strike="noStrike">
              <a:solidFill>
                <a:srgbClr val="000000"/>
              </a:solidFill>
              <a:latin typeface="Montserrat SemiBold"/>
              <a:ea typeface="Montserrat SemiBold"/>
              <a:cs typeface="Montserrat SemiBold"/>
              <a:sym typeface="Montserrat SemiBold"/>
            </a:endParaRPr>
          </a:p>
        </p:txBody>
      </p:sp>
      <p:sp>
        <p:nvSpPr>
          <p:cNvPr id="579" name="Google Shape;579;g3cb20f13e01_0_506"/>
          <p:cNvSpPr txBox="1"/>
          <p:nvPr/>
        </p:nvSpPr>
        <p:spPr>
          <a:xfrm>
            <a:off x="6484788" y="3107500"/>
            <a:ext cx="1952400" cy="547200"/>
          </a:xfrm>
          <a:prstGeom prst="rect">
            <a:avLst/>
          </a:prstGeom>
          <a:solidFill>
            <a:srgbClr val="C9DAF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Montserrat SemiBold"/>
                <a:ea typeface="Montserrat SemiBold"/>
                <a:cs typeface="Montserrat SemiBold"/>
                <a:sym typeface="Montserrat SemiBold"/>
              </a:rPr>
              <a:t>4</a:t>
            </a:r>
            <a:endParaRPr b="0" i="0" sz="1600" u="none" cap="none" strike="noStrike">
              <a:solidFill>
                <a:srgbClr val="000000"/>
              </a:solidFill>
              <a:latin typeface="Montserrat SemiBold"/>
              <a:ea typeface="Montserrat SemiBold"/>
              <a:cs typeface="Montserrat SemiBold"/>
              <a:sym typeface="Montserrat SemiBold"/>
            </a:endParaRPr>
          </a:p>
        </p:txBody>
      </p:sp>
      <p:cxnSp>
        <p:nvCxnSpPr>
          <p:cNvPr id="580" name="Google Shape;580;g3cb20f13e01_0_506"/>
          <p:cNvCxnSpPr>
            <a:stCxn id="578" idx="3"/>
            <a:endCxn id="579" idx="1"/>
          </p:cNvCxnSpPr>
          <p:nvPr/>
        </p:nvCxnSpPr>
        <p:spPr>
          <a:xfrm>
            <a:off x="5915625" y="3381100"/>
            <a:ext cx="569100" cy="600"/>
          </a:xfrm>
          <a:prstGeom prst="bentConnector3">
            <a:avLst>
              <a:gd fmla="val 50006" name="adj1"/>
            </a:avLst>
          </a:prstGeom>
          <a:noFill/>
          <a:ln cap="flat" cmpd="sng" w="9525">
            <a:solidFill>
              <a:srgbClr val="000000"/>
            </a:solidFill>
            <a:prstDash val="solid"/>
            <a:round/>
            <a:headEnd len="sm" w="sm" type="none"/>
            <a:tailEnd len="med" w="med" type="stealth"/>
          </a:ln>
        </p:spPr>
      </p:cxnSp>
      <p:sp>
        <p:nvSpPr>
          <p:cNvPr id="578" name="Google Shape;578;g3cb20f13e01_0_506"/>
          <p:cNvSpPr/>
          <p:nvPr/>
        </p:nvSpPr>
        <p:spPr>
          <a:xfrm>
            <a:off x="3233925" y="2919100"/>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Montserrat SemiBold"/>
                <a:ea typeface="Montserrat SemiBold"/>
                <a:cs typeface="Montserrat SemiBold"/>
                <a:sym typeface="Montserrat SemiBold"/>
              </a:rPr>
              <a:t>сложить</a:t>
            </a:r>
            <a:endParaRPr b="0" i="0" sz="1400" u="none" cap="none" strike="noStrike">
              <a:solidFill>
                <a:srgbClr val="000000"/>
              </a:solidFill>
              <a:latin typeface="Montserrat SemiBold"/>
              <a:ea typeface="Montserrat SemiBold"/>
              <a:cs typeface="Montserrat SemiBold"/>
              <a:sym typeface="Montserrat SemiBo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grpSp>
        <p:nvGrpSpPr>
          <p:cNvPr id="585" name="Google Shape;585;g3cb20f13e01_0_554"/>
          <p:cNvGrpSpPr/>
          <p:nvPr/>
        </p:nvGrpSpPr>
        <p:grpSpPr>
          <a:xfrm>
            <a:off x="9353973" y="-1553420"/>
            <a:ext cx="2854020" cy="13716631"/>
            <a:chOff x="9353973" y="-1553420"/>
            <a:chExt cx="2854020" cy="13716631"/>
          </a:xfrm>
        </p:grpSpPr>
        <p:grpSp>
          <p:nvGrpSpPr>
            <p:cNvPr id="586" name="Google Shape;586;g3cb20f13e01_0_554"/>
            <p:cNvGrpSpPr/>
            <p:nvPr/>
          </p:nvGrpSpPr>
          <p:grpSpPr>
            <a:xfrm>
              <a:off x="9353973" y="-1553420"/>
              <a:ext cx="2838027" cy="13716631"/>
              <a:chOff x="9353973" y="-6079700"/>
              <a:chExt cx="2838027" cy="13716631"/>
            </a:xfrm>
          </p:grpSpPr>
          <p:pic>
            <p:nvPicPr>
              <p:cNvPr id="587" name="Google Shape;587;g3cb20f13e01_0_554"/>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588" name="Google Shape;588;g3cb20f13e01_0_554"/>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589" name="Google Shape;589;g3cb20f13e01_0_554"/>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0" name="Google Shape;590;g3cb20f13e01_0_554"/>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591" name="Google Shape;591;g3cb20f13e01_0_554"/>
          <p:cNvPicPr preferRelativeResize="0"/>
          <p:nvPr/>
        </p:nvPicPr>
        <p:blipFill rotWithShape="1">
          <a:blip r:embed="rId4">
            <a:alphaModFix/>
          </a:blip>
          <a:srcRect b="0" l="0" r="0" t="0"/>
          <a:stretch/>
        </p:blipFill>
        <p:spPr>
          <a:xfrm rot="-3600001">
            <a:off x="8854340" y="3963088"/>
            <a:ext cx="3047977" cy="3052211"/>
          </a:xfrm>
          <a:prstGeom prst="rect">
            <a:avLst/>
          </a:prstGeom>
          <a:noFill/>
          <a:ln>
            <a:noFill/>
          </a:ln>
        </p:spPr>
      </p:pic>
      <p:sp>
        <p:nvSpPr>
          <p:cNvPr id="592" name="Google Shape;592;g3cb20f13e01_0_554"/>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Основные термины машинного обучения</a:t>
            </a:r>
            <a:endParaRPr b="1" i="0" sz="3600" u="none" cap="none" strike="noStrike">
              <a:solidFill>
                <a:schemeClr val="dk1"/>
              </a:solidFill>
              <a:latin typeface="IBM Plex Sans"/>
              <a:ea typeface="IBM Plex Sans"/>
              <a:cs typeface="IBM Plex Sans"/>
              <a:sym typeface="IBM Plex Sans"/>
            </a:endParaRPr>
          </a:p>
        </p:txBody>
      </p:sp>
      <p:cxnSp>
        <p:nvCxnSpPr>
          <p:cNvPr id="593" name="Google Shape;593;g3cb20f13e01_0_554"/>
          <p:cNvCxnSpPr>
            <a:endCxn id="594" idx="1"/>
          </p:cNvCxnSpPr>
          <p:nvPr/>
        </p:nvCxnSpPr>
        <p:spPr>
          <a:xfrm>
            <a:off x="2894180" y="3509326"/>
            <a:ext cx="781800" cy="432600"/>
          </a:xfrm>
          <a:prstGeom prst="bentConnector3">
            <a:avLst>
              <a:gd fmla="val 36394" name="adj1"/>
            </a:avLst>
          </a:prstGeom>
          <a:noFill/>
          <a:ln cap="flat" cmpd="sng" w="9525">
            <a:solidFill>
              <a:srgbClr val="000000"/>
            </a:solidFill>
            <a:prstDash val="solid"/>
            <a:round/>
            <a:headEnd len="sm" w="sm" type="none"/>
            <a:tailEnd len="med" w="med" type="stealth"/>
          </a:ln>
        </p:spPr>
      </p:cxnSp>
      <p:cxnSp>
        <p:nvCxnSpPr>
          <p:cNvPr id="595" name="Google Shape;595;g3cb20f13e01_0_554"/>
          <p:cNvCxnSpPr>
            <a:endCxn id="594" idx="1"/>
          </p:cNvCxnSpPr>
          <p:nvPr/>
        </p:nvCxnSpPr>
        <p:spPr>
          <a:xfrm flipH="1" rot="10800000">
            <a:off x="2894180" y="3941926"/>
            <a:ext cx="781800" cy="524100"/>
          </a:xfrm>
          <a:prstGeom prst="bentConnector3">
            <a:avLst>
              <a:gd fmla="val 36394" name="adj1"/>
            </a:avLst>
          </a:prstGeom>
          <a:noFill/>
          <a:ln cap="flat" cmpd="sng" w="9525">
            <a:solidFill>
              <a:srgbClr val="000000"/>
            </a:solidFill>
            <a:prstDash val="solid"/>
            <a:round/>
            <a:headEnd len="sm" w="sm" type="none"/>
            <a:tailEnd len="med" w="med" type="stealth"/>
          </a:ln>
        </p:spPr>
      </p:cxnSp>
      <p:cxnSp>
        <p:nvCxnSpPr>
          <p:cNvPr id="596" name="Google Shape;596;g3cb20f13e01_0_554"/>
          <p:cNvCxnSpPr>
            <a:stCxn id="594" idx="3"/>
          </p:cNvCxnSpPr>
          <p:nvPr/>
        </p:nvCxnSpPr>
        <p:spPr>
          <a:xfrm flipH="1" rot="10800000">
            <a:off x="6144929" y="3938026"/>
            <a:ext cx="569100" cy="3900"/>
          </a:xfrm>
          <a:prstGeom prst="bentConnector3">
            <a:avLst>
              <a:gd fmla="val 50000" name="adj1"/>
            </a:avLst>
          </a:prstGeom>
          <a:noFill/>
          <a:ln cap="flat" cmpd="sng" w="9525">
            <a:solidFill>
              <a:srgbClr val="000000"/>
            </a:solidFill>
            <a:prstDash val="solid"/>
            <a:round/>
            <a:headEnd len="sm" w="sm" type="none"/>
            <a:tailEnd len="med" w="med" type="stealth"/>
          </a:ln>
        </p:spPr>
      </p:cxnSp>
      <p:sp>
        <p:nvSpPr>
          <p:cNvPr id="594" name="Google Shape;594;g3cb20f13e01_0_554"/>
          <p:cNvSpPr/>
          <p:nvPr/>
        </p:nvSpPr>
        <p:spPr>
          <a:xfrm>
            <a:off x="3463229" y="3479926"/>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Система</a:t>
            </a:r>
            <a:endParaRPr b="0" i="0" sz="1500" u="none" cap="none" strike="noStrike">
              <a:solidFill>
                <a:srgbClr val="000000"/>
              </a:solidFill>
              <a:latin typeface="Montserrat SemiBold"/>
              <a:ea typeface="Montserrat SemiBold"/>
              <a:cs typeface="Montserrat SemiBold"/>
              <a:sym typeface="Montserrat SemiBold"/>
            </a:endParaRPr>
          </a:p>
        </p:txBody>
      </p:sp>
      <p:sp>
        <p:nvSpPr>
          <p:cNvPr id="597" name="Google Shape;597;g3cb20f13e01_0_554"/>
          <p:cNvSpPr txBox="1"/>
          <p:nvPr/>
        </p:nvSpPr>
        <p:spPr>
          <a:xfrm>
            <a:off x="1055692" y="3335801"/>
            <a:ext cx="1952400" cy="539700"/>
          </a:xfrm>
          <a:prstGeom prst="rect">
            <a:avLst/>
          </a:prstGeom>
          <a:solidFill>
            <a:srgbClr val="C9DAF8"/>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Arial"/>
                <a:ea typeface="Arial"/>
                <a:cs typeface="Arial"/>
                <a:sym typeface="Arial"/>
              </a:rPr>
              <a:t>Состояние неба</a:t>
            </a:r>
            <a:endParaRPr b="0" i="0" sz="1600" u="none" cap="none" strike="noStrike">
              <a:solidFill>
                <a:srgbClr val="000000"/>
              </a:solidFill>
              <a:latin typeface="Arial"/>
              <a:ea typeface="Arial"/>
              <a:cs typeface="Arial"/>
              <a:sym typeface="Arial"/>
            </a:endParaRPr>
          </a:p>
        </p:txBody>
      </p:sp>
      <p:sp>
        <p:nvSpPr>
          <p:cNvPr id="598" name="Google Shape;598;g3cb20f13e01_0_554"/>
          <p:cNvSpPr txBox="1"/>
          <p:nvPr/>
        </p:nvSpPr>
        <p:spPr>
          <a:xfrm>
            <a:off x="1055692" y="4292576"/>
            <a:ext cx="1952400" cy="539700"/>
          </a:xfrm>
          <a:prstGeom prst="rect">
            <a:avLst/>
          </a:prstGeom>
          <a:solidFill>
            <a:srgbClr val="E4F9FD"/>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Arial"/>
                <a:ea typeface="Arial"/>
                <a:cs typeface="Arial"/>
                <a:sym typeface="Arial"/>
              </a:rPr>
              <a:t>Был ли дождь</a:t>
            </a:r>
            <a:endParaRPr b="0" i="0" sz="1600" u="none" cap="none" strike="noStrike">
              <a:solidFill>
                <a:srgbClr val="000000"/>
              </a:solidFill>
              <a:latin typeface="Arial"/>
              <a:ea typeface="Arial"/>
              <a:cs typeface="Arial"/>
              <a:sym typeface="Arial"/>
            </a:endParaRPr>
          </a:p>
        </p:txBody>
      </p:sp>
      <p:pic>
        <p:nvPicPr>
          <p:cNvPr id="599" name="Google Shape;599;g3cb20f13e01_0_554"/>
          <p:cNvPicPr preferRelativeResize="0"/>
          <p:nvPr/>
        </p:nvPicPr>
        <p:blipFill rotWithShape="1">
          <a:blip r:embed="rId5">
            <a:alphaModFix/>
          </a:blip>
          <a:srcRect b="0" l="0" r="0" t="0"/>
          <a:stretch/>
        </p:blipFill>
        <p:spPr>
          <a:xfrm>
            <a:off x="3936742" y="3038027"/>
            <a:ext cx="1800312" cy="1807800"/>
          </a:xfrm>
          <a:prstGeom prst="rect">
            <a:avLst/>
          </a:prstGeom>
          <a:noFill/>
          <a:ln>
            <a:noFill/>
          </a:ln>
        </p:spPr>
      </p:pic>
      <p:sp>
        <p:nvSpPr>
          <p:cNvPr id="600" name="Google Shape;600;g3cb20f13e01_0_554"/>
          <p:cNvSpPr/>
          <p:nvPr/>
        </p:nvSpPr>
        <p:spPr>
          <a:xfrm>
            <a:off x="6772663" y="3435837"/>
            <a:ext cx="14634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В хмурый день идет дождь</a:t>
            </a:r>
            <a:endParaRPr b="0" i="0" sz="14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grpSp>
        <p:nvGrpSpPr>
          <p:cNvPr id="605" name="Google Shape;605;g3cb20f13e01_0_606"/>
          <p:cNvGrpSpPr/>
          <p:nvPr/>
        </p:nvGrpSpPr>
        <p:grpSpPr>
          <a:xfrm>
            <a:off x="9353973" y="-1553420"/>
            <a:ext cx="2854020" cy="13716631"/>
            <a:chOff x="9353973" y="-1553420"/>
            <a:chExt cx="2854020" cy="13716631"/>
          </a:xfrm>
        </p:grpSpPr>
        <p:grpSp>
          <p:nvGrpSpPr>
            <p:cNvPr id="606" name="Google Shape;606;g3cb20f13e01_0_606"/>
            <p:cNvGrpSpPr/>
            <p:nvPr/>
          </p:nvGrpSpPr>
          <p:grpSpPr>
            <a:xfrm>
              <a:off x="9353973" y="-1553420"/>
              <a:ext cx="2838027" cy="13716631"/>
              <a:chOff x="9353973" y="-6079700"/>
              <a:chExt cx="2838027" cy="13716631"/>
            </a:xfrm>
          </p:grpSpPr>
          <p:pic>
            <p:nvPicPr>
              <p:cNvPr id="607" name="Google Shape;607;g3cb20f13e01_0_606"/>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608" name="Google Shape;608;g3cb20f13e01_0_606"/>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609" name="Google Shape;609;g3cb20f13e01_0_606"/>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0" name="Google Shape;610;g3cb20f13e01_0_606"/>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611" name="Google Shape;611;g3cb20f13e01_0_606"/>
          <p:cNvPicPr preferRelativeResize="0"/>
          <p:nvPr/>
        </p:nvPicPr>
        <p:blipFill rotWithShape="1">
          <a:blip r:embed="rId4">
            <a:alphaModFix/>
          </a:blip>
          <a:srcRect b="0" l="0" r="0" t="0"/>
          <a:stretch/>
        </p:blipFill>
        <p:spPr>
          <a:xfrm rot="-3600001">
            <a:off x="8854340" y="3963088"/>
            <a:ext cx="3047977" cy="3052211"/>
          </a:xfrm>
          <a:prstGeom prst="rect">
            <a:avLst/>
          </a:prstGeom>
          <a:noFill/>
          <a:ln>
            <a:noFill/>
          </a:ln>
        </p:spPr>
      </p:pic>
      <p:sp>
        <p:nvSpPr>
          <p:cNvPr id="612" name="Google Shape;612;g3cb20f13e01_0_606"/>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Основные термины машинного обучения</a:t>
            </a:r>
            <a:endParaRPr b="1" i="0" sz="3600" u="none" cap="none" strike="noStrike">
              <a:solidFill>
                <a:schemeClr val="dk1"/>
              </a:solidFill>
              <a:latin typeface="IBM Plex Sans"/>
              <a:ea typeface="IBM Plex Sans"/>
              <a:cs typeface="IBM Plex Sans"/>
              <a:sym typeface="IBM Plex Sans"/>
            </a:endParaRPr>
          </a:p>
        </p:txBody>
      </p:sp>
      <p:cxnSp>
        <p:nvCxnSpPr>
          <p:cNvPr id="613" name="Google Shape;613;g3cb20f13e01_0_606"/>
          <p:cNvCxnSpPr>
            <a:endCxn id="614" idx="1"/>
          </p:cNvCxnSpPr>
          <p:nvPr/>
        </p:nvCxnSpPr>
        <p:spPr>
          <a:xfrm>
            <a:off x="2894180" y="3509326"/>
            <a:ext cx="781800" cy="432600"/>
          </a:xfrm>
          <a:prstGeom prst="bentConnector3">
            <a:avLst>
              <a:gd fmla="val 36394" name="adj1"/>
            </a:avLst>
          </a:prstGeom>
          <a:noFill/>
          <a:ln cap="flat" cmpd="sng" w="9525">
            <a:solidFill>
              <a:srgbClr val="000000"/>
            </a:solidFill>
            <a:prstDash val="solid"/>
            <a:round/>
            <a:headEnd len="sm" w="sm" type="none"/>
            <a:tailEnd len="med" w="med" type="stealth"/>
          </a:ln>
        </p:spPr>
      </p:cxnSp>
      <p:cxnSp>
        <p:nvCxnSpPr>
          <p:cNvPr id="615" name="Google Shape;615;g3cb20f13e01_0_606"/>
          <p:cNvCxnSpPr>
            <a:endCxn id="614" idx="1"/>
          </p:cNvCxnSpPr>
          <p:nvPr/>
        </p:nvCxnSpPr>
        <p:spPr>
          <a:xfrm flipH="1" rot="10800000">
            <a:off x="2894180" y="3941926"/>
            <a:ext cx="781800" cy="524100"/>
          </a:xfrm>
          <a:prstGeom prst="bentConnector3">
            <a:avLst>
              <a:gd fmla="val 36394" name="adj1"/>
            </a:avLst>
          </a:prstGeom>
          <a:noFill/>
          <a:ln cap="flat" cmpd="sng" w="9525">
            <a:solidFill>
              <a:srgbClr val="000000"/>
            </a:solidFill>
            <a:prstDash val="solid"/>
            <a:round/>
            <a:headEnd len="sm" w="sm" type="none"/>
            <a:tailEnd len="med" w="med" type="stealth"/>
          </a:ln>
        </p:spPr>
      </p:cxnSp>
      <p:cxnSp>
        <p:nvCxnSpPr>
          <p:cNvPr id="616" name="Google Shape;616;g3cb20f13e01_0_606"/>
          <p:cNvCxnSpPr>
            <a:stCxn id="614" idx="3"/>
          </p:cNvCxnSpPr>
          <p:nvPr/>
        </p:nvCxnSpPr>
        <p:spPr>
          <a:xfrm flipH="1" rot="10800000">
            <a:off x="6144929" y="3938026"/>
            <a:ext cx="569100" cy="3900"/>
          </a:xfrm>
          <a:prstGeom prst="bentConnector3">
            <a:avLst>
              <a:gd fmla="val 50000" name="adj1"/>
            </a:avLst>
          </a:prstGeom>
          <a:noFill/>
          <a:ln cap="flat" cmpd="sng" w="9525">
            <a:solidFill>
              <a:srgbClr val="000000"/>
            </a:solidFill>
            <a:prstDash val="solid"/>
            <a:round/>
            <a:headEnd len="sm" w="sm" type="none"/>
            <a:tailEnd len="med" w="med" type="stealth"/>
          </a:ln>
        </p:spPr>
      </p:cxnSp>
      <p:sp>
        <p:nvSpPr>
          <p:cNvPr id="614" name="Google Shape;614;g3cb20f13e01_0_606"/>
          <p:cNvSpPr/>
          <p:nvPr/>
        </p:nvSpPr>
        <p:spPr>
          <a:xfrm>
            <a:off x="3463229" y="3479926"/>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Система</a:t>
            </a:r>
            <a:endParaRPr b="0" i="0" sz="1500" u="none" cap="none" strike="noStrike">
              <a:solidFill>
                <a:srgbClr val="000000"/>
              </a:solidFill>
              <a:latin typeface="Montserrat SemiBold"/>
              <a:ea typeface="Montserrat SemiBold"/>
              <a:cs typeface="Montserrat SemiBold"/>
              <a:sym typeface="Montserrat SemiBold"/>
            </a:endParaRPr>
          </a:p>
        </p:txBody>
      </p:sp>
      <p:sp>
        <p:nvSpPr>
          <p:cNvPr id="617" name="Google Shape;617;g3cb20f13e01_0_606"/>
          <p:cNvSpPr txBox="1"/>
          <p:nvPr/>
        </p:nvSpPr>
        <p:spPr>
          <a:xfrm>
            <a:off x="1055692" y="3335801"/>
            <a:ext cx="1952400" cy="539700"/>
          </a:xfrm>
          <a:prstGeom prst="rect">
            <a:avLst/>
          </a:prstGeom>
          <a:solidFill>
            <a:srgbClr val="C9DAF8"/>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Arial"/>
                <a:ea typeface="Arial"/>
                <a:cs typeface="Arial"/>
                <a:sym typeface="Arial"/>
              </a:rPr>
              <a:t>Состояние неба</a:t>
            </a:r>
            <a:endParaRPr b="0" i="0" sz="1600" u="none" cap="none" strike="noStrike">
              <a:solidFill>
                <a:srgbClr val="000000"/>
              </a:solidFill>
              <a:latin typeface="Arial"/>
              <a:ea typeface="Arial"/>
              <a:cs typeface="Arial"/>
              <a:sym typeface="Arial"/>
            </a:endParaRPr>
          </a:p>
        </p:txBody>
      </p:sp>
      <p:sp>
        <p:nvSpPr>
          <p:cNvPr id="618" name="Google Shape;618;g3cb20f13e01_0_606"/>
          <p:cNvSpPr txBox="1"/>
          <p:nvPr/>
        </p:nvSpPr>
        <p:spPr>
          <a:xfrm>
            <a:off x="1055692" y="4292576"/>
            <a:ext cx="1952400" cy="539700"/>
          </a:xfrm>
          <a:prstGeom prst="rect">
            <a:avLst/>
          </a:prstGeom>
          <a:solidFill>
            <a:srgbClr val="E4F9FD"/>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Arial"/>
                <a:ea typeface="Arial"/>
                <a:cs typeface="Arial"/>
                <a:sym typeface="Arial"/>
              </a:rPr>
              <a:t>Был ли дождь</a:t>
            </a:r>
            <a:endParaRPr b="0" i="0" sz="1600" u="none" cap="none" strike="noStrike">
              <a:solidFill>
                <a:srgbClr val="000000"/>
              </a:solidFill>
              <a:latin typeface="Arial"/>
              <a:ea typeface="Arial"/>
              <a:cs typeface="Arial"/>
              <a:sym typeface="Arial"/>
            </a:endParaRPr>
          </a:p>
        </p:txBody>
      </p:sp>
      <p:sp>
        <p:nvSpPr>
          <p:cNvPr id="619" name="Google Shape;619;g3cb20f13e01_0_606"/>
          <p:cNvSpPr/>
          <p:nvPr/>
        </p:nvSpPr>
        <p:spPr>
          <a:xfrm>
            <a:off x="6772663" y="3435837"/>
            <a:ext cx="14634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В хмурый день идет дождь</a:t>
            </a:r>
            <a:endParaRPr b="0" i="0" sz="1400" u="none" cap="none" strike="noStrike">
              <a:solidFill>
                <a:schemeClr val="dk1"/>
              </a:solidFill>
              <a:latin typeface="IBM Plex Sans"/>
              <a:ea typeface="IBM Plex Sans"/>
              <a:cs typeface="IBM Plex Sans"/>
              <a:sym typeface="IBM Plex Sans"/>
            </a:endParaRPr>
          </a:p>
        </p:txBody>
      </p:sp>
      <p:sp>
        <p:nvSpPr>
          <p:cNvPr id="620" name="Google Shape;620;g3cb20f13e01_0_606"/>
          <p:cNvSpPr/>
          <p:nvPr/>
        </p:nvSpPr>
        <p:spPr>
          <a:xfrm>
            <a:off x="3448541" y="3453032"/>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ontserrat SemiBold"/>
              <a:ea typeface="Montserrat SemiBold"/>
              <a:cs typeface="Montserrat SemiBold"/>
              <a:sym typeface="Montserrat SemiBold"/>
            </a:endParaRPr>
          </a:p>
        </p:txBody>
      </p:sp>
      <p:pic>
        <p:nvPicPr>
          <p:cNvPr descr="Picture background" id="621" name="Google Shape;621;g3cb20f13e01_0_606"/>
          <p:cNvPicPr preferRelativeResize="0"/>
          <p:nvPr/>
        </p:nvPicPr>
        <p:blipFill rotWithShape="1">
          <a:blip r:embed="rId5">
            <a:alphaModFix/>
          </a:blip>
          <a:srcRect b="0" l="0" r="0" t="0"/>
          <a:stretch/>
        </p:blipFill>
        <p:spPr>
          <a:xfrm>
            <a:off x="4371031" y="3472319"/>
            <a:ext cx="877622" cy="877622"/>
          </a:xfrm>
          <a:prstGeom prst="rect">
            <a:avLst/>
          </a:prstGeom>
          <a:noFill/>
          <a:ln>
            <a:noFill/>
          </a:ln>
        </p:spPr>
      </p:pic>
      <p:sp>
        <p:nvSpPr>
          <p:cNvPr id="622" name="Google Shape;622;g3cb20f13e01_0_606"/>
          <p:cNvSpPr/>
          <p:nvPr/>
        </p:nvSpPr>
        <p:spPr>
          <a:xfrm>
            <a:off x="4355039" y="4523467"/>
            <a:ext cx="8340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Arial"/>
                <a:ea typeface="Arial"/>
                <a:cs typeface="Arial"/>
                <a:sym typeface="Arial"/>
              </a:rPr>
              <a:t>Модель</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grpSp>
        <p:nvGrpSpPr>
          <p:cNvPr id="627" name="Google Shape;627;g3cb20f13e01_0_649"/>
          <p:cNvGrpSpPr/>
          <p:nvPr/>
        </p:nvGrpSpPr>
        <p:grpSpPr>
          <a:xfrm>
            <a:off x="9353973" y="-1553420"/>
            <a:ext cx="2854020" cy="13716631"/>
            <a:chOff x="9353973" y="-1553420"/>
            <a:chExt cx="2854020" cy="13716631"/>
          </a:xfrm>
        </p:grpSpPr>
        <p:grpSp>
          <p:nvGrpSpPr>
            <p:cNvPr id="628" name="Google Shape;628;g3cb20f13e01_0_649"/>
            <p:cNvGrpSpPr/>
            <p:nvPr/>
          </p:nvGrpSpPr>
          <p:grpSpPr>
            <a:xfrm>
              <a:off x="9353973" y="-1553420"/>
              <a:ext cx="2838027" cy="13716631"/>
              <a:chOff x="9353973" y="-6079700"/>
              <a:chExt cx="2838027" cy="13716631"/>
            </a:xfrm>
          </p:grpSpPr>
          <p:pic>
            <p:nvPicPr>
              <p:cNvPr id="629" name="Google Shape;629;g3cb20f13e01_0_649"/>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630" name="Google Shape;630;g3cb20f13e01_0_649"/>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631" name="Google Shape;631;g3cb20f13e01_0_649"/>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2" name="Google Shape;632;g3cb20f13e01_0_649"/>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633" name="Google Shape;633;g3cb20f13e01_0_649"/>
          <p:cNvPicPr preferRelativeResize="0"/>
          <p:nvPr/>
        </p:nvPicPr>
        <p:blipFill rotWithShape="1">
          <a:blip r:embed="rId4">
            <a:alphaModFix/>
          </a:blip>
          <a:srcRect b="0" l="0" r="0" t="0"/>
          <a:stretch/>
        </p:blipFill>
        <p:spPr>
          <a:xfrm rot="-3600001">
            <a:off x="8854340" y="3963088"/>
            <a:ext cx="3047977" cy="3052211"/>
          </a:xfrm>
          <a:prstGeom prst="rect">
            <a:avLst/>
          </a:prstGeom>
          <a:noFill/>
          <a:ln>
            <a:noFill/>
          </a:ln>
        </p:spPr>
      </p:pic>
      <p:sp>
        <p:nvSpPr>
          <p:cNvPr id="634" name="Google Shape;634;g3cb20f13e01_0_649"/>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Основные термины машинного обучения</a:t>
            </a:r>
            <a:endParaRPr b="1" i="0" sz="3600" u="none" cap="none" strike="noStrike">
              <a:solidFill>
                <a:schemeClr val="dk1"/>
              </a:solidFill>
              <a:latin typeface="IBM Plex Sans"/>
              <a:ea typeface="IBM Plex Sans"/>
              <a:cs typeface="IBM Plex Sans"/>
              <a:sym typeface="IBM Plex Sans"/>
            </a:endParaRPr>
          </a:p>
        </p:txBody>
      </p:sp>
      <p:cxnSp>
        <p:nvCxnSpPr>
          <p:cNvPr id="635" name="Google Shape;635;g3cb20f13e01_0_649"/>
          <p:cNvCxnSpPr>
            <a:endCxn id="636" idx="1"/>
          </p:cNvCxnSpPr>
          <p:nvPr/>
        </p:nvCxnSpPr>
        <p:spPr>
          <a:xfrm>
            <a:off x="2894180" y="3509326"/>
            <a:ext cx="781800" cy="432600"/>
          </a:xfrm>
          <a:prstGeom prst="bentConnector3">
            <a:avLst>
              <a:gd fmla="val 36394" name="adj1"/>
            </a:avLst>
          </a:prstGeom>
          <a:noFill/>
          <a:ln cap="flat" cmpd="sng" w="9525">
            <a:solidFill>
              <a:srgbClr val="000000"/>
            </a:solidFill>
            <a:prstDash val="solid"/>
            <a:round/>
            <a:headEnd len="sm" w="sm" type="none"/>
            <a:tailEnd len="med" w="med" type="stealth"/>
          </a:ln>
        </p:spPr>
      </p:cxnSp>
      <p:cxnSp>
        <p:nvCxnSpPr>
          <p:cNvPr id="637" name="Google Shape;637;g3cb20f13e01_0_649"/>
          <p:cNvCxnSpPr>
            <a:endCxn id="636" idx="1"/>
          </p:cNvCxnSpPr>
          <p:nvPr/>
        </p:nvCxnSpPr>
        <p:spPr>
          <a:xfrm flipH="1" rot="10800000">
            <a:off x="2894180" y="3941926"/>
            <a:ext cx="781800" cy="524100"/>
          </a:xfrm>
          <a:prstGeom prst="bentConnector3">
            <a:avLst>
              <a:gd fmla="val 36394" name="adj1"/>
            </a:avLst>
          </a:prstGeom>
          <a:noFill/>
          <a:ln cap="flat" cmpd="sng" w="9525">
            <a:solidFill>
              <a:srgbClr val="000000"/>
            </a:solidFill>
            <a:prstDash val="solid"/>
            <a:round/>
            <a:headEnd len="sm" w="sm" type="none"/>
            <a:tailEnd len="med" w="med" type="stealth"/>
          </a:ln>
        </p:spPr>
      </p:cxnSp>
      <p:cxnSp>
        <p:nvCxnSpPr>
          <p:cNvPr id="638" name="Google Shape;638;g3cb20f13e01_0_649"/>
          <p:cNvCxnSpPr>
            <a:stCxn id="636" idx="3"/>
          </p:cNvCxnSpPr>
          <p:nvPr/>
        </p:nvCxnSpPr>
        <p:spPr>
          <a:xfrm flipH="1" rot="10800000">
            <a:off x="6144929" y="3938026"/>
            <a:ext cx="569100" cy="3900"/>
          </a:xfrm>
          <a:prstGeom prst="bentConnector3">
            <a:avLst>
              <a:gd fmla="val 50000" name="adj1"/>
            </a:avLst>
          </a:prstGeom>
          <a:noFill/>
          <a:ln cap="flat" cmpd="sng" w="9525">
            <a:solidFill>
              <a:srgbClr val="000000"/>
            </a:solidFill>
            <a:prstDash val="solid"/>
            <a:round/>
            <a:headEnd len="sm" w="sm" type="none"/>
            <a:tailEnd len="med" w="med" type="stealth"/>
          </a:ln>
        </p:spPr>
      </p:cxnSp>
      <p:sp>
        <p:nvSpPr>
          <p:cNvPr id="636" name="Google Shape;636;g3cb20f13e01_0_649"/>
          <p:cNvSpPr/>
          <p:nvPr/>
        </p:nvSpPr>
        <p:spPr>
          <a:xfrm>
            <a:off x="3463229" y="3479926"/>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Система</a:t>
            </a:r>
            <a:endParaRPr b="0" i="0" sz="1500" u="none" cap="none" strike="noStrike">
              <a:solidFill>
                <a:srgbClr val="000000"/>
              </a:solidFill>
              <a:latin typeface="Montserrat SemiBold"/>
              <a:ea typeface="Montserrat SemiBold"/>
              <a:cs typeface="Montserrat SemiBold"/>
              <a:sym typeface="Montserrat SemiBold"/>
            </a:endParaRPr>
          </a:p>
        </p:txBody>
      </p:sp>
      <p:sp>
        <p:nvSpPr>
          <p:cNvPr id="639" name="Google Shape;639;g3cb20f13e01_0_649"/>
          <p:cNvSpPr txBox="1"/>
          <p:nvPr/>
        </p:nvSpPr>
        <p:spPr>
          <a:xfrm>
            <a:off x="1055692" y="3335801"/>
            <a:ext cx="1952400" cy="539700"/>
          </a:xfrm>
          <a:prstGeom prst="rect">
            <a:avLst/>
          </a:prstGeom>
          <a:solidFill>
            <a:srgbClr val="C9DAF8"/>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Arial"/>
                <a:ea typeface="Arial"/>
                <a:cs typeface="Arial"/>
                <a:sym typeface="Arial"/>
              </a:rPr>
              <a:t>Состояние неба</a:t>
            </a:r>
            <a:endParaRPr b="0" i="0" sz="1600" u="none" cap="none" strike="noStrike">
              <a:solidFill>
                <a:srgbClr val="000000"/>
              </a:solidFill>
              <a:latin typeface="Arial"/>
              <a:ea typeface="Arial"/>
              <a:cs typeface="Arial"/>
              <a:sym typeface="Arial"/>
            </a:endParaRPr>
          </a:p>
        </p:txBody>
      </p:sp>
      <p:sp>
        <p:nvSpPr>
          <p:cNvPr id="640" name="Google Shape;640;g3cb20f13e01_0_649"/>
          <p:cNvSpPr txBox="1"/>
          <p:nvPr/>
        </p:nvSpPr>
        <p:spPr>
          <a:xfrm>
            <a:off x="1055692" y="4292576"/>
            <a:ext cx="1952400" cy="539700"/>
          </a:xfrm>
          <a:prstGeom prst="rect">
            <a:avLst/>
          </a:prstGeom>
          <a:solidFill>
            <a:srgbClr val="E4F9FD"/>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Arial"/>
                <a:ea typeface="Arial"/>
                <a:cs typeface="Arial"/>
                <a:sym typeface="Arial"/>
              </a:rPr>
              <a:t>Был ли дождь</a:t>
            </a:r>
            <a:endParaRPr b="0" i="0" sz="1600" u="none" cap="none" strike="noStrike">
              <a:solidFill>
                <a:srgbClr val="000000"/>
              </a:solidFill>
              <a:latin typeface="Arial"/>
              <a:ea typeface="Arial"/>
              <a:cs typeface="Arial"/>
              <a:sym typeface="Arial"/>
            </a:endParaRPr>
          </a:p>
        </p:txBody>
      </p:sp>
      <p:sp>
        <p:nvSpPr>
          <p:cNvPr id="641" name="Google Shape;641;g3cb20f13e01_0_649"/>
          <p:cNvSpPr/>
          <p:nvPr/>
        </p:nvSpPr>
        <p:spPr>
          <a:xfrm>
            <a:off x="6772663" y="3435837"/>
            <a:ext cx="14634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В хмурый день идет дождь</a:t>
            </a:r>
            <a:endParaRPr b="0" i="0" sz="1400" u="none" cap="none" strike="noStrike">
              <a:solidFill>
                <a:schemeClr val="dk1"/>
              </a:solidFill>
              <a:latin typeface="IBM Plex Sans"/>
              <a:ea typeface="IBM Plex Sans"/>
              <a:cs typeface="IBM Plex Sans"/>
              <a:sym typeface="IBM Plex Sans"/>
            </a:endParaRPr>
          </a:p>
        </p:txBody>
      </p:sp>
      <p:sp>
        <p:nvSpPr>
          <p:cNvPr id="642" name="Google Shape;642;g3cb20f13e01_0_649"/>
          <p:cNvSpPr/>
          <p:nvPr/>
        </p:nvSpPr>
        <p:spPr>
          <a:xfrm>
            <a:off x="3448541" y="3453032"/>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ontserrat SemiBold"/>
              <a:ea typeface="Montserrat SemiBold"/>
              <a:cs typeface="Montserrat SemiBold"/>
              <a:sym typeface="Montserrat SemiBold"/>
            </a:endParaRPr>
          </a:p>
        </p:txBody>
      </p:sp>
      <p:pic>
        <p:nvPicPr>
          <p:cNvPr descr="Picture background" id="643" name="Google Shape;643;g3cb20f13e01_0_649"/>
          <p:cNvPicPr preferRelativeResize="0"/>
          <p:nvPr/>
        </p:nvPicPr>
        <p:blipFill rotWithShape="1">
          <a:blip r:embed="rId5">
            <a:alphaModFix/>
          </a:blip>
          <a:srcRect b="0" l="0" r="0" t="0"/>
          <a:stretch/>
        </p:blipFill>
        <p:spPr>
          <a:xfrm>
            <a:off x="4371031" y="3472319"/>
            <a:ext cx="877622" cy="877622"/>
          </a:xfrm>
          <a:prstGeom prst="rect">
            <a:avLst/>
          </a:prstGeom>
          <a:noFill/>
          <a:ln>
            <a:noFill/>
          </a:ln>
        </p:spPr>
      </p:pic>
      <p:sp>
        <p:nvSpPr>
          <p:cNvPr id="644" name="Google Shape;644;g3cb20f13e01_0_649"/>
          <p:cNvSpPr/>
          <p:nvPr/>
        </p:nvSpPr>
        <p:spPr>
          <a:xfrm>
            <a:off x="697775" y="3050818"/>
            <a:ext cx="7721700" cy="2265600"/>
          </a:xfrm>
          <a:prstGeom prst="roundRect">
            <a:avLst>
              <a:gd fmla="val 16667" name="adj"/>
            </a:avLst>
          </a:prstGeom>
          <a:noFill/>
          <a:ln cap="flat" cmpd="sng" w="25400">
            <a:solidFill>
              <a:srgbClr val="0D3E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AF6"/>
              </a:solidFill>
              <a:latin typeface="Arial"/>
              <a:ea typeface="Arial"/>
              <a:cs typeface="Arial"/>
              <a:sym typeface="Arial"/>
            </a:endParaRPr>
          </a:p>
        </p:txBody>
      </p:sp>
      <p:sp>
        <p:nvSpPr>
          <p:cNvPr id="645" name="Google Shape;645;g3cb20f13e01_0_649"/>
          <p:cNvSpPr/>
          <p:nvPr/>
        </p:nvSpPr>
        <p:spPr>
          <a:xfrm>
            <a:off x="4355039" y="4523467"/>
            <a:ext cx="8340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IBM Plex Sans"/>
                <a:ea typeface="IBM Plex Sans"/>
                <a:cs typeface="IBM Plex Sans"/>
                <a:sym typeface="IBM Plex Sans"/>
              </a:rPr>
              <a:t>Модель</a:t>
            </a:r>
            <a:endParaRPr b="0" i="0" sz="1400" u="none" cap="none" strike="noStrike">
              <a:solidFill>
                <a:srgbClr val="000000"/>
              </a:solidFill>
              <a:latin typeface="IBM Plex Sans"/>
              <a:ea typeface="IBM Plex Sans"/>
              <a:cs typeface="IBM Plex Sans"/>
              <a:sym typeface="IBM Plex Sans"/>
            </a:endParaRPr>
          </a:p>
        </p:txBody>
      </p:sp>
      <p:sp>
        <p:nvSpPr>
          <p:cNvPr id="646" name="Google Shape;646;g3cb20f13e01_0_649"/>
          <p:cNvSpPr txBox="1"/>
          <p:nvPr/>
        </p:nvSpPr>
        <p:spPr>
          <a:xfrm>
            <a:off x="3985261" y="2505875"/>
            <a:ext cx="15858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ru-RU" sz="2000" u="none" cap="none" strike="noStrike">
                <a:solidFill>
                  <a:srgbClr val="000000"/>
                </a:solidFill>
                <a:latin typeface="Arial"/>
                <a:ea typeface="Arial"/>
                <a:cs typeface="Arial"/>
                <a:sym typeface="Arial"/>
              </a:rPr>
              <a:t>Обучение</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grpSp>
        <p:nvGrpSpPr>
          <p:cNvPr id="651" name="Google Shape;651;g3cb20f13e01_0_672"/>
          <p:cNvGrpSpPr/>
          <p:nvPr/>
        </p:nvGrpSpPr>
        <p:grpSpPr>
          <a:xfrm>
            <a:off x="9353973" y="-1553420"/>
            <a:ext cx="2854020" cy="13716631"/>
            <a:chOff x="9353973" y="-1553420"/>
            <a:chExt cx="2854020" cy="13716631"/>
          </a:xfrm>
        </p:grpSpPr>
        <p:grpSp>
          <p:nvGrpSpPr>
            <p:cNvPr id="652" name="Google Shape;652;g3cb20f13e01_0_672"/>
            <p:cNvGrpSpPr/>
            <p:nvPr/>
          </p:nvGrpSpPr>
          <p:grpSpPr>
            <a:xfrm>
              <a:off x="9353973" y="-1553420"/>
              <a:ext cx="2838027" cy="13716631"/>
              <a:chOff x="9353973" y="-6079700"/>
              <a:chExt cx="2838027" cy="13716631"/>
            </a:xfrm>
          </p:grpSpPr>
          <p:pic>
            <p:nvPicPr>
              <p:cNvPr id="653" name="Google Shape;653;g3cb20f13e01_0_672"/>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654" name="Google Shape;654;g3cb20f13e01_0_672"/>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655" name="Google Shape;655;g3cb20f13e01_0_672"/>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6" name="Google Shape;656;g3cb20f13e01_0_672"/>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657" name="Google Shape;657;g3cb20f13e01_0_672"/>
          <p:cNvPicPr preferRelativeResize="0"/>
          <p:nvPr/>
        </p:nvPicPr>
        <p:blipFill rotWithShape="1">
          <a:blip r:embed="rId4">
            <a:alphaModFix/>
          </a:blip>
          <a:srcRect b="0" l="0" r="0" t="0"/>
          <a:stretch/>
        </p:blipFill>
        <p:spPr>
          <a:xfrm rot="-3600001">
            <a:off x="8854340" y="3963088"/>
            <a:ext cx="3047977" cy="3052211"/>
          </a:xfrm>
          <a:prstGeom prst="rect">
            <a:avLst/>
          </a:prstGeom>
          <a:noFill/>
          <a:ln>
            <a:noFill/>
          </a:ln>
        </p:spPr>
      </p:pic>
      <p:sp>
        <p:nvSpPr>
          <p:cNvPr id="658" name="Google Shape;658;g3cb20f13e01_0_672"/>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Основные термины машинного обучения</a:t>
            </a:r>
            <a:endParaRPr b="1" i="0" sz="3600" u="none" cap="none" strike="noStrike">
              <a:solidFill>
                <a:schemeClr val="dk1"/>
              </a:solidFill>
              <a:latin typeface="IBM Plex Sans"/>
              <a:ea typeface="IBM Plex Sans"/>
              <a:cs typeface="IBM Plex Sans"/>
              <a:sym typeface="IBM Plex Sans"/>
            </a:endParaRPr>
          </a:p>
        </p:txBody>
      </p:sp>
      <p:cxnSp>
        <p:nvCxnSpPr>
          <p:cNvPr id="659" name="Google Shape;659;g3cb20f13e01_0_672"/>
          <p:cNvCxnSpPr>
            <a:endCxn id="660" idx="1"/>
          </p:cNvCxnSpPr>
          <p:nvPr/>
        </p:nvCxnSpPr>
        <p:spPr>
          <a:xfrm>
            <a:off x="2894180" y="3509326"/>
            <a:ext cx="781800" cy="432600"/>
          </a:xfrm>
          <a:prstGeom prst="bentConnector3">
            <a:avLst>
              <a:gd fmla="val 36394" name="adj1"/>
            </a:avLst>
          </a:prstGeom>
          <a:noFill/>
          <a:ln cap="flat" cmpd="sng" w="9525">
            <a:solidFill>
              <a:srgbClr val="000000"/>
            </a:solidFill>
            <a:prstDash val="solid"/>
            <a:round/>
            <a:headEnd len="sm" w="sm" type="none"/>
            <a:tailEnd len="med" w="med" type="stealth"/>
          </a:ln>
        </p:spPr>
      </p:cxnSp>
      <p:cxnSp>
        <p:nvCxnSpPr>
          <p:cNvPr id="661" name="Google Shape;661;g3cb20f13e01_0_672"/>
          <p:cNvCxnSpPr>
            <a:endCxn id="660" idx="1"/>
          </p:cNvCxnSpPr>
          <p:nvPr/>
        </p:nvCxnSpPr>
        <p:spPr>
          <a:xfrm flipH="1" rot="10800000">
            <a:off x="2894180" y="3941926"/>
            <a:ext cx="781800" cy="524100"/>
          </a:xfrm>
          <a:prstGeom prst="bentConnector3">
            <a:avLst>
              <a:gd fmla="val 36394" name="adj1"/>
            </a:avLst>
          </a:prstGeom>
          <a:noFill/>
          <a:ln cap="flat" cmpd="sng" w="9525">
            <a:solidFill>
              <a:srgbClr val="000000"/>
            </a:solidFill>
            <a:prstDash val="solid"/>
            <a:round/>
            <a:headEnd len="sm" w="sm" type="none"/>
            <a:tailEnd len="med" w="med" type="stealth"/>
          </a:ln>
        </p:spPr>
      </p:cxnSp>
      <p:cxnSp>
        <p:nvCxnSpPr>
          <p:cNvPr id="662" name="Google Shape;662;g3cb20f13e01_0_672"/>
          <p:cNvCxnSpPr>
            <a:stCxn id="660" idx="3"/>
          </p:cNvCxnSpPr>
          <p:nvPr/>
        </p:nvCxnSpPr>
        <p:spPr>
          <a:xfrm flipH="1" rot="10800000">
            <a:off x="6144929" y="3938026"/>
            <a:ext cx="569100" cy="3900"/>
          </a:xfrm>
          <a:prstGeom prst="bentConnector3">
            <a:avLst>
              <a:gd fmla="val 50000" name="adj1"/>
            </a:avLst>
          </a:prstGeom>
          <a:noFill/>
          <a:ln cap="flat" cmpd="sng" w="9525">
            <a:solidFill>
              <a:srgbClr val="000000"/>
            </a:solidFill>
            <a:prstDash val="solid"/>
            <a:round/>
            <a:headEnd len="sm" w="sm" type="none"/>
            <a:tailEnd len="med" w="med" type="stealth"/>
          </a:ln>
        </p:spPr>
      </p:cxnSp>
      <p:sp>
        <p:nvSpPr>
          <p:cNvPr id="660" name="Google Shape;660;g3cb20f13e01_0_672"/>
          <p:cNvSpPr/>
          <p:nvPr/>
        </p:nvSpPr>
        <p:spPr>
          <a:xfrm>
            <a:off x="3463229" y="3479926"/>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Система</a:t>
            </a:r>
            <a:endParaRPr b="0" i="0" sz="1500" u="none" cap="none" strike="noStrike">
              <a:solidFill>
                <a:srgbClr val="000000"/>
              </a:solidFill>
              <a:latin typeface="Montserrat SemiBold"/>
              <a:ea typeface="Montserrat SemiBold"/>
              <a:cs typeface="Montserrat SemiBold"/>
              <a:sym typeface="Montserrat SemiBold"/>
            </a:endParaRPr>
          </a:p>
        </p:txBody>
      </p:sp>
      <p:sp>
        <p:nvSpPr>
          <p:cNvPr id="663" name="Google Shape;663;g3cb20f13e01_0_672"/>
          <p:cNvSpPr txBox="1"/>
          <p:nvPr/>
        </p:nvSpPr>
        <p:spPr>
          <a:xfrm>
            <a:off x="1055692" y="3335801"/>
            <a:ext cx="1952400" cy="539700"/>
          </a:xfrm>
          <a:prstGeom prst="rect">
            <a:avLst/>
          </a:prstGeom>
          <a:solidFill>
            <a:srgbClr val="C9DAF8"/>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Arial"/>
                <a:ea typeface="Arial"/>
                <a:cs typeface="Arial"/>
                <a:sym typeface="Arial"/>
              </a:rPr>
              <a:t>Состояние неба</a:t>
            </a:r>
            <a:endParaRPr b="0" i="0" sz="1600" u="none" cap="none" strike="noStrike">
              <a:solidFill>
                <a:srgbClr val="000000"/>
              </a:solidFill>
              <a:latin typeface="Arial"/>
              <a:ea typeface="Arial"/>
              <a:cs typeface="Arial"/>
              <a:sym typeface="Arial"/>
            </a:endParaRPr>
          </a:p>
        </p:txBody>
      </p:sp>
      <p:sp>
        <p:nvSpPr>
          <p:cNvPr id="664" name="Google Shape;664;g3cb20f13e01_0_672"/>
          <p:cNvSpPr txBox="1"/>
          <p:nvPr/>
        </p:nvSpPr>
        <p:spPr>
          <a:xfrm>
            <a:off x="1055692" y="4292576"/>
            <a:ext cx="1952400" cy="539700"/>
          </a:xfrm>
          <a:prstGeom prst="rect">
            <a:avLst/>
          </a:prstGeom>
          <a:solidFill>
            <a:srgbClr val="E4F9FD"/>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Arial"/>
                <a:ea typeface="Arial"/>
                <a:cs typeface="Arial"/>
                <a:sym typeface="Arial"/>
              </a:rPr>
              <a:t>Был ли дождь</a:t>
            </a:r>
            <a:endParaRPr b="0" i="0" sz="1600" u="none" cap="none" strike="noStrike">
              <a:solidFill>
                <a:srgbClr val="000000"/>
              </a:solidFill>
              <a:latin typeface="Arial"/>
              <a:ea typeface="Arial"/>
              <a:cs typeface="Arial"/>
              <a:sym typeface="Arial"/>
            </a:endParaRPr>
          </a:p>
        </p:txBody>
      </p:sp>
      <p:sp>
        <p:nvSpPr>
          <p:cNvPr id="665" name="Google Shape;665;g3cb20f13e01_0_672"/>
          <p:cNvSpPr/>
          <p:nvPr/>
        </p:nvSpPr>
        <p:spPr>
          <a:xfrm>
            <a:off x="6772663" y="3435837"/>
            <a:ext cx="14634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В хмурый день идет дождь</a:t>
            </a:r>
            <a:endParaRPr b="0" i="0" sz="1400" u="none" cap="none" strike="noStrike">
              <a:solidFill>
                <a:schemeClr val="dk1"/>
              </a:solidFill>
              <a:latin typeface="IBM Plex Sans"/>
              <a:ea typeface="IBM Plex Sans"/>
              <a:cs typeface="IBM Plex Sans"/>
              <a:sym typeface="IBM Plex Sans"/>
            </a:endParaRPr>
          </a:p>
        </p:txBody>
      </p:sp>
      <p:sp>
        <p:nvSpPr>
          <p:cNvPr id="666" name="Google Shape;666;g3cb20f13e01_0_672"/>
          <p:cNvSpPr/>
          <p:nvPr/>
        </p:nvSpPr>
        <p:spPr>
          <a:xfrm>
            <a:off x="3448541" y="3453032"/>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ontserrat SemiBold"/>
              <a:ea typeface="Montserrat SemiBold"/>
              <a:cs typeface="Montserrat SemiBold"/>
              <a:sym typeface="Montserrat SemiBold"/>
            </a:endParaRPr>
          </a:p>
        </p:txBody>
      </p:sp>
      <p:pic>
        <p:nvPicPr>
          <p:cNvPr descr="Picture background" id="667" name="Google Shape;667;g3cb20f13e01_0_672"/>
          <p:cNvPicPr preferRelativeResize="0"/>
          <p:nvPr/>
        </p:nvPicPr>
        <p:blipFill rotWithShape="1">
          <a:blip r:embed="rId5">
            <a:alphaModFix/>
          </a:blip>
          <a:srcRect b="0" l="0" r="0" t="0"/>
          <a:stretch/>
        </p:blipFill>
        <p:spPr>
          <a:xfrm>
            <a:off x="4371031" y="3472319"/>
            <a:ext cx="877622" cy="877622"/>
          </a:xfrm>
          <a:prstGeom prst="rect">
            <a:avLst/>
          </a:prstGeom>
          <a:noFill/>
          <a:ln>
            <a:noFill/>
          </a:ln>
        </p:spPr>
      </p:pic>
      <p:sp>
        <p:nvSpPr>
          <p:cNvPr id="668" name="Google Shape;668;g3cb20f13e01_0_672"/>
          <p:cNvSpPr/>
          <p:nvPr/>
        </p:nvSpPr>
        <p:spPr>
          <a:xfrm>
            <a:off x="697775" y="3050818"/>
            <a:ext cx="7721700" cy="2265600"/>
          </a:xfrm>
          <a:prstGeom prst="roundRect">
            <a:avLst>
              <a:gd fmla="val 16667" name="adj"/>
            </a:avLst>
          </a:prstGeom>
          <a:noFill/>
          <a:ln cap="flat" cmpd="sng" w="25400">
            <a:solidFill>
              <a:srgbClr val="0D3E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AF6"/>
              </a:solidFill>
              <a:latin typeface="Arial"/>
              <a:ea typeface="Arial"/>
              <a:cs typeface="Arial"/>
              <a:sym typeface="Arial"/>
            </a:endParaRPr>
          </a:p>
        </p:txBody>
      </p:sp>
      <p:sp>
        <p:nvSpPr>
          <p:cNvPr id="669" name="Google Shape;669;g3cb20f13e01_0_672"/>
          <p:cNvSpPr/>
          <p:nvPr/>
        </p:nvSpPr>
        <p:spPr>
          <a:xfrm>
            <a:off x="4215204" y="4466026"/>
            <a:ext cx="1148400" cy="301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IBM Plex Sans"/>
                <a:ea typeface="IBM Plex Sans"/>
                <a:cs typeface="IBM Plex Sans"/>
                <a:sym typeface="IBM Plex Sans"/>
              </a:rPr>
              <a:t>Модель</a:t>
            </a:r>
            <a:endParaRPr b="0" i="0" sz="1600" u="none" cap="none" strike="noStrike">
              <a:solidFill>
                <a:srgbClr val="000000"/>
              </a:solidFill>
              <a:latin typeface="IBM Plex Sans"/>
              <a:ea typeface="IBM Plex Sans"/>
              <a:cs typeface="IBM Plex Sans"/>
              <a:sym typeface="IBM Plex Sans"/>
            </a:endParaRPr>
          </a:p>
        </p:txBody>
      </p:sp>
      <p:sp>
        <p:nvSpPr>
          <p:cNvPr id="670" name="Google Shape;670;g3cb20f13e01_0_672"/>
          <p:cNvSpPr txBox="1"/>
          <p:nvPr/>
        </p:nvSpPr>
        <p:spPr>
          <a:xfrm>
            <a:off x="3985261" y="2505875"/>
            <a:ext cx="15858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ru-RU" sz="2000" u="none" cap="none" strike="noStrike">
                <a:solidFill>
                  <a:srgbClr val="000000"/>
                </a:solidFill>
                <a:latin typeface="Arial"/>
                <a:ea typeface="Arial"/>
                <a:cs typeface="Arial"/>
                <a:sym typeface="Arial"/>
              </a:rPr>
              <a:t>Обучение</a:t>
            </a:r>
            <a:endParaRPr b="0" i="0" sz="2000" u="none" cap="none" strike="noStrike">
              <a:solidFill>
                <a:srgbClr val="000000"/>
              </a:solidFill>
              <a:latin typeface="Arial"/>
              <a:ea typeface="Arial"/>
              <a:cs typeface="Arial"/>
              <a:sym typeface="Arial"/>
            </a:endParaRPr>
          </a:p>
        </p:txBody>
      </p:sp>
      <p:sp>
        <p:nvSpPr>
          <p:cNvPr id="671" name="Google Shape;671;g3cb20f13e01_0_672"/>
          <p:cNvSpPr/>
          <p:nvPr/>
        </p:nvSpPr>
        <p:spPr>
          <a:xfrm>
            <a:off x="6467072" y="4531075"/>
            <a:ext cx="1952400" cy="301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IBM Plex Sans"/>
                <a:ea typeface="IBM Plex Sans"/>
                <a:cs typeface="IBM Plex Sans"/>
                <a:sym typeface="IBM Plex Sans"/>
              </a:rPr>
              <a:t>Истинная зависимость</a:t>
            </a:r>
            <a:endParaRPr b="0" i="0" sz="1600" u="none" cap="none" strike="noStrike">
              <a:solidFill>
                <a:srgbClr val="000000"/>
              </a:solidFill>
              <a:latin typeface="IBM Plex Sans"/>
              <a:ea typeface="IBM Plex Sans"/>
              <a:cs typeface="IBM Plex Sans"/>
              <a:sym typeface="IBM Plex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grpSp>
        <p:nvGrpSpPr>
          <p:cNvPr id="676" name="Google Shape;676;g3cb20f13e01_0_696"/>
          <p:cNvGrpSpPr/>
          <p:nvPr/>
        </p:nvGrpSpPr>
        <p:grpSpPr>
          <a:xfrm>
            <a:off x="9353973" y="-1553420"/>
            <a:ext cx="2854020" cy="13716631"/>
            <a:chOff x="9353973" y="-1553420"/>
            <a:chExt cx="2854020" cy="13716631"/>
          </a:xfrm>
        </p:grpSpPr>
        <p:grpSp>
          <p:nvGrpSpPr>
            <p:cNvPr id="677" name="Google Shape;677;g3cb20f13e01_0_696"/>
            <p:cNvGrpSpPr/>
            <p:nvPr/>
          </p:nvGrpSpPr>
          <p:grpSpPr>
            <a:xfrm>
              <a:off x="9353973" y="-1553420"/>
              <a:ext cx="2838027" cy="13716631"/>
              <a:chOff x="9353973" y="-6079700"/>
              <a:chExt cx="2838027" cy="13716631"/>
            </a:xfrm>
          </p:grpSpPr>
          <p:pic>
            <p:nvPicPr>
              <p:cNvPr id="678" name="Google Shape;678;g3cb20f13e01_0_696"/>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679" name="Google Shape;679;g3cb20f13e01_0_696"/>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680" name="Google Shape;680;g3cb20f13e01_0_696"/>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1" name="Google Shape;681;g3cb20f13e01_0_696"/>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682" name="Google Shape;682;g3cb20f13e01_0_696"/>
          <p:cNvPicPr preferRelativeResize="0"/>
          <p:nvPr/>
        </p:nvPicPr>
        <p:blipFill rotWithShape="1">
          <a:blip r:embed="rId4">
            <a:alphaModFix/>
          </a:blip>
          <a:srcRect b="0" l="0" r="0" t="0"/>
          <a:stretch/>
        </p:blipFill>
        <p:spPr>
          <a:xfrm rot="-3600001">
            <a:off x="8854340" y="3963088"/>
            <a:ext cx="3047977" cy="3052211"/>
          </a:xfrm>
          <a:prstGeom prst="rect">
            <a:avLst/>
          </a:prstGeom>
          <a:noFill/>
          <a:ln>
            <a:noFill/>
          </a:ln>
        </p:spPr>
      </p:pic>
      <p:sp>
        <p:nvSpPr>
          <p:cNvPr id="683" name="Google Shape;683;g3cb20f13e01_0_696"/>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Основные термины машинного обучения</a:t>
            </a:r>
            <a:endParaRPr b="1" i="0" sz="3600" u="none" cap="none" strike="noStrike">
              <a:solidFill>
                <a:schemeClr val="dk1"/>
              </a:solidFill>
              <a:latin typeface="IBM Plex Sans"/>
              <a:ea typeface="IBM Plex Sans"/>
              <a:cs typeface="IBM Plex Sans"/>
              <a:sym typeface="IBM Plex Sans"/>
            </a:endParaRPr>
          </a:p>
        </p:txBody>
      </p:sp>
      <p:cxnSp>
        <p:nvCxnSpPr>
          <p:cNvPr id="684" name="Google Shape;684;g3cb20f13e01_0_696"/>
          <p:cNvCxnSpPr>
            <a:endCxn id="685" idx="1"/>
          </p:cNvCxnSpPr>
          <p:nvPr/>
        </p:nvCxnSpPr>
        <p:spPr>
          <a:xfrm flipH="1" rot="10800000">
            <a:off x="2949080" y="3941926"/>
            <a:ext cx="726900" cy="5400"/>
          </a:xfrm>
          <a:prstGeom prst="bentConnector3">
            <a:avLst>
              <a:gd fmla="val 35366" name="adj1"/>
            </a:avLst>
          </a:prstGeom>
          <a:noFill/>
          <a:ln cap="flat" cmpd="sng" w="9525">
            <a:solidFill>
              <a:srgbClr val="000000"/>
            </a:solidFill>
            <a:prstDash val="solid"/>
            <a:round/>
            <a:headEnd len="sm" w="sm" type="none"/>
            <a:tailEnd len="med" w="med" type="stealth"/>
          </a:ln>
        </p:spPr>
      </p:cxnSp>
      <p:cxnSp>
        <p:nvCxnSpPr>
          <p:cNvPr id="686" name="Google Shape;686;g3cb20f13e01_0_696"/>
          <p:cNvCxnSpPr>
            <a:stCxn id="685" idx="3"/>
          </p:cNvCxnSpPr>
          <p:nvPr/>
        </p:nvCxnSpPr>
        <p:spPr>
          <a:xfrm flipH="1" rot="10800000">
            <a:off x="6144929" y="3938026"/>
            <a:ext cx="569100" cy="3900"/>
          </a:xfrm>
          <a:prstGeom prst="bentConnector3">
            <a:avLst>
              <a:gd fmla="val 50000" name="adj1"/>
            </a:avLst>
          </a:prstGeom>
          <a:noFill/>
          <a:ln cap="flat" cmpd="sng" w="9525">
            <a:solidFill>
              <a:srgbClr val="000000"/>
            </a:solidFill>
            <a:prstDash val="solid"/>
            <a:round/>
            <a:headEnd len="sm" w="sm" type="none"/>
            <a:tailEnd len="med" w="med" type="stealth"/>
          </a:ln>
        </p:spPr>
      </p:cxnSp>
      <p:sp>
        <p:nvSpPr>
          <p:cNvPr id="685" name="Google Shape;685;g3cb20f13e01_0_696"/>
          <p:cNvSpPr/>
          <p:nvPr/>
        </p:nvSpPr>
        <p:spPr>
          <a:xfrm>
            <a:off x="3463229" y="3479926"/>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Система</a:t>
            </a:r>
            <a:endParaRPr b="0" i="0" sz="1500" u="none" cap="none" strike="noStrike">
              <a:solidFill>
                <a:srgbClr val="000000"/>
              </a:solidFill>
              <a:latin typeface="Montserrat SemiBold"/>
              <a:ea typeface="Montserrat SemiBold"/>
              <a:cs typeface="Montserrat SemiBold"/>
              <a:sym typeface="Montserrat SemiBold"/>
            </a:endParaRPr>
          </a:p>
        </p:txBody>
      </p:sp>
      <p:sp>
        <p:nvSpPr>
          <p:cNvPr id="687" name="Google Shape;687;g3cb20f13e01_0_696"/>
          <p:cNvSpPr/>
          <p:nvPr/>
        </p:nvSpPr>
        <p:spPr>
          <a:xfrm>
            <a:off x="6772663" y="3435837"/>
            <a:ext cx="14634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В хмурый день идет дождь</a:t>
            </a:r>
            <a:endParaRPr b="0" i="0" sz="1400" u="none" cap="none" strike="noStrike">
              <a:solidFill>
                <a:schemeClr val="dk1"/>
              </a:solidFill>
              <a:latin typeface="IBM Plex Sans"/>
              <a:ea typeface="IBM Plex Sans"/>
              <a:cs typeface="IBM Plex Sans"/>
              <a:sym typeface="IBM Plex Sans"/>
            </a:endParaRPr>
          </a:p>
        </p:txBody>
      </p:sp>
      <p:sp>
        <p:nvSpPr>
          <p:cNvPr id="688" name="Google Shape;688;g3cb20f13e01_0_696"/>
          <p:cNvSpPr/>
          <p:nvPr/>
        </p:nvSpPr>
        <p:spPr>
          <a:xfrm>
            <a:off x="3448541" y="3453032"/>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ontserrat SemiBold"/>
              <a:ea typeface="Montserrat SemiBold"/>
              <a:cs typeface="Montserrat SemiBold"/>
              <a:sym typeface="Montserrat SemiBold"/>
            </a:endParaRPr>
          </a:p>
        </p:txBody>
      </p:sp>
      <p:pic>
        <p:nvPicPr>
          <p:cNvPr descr="Picture background" id="689" name="Google Shape;689;g3cb20f13e01_0_696"/>
          <p:cNvPicPr preferRelativeResize="0"/>
          <p:nvPr/>
        </p:nvPicPr>
        <p:blipFill rotWithShape="1">
          <a:blip r:embed="rId5">
            <a:alphaModFix/>
          </a:blip>
          <a:srcRect b="0" l="0" r="0" t="0"/>
          <a:stretch/>
        </p:blipFill>
        <p:spPr>
          <a:xfrm>
            <a:off x="4371031" y="3472319"/>
            <a:ext cx="877622" cy="877622"/>
          </a:xfrm>
          <a:prstGeom prst="rect">
            <a:avLst/>
          </a:prstGeom>
          <a:noFill/>
          <a:ln>
            <a:noFill/>
          </a:ln>
        </p:spPr>
      </p:pic>
      <p:sp>
        <p:nvSpPr>
          <p:cNvPr id="690" name="Google Shape;690;g3cb20f13e01_0_696"/>
          <p:cNvSpPr/>
          <p:nvPr/>
        </p:nvSpPr>
        <p:spPr>
          <a:xfrm>
            <a:off x="4215204" y="4466026"/>
            <a:ext cx="1148400" cy="301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IBM Plex Sans"/>
                <a:ea typeface="IBM Plex Sans"/>
                <a:cs typeface="IBM Plex Sans"/>
                <a:sym typeface="IBM Plex Sans"/>
              </a:rPr>
              <a:t>Модель</a:t>
            </a:r>
            <a:endParaRPr b="0" i="0" sz="1600" u="none" cap="none" strike="noStrike">
              <a:solidFill>
                <a:srgbClr val="000000"/>
              </a:solidFill>
              <a:latin typeface="IBM Plex Sans"/>
              <a:ea typeface="IBM Plex Sans"/>
              <a:cs typeface="IBM Plex Sans"/>
              <a:sym typeface="IBM Plex Sans"/>
            </a:endParaRPr>
          </a:p>
        </p:txBody>
      </p:sp>
      <p:sp>
        <p:nvSpPr>
          <p:cNvPr id="691" name="Google Shape;691;g3cb20f13e01_0_696"/>
          <p:cNvSpPr/>
          <p:nvPr/>
        </p:nvSpPr>
        <p:spPr>
          <a:xfrm>
            <a:off x="6467072" y="4531075"/>
            <a:ext cx="1952400" cy="301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IBM Plex Sans"/>
                <a:ea typeface="IBM Plex Sans"/>
                <a:cs typeface="IBM Plex Sans"/>
                <a:sym typeface="IBM Plex Sans"/>
              </a:rPr>
              <a:t>Истинная зависимость</a:t>
            </a:r>
            <a:endParaRPr b="0" i="0" sz="1600" u="none" cap="none" strike="noStrike">
              <a:solidFill>
                <a:srgbClr val="000000"/>
              </a:solidFill>
              <a:latin typeface="IBM Plex Sans"/>
              <a:ea typeface="IBM Plex Sans"/>
              <a:cs typeface="IBM Plex Sans"/>
              <a:sym typeface="IBM Plex Sans"/>
            </a:endParaRPr>
          </a:p>
        </p:txBody>
      </p:sp>
      <p:graphicFrame>
        <p:nvGraphicFramePr>
          <p:cNvPr id="692" name="Google Shape;692;g3cb20f13e01_0_696"/>
          <p:cNvGraphicFramePr/>
          <p:nvPr/>
        </p:nvGraphicFramePr>
        <p:xfrm>
          <a:off x="548722" y="3373928"/>
          <a:ext cx="3000000" cy="3000000"/>
        </p:xfrm>
        <a:graphic>
          <a:graphicData uri="http://schemas.openxmlformats.org/drawingml/2006/table">
            <a:tbl>
              <a:tblPr bandRow="1" firstRow="1">
                <a:noFill/>
                <a:tableStyleId>{A9B0E0E1-4E68-4C5C-ACD4-11C2C6A234C4}</a:tableStyleId>
              </a:tblPr>
              <a:tblGrid>
                <a:gridCol w="1211475"/>
                <a:gridCol w="121147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t>Состояние неба</a:t>
                      </a:r>
                      <a:endParaRPr sz="1400" u="none" cap="none" strike="noStrike"/>
                    </a:p>
                  </a:txBody>
                  <a:tcPr marT="45725" marB="45725" marR="91450" marL="91450">
                    <a:solidFill>
                      <a:srgbClr val="8E39E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t>Был ли дождь</a:t>
                      </a:r>
                      <a:endParaRPr sz="1400" u="none" cap="none" strike="noStrike"/>
                    </a:p>
                  </a:txBody>
                  <a:tcPr marT="45725" marB="45725" marR="91450" marL="91450">
                    <a:solidFill>
                      <a:srgbClr val="8E39E2"/>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t>хмурое</a:t>
                      </a:r>
                      <a:endParaRPr sz="1400" u="none" cap="none" strike="noStrike"/>
                    </a:p>
                  </a:txBody>
                  <a:tcPr marT="45725" marB="45725" marR="91450" marL="91450">
                    <a:lnB cap="flat" cmpd="sng" w="38100">
                      <a:solidFill>
                        <a:srgbClr val="E4F9FD"/>
                      </a:solidFill>
                      <a:prstDash val="dash"/>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t>Был</a:t>
                      </a:r>
                      <a:endParaRPr sz="1400" u="none" cap="none" strike="noStrike"/>
                    </a:p>
                  </a:txBody>
                  <a:tcPr marT="45725" marB="45725" marR="91450" marL="91450">
                    <a:lnB cap="flat" cmpd="sng" w="38100">
                      <a:solidFill>
                        <a:srgbClr val="E4F9FD"/>
                      </a:solidFill>
                      <a:prstDash val="dash"/>
                      <a:round/>
                      <a:headEnd len="sm" w="sm" type="none"/>
                      <a:tailEnd len="sm" w="sm" type="none"/>
                    </a:lnB>
                    <a:solidFill>
                      <a:schemeClr val="lt1"/>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t>ясное</a:t>
                      </a:r>
                      <a:endParaRPr sz="1400" u="none" cap="none" strike="noStrike"/>
                    </a:p>
                  </a:txBody>
                  <a:tcPr marT="45725" marB="45725" marR="91450" marL="91450">
                    <a:lnL cap="flat" cmpd="sng" w="38100">
                      <a:solidFill>
                        <a:srgbClr val="E4F9FD"/>
                      </a:solidFill>
                      <a:prstDash val="dash"/>
                      <a:round/>
                      <a:headEnd len="sm" w="sm" type="none"/>
                      <a:tailEnd len="sm" w="sm" type="none"/>
                    </a:lnL>
                    <a:lnR cap="flat" cmpd="sng" w="38100">
                      <a:solidFill>
                        <a:srgbClr val="E4F9FD"/>
                      </a:solidFill>
                      <a:prstDash val="dash"/>
                      <a:round/>
                      <a:headEnd len="sm" w="sm" type="none"/>
                      <a:tailEnd len="sm" w="sm" type="none"/>
                    </a:lnR>
                    <a:lnT cap="flat" cmpd="sng" w="38100">
                      <a:solidFill>
                        <a:srgbClr val="E4F9FD"/>
                      </a:solidFill>
                      <a:prstDash val="dash"/>
                      <a:round/>
                      <a:headEnd len="sm" w="sm" type="none"/>
                      <a:tailEnd len="sm" w="sm" type="none"/>
                    </a:lnT>
                    <a:lnB cap="flat" cmpd="sng" w="38100">
                      <a:solidFill>
                        <a:srgbClr val="E4F9FD"/>
                      </a:solidFill>
                      <a:prstDash val="dash"/>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t>Не было</a:t>
                      </a:r>
                      <a:endParaRPr sz="1400" u="none" cap="none" strike="noStrike"/>
                    </a:p>
                  </a:txBody>
                  <a:tcPr marT="45725" marB="45725" marR="91450" marL="91450">
                    <a:lnL cap="flat" cmpd="sng" w="38100">
                      <a:solidFill>
                        <a:srgbClr val="E4F9FD"/>
                      </a:solidFill>
                      <a:prstDash val="dash"/>
                      <a:round/>
                      <a:headEnd len="sm" w="sm" type="none"/>
                      <a:tailEnd len="sm" w="sm" type="none"/>
                    </a:lnL>
                    <a:lnR cap="flat" cmpd="sng" w="38100">
                      <a:solidFill>
                        <a:srgbClr val="E4F9FD"/>
                      </a:solidFill>
                      <a:prstDash val="dash"/>
                      <a:round/>
                      <a:headEnd len="sm" w="sm" type="none"/>
                      <a:tailEnd len="sm" w="sm" type="none"/>
                    </a:lnR>
                    <a:lnT cap="flat" cmpd="sng" w="38100">
                      <a:solidFill>
                        <a:srgbClr val="E4F9FD"/>
                      </a:solidFill>
                      <a:prstDash val="dash"/>
                      <a:round/>
                      <a:headEnd len="sm" w="sm" type="none"/>
                      <a:tailEnd len="sm" w="sm" type="none"/>
                    </a:lnT>
                    <a:lnB cap="flat" cmpd="sng" w="38100">
                      <a:solidFill>
                        <a:srgbClr val="E4F9FD"/>
                      </a:solidFill>
                      <a:prstDash val="dash"/>
                      <a:round/>
                      <a:headEnd len="sm" w="sm" type="none"/>
                      <a:tailEnd len="sm" w="sm" type="none"/>
                    </a:lnB>
                    <a:solidFill>
                      <a:schemeClr val="lt1"/>
                    </a:solidFill>
                  </a:tcPr>
                </a:tc>
              </a:tr>
            </a:tbl>
          </a:graphicData>
        </a:graphic>
      </p:graphicFrame>
      <p:sp>
        <p:nvSpPr>
          <p:cNvPr id="693" name="Google Shape;693;g3cb20f13e01_0_696"/>
          <p:cNvSpPr txBox="1"/>
          <p:nvPr/>
        </p:nvSpPr>
        <p:spPr>
          <a:xfrm>
            <a:off x="548721" y="2609496"/>
            <a:ext cx="10338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ru-RU" sz="1400" u="none" cap="none" strike="noStrike">
                <a:solidFill>
                  <a:srgbClr val="000000"/>
                </a:solidFill>
                <a:latin typeface="Arial"/>
                <a:ea typeface="Arial"/>
                <a:cs typeface="Arial"/>
                <a:sym typeface="Arial"/>
              </a:rPr>
              <a:t>Признаки</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Arial"/>
                <a:ea typeface="Arial"/>
                <a:cs typeface="Arial"/>
                <a:sym typeface="Arial"/>
              </a:rPr>
              <a:t>Features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Arial"/>
                <a:ea typeface="Arial"/>
                <a:cs typeface="Arial"/>
                <a:sym typeface="Arial"/>
              </a:rPr>
              <a:t>X</a:t>
            </a:r>
            <a:endParaRPr b="0" i="0" sz="1400" u="none" cap="none" strike="noStrike">
              <a:solidFill>
                <a:srgbClr val="000000"/>
              </a:solidFill>
              <a:latin typeface="Arial"/>
              <a:ea typeface="Arial"/>
              <a:cs typeface="Arial"/>
              <a:sym typeface="Arial"/>
            </a:endParaRPr>
          </a:p>
        </p:txBody>
      </p:sp>
      <p:sp>
        <p:nvSpPr>
          <p:cNvPr id="694" name="Google Shape;694;g3cb20f13e01_0_696"/>
          <p:cNvSpPr txBox="1"/>
          <p:nvPr/>
        </p:nvSpPr>
        <p:spPr>
          <a:xfrm>
            <a:off x="1455502" y="2394986"/>
            <a:ext cx="15822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ru-RU" sz="1400" u="none" cap="none" strike="noStrike">
                <a:solidFill>
                  <a:srgbClr val="000000"/>
                </a:solidFill>
                <a:latin typeface="Arial"/>
                <a:ea typeface="Arial"/>
                <a:cs typeface="Arial"/>
                <a:sym typeface="Arial"/>
              </a:rPr>
              <a:t>Целевая переменная</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Arial"/>
                <a:ea typeface="Arial"/>
                <a:cs typeface="Arial"/>
                <a:sym typeface="Arial"/>
              </a:rPr>
              <a:t>Target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Arial"/>
                <a:ea typeface="Arial"/>
                <a:cs typeface="Arial"/>
                <a:sym typeface="Arial"/>
              </a:rPr>
              <a:t>y</a:t>
            </a:r>
            <a:endParaRPr b="0" i="0" sz="1400" u="none" cap="none" strike="noStrike">
              <a:solidFill>
                <a:srgbClr val="000000"/>
              </a:solidFill>
              <a:latin typeface="Arial"/>
              <a:ea typeface="Arial"/>
              <a:cs typeface="Arial"/>
              <a:sym typeface="Arial"/>
            </a:endParaRPr>
          </a:p>
        </p:txBody>
      </p:sp>
      <p:sp>
        <p:nvSpPr>
          <p:cNvPr id="695" name="Google Shape;695;g3cb20f13e01_0_696"/>
          <p:cNvSpPr/>
          <p:nvPr/>
        </p:nvSpPr>
        <p:spPr>
          <a:xfrm>
            <a:off x="756544" y="4748462"/>
            <a:ext cx="19431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Arial"/>
                <a:ea typeface="Arial"/>
                <a:cs typeface="Arial"/>
                <a:sym typeface="Arial"/>
              </a:rPr>
              <a:t>Обучающая выборка</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grpSp>
        <p:nvGrpSpPr>
          <p:cNvPr id="700" name="Google Shape;700;g3cb20f13e01_0_1106"/>
          <p:cNvGrpSpPr/>
          <p:nvPr/>
        </p:nvGrpSpPr>
        <p:grpSpPr>
          <a:xfrm>
            <a:off x="9353973" y="-1553420"/>
            <a:ext cx="2854020" cy="13716631"/>
            <a:chOff x="9353973" y="-1553420"/>
            <a:chExt cx="2854020" cy="13716631"/>
          </a:xfrm>
        </p:grpSpPr>
        <p:grpSp>
          <p:nvGrpSpPr>
            <p:cNvPr id="701" name="Google Shape;701;g3cb20f13e01_0_1106"/>
            <p:cNvGrpSpPr/>
            <p:nvPr/>
          </p:nvGrpSpPr>
          <p:grpSpPr>
            <a:xfrm>
              <a:off x="9353973" y="-1553420"/>
              <a:ext cx="2838027" cy="13716631"/>
              <a:chOff x="9353973" y="-6079700"/>
              <a:chExt cx="2838027" cy="13716631"/>
            </a:xfrm>
          </p:grpSpPr>
          <p:pic>
            <p:nvPicPr>
              <p:cNvPr id="702" name="Google Shape;702;g3cb20f13e01_0_1106"/>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703" name="Google Shape;703;g3cb20f13e01_0_1106"/>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704" name="Google Shape;704;g3cb20f13e01_0_1106"/>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5" name="Google Shape;705;g3cb20f13e01_0_1106"/>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706" name="Google Shape;706;g3cb20f13e01_0_1106"/>
          <p:cNvPicPr preferRelativeResize="0"/>
          <p:nvPr/>
        </p:nvPicPr>
        <p:blipFill rotWithShape="1">
          <a:blip r:embed="rId4">
            <a:alphaModFix/>
          </a:blip>
          <a:srcRect b="0" l="0" r="0" t="0"/>
          <a:stretch/>
        </p:blipFill>
        <p:spPr>
          <a:xfrm rot="-3600001">
            <a:off x="8854340" y="3963088"/>
            <a:ext cx="3047977" cy="3052211"/>
          </a:xfrm>
          <a:prstGeom prst="rect">
            <a:avLst/>
          </a:prstGeom>
          <a:noFill/>
          <a:ln>
            <a:noFill/>
          </a:ln>
        </p:spPr>
      </p:pic>
      <p:sp>
        <p:nvSpPr>
          <p:cNvPr id="707" name="Google Shape;707;g3cb20f13e01_0_1106"/>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Основные термины машинного обучения</a:t>
            </a:r>
            <a:endParaRPr b="1" i="0" sz="3600" u="none" cap="none" strike="noStrike">
              <a:solidFill>
                <a:schemeClr val="dk1"/>
              </a:solidFill>
              <a:latin typeface="IBM Plex Sans"/>
              <a:ea typeface="IBM Plex Sans"/>
              <a:cs typeface="IBM Plex Sans"/>
              <a:sym typeface="IBM Plex Sans"/>
            </a:endParaRPr>
          </a:p>
        </p:txBody>
      </p:sp>
      <p:cxnSp>
        <p:nvCxnSpPr>
          <p:cNvPr id="708" name="Google Shape;708;g3cb20f13e01_0_1106"/>
          <p:cNvCxnSpPr>
            <a:endCxn id="709" idx="1"/>
          </p:cNvCxnSpPr>
          <p:nvPr/>
        </p:nvCxnSpPr>
        <p:spPr>
          <a:xfrm flipH="1" rot="10800000">
            <a:off x="2949080" y="3941926"/>
            <a:ext cx="726900" cy="5400"/>
          </a:xfrm>
          <a:prstGeom prst="bentConnector3">
            <a:avLst>
              <a:gd fmla="val 35366" name="adj1"/>
            </a:avLst>
          </a:prstGeom>
          <a:noFill/>
          <a:ln cap="flat" cmpd="sng" w="9525">
            <a:solidFill>
              <a:srgbClr val="000000"/>
            </a:solidFill>
            <a:prstDash val="solid"/>
            <a:round/>
            <a:headEnd len="sm" w="sm" type="none"/>
            <a:tailEnd len="med" w="med" type="stealth"/>
          </a:ln>
        </p:spPr>
      </p:cxnSp>
      <p:cxnSp>
        <p:nvCxnSpPr>
          <p:cNvPr id="710" name="Google Shape;710;g3cb20f13e01_0_1106"/>
          <p:cNvCxnSpPr>
            <a:stCxn id="709" idx="3"/>
          </p:cNvCxnSpPr>
          <p:nvPr/>
        </p:nvCxnSpPr>
        <p:spPr>
          <a:xfrm flipH="1" rot="10800000">
            <a:off x="6144929" y="3938026"/>
            <a:ext cx="569100" cy="3900"/>
          </a:xfrm>
          <a:prstGeom prst="bentConnector3">
            <a:avLst>
              <a:gd fmla="val 50000" name="adj1"/>
            </a:avLst>
          </a:prstGeom>
          <a:noFill/>
          <a:ln cap="flat" cmpd="sng" w="9525">
            <a:solidFill>
              <a:srgbClr val="000000"/>
            </a:solidFill>
            <a:prstDash val="solid"/>
            <a:round/>
            <a:headEnd len="sm" w="sm" type="none"/>
            <a:tailEnd len="med" w="med" type="stealth"/>
          </a:ln>
        </p:spPr>
      </p:cxnSp>
      <p:sp>
        <p:nvSpPr>
          <p:cNvPr id="709" name="Google Shape;709;g3cb20f13e01_0_1106"/>
          <p:cNvSpPr/>
          <p:nvPr/>
        </p:nvSpPr>
        <p:spPr>
          <a:xfrm>
            <a:off x="3463229" y="3479926"/>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Montserrat SemiBold"/>
                <a:ea typeface="Montserrat SemiBold"/>
                <a:cs typeface="Montserrat SemiBold"/>
                <a:sym typeface="Montserrat SemiBold"/>
              </a:rPr>
              <a:t>Система</a:t>
            </a:r>
            <a:endParaRPr b="0" i="0" sz="1500" u="none" cap="none" strike="noStrike">
              <a:solidFill>
                <a:srgbClr val="000000"/>
              </a:solidFill>
              <a:latin typeface="Montserrat SemiBold"/>
              <a:ea typeface="Montserrat SemiBold"/>
              <a:cs typeface="Montserrat SemiBold"/>
              <a:sym typeface="Montserrat SemiBold"/>
            </a:endParaRPr>
          </a:p>
        </p:txBody>
      </p:sp>
      <p:sp>
        <p:nvSpPr>
          <p:cNvPr id="711" name="Google Shape;711;g3cb20f13e01_0_1106"/>
          <p:cNvSpPr/>
          <p:nvPr/>
        </p:nvSpPr>
        <p:spPr>
          <a:xfrm>
            <a:off x="6772663" y="3435837"/>
            <a:ext cx="1463400" cy="1008300"/>
          </a:xfrm>
          <a:prstGeom prst="wedgeEllipseCallout">
            <a:avLst>
              <a:gd fmla="val -20833" name="adj1"/>
              <a:gd fmla="val 62500" name="adj2"/>
            </a:avLst>
          </a:prstGeom>
          <a:solidFill>
            <a:srgbClr val="F8CEEE"/>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В хмурый день идет дождь</a:t>
            </a:r>
            <a:endParaRPr b="0" i="0" sz="1400" u="none" cap="none" strike="noStrike">
              <a:solidFill>
                <a:schemeClr val="dk1"/>
              </a:solidFill>
              <a:latin typeface="IBM Plex Sans"/>
              <a:ea typeface="IBM Plex Sans"/>
              <a:cs typeface="IBM Plex Sans"/>
              <a:sym typeface="IBM Plex Sans"/>
            </a:endParaRPr>
          </a:p>
        </p:txBody>
      </p:sp>
      <p:sp>
        <p:nvSpPr>
          <p:cNvPr id="712" name="Google Shape;712;g3cb20f13e01_0_1106"/>
          <p:cNvSpPr/>
          <p:nvPr/>
        </p:nvSpPr>
        <p:spPr>
          <a:xfrm>
            <a:off x="3448541" y="3453032"/>
            <a:ext cx="2681700" cy="924000"/>
          </a:xfrm>
          <a:prstGeom prst="chevron">
            <a:avLst>
              <a:gd fmla="val 23025" name="adj"/>
            </a:avLst>
          </a:prstGeom>
          <a:solidFill>
            <a:srgbClr val="CBD0E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ontserrat SemiBold"/>
              <a:ea typeface="Montserrat SemiBold"/>
              <a:cs typeface="Montserrat SemiBold"/>
              <a:sym typeface="Montserrat SemiBold"/>
            </a:endParaRPr>
          </a:p>
        </p:txBody>
      </p:sp>
      <p:pic>
        <p:nvPicPr>
          <p:cNvPr descr="Picture background" id="713" name="Google Shape;713;g3cb20f13e01_0_1106"/>
          <p:cNvPicPr preferRelativeResize="0"/>
          <p:nvPr/>
        </p:nvPicPr>
        <p:blipFill rotWithShape="1">
          <a:blip r:embed="rId5">
            <a:alphaModFix/>
          </a:blip>
          <a:srcRect b="0" l="0" r="0" t="0"/>
          <a:stretch/>
        </p:blipFill>
        <p:spPr>
          <a:xfrm>
            <a:off x="4371031" y="3472319"/>
            <a:ext cx="877622" cy="877622"/>
          </a:xfrm>
          <a:prstGeom prst="rect">
            <a:avLst/>
          </a:prstGeom>
          <a:noFill/>
          <a:ln>
            <a:noFill/>
          </a:ln>
        </p:spPr>
      </p:pic>
      <p:sp>
        <p:nvSpPr>
          <p:cNvPr id="714" name="Google Shape;714;g3cb20f13e01_0_1106"/>
          <p:cNvSpPr/>
          <p:nvPr/>
        </p:nvSpPr>
        <p:spPr>
          <a:xfrm>
            <a:off x="4215204" y="4466026"/>
            <a:ext cx="1148400" cy="301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IBM Plex Sans"/>
                <a:ea typeface="IBM Plex Sans"/>
                <a:cs typeface="IBM Plex Sans"/>
                <a:sym typeface="IBM Plex Sans"/>
              </a:rPr>
              <a:t>Модель</a:t>
            </a:r>
            <a:endParaRPr b="0" i="0" sz="1600" u="none" cap="none" strike="noStrike">
              <a:solidFill>
                <a:srgbClr val="000000"/>
              </a:solidFill>
              <a:latin typeface="IBM Plex Sans"/>
              <a:ea typeface="IBM Plex Sans"/>
              <a:cs typeface="IBM Plex Sans"/>
              <a:sym typeface="IBM Plex Sans"/>
            </a:endParaRPr>
          </a:p>
        </p:txBody>
      </p:sp>
      <p:sp>
        <p:nvSpPr>
          <p:cNvPr id="715" name="Google Shape;715;g3cb20f13e01_0_1106"/>
          <p:cNvSpPr/>
          <p:nvPr/>
        </p:nvSpPr>
        <p:spPr>
          <a:xfrm>
            <a:off x="6467072" y="4531075"/>
            <a:ext cx="1952400" cy="301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IBM Plex Sans"/>
                <a:ea typeface="IBM Plex Sans"/>
                <a:cs typeface="IBM Plex Sans"/>
                <a:sym typeface="IBM Plex Sans"/>
              </a:rPr>
              <a:t>Истинная зависимость</a:t>
            </a:r>
            <a:endParaRPr b="0" i="0" sz="1600" u="none" cap="none" strike="noStrike">
              <a:solidFill>
                <a:srgbClr val="000000"/>
              </a:solidFill>
              <a:latin typeface="IBM Plex Sans"/>
              <a:ea typeface="IBM Plex Sans"/>
              <a:cs typeface="IBM Plex Sans"/>
              <a:sym typeface="IBM Plex Sans"/>
            </a:endParaRPr>
          </a:p>
        </p:txBody>
      </p:sp>
      <p:graphicFrame>
        <p:nvGraphicFramePr>
          <p:cNvPr id="716" name="Google Shape;716;g3cb20f13e01_0_1106"/>
          <p:cNvGraphicFramePr/>
          <p:nvPr/>
        </p:nvGraphicFramePr>
        <p:xfrm>
          <a:off x="548722" y="3373928"/>
          <a:ext cx="3000000" cy="3000000"/>
        </p:xfrm>
        <a:graphic>
          <a:graphicData uri="http://schemas.openxmlformats.org/drawingml/2006/table">
            <a:tbl>
              <a:tblPr bandRow="1" firstRow="1">
                <a:noFill/>
                <a:tableStyleId>{A9B0E0E1-4E68-4C5C-ACD4-11C2C6A234C4}</a:tableStyleId>
              </a:tblPr>
              <a:tblGrid>
                <a:gridCol w="1211475"/>
                <a:gridCol w="121147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t>Состояние неба</a:t>
                      </a:r>
                      <a:endParaRPr sz="1400" u="none" cap="none" strike="noStrike"/>
                    </a:p>
                  </a:txBody>
                  <a:tcPr marT="45725" marB="45725" marR="91450" marL="91450">
                    <a:solidFill>
                      <a:srgbClr val="8E39E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t>Был ли дождь</a:t>
                      </a:r>
                      <a:endParaRPr sz="1400" u="none" cap="none" strike="noStrike"/>
                    </a:p>
                  </a:txBody>
                  <a:tcPr marT="45725" marB="45725" marR="91450" marL="91450">
                    <a:solidFill>
                      <a:srgbClr val="8E39E2"/>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t>хмурое</a:t>
                      </a:r>
                      <a:endParaRPr sz="1400" u="none" cap="none" strike="noStrike"/>
                    </a:p>
                  </a:txBody>
                  <a:tcPr marT="45725" marB="45725" marR="91450" marL="91450">
                    <a:lnB cap="flat" cmpd="sng" w="38100">
                      <a:solidFill>
                        <a:srgbClr val="8E39E2"/>
                      </a:solidFill>
                      <a:prstDash val="dash"/>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t>Был</a:t>
                      </a:r>
                      <a:endParaRPr sz="1400" u="none" cap="none" strike="noStrike"/>
                    </a:p>
                  </a:txBody>
                  <a:tcPr marT="45725" marB="45725" marR="91450" marL="91450">
                    <a:lnB cap="flat" cmpd="sng" w="38100">
                      <a:solidFill>
                        <a:srgbClr val="8E39E2"/>
                      </a:solidFill>
                      <a:prstDash val="dash"/>
                      <a:round/>
                      <a:headEnd len="sm" w="sm" type="none"/>
                      <a:tailEnd len="sm" w="sm" type="none"/>
                    </a:lnB>
                    <a:solidFill>
                      <a:schemeClr val="lt1"/>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t>ясное</a:t>
                      </a:r>
                      <a:endParaRPr sz="1400" u="none" cap="none" strike="noStrike"/>
                    </a:p>
                  </a:txBody>
                  <a:tcPr marT="45725" marB="45725" marR="91450" marL="91450">
                    <a:lnL cap="flat" cmpd="sng" w="38100">
                      <a:solidFill>
                        <a:srgbClr val="8E39E2"/>
                      </a:solidFill>
                      <a:prstDash val="dash"/>
                      <a:round/>
                      <a:headEnd len="sm" w="sm" type="none"/>
                      <a:tailEnd len="sm" w="sm" type="none"/>
                    </a:lnL>
                    <a:lnR cap="flat" cmpd="sng" w="38100">
                      <a:solidFill>
                        <a:srgbClr val="8E39E2"/>
                      </a:solidFill>
                      <a:prstDash val="dash"/>
                      <a:round/>
                      <a:headEnd len="sm" w="sm" type="none"/>
                      <a:tailEnd len="sm" w="sm" type="none"/>
                    </a:lnR>
                    <a:lnT cap="flat" cmpd="sng" w="38100">
                      <a:solidFill>
                        <a:srgbClr val="8E39E2"/>
                      </a:solidFill>
                      <a:prstDash val="dash"/>
                      <a:round/>
                      <a:headEnd len="sm" w="sm" type="none"/>
                      <a:tailEnd len="sm" w="sm" type="none"/>
                    </a:lnT>
                    <a:lnB cap="flat" cmpd="sng" w="38100">
                      <a:solidFill>
                        <a:srgbClr val="8E39E2"/>
                      </a:solidFill>
                      <a:prstDash val="dash"/>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t>Не было</a:t>
                      </a:r>
                      <a:endParaRPr sz="1400" u="none" cap="none" strike="noStrike"/>
                    </a:p>
                  </a:txBody>
                  <a:tcPr marT="45725" marB="45725" marR="91450" marL="91450">
                    <a:lnL cap="flat" cmpd="sng" w="38100">
                      <a:solidFill>
                        <a:srgbClr val="8E39E2"/>
                      </a:solidFill>
                      <a:prstDash val="dash"/>
                      <a:round/>
                      <a:headEnd len="sm" w="sm" type="none"/>
                      <a:tailEnd len="sm" w="sm" type="none"/>
                    </a:lnL>
                    <a:lnR cap="flat" cmpd="sng" w="38100">
                      <a:solidFill>
                        <a:srgbClr val="8E39E2"/>
                      </a:solidFill>
                      <a:prstDash val="dash"/>
                      <a:round/>
                      <a:headEnd len="sm" w="sm" type="none"/>
                      <a:tailEnd len="sm" w="sm" type="none"/>
                    </a:lnR>
                    <a:lnT cap="flat" cmpd="sng" w="38100">
                      <a:solidFill>
                        <a:srgbClr val="8E39E2"/>
                      </a:solidFill>
                      <a:prstDash val="dash"/>
                      <a:round/>
                      <a:headEnd len="sm" w="sm" type="none"/>
                      <a:tailEnd len="sm" w="sm" type="none"/>
                    </a:lnT>
                    <a:lnB cap="flat" cmpd="sng" w="38100">
                      <a:solidFill>
                        <a:srgbClr val="8E39E2"/>
                      </a:solidFill>
                      <a:prstDash val="dash"/>
                      <a:round/>
                      <a:headEnd len="sm" w="sm" type="none"/>
                      <a:tailEnd len="sm" w="sm" type="none"/>
                    </a:lnB>
                    <a:solidFill>
                      <a:schemeClr val="lt1"/>
                    </a:solidFill>
                  </a:tcPr>
                </a:tc>
              </a:tr>
            </a:tbl>
          </a:graphicData>
        </a:graphic>
      </p:graphicFrame>
      <p:sp>
        <p:nvSpPr>
          <p:cNvPr id="717" name="Google Shape;717;g3cb20f13e01_0_1106"/>
          <p:cNvSpPr txBox="1"/>
          <p:nvPr/>
        </p:nvSpPr>
        <p:spPr>
          <a:xfrm>
            <a:off x="548721" y="2609496"/>
            <a:ext cx="10338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ru-RU" sz="1400" u="none" cap="none" strike="noStrike">
                <a:solidFill>
                  <a:srgbClr val="000000"/>
                </a:solidFill>
                <a:latin typeface="Arial"/>
                <a:ea typeface="Arial"/>
                <a:cs typeface="Arial"/>
                <a:sym typeface="Arial"/>
              </a:rPr>
              <a:t>Признаки</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Arial"/>
                <a:ea typeface="Arial"/>
                <a:cs typeface="Arial"/>
                <a:sym typeface="Arial"/>
              </a:rPr>
              <a:t>Features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Arial"/>
                <a:ea typeface="Arial"/>
                <a:cs typeface="Arial"/>
                <a:sym typeface="Arial"/>
              </a:rPr>
              <a:t>X</a:t>
            </a:r>
            <a:endParaRPr b="0" i="0" sz="1400" u="none" cap="none" strike="noStrike">
              <a:solidFill>
                <a:srgbClr val="000000"/>
              </a:solidFill>
              <a:latin typeface="Arial"/>
              <a:ea typeface="Arial"/>
              <a:cs typeface="Arial"/>
              <a:sym typeface="Arial"/>
            </a:endParaRPr>
          </a:p>
        </p:txBody>
      </p:sp>
      <p:sp>
        <p:nvSpPr>
          <p:cNvPr id="718" name="Google Shape;718;g3cb20f13e01_0_1106"/>
          <p:cNvSpPr txBox="1"/>
          <p:nvPr/>
        </p:nvSpPr>
        <p:spPr>
          <a:xfrm>
            <a:off x="1455502" y="2394986"/>
            <a:ext cx="15822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ru-RU" sz="1400" u="none" cap="none" strike="noStrike">
                <a:solidFill>
                  <a:srgbClr val="000000"/>
                </a:solidFill>
                <a:latin typeface="Arial"/>
                <a:ea typeface="Arial"/>
                <a:cs typeface="Arial"/>
                <a:sym typeface="Arial"/>
              </a:rPr>
              <a:t>Целевая переменная</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Arial"/>
                <a:ea typeface="Arial"/>
                <a:cs typeface="Arial"/>
                <a:sym typeface="Arial"/>
              </a:rPr>
              <a:t>Target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Arial"/>
                <a:ea typeface="Arial"/>
                <a:cs typeface="Arial"/>
                <a:sym typeface="Arial"/>
              </a:rPr>
              <a:t>y</a:t>
            </a:r>
            <a:endParaRPr b="0" i="0" sz="1400" u="none" cap="none" strike="noStrike">
              <a:solidFill>
                <a:srgbClr val="000000"/>
              </a:solidFill>
              <a:latin typeface="Arial"/>
              <a:ea typeface="Arial"/>
              <a:cs typeface="Arial"/>
              <a:sym typeface="Arial"/>
            </a:endParaRPr>
          </a:p>
        </p:txBody>
      </p:sp>
      <p:sp>
        <p:nvSpPr>
          <p:cNvPr id="719" name="Google Shape;719;g3cb20f13e01_0_1106"/>
          <p:cNvSpPr/>
          <p:nvPr/>
        </p:nvSpPr>
        <p:spPr>
          <a:xfrm>
            <a:off x="756544" y="4748462"/>
            <a:ext cx="1943100" cy="307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Arial"/>
                <a:ea typeface="Arial"/>
                <a:cs typeface="Arial"/>
                <a:sym typeface="Arial"/>
              </a:rPr>
              <a:t>Обучающая выборка</a:t>
            </a:r>
            <a:endParaRPr b="0" i="0" sz="1400" u="none" cap="none" strike="noStrike">
              <a:solidFill>
                <a:srgbClr val="000000"/>
              </a:solidFill>
              <a:latin typeface="Arial"/>
              <a:ea typeface="Arial"/>
              <a:cs typeface="Arial"/>
              <a:sym typeface="Arial"/>
            </a:endParaRPr>
          </a:p>
        </p:txBody>
      </p:sp>
      <p:sp>
        <p:nvSpPr>
          <p:cNvPr id="720" name="Google Shape;720;g3cb20f13e01_0_1106"/>
          <p:cNvSpPr txBox="1"/>
          <p:nvPr/>
        </p:nvSpPr>
        <p:spPr>
          <a:xfrm>
            <a:off x="3021250" y="4935625"/>
            <a:ext cx="3355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ru-RU" sz="1400" u="none" cap="none" strike="noStrike">
                <a:solidFill>
                  <a:srgbClr val="000000"/>
                </a:solidFill>
                <a:latin typeface="Arial"/>
                <a:ea typeface="Arial"/>
                <a:cs typeface="Arial"/>
                <a:sym typeface="Arial"/>
              </a:rPr>
              <a:t>Объект / наблюдение</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Arial"/>
                <a:ea typeface="Arial"/>
                <a:cs typeface="Arial"/>
                <a:sym typeface="Arial"/>
              </a:rPr>
              <a:t>object, sample, observation, instance</a:t>
            </a:r>
            <a:endParaRPr b="0" i="0" sz="1400" u="none" cap="none" strike="noStrike">
              <a:solidFill>
                <a:srgbClr val="000000"/>
              </a:solidFill>
              <a:latin typeface="Arial"/>
              <a:ea typeface="Arial"/>
              <a:cs typeface="Arial"/>
              <a:sym typeface="Arial"/>
            </a:endParaRPr>
          </a:p>
        </p:txBody>
      </p:sp>
      <p:cxnSp>
        <p:nvCxnSpPr>
          <p:cNvPr id="721" name="Google Shape;721;g3cb20f13e01_0_1106"/>
          <p:cNvCxnSpPr/>
          <p:nvPr/>
        </p:nvCxnSpPr>
        <p:spPr>
          <a:xfrm rot="10800000">
            <a:off x="2949075" y="4633775"/>
            <a:ext cx="215100" cy="291900"/>
          </a:xfrm>
          <a:prstGeom prst="straightConnector1">
            <a:avLst/>
          </a:prstGeom>
          <a:noFill/>
          <a:ln cap="flat" cmpd="sng" w="38100">
            <a:solidFill>
              <a:srgbClr val="8E39E2"/>
            </a:solidFill>
            <a:prstDash val="solid"/>
            <a:round/>
            <a:headEnd len="sm" w="sm" type="none"/>
            <a:tailEnd len="sm" w="sm"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g3d3e78d848d_0_72"/>
          <p:cNvSpPr txBox="1"/>
          <p:nvPr/>
        </p:nvSpPr>
        <p:spPr>
          <a:xfrm>
            <a:off x="1055702" y="1327700"/>
            <a:ext cx="73053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Смысловое значение терминов</a:t>
            </a:r>
            <a:endParaRPr b="0" i="0" sz="3600" u="none" cap="none" strike="noStrike">
              <a:solidFill>
                <a:srgbClr val="DFDFDF"/>
              </a:solidFill>
              <a:latin typeface="IBM Plex Sans"/>
              <a:ea typeface="IBM Plex Sans"/>
              <a:cs typeface="IBM Plex Sans"/>
              <a:sym typeface="IBM Plex Sans"/>
            </a:endParaRPr>
          </a:p>
        </p:txBody>
      </p:sp>
      <p:grpSp>
        <p:nvGrpSpPr>
          <p:cNvPr id="727" name="Google Shape;727;g3d3e78d848d_0_72"/>
          <p:cNvGrpSpPr/>
          <p:nvPr/>
        </p:nvGrpSpPr>
        <p:grpSpPr>
          <a:xfrm>
            <a:off x="9353973" y="-1553420"/>
            <a:ext cx="2854020" cy="13716631"/>
            <a:chOff x="9353973" y="-1553420"/>
            <a:chExt cx="2854020" cy="13716631"/>
          </a:xfrm>
        </p:grpSpPr>
        <p:grpSp>
          <p:nvGrpSpPr>
            <p:cNvPr id="728" name="Google Shape;728;g3d3e78d848d_0_72"/>
            <p:cNvGrpSpPr/>
            <p:nvPr/>
          </p:nvGrpSpPr>
          <p:grpSpPr>
            <a:xfrm>
              <a:off x="9353973" y="-1553420"/>
              <a:ext cx="2838027" cy="13716631"/>
              <a:chOff x="9353973" y="-6079700"/>
              <a:chExt cx="2838027" cy="13716631"/>
            </a:xfrm>
          </p:grpSpPr>
          <p:pic>
            <p:nvPicPr>
              <p:cNvPr id="729" name="Google Shape;729;g3d3e78d848d_0_72"/>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730" name="Google Shape;730;g3d3e78d848d_0_72"/>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731" name="Google Shape;731;g3d3e78d848d_0_72"/>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2" name="Google Shape;732;g3d3e78d848d_0_72"/>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733" name="Google Shape;733;g3d3e78d848d_0_72"/>
          <p:cNvSpPr/>
          <p:nvPr/>
        </p:nvSpPr>
        <p:spPr>
          <a:xfrm>
            <a:off x="1055688" y="2430525"/>
            <a:ext cx="457200" cy="457200"/>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ru-RU" sz="1800" u="none" cap="none" strike="noStrike">
                <a:solidFill>
                  <a:srgbClr val="F8CEEE"/>
                </a:solidFill>
                <a:latin typeface="IBM Plex Sans"/>
                <a:ea typeface="IBM Plex Sans"/>
                <a:cs typeface="IBM Plex Sans"/>
                <a:sym typeface="IBM Plex Sans"/>
              </a:rPr>
              <a:t>1</a:t>
            </a:r>
            <a:endParaRPr b="0" i="0" sz="1800" u="none" cap="none" strike="noStrike">
              <a:solidFill>
                <a:srgbClr val="F8CEEE"/>
              </a:solidFill>
              <a:latin typeface="IBM Plex Sans"/>
              <a:ea typeface="IBM Plex Sans"/>
              <a:cs typeface="IBM Plex Sans"/>
              <a:sym typeface="IBM Plex Sans"/>
            </a:endParaRPr>
          </a:p>
        </p:txBody>
      </p:sp>
      <p:grpSp>
        <p:nvGrpSpPr>
          <p:cNvPr id="734" name="Google Shape;734;g3d3e78d848d_0_72"/>
          <p:cNvGrpSpPr/>
          <p:nvPr/>
        </p:nvGrpSpPr>
        <p:grpSpPr>
          <a:xfrm>
            <a:off x="1910086" y="2108553"/>
            <a:ext cx="7046713" cy="745269"/>
            <a:chOff x="6251336" y="2194681"/>
            <a:chExt cx="7046713" cy="745269"/>
          </a:xfrm>
        </p:grpSpPr>
        <p:sp>
          <p:nvSpPr>
            <p:cNvPr id="735" name="Google Shape;735;g3d3e78d848d_0_72"/>
            <p:cNvSpPr txBox="1"/>
            <p:nvPr/>
          </p:nvSpPr>
          <p:spPr>
            <a:xfrm>
              <a:off x="6251349" y="2612050"/>
              <a:ext cx="70467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1" i="0" lang="ru-RU" sz="2000" u="none" cap="none" strike="noStrike">
                  <a:solidFill>
                    <a:srgbClr val="8E39E2"/>
                  </a:solidFill>
                  <a:latin typeface="IBM Plex Sans"/>
                  <a:ea typeface="IBM Plex Sans"/>
                  <a:cs typeface="IBM Plex Sans"/>
                  <a:sym typeface="IBM Plex Sans"/>
                </a:rPr>
                <a:t>Обучающая выборка (training dataset)</a:t>
              </a:r>
              <a:endParaRPr b="0" i="0" sz="1800" u="none" cap="none" strike="noStrike">
                <a:solidFill>
                  <a:srgbClr val="000000"/>
                </a:solidFill>
                <a:latin typeface="Arial"/>
                <a:ea typeface="Arial"/>
                <a:cs typeface="Arial"/>
                <a:sym typeface="Arial"/>
              </a:endParaRPr>
            </a:p>
          </p:txBody>
        </p:sp>
        <p:sp>
          <p:nvSpPr>
            <p:cNvPr id="736" name="Google Shape;736;g3d3e78d848d_0_72"/>
            <p:cNvSpPr txBox="1"/>
            <p:nvPr/>
          </p:nvSpPr>
          <p:spPr>
            <a:xfrm>
              <a:off x="6251336" y="2194681"/>
              <a:ext cx="4813500" cy="6357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grpSp>
      <p:pic>
        <p:nvPicPr>
          <p:cNvPr id="737" name="Google Shape;737;g3d3e78d848d_0_72"/>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g3d3e78d848d_0_141"/>
          <p:cNvSpPr txBox="1"/>
          <p:nvPr/>
        </p:nvSpPr>
        <p:spPr>
          <a:xfrm>
            <a:off x="1055702" y="1327700"/>
            <a:ext cx="73053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Смысловое значение терминов</a:t>
            </a:r>
            <a:endParaRPr b="0" i="0" sz="3600" u="none" cap="none" strike="noStrike">
              <a:solidFill>
                <a:srgbClr val="DFDFDF"/>
              </a:solidFill>
              <a:latin typeface="IBM Plex Sans"/>
              <a:ea typeface="IBM Plex Sans"/>
              <a:cs typeface="IBM Plex Sans"/>
              <a:sym typeface="IBM Plex Sans"/>
            </a:endParaRPr>
          </a:p>
        </p:txBody>
      </p:sp>
      <p:grpSp>
        <p:nvGrpSpPr>
          <p:cNvPr id="743" name="Google Shape;743;g3d3e78d848d_0_141"/>
          <p:cNvGrpSpPr/>
          <p:nvPr/>
        </p:nvGrpSpPr>
        <p:grpSpPr>
          <a:xfrm>
            <a:off x="9353973" y="-1553420"/>
            <a:ext cx="2854020" cy="13716631"/>
            <a:chOff x="9353973" y="-1553420"/>
            <a:chExt cx="2854020" cy="13716631"/>
          </a:xfrm>
        </p:grpSpPr>
        <p:grpSp>
          <p:nvGrpSpPr>
            <p:cNvPr id="744" name="Google Shape;744;g3d3e78d848d_0_141"/>
            <p:cNvGrpSpPr/>
            <p:nvPr/>
          </p:nvGrpSpPr>
          <p:grpSpPr>
            <a:xfrm>
              <a:off x="9353973" y="-1553420"/>
              <a:ext cx="2838027" cy="13716631"/>
              <a:chOff x="9353973" y="-6079700"/>
              <a:chExt cx="2838027" cy="13716631"/>
            </a:xfrm>
          </p:grpSpPr>
          <p:pic>
            <p:nvPicPr>
              <p:cNvPr id="745" name="Google Shape;745;g3d3e78d848d_0_141"/>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746" name="Google Shape;746;g3d3e78d848d_0_141"/>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747" name="Google Shape;747;g3d3e78d848d_0_141"/>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8" name="Google Shape;748;g3d3e78d848d_0_141"/>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749" name="Google Shape;749;g3d3e78d848d_0_141"/>
          <p:cNvSpPr/>
          <p:nvPr/>
        </p:nvSpPr>
        <p:spPr>
          <a:xfrm>
            <a:off x="1055688" y="2430525"/>
            <a:ext cx="457200" cy="457200"/>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ru-RU" sz="1800" u="none" cap="none" strike="noStrike">
                <a:solidFill>
                  <a:srgbClr val="F8CEEE"/>
                </a:solidFill>
                <a:latin typeface="IBM Plex Sans"/>
                <a:ea typeface="IBM Plex Sans"/>
                <a:cs typeface="IBM Plex Sans"/>
                <a:sym typeface="IBM Plex Sans"/>
              </a:rPr>
              <a:t>1</a:t>
            </a:r>
            <a:endParaRPr b="0" i="0" sz="1800" u="none" cap="none" strike="noStrike">
              <a:solidFill>
                <a:srgbClr val="F8CEEE"/>
              </a:solidFill>
              <a:latin typeface="IBM Plex Sans"/>
              <a:ea typeface="IBM Plex Sans"/>
              <a:cs typeface="IBM Plex Sans"/>
              <a:sym typeface="IBM Plex Sans"/>
            </a:endParaRPr>
          </a:p>
        </p:txBody>
      </p:sp>
      <p:grpSp>
        <p:nvGrpSpPr>
          <p:cNvPr id="750" name="Google Shape;750;g3d3e78d848d_0_141"/>
          <p:cNvGrpSpPr/>
          <p:nvPr/>
        </p:nvGrpSpPr>
        <p:grpSpPr>
          <a:xfrm>
            <a:off x="1910086" y="2108553"/>
            <a:ext cx="7046713" cy="745269"/>
            <a:chOff x="6251336" y="2194681"/>
            <a:chExt cx="7046713" cy="745269"/>
          </a:xfrm>
        </p:grpSpPr>
        <p:sp>
          <p:nvSpPr>
            <p:cNvPr id="751" name="Google Shape;751;g3d3e78d848d_0_141"/>
            <p:cNvSpPr txBox="1"/>
            <p:nvPr/>
          </p:nvSpPr>
          <p:spPr>
            <a:xfrm>
              <a:off x="6251349" y="2612050"/>
              <a:ext cx="70467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1" i="0" lang="ru-RU" sz="2000" u="none" cap="none" strike="noStrike">
                  <a:solidFill>
                    <a:srgbClr val="8E39E2"/>
                  </a:solidFill>
                  <a:latin typeface="IBM Plex Sans"/>
                  <a:ea typeface="IBM Plex Sans"/>
                  <a:cs typeface="IBM Plex Sans"/>
                  <a:sym typeface="IBM Plex Sans"/>
                </a:rPr>
                <a:t>Обучающая выборка (training dataset)</a:t>
              </a:r>
              <a:endParaRPr b="0" i="0" sz="1800" u="none" cap="none" strike="noStrike">
                <a:solidFill>
                  <a:srgbClr val="000000"/>
                </a:solidFill>
                <a:latin typeface="Arial"/>
                <a:ea typeface="Arial"/>
                <a:cs typeface="Arial"/>
                <a:sym typeface="Arial"/>
              </a:endParaRPr>
            </a:p>
          </p:txBody>
        </p:sp>
        <p:sp>
          <p:nvSpPr>
            <p:cNvPr id="752" name="Google Shape;752;g3d3e78d848d_0_141"/>
            <p:cNvSpPr txBox="1"/>
            <p:nvPr/>
          </p:nvSpPr>
          <p:spPr>
            <a:xfrm>
              <a:off x="6251336" y="2194681"/>
              <a:ext cx="4813500" cy="6357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grpSp>
      <p:sp>
        <p:nvSpPr>
          <p:cNvPr id="753" name="Google Shape;753;g3d3e78d848d_0_141"/>
          <p:cNvSpPr/>
          <p:nvPr/>
        </p:nvSpPr>
        <p:spPr>
          <a:xfrm>
            <a:off x="1055688" y="3651711"/>
            <a:ext cx="457200" cy="457200"/>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ru-RU" sz="1800" u="none" cap="none" strike="noStrike">
                <a:solidFill>
                  <a:srgbClr val="F8CEEE"/>
                </a:solidFill>
                <a:latin typeface="IBM Plex Sans"/>
                <a:ea typeface="IBM Plex Sans"/>
                <a:cs typeface="IBM Plex Sans"/>
                <a:sym typeface="IBM Plex Sans"/>
              </a:rPr>
              <a:t>2</a:t>
            </a:r>
            <a:endParaRPr b="0" i="0" sz="1800" u="none" cap="none" strike="noStrike">
              <a:solidFill>
                <a:srgbClr val="F8CEEE"/>
              </a:solidFill>
              <a:latin typeface="IBM Plex Sans"/>
              <a:ea typeface="IBM Plex Sans"/>
              <a:cs typeface="IBM Plex Sans"/>
              <a:sym typeface="IBM Plex Sans"/>
            </a:endParaRPr>
          </a:p>
        </p:txBody>
      </p:sp>
      <p:grpSp>
        <p:nvGrpSpPr>
          <p:cNvPr id="754" name="Google Shape;754;g3d3e78d848d_0_141"/>
          <p:cNvGrpSpPr/>
          <p:nvPr/>
        </p:nvGrpSpPr>
        <p:grpSpPr>
          <a:xfrm>
            <a:off x="1910086" y="3651711"/>
            <a:ext cx="7046700" cy="417302"/>
            <a:chOff x="6251336" y="2557811"/>
            <a:chExt cx="7046700" cy="417302"/>
          </a:xfrm>
        </p:grpSpPr>
        <p:sp>
          <p:nvSpPr>
            <p:cNvPr id="755" name="Google Shape;755;g3d3e78d848d_0_141"/>
            <p:cNvSpPr txBox="1"/>
            <p:nvPr/>
          </p:nvSpPr>
          <p:spPr>
            <a:xfrm>
              <a:off x="6251336" y="2647213"/>
              <a:ext cx="70467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1" i="0" lang="ru-RU" sz="2000" u="none" cap="none" strike="noStrike">
                  <a:solidFill>
                    <a:srgbClr val="8E39E2"/>
                  </a:solidFill>
                  <a:latin typeface="IBM Plex Sans"/>
                  <a:ea typeface="IBM Plex Sans"/>
                  <a:cs typeface="IBM Plex Sans"/>
                  <a:sym typeface="IBM Plex Sans"/>
                </a:rPr>
                <a:t>Истинная зависимость</a:t>
              </a:r>
              <a:endParaRPr b="0" i="0" sz="1800" u="none" cap="none" strike="noStrike">
                <a:solidFill>
                  <a:srgbClr val="000000"/>
                </a:solidFill>
                <a:latin typeface="Arial"/>
                <a:ea typeface="Arial"/>
                <a:cs typeface="Arial"/>
                <a:sym typeface="Arial"/>
              </a:endParaRPr>
            </a:p>
          </p:txBody>
        </p:sp>
        <p:sp>
          <p:nvSpPr>
            <p:cNvPr id="756" name="Google Shape;756;g3d3e78d848d_0_141"/>
            <p:cNvSpPr txBox="1"/>
            <p:nvPr/>
          </p:nvSpPr>
          <p:spPr>
            <a:xfrm>
              <a:off x="6252774" y="2557811"/>
              <a:ext cx="48135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grpSp>
      <p:pic>
        <p:nvPicPr>
          <p:cNvPr id="757" name="Google Shape;757;g3d3e78d848d_0_141"/>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g3d3e78d848d_0_168"/>
          <p:cNvSpPr txBox="1"/>
          <p:nvPr/>
        </p:nvSpPr>
        <p:spPr>
          <a:xfrm>
            <a:off x="1055702" y="1327700"/>
            <a:ext cx="73053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Смысловое значение терминов</a:t>
            </a:r>
            <a:endParaRPr b="0" i="0" sz="3600" u="none" cap="none" strike="noStrike">
              <a:solidFill>
                <a:srgbClr val="DFDFDF"/>
              </a:solidFill>
              <a:latin typeface="IBM Plex Sans"/>
              <a:ea typeface="IBM Plex Sans"/>
              <a:cs typeface="IBM Plex Sans"/>
              <a:sym typeface="IBM Plex Sans"/>
            </a:endParaRPr>
          </a:p>
        </p:txBody>
      </p:sp>
      <p:grpSp>
        <p:nvGrpSpPr>
          <p:cNvPr id="763" name="Google Shape;763;g3d3e78d848d_0_168"/>
          <p:cNvGrpSpPr/>
          <p:nvPr/>
        </p:nvGrpSpPr>
        <p:grpSpPr>
          <a:xfrm>
            <a:off x="9353973" y="-1553420"/>
            <a:ext cx="2854020" cy="13716631"/>
            <a:chOff x="9353973" y="-1553420"/>
            <a:chExt cx="2854020" cy="13716631"/>
          </a:xfrm>
        </p:grpSpPr>
        <p:grpSp>
          <p:nvGrpSpPr>
            <p:cNvPr id="764" name="Google Shape;764;g3d3e78d848d_0_168"/>
            <p:cNvGrpSpPr/>
            <p:nvPr/>
          </p:nvGrpSpPr>
          <p:grpSpPr>
            <a:xfrm>
              <a:off x="9353973" y="-1553420"/>
              <a:ext cx="2838027" cy="13716631"/>
              <a:chOff x="9353973" y="-6079700"/>
              <a:chExt cx="2838027" cy="13716631"/>
            </a:xfrm>
          </p:grpSpPr>
          <p:pic>
            <p:nvPicPr>
              <p:cNvPr id="765" name="Google Shape;765;g3d3e78d848d_0_168"/>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766" name="Google Shape;766;g3d3e78d848d_0_168"/>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767" name="Google Shape;767;g3d3e78d848d_0_168"/>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8" name="Google Shape;768;g3d3e78d848d_0_168"/>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769" name="Google Shape;769;g3d3e78d848d_0_168"/>
          <p:cNvSpPr/>
          <p:nvPr/>
        </p:nvSpPr>
        <p:spPr>
          <a:xfrm>
            <a:off x="1055688" y="2430525"/>
            <a:ext cx="457200" cy="457200"/>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ru-RU" sz="1800" u="none" cap="none" strike="noStrike">
                <a:solidFill>
                  <a:srgbClr val="F8CEEE"/>
                </a:solidFill>
                <a:latin typeface="IBM Plex Sans"/>
                <a:ea typeface="IBM Plex Sans"/>
                <a:cs typeface="IBM Plex Sans"/>
                <a:sym typeface="IBM Plex Sans"/>
              </a:rPr>
              <a:t>1</a:t>
            </a:r>
            <a:endParaRPr b="0" i="0" sz="1800" u="none" cap="none" strike="noStrike">
              <a:solidFill>
                <a:srgbClr val="F8CEEE"/>
              </a:solidFill>
              <a:latin typeface="IBM Plex Sans"/>
              <a:ea typeface="IBM Plex Sans"/>
              <a:cs typeface="IBM Plex Sans"/>
              <a:sym typeface="IBM Plex Sans"/>
            </a:endParaRPr>
          </a:p>
        </p:txBody>
      </p:sp>
      <p:grpSp>
        <p:nvGrpSpPr>
          <p:cNvPr id="770" name="Google Shape;770;g3d3e78d848d_0_168"/>
          <p:cNvGrpSpPr/>
          <p:nvPr/>
        </p:nvGrpSpPr>
        <p:grpSpPr>
          <a:xfrm>
            <a:off x="1910086" y="2108553"/>
            <a:ext cx="7046713" cy="745269"/>
            <a:chOff x="6251336" y="2194681"/>
            <a:chExt cx="7046713" cy="745269"/>
          </a:xfrm>
        </p:grpSpPr>
        <p:sp>
          <p:nvSpPr>
            <p:cNvPr id="771" name="Google Shape;771;g3d3e78d848d_0_168"/>
            <p:cNvSpPr txBox="1"/>
            <p:nvPr/>
          </p:nvSpPr>
          <p:spPr>
            <a:xfrm>
              <a:off x="6251349" y="2612050"/>
              <a:ext cx="70467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1" i="0" lang="ru-RU" sz="2000" u="none" cap="none" strike="noStrike">
                  <a:solidFill>
                    <a:srgbClr val="8E39E2"/>
                  </a:solidFill>
                  <a:latin typeface="IBM Plex Sans"/>
                  <a:ea typeface="IBM Plex Sans"/>
                  <a:cs typeface="IBM Plex Sans"/>
                  <a:sym typeface="IBM Plex Sans"/>
                </a:rPr>
                <a:t>Обучающая выборка (training dataset)</a:t>
              </a:r>
              <a:endParaRPr b="0" i="0" sz="1800" u="none" cap="none" strike="noStrike">
                <a:solidFill>
                  <a:srgbClr val="000000"/>
                </a:solidFill>
                <a:latin typeface="Arial"/>
                <a:ea typeface="Arial"/>
                <a:cs typeface="Arial"/>
                <a:sym typeface="Arial"/>
              </a:endParaRPr>
            </a:p>
          </p:txBody>
        </p:sp>
        <p:sp>
          <p:nvSpPr>
            <p:cNvPr id="772" name="Google Shape;772;g3d3e78d848d_0_168"/>
            <p:cNvSpPr txBox="1"/>
            <p:nvPr/>
          </p:nvSpPr>
          <p:spPr>
            <a:xfrm>
              <a:off x="6251336" y="2194681"/>
              <a:ext cx="4813500" cy="6357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grpSp>
      <p:sp>
        <p:nvSpPr>
          <p:cNvPr id="773" name="Google Shape;773;g3d3e78d848d_0_168"/>
          <p:cNvSpPr/>
          <p:nvPr/>
        </p:nvSpPr>
        <p:spPr>
          <a:xfrm>
            <a:off x="1055688" y="3651711"/>
            <a:ext cx="457200" cy="457200"/>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ru-RU" sz="1800" u="none" cap="none" strike="noStrike">
                <a:solidFill>
                  <a:srgbClr val="F8CEEE"/>
                </a:solidFill>
                <a:latin typeface="IBM Plex Sans"/>
                <a:ea typeface="IBM Plex Sans"/>
                <a:cs typeface="IBM Plex Sans"/>
                <a:sym typeface="IBM Plex Sans"/>
              </a:rPr>
              <a:t>2</a:t>
            </a:r>
            <a:endParaRPr b="0" i="0" sz="1800" u="none" cap="none" strike="noStrike">
              <a:solidFill>
                <a:srgbClr val="F8CEEE"/>
              </a:solidFill>
              <a:latin typeface="IBM Plex Sans"/>
              <a:ea typeface="IBM Plex Sans"/>
              <a:cs typeface="IBM Plex Sans"/>
              <a:sym typeface="IBM Plex Sans"/>
            </a:endParaRPr>
          </a:p>
        </p:txBody>
      </p:sp>
      <p:grpSp>
        <p:nvGrpSpPr>
          <p:cNvPr id="774" name="Google Shape;774;g3d3e78d848d_0_168"/>
          <p:cNvGrpSpPr/>
          <p:nvPr/>
        </p:nvGrpSpPr>
        <p:grpSpPr>
          <a:xfrm>
            <a:off x="1910086" y="3651711"/>
            <a:ext cx="7046700" cy="417302"/>
            <a:chOff x="6251336" y="2557811"/>
            <a:chExt cx="7046700" cy="417302"/>
          </a:xfrm>
        </p:grpSpPr>
        <p:sp>
          <p:nvSpPr>
            <p:cNvPr id="775" name="Google Shape;775;g3d3e78d848d_0_168"/>
            <p:cNvSpPr txBox="1"/>
            <p:nvPr/>
          </p:nvSpPr>
          <p:spPr>
            <a:xfrm>
              <a:off x="6251336" y="2647213"/>
              <a:ext cx="70467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1" i="0" lang="ru-RU" sz="2000" u="none" cap="none" strike="noStrike">
                  <a:solidFill>
                    <a:srgbClr val="8E39E2"/>
                  </a:solidFill>
                  <a:latin typeface="IBM Plex Sans"/>
                  <a:ea typeface="IBM Plex Sans"/>
                  <a:cs typeface="IBM Plex Sans"/>
                  <a:sym typeface="IBM Plex Sans"/>
                </a:rPr>
                <a:t>Истинная зависимость</a:t>
              </a:r>
              <a:endParaRPr b="0" i="0" sz="1800" u="none" cap="none" strike="noStrike">
                <a:solidFill>
                  <a:srgbClr val="000000"/>
                </a:solidFill>
                <a:latin typeface="Arial"/>
                <a:ea typeface="Arial"/>
                <a:cs typeface="Arial"/>
                <a:sym typeface="Arial"/>
              </a:endParaRPr>
            </a:p>
          </p:txBody>
        </p:sp>
        <p:sp>
          <p:nvSpPr>
            <p:cNvPr id="776" name="Google Shape;776;g3d3e78d848d_0_168"/>
            <p:cNvSpPr txBox="1"/>
            <p:nvPr/>
          </p:nvSpPr>
          <p:spPr>
            <a:xfrm>
              <a:off x="6252774" y="2557811"/>
              <a:ext cx="48135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grpSp>
      <p:pic>
        <p:nvPicPr>
          <p:cNvPr id="777" name="Google Shape;777;g3d3e78d848d_0_168"/>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sp>
        <p:nvSpPr>
          <p:cNvPr id="778" name="Google Shape;778;g3d3e78d848d_0_168"/>
          <p:cNvSpPr/>
          <p:nvPr/>
        </p:nvSpPr>
        <p:spPr>
          <a:xfrm>
            <a:off x="1055688" y="4688870"/>
            <a:ext cx="457200" cy="457200"/>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ru-RU" sz="1800" u="none" cap="none" strike="noStrike">
                <a:solidFill>
                  <a:srgbClr val="F8CEEE"/>
                </a:solidFill>
                <a:latin typeface="IBM Plex Sans"/>
                <a:ea typeface="IBM Plex Sans"/>
                <a:cs typeface="IBM Plex Sans"/>
                <a:sym typeface="IBM Plex Sans"/>
              </a:rPr>
              <a:t>3</a:t>
            </a:r>
            <a:endParaRPr b="0" i="0" sz="1800" u="none" cap="none" strike="noStrike">
              <a:solidFill>
                <a:srgbClr val="F8CEEE"/>
              </a:solidFill>
              <a:latin typeface="IBM Plex Sans"/>
              <a:ea typeface="IBM Plex Sans"/>
              <a:cs typeface="IBM Plex Sans"/>
              <a:sym typeface="IBM Plex Sans"/>
            </a:endParaRPr>
          </a:p>
        </p:txBody>
      </p:sp>
      <p:grpSp>
        <p:nvGrpSpPr>
          <p:cNvPr id="779" name="Google Shape;779;g3d3e78d848d_0_168"/>
          <p:cNvGrpSpPr/>
          <p:nvPr/>
        </p:nvGrpSpPr>
        <p:grpSpPr>
          <a:xfrm>
            <a:off x="1910086" y="4746020"/>
            <a:ext cx="7046700" cy="366164"/>
            <a:chOff x="6251336" y="2557811"/>
            <a:chExt cx="7046700" cy="366164"/>
          </a:xfrm>
        </p:grpSpPr>
        <p:sp>
          <p:nvSpPr>
            <p:cNvPr id="780" name="Google Shape;780;g3d3e78d848d_0_168"/>
            <p:cNvSpPr txBox="1"/>
            <p:nvPr/>
          </p:nvSpPr>
          <p:spPr>
            <a:xfrm>
              <a:off x="6251336" y="2596075"/>
              <a:ext cx="70467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1" i="0" lang="ru-RU" sz="2000" u="none" cap="none" strike="noStrike">
                  <a:solidFill>
                    <a:srgbClr val="8E39E2"/>
                  </a:solidFill>
                  <a:latin typeface="IBM Plex Sans"/>
                  <a:ea typeface="IBM Plex Sans"/>
                  <a:cs typeface="IBM Plex Sans"/>
                  <a:sym typeface="IBM Plex Sans"/>
                </a:rPr>
                <a:t>Модель машинного обучения</a:t>
              </a:r>
              <a:endParaRPr b="1" i="0" sz="2000" u="none" cap="none" strike="noStrike">
                <a:solidFill>
                  <a:srgbClr val="8E39E2"/>
                </a:solidFill>
                <a:latin typeface="IBM Plex Sans"/>
                <a:ea typeface="IBM Plex Sans"/>
                <a:cs typeface="IBM Plex Sans"/>
                <a:sym typeface="IBM Plex Sans"/>
              </a:endParaRPr>
            </a:p>
          </p:txBody>
        </p:sp>
        <p:sp>
          <p:nvSpPr>
            <p:cNvPr id="781" name="Google Shape;781;g3d3e78d848d_0_168"/>
            <p:cNvSpPr txBox="1"/>
            <p:nvPr/>
          </p:nvSpPr>
          <p:spPr>
            <a:xfrm>
              <a:off x="6252774" y="2557811"/>
              <a:ext cx="48135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g3d3e78d848d_0_195"/>
          <p:cNvSpPr txBox="1"/>
          <p:nvPr/>
        </p:nvSpPr>
        <p:spPr>
          <a:xfrm>
            <a:off x="1055702" y="1327700"/>
            <a:ext cx="73053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Смысловое значение терминов</a:t>
            </a:r>
            <a:endParaRPr b="0" i="0" sz="3600" u="none" cap="none" strike="noStrike">
              <a:solidFill>
                <a:srgbClr val="DFDFDF"/>
              </a:solidFill>
              <a:latin typeface="IBM Plex Sans"/>
              <a:ea typeface="IBM Plex Sans"/>
              <a:cs typeface="IBM Plex Sans"/>
              <a:sym typeface="IBM Plex Sans"/>
            </a:endParaRPr>
          </a:p>
        </p:txBody>
      </p:sp>
      <p:grpSp>
        <p:nvGrpSpPr>
          <p:cNvPr id="787" name="Google Shape;787;g3d3e78d848d_0_195"/>
          <p:cNvGrpSpPr/>
          <p:nvPr/>
        </p:nvGrpSpPr>
        <p:grpSpPr>
          <a:xfrm>
            <a:off x="9353973" y="-1553420"/>
            <a:ext cx="2854020" cy="13716631"/>
            <a:chOff x="9353973" y="-1553420"/>
            <a:chExt cx="2854020" cy="13716631"/>
          </a:xfrm>
        </p:grpSpPr>
        <p:grpSp>
          <p:nvGrpSpPr>
            <p:cNvPr id="788" name="Google Shape;788;g3d3e78d848d_0_195"/>
            <p:cNvGrpSpPr/>
            <p:nvPr/>
          </p:nvGrpSpPr>
          <p:grpSpPr>
            <a:xfrm>
              <a:off x="9353973" y="-1553420"/>
              <a:ext cx="2838027" cy="13716631"/>
              <a:chOff x="9353973" y="-6079700"/>
              <a:chExt cx="2838027" cy="13716631"/>
            </a:xfrm>
          </p:grpSpPr>
          <p:pic>
            <p:nvPicPr>
              <p:cNvPr id="789" name="Google Shape;789;g3d3e78d848d_0_195"/>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790" name="Google Shape;790;g3d3e78d848d_0_195"/>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791" name="Google Shape;791;g3d3e78d848d_0_195"/>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2" name="Google Shape;792;g3d3e78d848d_0_195"/>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793" name="Google Shape;793;g3d3e78d848d_0_195"/>
          <p:cNvSpPr/>
          <p:nvPr/>
        </p:nvSpPr>
        <p:spPr>
          <a:xfrm>
            <a:off x="1055688" y="2430525"/>
            <a:ext cx="457200" cy="457200"/>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ru-RU" sz="1800" u="none" cap="none" strike="noStrike">
                <a:solidFill>
                  <a:srgbClr val="F8CEEE"/>
                </a:solidFill>
                <a:latin typeface="IBM Plex Sans"/>
                <a:ea typeface="IBM Plex Sans"/>
                <a:cs typeface="IBM Plex Sans"/>
                <a:sym typeface="IBM Plex Sans"/>
              </a:rPr>
              <a:t>1</a:t>
            </a:r>
            <a:endParaRPr b="0" i="0" sz="1800" u="none" cap="none" strike="noStrike">
              <a:solidFill>
                <a:srgbClr val="F8CEEE"/>
              </a:solidFill>
              <a:latin typeface="IBM Plex Sans"/>
              <a:ea typeface="IBM Plex Sans"/>
              <a:cs typeface="IBM Plex Sans"/>
              <a:sym typeface="IBM Plex Sans"/>
            </a:endParaRPr>
          </a:p>
        </p:txBody>
      </p:sp>
      <p:grpSp>
        <p:nvGrpSpPr>
          <p:cNvPr id="794" name="Google Shape;794;g3d3e78d848d_0_195"/>
          <p:cNvGrpSpPr/>
          <p:nvPr/>
        </p:nvGrpSpPr>
        <p:grpSpPr>
          <a:xfrm>
            <a:off x="1910086" y="2108553"/>
            <a:ext cx="7046713" cy="745269"/>
            <a:chOff x="6251336" y="2194681"/>
            <a:chExt cx="7046713" cy="745269"/>
          </a:xfrm>
        </p:grpSpPr>
        <p:sp>
          <p:nvSpPr>
            <p:cNvPr id="795" name="Google Shape;795;g3d3e78d848d_0_195"/>
            <p:cNvSpPr txBox="1"/>
            <p:nvPr/>
          </p:nvSpPr>
          <p:spPr>
            <a:xfrm>
              <a:off x="6251349" y="2612050"/>
              <a:ext cx="70467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1" i="0" lang="ru-RU" sz="2000" u="none" cap="none" strike="noStrike">
                  <a:solidFill>
                    <a:srgbClr val="8E39E2"/>
                  </a:solidFill>
                  <a:latin typeface="IBM Plex Sans"/>
                  <a:ea typeface="IBM Plex Sans"/>
                  <a:cs typeface="IBM Plex Sans"/>
                  <a:sym typeface="IBM Plex Sans"/>
                </a:rPr>
                <a:t>Обучающая выборка (training dataset)</a:t>
              </a:r>
              <a:endParaRPr b="0" i="0" sz="1800" u="none" cap="none" strike="noStrike">
                <a:solidFill>
                  <a:srgbClr val="000000"/>
                </a:solidFill>
                <a:latin typeface="Arial"/>
                <a:ea typeface="Arial"/>
                <a:cs typeface="Arial"/>
                <a:sym typeface="Arial"/>
              </a:endParaRPr>
            </a:p>
          </p:txBody>
        </p:sp>
        <p:sp>
          <p:nvSpPr>
            <p:cNvPr id="796" name="Google Shape;796;g3d3e78d848d_0_195"/>
            <p:cNvSpPr txBox="1"/>
            <p:nvPr/>
          </p:nvSpPr>
          <p:spPr>
            <a:xfrm>
              <a:off x="6251336" y="2194681"/>
              <a:ext cx="4813500" cy="6357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grpSp>
      <p:sp>
        <p:nvSpPr>
          <p:cNvPr id="797" name="Google Shape;797;g3d3e78d848d_0_195"/>
          <p:cNvSpPr/>
          <p:nvPr/>
        </p:nvSpPr>
        <p:spPr>
          <a:xfrm>
            <a:off x="1055688" y="3651711"/>
            <a:ext cx="457200" cy="457200"/>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ru-RU" sz="1800" u="none" cap="none" strike="noStrike">
                <a:solidFill>
                  <a:srgbClr val="F8CEEE"/>
                </a:solidFill>
                <a:latin typeface="IBM Plex Sans"/>
                <a:ea typeface="IBM Plex Sans"/>
                <a:cs typeface="IBM Plex Sans"/>
                <a:sym typeface="IBM Plex Sans"/>
              </a:rPr>
              <a:t>2</a:t>
            </a:r>
            <a:endParaRPr b="0" i="0" sz="1800" u="none" cap="none" strike="noStrike">
              <a:solidFill>
                <a:srgbClr val="F8CEEE"/>
              </a:solidFill>
              <a:latin typeface="IBM Plex Sans"/>
              <a:ea typeface="IBM Plex Sans"/>
              <a:cs typeface="IBM Plex Sans"/>
              <a:sym typeface="IBM Plex Sans"/>
            </a:endParaRPr>
          </a:p>
        </p:txBody>
      </p:sp>
      <p:grpSp>
        <p:nvGrpSpPr>
          <p:cNvPr id="798" name="Google Shape;798;g3d3e78d848d_0_195"/>
          <p:cNvGrpSpPr/>
          <p:nvPr/>
        </p:nvGrpSpPr>
        <p:grpSpPr>
          <a:xfrm>
            <a:off x="1910086" y="3651711"/>
            <a:ext cx="7046700" cy="417302"/>
            <a:chOff x="6251336" y="2557811"/>
            <a:chExt cx="7046700" cy="417302"/>
          </a:xfrm>
        </p:grpSpPr>
        <p:sp>
          <p:nvSpPr>
            <p:cNvPr id="799" name="Google Shape;799;g3d3e78d848d_0_195"/>
            <p:cNvSpPr txBox="1"/>
            <p:nvPr/>
          </p:nvSpPr>
          <p:spPr>
            <a:xfrm>
              <a:off x="6251336" y="2647213"/>
              <a:ext cx="70467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1" i="0" lang="ru-RU" sz="2000" u="none" cap="none" strike="noStrike">
                  <a:solidFill>
                    <a:srgbClr val="8E39E2"/>
                  </a:solidFill>
                  <a:latin typeface="IBM Plex Sans"/>
                  <a:ea typeface="IBM Plex Sans"/>
                  <a:cs typeface="IBM Plex Sans"/>
                  <a:sym typeface="IBM Plex Sans"/>
                </a:rPr>
                <a:t>Истинная зависимость</a:t>
              </a:r>
              <a:endParaRPr b="0" i="0" sz="1800" u="none" cap="none" strike="noStrike">
                <a:solidFill>
                  <a:srgbClr val="000000"/>
                </a:solidFill>
                <a:latin typeface="Arial"/>
                <a:ea typeface="Arial"/>
                <a:cs typeface="Arial"/>
                <a:sym typeface="Arial"/>
              </a:endParaRPr>
            </a:p>
          </p:txBody>
        </p:sp>
        <p:sp>
          <p:nvSpPr>
            <p:cNvPr id="800" name="Google Shape;800;g3d3e78d848d_0_195"/>
            <p:cNvSpPr txBox="1"/>
            <p:nvPr/>
          </p:nvSpPr>
          <p:spPr>
            <a:xfrm>
              <a:off x="6252774" y="2557811"/>
              <a:ext cx="48135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grpSp>
      <p:pic>
        <p:nvPicPr>
          <p:cNvPr id="801" name="Google Shape;801;g3d3e78d848d_0_195"/>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sp>
        <p:nvSpPr>
          <p:cNvPr id="802" name="Google Shape;802;g3d3e78d848d_0_195"/>
          <p:cNvSpPr/>
          <p:nvPr/>
        </p:nvSpPr>
        <p:spPr>
          <a:xfrm>
            <a:off x="1055688" y="4688870"/>
            <a:ext cx="457200" cy="457200"/>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ru-RU" sz="1800" u="none" cap="none" strike="noStrike">
                <a:solidFill>
                  <a:srgbClr val="F8CEEE"/>
                </a:solidFill>
                <a:latin typeface="IBM Plex Sans"/>
                <a:ea typeface="IBM Plex Sans"/>
                <a:cs typeface="IBM Plex Sans"/>
                <a:sym typeface="IBM Plex Sans"/>
              </a:rPr>
              <a:t>3</a:t>
            </a:r>
            <a:endParaRPr b="0" i="0" sz="1800" u="none" cap="none" strike="noStrike">
              <a:solidFill>
                <a:srgbClr val="F8CEEE"/>
              </a:solidFill>
              <a:latin typeface="IBM Plex Sans"/>
              <a:ea typeface="IBM Plex Sans"/>
              <a:cs typeface="IBM Plex Sans"/>
              <a:sym typeface="IBM Plex Sans"/>
            </a:endParaRPr>
          </a:p>
        </p:txBody>
      </p:sp>
      <p:grpSp>
        <p:nvGrpSpPr>
          <p:cNvPr id="803" name="Google Shape;803;g3d3e78d848d_0_195"/>
          <p:cNvGrpSpPr/>
          <p:nvPr/>
        </p:nvGrpSpPr>
        <p:grpSpPr>
          <a:xfrm>
            <a:off x="1910086" y="4746020"/>
            <a:ext cx="7046700" cy="366164"/>
            <a:chOff x="6251336" y="2557811"/>
            <a:chExt cx="7046700" cy="366164"/>
          </a:xfrm>
        </p:grpSpPr>
        <p:sp>
          <p:nvSpPr>
            <p:cNvPr id="804" name="Google Shape;804;g3d3e78d848d_0_195"/>
            <p:cNvSpPr txBox="1"/>
            <p:nvPr/>
          </p:nvSpPr>
          <p:spPr>
            <a:xfrm>
              <a:off x="6251336" y="2596075"/>
              <a:ext cx="70467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1" i="0" lang="ru-RU" sz="2000" u="none" cap="none" strike="noStrike">
                  <a:solidFill>
                    <a:srgbClr val="8E39E2"/>
                  </a:solidFill>
                  <a:latin typeface="IBM Plex Sans"/>
                  <a:ea typeface="IBM Plex Sans"/>
                  <a:cs typeface="IBM Plex Sans"/>
                  <a:sym typeface="IBM Plex Sans"/>
                </a:rPr>
                <a:t>Модель машинного обучения</a:t>
              </a:r>
              <a:endParaRPr b="1" i="0" sz="2000" u="none" cap="none" strike="noStrike">
                <a:solidFill>
                  <a:srgbClr val="8E39E2"/>
                </a:solidFill>
                <a:latin typeface="IBM Plex Sans"/>
                <a:ea typeface="IBM Plex Sans"/>
                <a:cs typeface="IBM Plex Sans"/>
                <a:sym typeface="IBM Plex Sans"/>
              </a:endParaRPr>
            </a:p>
          </p:txBody>
        </p:sp>
        <p:sp>
          <p:nvSpPr>
            <p:cNvPr id="805" name="Google Shape;805;g3d3e78d848d_0_195"/>
            <p:cNvSpPr txBox="1"/>
            <p:nvPr/>
          </p:nvSpPr>
          <p:spPr>
            <a:xfrm>
              <a:off x="6252774" y="2557811"/>
              <a:ext cx="48135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grpSp>
      <p:sp>
        <p:nvSpPr>
          <p:cNvPr id="806" name="Google Shape;806;g3d3e78d848d_0_195"/>
          <p:cNvSpPr/>
          <p:nvPr/>
        </p:nvSpPr>
        <p:spPr>
          <a:xfrm>
            <a:off x="1055688" y="5646262"/>
            <a:ext cx="457200" cy="457200"/>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ru-RU" sz="1800" u="none" cap="none" strike="noStrike">
                <a:solidFill>
                  <a:srgbClr val="F8CEEE"/>
                </a:solidFill>
                <a:latin typeface="IBM Plex Sans"/>
                <a:ea typeface="IBM Plex Sans"/>
                <a:cs typeface="IBM Plex Sans"/>
                <a:sym typeface="IBM Plex Sans"/>
              </a:rPr>
              <a:t>4</a:t>
            </a:r>
            <a:endParaRPr b="0" i="0" sz="1800" u="none" cap="none" strike="noStrike">
              <a:solidFill>
                <a:srgbClr val="F8CEEE"/>
              </a:solidFill>
              <a:latin typeface="IBM Plex Sans"/>
              <a:ea typeface="IBM Plex Sans"/>
              <a:cs typeface="IBM Plex Sans"/>
              <a:sym typeface="IBM Plex Sans"/>
            </a:endParaRPr>
          </a:p>
        </p:txBody>
      </p:sp>
      <p:grpSp>
        <p:nvGrpSpPr>
          <p:cNvPr id="807" name="Google Shape;807;g3d3e78d848d_0_195"/>
          <p:cNvGrpSpPr/>
          <p:nvPr/>
        </p:nvGrpSpPr>
        <p:grpSpPr>
          <a:xfrm>
            <a:off x="1910086" y="5731845"/>
            <a:ext cx="7046700" cy="328089"/>
            <a:chOff x="6251336" y="2557811"/>
            <a:chExt cx="7046700" cy="328089"/>
          </a:xfrm>
        </p:grpSpPr>
        <p:sp>
          <p:nvSpPr>
            <p:cNvPr id="808" name="Google Shape;808;g3d3e78d848d_0_195"/>
            <p:cNvSpPr txBox="1"/>
            <p:nvPr/>
          </p:nvSpPr>
          <p:spPr>
            <a:xfrm>
              <a:off x="6251336" y="2558000"/>
              <a:ext cx="70467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1" i="0" lang="ru-RU" sz="2000" u="none" cap="none" strike="noStrike">
                  <a:solidFill>
                    <a:srgbClr val="8E39E2"/>
                  </a:solidFill>
                  <a:latin typeface="IBM Plex Sans"/>
                  <a:ea typeface="IBM Plex Sans"/>
                  <a:cs typeface="IBM Plex Sans"/>
                  <a:sym typeface="IBM Plex Sans"/>
                </a:rPr>
                <a:t>Обучение</a:t>
              </a:r>
              <a:endParaRPr b="1" i="0" sz="2000" u="none" cap="none" strike="noStrike">
                <a:solidFill>
                  <a:srgbClr val="8E39E2"/>
                </a:solidFill>
                <a:latin typeface="IBM Plex Sans"/>
                <a:ea typeface="IBM Plex Sans"/>
                <a:cs typeface="IBM Plex Sans"/>
                <a:sym typeface="IBM Plex Sans"/>
              </a:endParaRPr>
            </a:p>
          </p:txBody>
        </p:sp>
        <p:sp>
          <p:nvSpPr>
            <p:cNvPr id="809" name="Google Shape;809;g3d3e78d848d_0_195"/>
            <p:cNvSpPr txBox="1"/>
            <p:nvPr/>
          </p:nvSpPr>
          <p:spPr>
            <a:xfrm>
              <a:off x="6252774" y="2557811"/>
              <a:ext cx="4813500" cy="3279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g3d3e78d848d_0_114"/>
          <p:cNvSpPr txBox="1"/>
          <p:nvPr/>
        </p:nvSpPr>
        <p:spPr>
          <a:xfrm>
            <a:off x="1055702" y="1327700"/>
            <a:ext cx="73053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Смысловое значение терминов</a:t>
            </a:r>
            <a:endParaRPr b="0" i="0" sz="3600" u="none" cap="none" strike="noStrike">
              <a:solidFill>
                <a:srgbClr val="DFDFDF"/>
              </a:solidFill>
              <a:latin typeface="IBM Plex Sans"/>
              <a:ea typeface="IBM Plex Sans"/>
              <a:cs typeface="IBM Plex Sans"/>
              <a:sym typeface="IBM Plex Sans"/>
            </a:endParaRPr>
          </a:p>
        </p:txBody>
      </p:sp>
      <p:grpSp>
        <p:nvGrpSpPr>
          <p:cNvPr id="815" name="Google Shape;815;g3d3e78d848d_0_114"/>
          <p:cNvGrpSpPr/>
          <p:nvPr/>
        </p:nvGrpSpPr>
        <p:grpSpPr>
          <a:xfrm>
            <a:off x="9353973" y="-1553420"/>
            <a:ext cx="2854020" cy="13716631"/>
            <a:chOff x="9353973" y="-1553420"/>
            <a:chExt cx="2854020" cy="13716631"/>
          </a:xfrm>
        </p:grpSpPr>
        <p:grpSp>
          <p:nvGrpSpPr>
            <p:cNvPr id="816" name="Google Shape;816;g3d3e78d848d_0_114"/>
            <p:cNvGrpSpPr/>
            <p:nvPr/>
          </p:nvGrpSpPr>
          <p:grpSpPr>
            <a:xfrm>
              <a:off x="9353973" y="-1553420"/>
              <a:ext cx="2838027" cy="13716631"/>
              <a:chOff x="9353973" y="-6079700"/>
              <a:chExt cx="2838027" cy="13716631"/>
            </a:xfrm>
          </p:grpSpPr>
          <p:pic>
            <p:nvPicPr>
              <p:cNvPr id="817" name="Google Shape;817;g3d3e78d848d_0_114"/>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818" name="Google Shape;818;g3d3e78d848d_0_114"/>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819" name="Google Shape;819;g3d3e78d848d_0_114"/>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0" name="Google Shape;820;g3d3e78d848d_0_114"/>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821" name="Google Shape;821;g3d3e78d848d_0_114"/>
          <p:cNvSpPr/>
          <p:nvPr/>
        </p:nvSpPr>
        <p:spPr>
          <a:xfrm>
            <a:off x="1055688" y="2430525"/>
            <a:ext cx="457200" cy="457200"/>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ru-RU" sz="1800" u="none" cap="none" strike="noStrike">
                <a:solidFill>
                  <a:srgbClr val="F8CEEE"/>
                </a:solidFill>
                <a:latin typeface="IBM Plex Sans"/>
                <a:ea typeface="IBM Plex Sans"/>
                <a:cs typeface="IBM Plex Sans"/>
                <a:sym typeface="IBM Plex Sans"/>
              </a:rPr>
              <a:t>1</a:t>
            </a:r>
            <a:endParaRPr b="0" i="0" sz="1800" u="none" cap="none" strike="noStrike">
              <a:solidFill>
                <a:srgbClr val="F8CEEE"/>
              </a:solidFill>
              <a:latin typeface="IBM Plex Sans"/>
              <a:ea typeface="IBM Plex Sans"/>
              <a:cs typeface="IBM Plex Sans"/>
              <a:sym typeface="IBM Plex Sans"/>
            </a:endParaRPr>
          </a:p>
        </p:txBody>
      </p:sp>
      <p:grpSp>
        <p:nvGrpSpPr>
          <p:cNvPr id="822" name="Google Shape;822;g3d3e78d848d_0_114"/>
          <p:cNvGrpSpPr/>
          <p:nvPr/>
        </p:nvGrpSpPr>
        <p:grpSpPr>
          <a:xfrm>
            <a:off x="1910086" y="1827222"/>
            <a:ext cx="7046700" cy="1532931"/>
            <a:chOff x="6251336" y="1913350"/>
            <a:chExt cx="7046700" cy="1532931"/>
          </a:xfrm>
        </p:grpSpPr>
        <p:sp>
          <p:nvSpPr>
            <p:cNvPr id="823" name="Google Shape;823;g3d3e78d848d_0_114"/>
            <p:cNvSpPr txBox="1"/>
            <p:nvPr/>
          </p:nvSpPr>
          <p:spPr>
            <a:xfrm>
              <a:off x="6251336" y="1913350"/>
              <a:ext cx="7046700" cy="2664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1" i="0" lang="ru-RU" sz="1600" u="none" cap="none" strike="noStrike">
                  <a:solidFill>
                    <a:srgbClr val="8E39E2"/>
                  </a:solidFill>
                  <a:latin typeface="IBM Plex Sans"/>
                  <a:ea typeface="IBM Plex Sans"/>
                  <a:cs typeface="IBM Plex Sans"/>
                  <a:sym typeface="IBM Plex Sans"/>
                </a:rPr>
                <a:t>Обучающая выборка (training dataset)</a:t>
              </a:r>
              <a:endParaRPr b="0" i="0" sz="1400" u="none" cap="none" strike="noStrike">
                <a:solidFill>
                  <a:srgbClr val="000000"/>
                </a:solidFill>
                <a:latin typeface="Arial"/>
                <a:ea typeface="Arial"/>
                <a:cs typeface="Arial"/>
                <a:sym typeface="Arial"/>
              </a:endParaRPr>
            </a:p>
          </p:txBody>
        </p:sp>
        <p:sp>
          <p:nvSpPr>
            <p:cNvPr id="824" name="Google Shape;824;g3d3e78d848d_0_114"/>
            <p:cNvSpPr txBox="1"/>
            <p:nvPr/>
          </p:nvSpPr>
          <p:spPr>
            <a:xfrm>
              <a:off x="6251336" y="2194681"/>
              <a:ext cx="4813500" cy="12516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накопленный опыт. Каждый объект в выборке представляет собой набор признаков (features) и соответствующее ему значение целевой переменной (target).</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IBM Plex Sans"/>
                <a:ea typeface="IBM Plex Sans"/>
                <a:cs typeface="IBM Plex Sans"/>
                <a:sym typeface="IBM Plex Sans"/>
              </a:endParaRPr>
            </a:p>
          </p:txBody>
        </p:sp>
      </p:grpSp>
      <p:sp>
        <p:nvSpPr>
          <p:cNvPr id="825" name="Google Shape;825;g3d3e78d848d_0_114"/>
          <p:cNvSpPr/>
          <p:nvPr/>
        </p:nvSpPr>
        <p:spPr>
          <a:xfrm>
            <a:off x="1055688" y="3651711"/>
            <a:ext cx="457200" cy="457200"/>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ru-RU" sz="1800" u="none" cap="none" strike="noStrike">
                <a:solidFill>
                  <a:srgbClr val="F8CEEE"/>
                </a:solidFill>
                <a:latin typeface="IBM Plex Sans"/>
                <a:ea typeface="IBM Plex Sans"/>
                <a:cs typeface="IBM Plex Sans"/>
                <a:sym typeface="IBM Plex Sans"/>
              </a:rPr>
              <a:t>2</a:t>
            </a:r>
            <a:endParaRPr b="0" i="0" sz="1800" u="none" cap="none" strike="noStrike">
              <a:solidFill>
                <a:srgbClr val="F8CEEE"/>
              </a:solidFill>
              <a:latin typeface="IBM Plex Sans"/>
              <a:ea typeface="IBM Plex Sans"/>
              <a:cs typeface="IBM Plex Sans"/>
              <a:sym typeface="IBM Plex Sans"/>
            </a:endParaRPr>
          </a:p>
        </p:txBody>
      </p:sp>
      <p:grpSp>
        <p:nvGrpSpPr>
          <p:cNvPr id="826" name="Google Shape;826;g3d3e78d848d_0_114"/>
          <p:cNvGrpSpPr/>
          <p:nvPr/>
        </p:nvGrpSpPr>
        <p:grpSpPr>
          <a:xfrm>
            <a:off x="1911525" y="3427525"/>
            <a:ext cx="7046700" cy="1040336"/>
            <a:chOff x="6252774" y="2276475"/>
            <a:chExt cx="7046700" cy="1040336"/>
          </a:xfrm>
        </p:grpSpPr>
        <p:sp>
          <p:nvSpPr>
            <p:cNvPr id="827" name="Google Shape;827;g3d3e78d848d_0_114"/>
            <p:cNvSpPr txBox="1"/>
            <p:nvPr/>
          </p:nvSpPr>
          <p:spPr>
            <a:xfrm>
              <a:off x="6252774" y="2276475"/>
              <a:ext cx="7046700" cy="2664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1" i="0" lang="ru-RU" sz="1600" u="none" cap="none" strike="noStrike">
                  <a:solidFill>
                    <a:srgbClr val="8E39E2"/>
                  </a:solidFill>
                  <a:latin typeface="IBM Plex Sans"/>
                  <a:ea typeface="IBM Plex Sans"/>
                  <a:cs typeface="IBM Plex Sans"/>
                  <a:sym typeface="IBM Plex Sans"/>
                </a:rPr>
                <a:t>Истинная зависимость</a:t>
              </a:r>
              <a:endParaRPr b="0" i="0" sz="1400" u="none" cap="none" strike="noStrike">
                <a:solidFill>
                  <a:srgbClr val="000000"/>
                </a:solidFill>
                <a:latin typeface="Arial"/>
                <a:ea typeface="Arial"/>
                <a:cs typeface="Arial"/>
                <a:sym typeface="Arial"/>
              </a:endParaRPr>
            </a:p>
          </p:txBody>
        </p:sp>
        <p:sp>
          <p:nvSpPr>
            <p:cNvPr id="828" name="Google Shape;828;g3d3e78d848d_0_114"/>
            <p:cNvSpPr txBox="1"/>
            <p:nvPr/>
          </p:nvSpPr>
          <p:spPr>
            <a:xfrm>
              <a:off x="6252774" y="2557811"/>
              <a:ext cx="4813500" cy="7590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правила перевода признаков в целевую переменную</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IBM Plex Sans"/>
                <a:ea typeface="IBM Plex Sans"/>
                <a:cs typeface="IBM Plex Sans"/>
                <a:sym typeface="IBM Plex Sans"/>
              </a:endParaRPr>
            </a:p>
          </p:txBody>
        </p:sp>
      </p:grpSp>
      <p:pic>
        <p:nvPicPr>
          <p:cNvPr id="829" name="Google Shape;829;g3d3e78d848d_0_114"/>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sp>
        <p:nvSpPr>
          <p:cNvPr id="830" name="Google Shape;830;g3d3e78d848d_0_114"/>
          <p:cNvSpPr/>
          <p:nvPr/>
        </p:nvSpPr>
        <p:spPr>
          <a:xfrm>
            <a:off x="1055688" y="4688870"/>
            <a:ext cx="457200" cy="457200"/>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ru-RU" sz="1800" u="none" cap="none" strike="noStrike">
                <a:solidFill>
                  <a:srgbClr val="F8CEEE"/>
                </a:solidFill>
                <a:latin typeface="IBM Plex Sans"/>
                <a:ea typeface="IBM Plex Sans"/>
                <a:cs typeface="IBM Plex Sans"/>
                <a:sym typeface="IBM Plex Sans"/>
              </a:rPr>
              <a:t>3</a:t>
            </a:r>
            <a:endParaRPr b="0" i="0" sz="1800" u="none" cap="none" strike="noStrike">
              <a:solidFill>
                <a:srgbClr val="F8CEEE"/>
              </a:solidFill>
              <a:latin typeface="IBM Plex Sans"/>
              <a:ea typeface="IBM Plex Sans"/>
              <a:cs typeface="IBM Plex Sans"/>
              <a:sym typeface="IBM Plex Sans"/>
            </a:endParaRPr>
          </a:p>
        </p:txBody>
      </p:sp>
      <p:grpSp>
        <p:nvGrpSpPr>
          <p:cNvPr id="831" name="Google Shape;831;g3d3e78d848d_0_114"/>
          <p:cNvGrpSpPr/>
          <p:nvPr/>
        </p:nvGrpSpPr>
        <p:grpSpPr>
          <a:xfrm>
            <a:off x="1911525" y="4464684"/>
            <a:ext cx="7046700" cy="794036"/>
            <a:chOff x="6252774" y="2276475"/>
            <a:chExt cx="7046700" cy="794036"/>
          </a:xfrm>
        </p:grpSpPr>
        <p:sp>
          <p:nvSpPr>
            <p:cNvPr id="832" name="Google Shape;832;g3d3e78d848d_0_114"/>
            <p:cNvSpPr txBox="1"/>
            <p:nvPr/>
          </p:nvSpPr>
          <p:spPr>
            <a:xfrm>
              <a:off x="6252774" y="2276475"/>
              <a:ext cx="7046700" cy="2664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1" i="0" lang="ru-RU" sz="1600" u="none" cap="none" strike="noStrike">
                  <a:solidFill>
                    <a:srgbClr val="8E39E2"/>
                  </a:solidFill>
                  <a:latin typeface="IBM Plex Sans"/>
                  <a:ea typeface="IBM Plex Sans"/>
                  <a:cs typeface="IBM Plex Sans"/>
                  <a:sym typeface="IBM Plex Sans"/>
                </a:rPr>
                <a:t>Модель машинного обучения</a:t>
              </a:r>
              <a:endParaRPr b="1" i="0" sz="1600" u="none" cap="none" strike="noStrike">
                <a:solidFill>
                  <a:srgbClr val="8E39E2"/>
                </a:solidFill>
                <a:latin typeface="IBM Plex Sans"/>
                <a:ea typeface="IBM Plex Sans"/>
                <a:cs typeface="IBM Plex Sans"/>
                <a:sym typeface="IBM Plex Sans"/>
              </a:endParaRPr>
            </a:p>
          </p:txBody>
        </p:sp>
        <p:sp>
          <p:nvSpPr>
            <p:cNvPr id="833" name="Google Shape;833;g3d3e78d848d_0_114"/>
            <p:cNvSpPr txBox="1"/>
            <p:nvPr/>
          </p:nvSpPr>
          <p:spPr>
            <a:xfrm>
              <a:off x="6252774" y="2557811"/>
              <a:ext cx="4813500" cy="5127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алгоритм, выявляющий истинную зависимость</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 на основе обучающей выборки</a:t>
              </a:r>
              <a:endParaRPr b="0" i="0" sz="1600" u="none" cap="none" strike="noStrike">
                <a:solidFill>
                  <a:schemeClr val="dk1"/>
                </a:solidFill>
                <a:latin typeface="IBM Plex Sans"/>
                <a:ea typeface="IBM Plex Sans"/>
                <a:cs typeface="IBM Plex Sans"/>
                <a:sym typeface="IBM Plex Sans"/>
              </a:endParaRPr>
            </a:p>
          </p:txBody>
        </p:sp>
      </p:grpSp>
      <p:sp>
        <p:nvSpPr>
          <p:cNvPr id="834" name="Google Shape;834;g3d3e78d848d_0_114"/>
          <p:cNvSpPr/>
          <p:nvPr/>
        </p:nvSpPr>
        <p:spPr>
          <a:xfrm>
            <a:off x="1055688" y="5646262"/>
            <a:ext cx="457200" cy="457200"/>
          </a:xfrm>
          <a:prstGeom prst="ellipse">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ru-RU" sz="1800" u="none" cap="none" strike="noStrike">
                <a:solidFill>
                  <a:srgbClr val="F8CEEE"/>
                </a:solidFill>
                <a:latin typeface="IBM Plex Sans"/>
                <a:ea typeface="IBM Plex Sans"/>
                <a:cs typeface="IBM Plex Sans"/>
                <a:sym typeface="IBM Plex Sans"/>
              </a:rPr>
              <a:t>4</a:t>
            </a:r>
            <a:endParaRPr b="0" i="0" sz="1800" u="none" cap="none" strike="noStrike">
              <a:solidFill>
                <a:srgbClr val="F8CEEE"/>
              </a:solidFill>
              <a:latin typeface="IBM Plex Sans"/>
              <a:ea typeface="IBM Plex Sans"/>
              <a:cs typeface="IBM Plex Sans"/>
              <a:sym typeface="IBM Plex Sans"/>
            </a:endParaRPr>
          </a:p>
        </p:txBody>
      </p:sp>
      <p:grpSp>
        <p:nvGrpSpPr>
          <p:cNvPr id="835" name="Google Shape;835;g3d3e78d848d_0_114"/>
          <p:cNvGrpSpPr/>
          <p:nvPr/>
        </p:nvGrpSpPr>
        <p:grpSpPr>
          <a:xfrm>
            <a:off x="1911525" y="5450509"/>
            <a:ext cx="7046700" cy="794036"/>
            <a:chOff x="6252774" y="2276475"/>
            <a:chExt cx="7046700" cy="794036"/>
          </a:xfrm>
        </p:grpSpPr>
        <p:sp>
          <p:nvSpPr>
            <p:cNvPr id="836" name="Google Shape;836;g3d3e78d848d_0_114"/>
            <p:cNvSpPr txBox="1"/>
            <p:nvPr/>
          </p:nvSpPr>
          <p:spPr>
            <a:xfrm>
              <a:off x="6252774" y="2276475"/>
              <a:ext cx="7046700" cy="2664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1" i="0" lang="ru-RU" sz="1600" u="none" cap="none" strike="noStrike">
                  <a:solidFill>
                    <a:srgbClr val="8E39E2"/>
                  </a:solidFill>
                  <a:latin typeface="IBM Plex Sans"/>
                  <a:ea typeface="IBM Plex Sans"/>
                  <a:cs typeface="IBM Plex Sans"/>
                  <a:sym typeface="IBM Plex Sans"/>
                </a:rPr>
                <a:t>Обучение</a:t>
              </a:r>
              <a:endParaRPr b="1" i="0" sz="1600" u="none" cap="none" strike="noStrike">
                <a:solidFill>
                  <a:srgbClr val="8E39E2"/>
                </a:solidFill>
                <a:latin typeface="IBM Plex Sans"/>
                <a:ea typeface="IBM Plex Sans"/>
                <a:cs typeface="IBM Plex Sans"/>
                <a:sym typeface="IBM Plex Sans"/>
              </a:endParaRPr>
            </a:p>
          </p:txBody>
        </p:sp>
        <p:sp>
          <p:nvSpPr>
            <p:cNvPr id="837" name="Google Shape;837;g3d3e78d848d_0_114"/>
            <p:cNvSpPr txBox="1"/>
            <p:nvPr/>
          </p:nvSpPr>
          <p:spPr>
            <a:xfrm>
              <a:off x="6252774" y="2557811"/>
              <a:ext cx="4813500" cy="512700"/>
            </a:xfrm>
            <a:prstGeom prst="rect">
              <a:avLst/>
            </a:prstGeom>
            <a:noFill/>
            <a:ln>
              <a:noFill/>
            </a:ln>
          </p:spPr>
          <p:txBody>
            <a:bodyPr anchorCtr="0" anchor="t" bIns="0" lIns="0" spcFirstLastPara="1" rIns="0" wrap="square" tIns="19875">
              <a:spAutoFit/>
            </a:bodyPr>
            <a:lstStyle/>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процесс выявления истинной зависимости моделью машинного обучения</a:t>
              </a:r>
              <a:endParaRPr b="0" i="0" sz="1600" u="none" cap="none" strike="noStrike">
                <a:solidFill>
                  <a:schemeClr val="dk1"/>
                </a:solidFill>
                <a:latin typeface="IBM Plex Sans"/>
                <a:ea typeface="IBM Plex Sans"/>
                <a:cs typeface="IBM Plex Sans"/>
                <a:sym typeface="IBM Plex Sans"/>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grpSp>
        <p:nvGrpSpPr>
          <p:cNvPr id="842" name="Google Shape;842;p18"/>
          <p:cNvGrpSpPr/>
          <p:nvPr/>
        </p:nvGrpSpPr>
        <p:grpSpPr>
          <a:xfrm>
            <a:off x="9353973" y="-1553420"/>
            <a:ext cx="2853949" cy="13716633"/>
            <a:chOff x="9353973" y="-1553420"/>
            <a:chExt cx="2853949" cy="13716633"/>
          </a:xfrm>
        </p:grpSpPr>
        <p:grpSp>
          <p:nvGrpSpPr>
            <p:cNvPr id="843" name="Google Shape;843;p18"/>
            <p:cNvGrpSpPr/>
            <p:nvPr/>
          </p:nvGrpSpPr>
          <p:grpSpPr>
            <a:xfrm>
              <a:off x="9353973" y="-1553420"/>
              <a:ext cx="2838027" cy="13716633"/>
              <a:chOff x="9353973" y="-6079700"/>
              <a:chExt cx="2838027" cy="13716633"/>
            </a:xfrm>
          </p:grpSpPr>
          <p:pic>
            <p:nvPicPr>
              <p:cNvPr id="844" name="Google Shape;844;p18"/>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845" name="Google Shape;845;p18"/>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846" name="Google Shape;846;p18"/>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7" name="Google Shape;847;p18"/>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848" name="Google Shape;848;p18"/>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Пример</a:t>
            </a:r>
            <a:endParaRPr b="0" i="0" sz="3600" u="none" cap="none" strike="noStrike">
              <a:solidFill>
                <a:srgbClr val="DFDFDF"/>
              </a:solidFill>
              <a:latin typeface="IBM Plex Sans"/>
              <a:ea typeface="IBM Plex Sans"/>
              <a:cs typeface="IBM Plex Sans"/>
              <a:sym typeface="IBM Plex Sans"/>
            </a:endParaRPr>
          </a:p>
        </p:txBody>
      </p:sp>
      <p:sp>
        <p:nvSpPr>
          <p:cNvPr id="849" name="Google Shape;849;p18"/>
          <p:cNvSpPr txBox="1"/>
          <p:nvPr/>
        </p:nvSpPr>
        <p:spPr>
          <a:xfrm>
            <a:off x="4788925" y="2334651"/>
            <a:ext cx="29766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ru-RU" sz="2000" u="none" cap="none" strike="noStrike">
                <a:solidFill>
                  <a:srgbClr val="000000"/>
                </a:solidFill>
                <a:latin typeface="IBM Plex Sans"/>
                <a:ea typeface="IBM Plex Sans"/>
                <a:cs typeface="IBM Plex Sans"/>
                <a:sym typeface="IBM Plex Sans"/>
              </a:rPr>
              <a:t>Обучающая выборка</a:t>
            </a:r>
            <a:endParaRPr b="0" i="0" sz="2000" u="none" cap="none" strike="noStrike">
              <a:solidFill>
                <a:srgbClr val="000000"/>
              </a:solidFill>
              <a:latin typeface="IBM Plex Sans"/>
              <a:ea typeface="IBM Plex Sans"/>
              <a:cs typeface="IBM Plex Sans"/>
              <a:sym typeface="IBM Plex Sans"/>
            </a:endParaRPr>
          </a:p>
        </p:txBody>
      </p:sp>
      <p:pic>
        <p:nvPicPr>
          <p:cNvPr descr="Picture background" id="850" name="Google Shape;850;p18"/>
          <p:cNvPicPr preferRelativeResize="0"/>
          <p:nvPr/>
        </p:nvPicPr>
        <p:blipFill rotWithShape="1">
          <a:blip r:embed="rId4">
            <a:alphaModFix/>
          </a:blip>
          <a:srcRect b="7163" l="27309" r="26952" t="11529"/>
          <a:stretch/>
        </p:blipFill>
        <p:spPr>
          <a:xfrm>
            <a:off x="862463" y="3771215"/>
            <a:ext cx="1634067" cy="1634067"/>
          </a:xfrm>
          <a:prstGeom prst="rect">
            <a:avLst/>
          </a:prstGeom>
          <a:noFill/>
          <a:ln cap="flat" cmpd="sng" w="28575">
            <a:solidFill>
              <a:srgbClr val="15110E"/>
            </a:solidFill>
            <a:prstDash val="solid"/>
            <a:round/>
            <a:headEnd len="sm" w="sm" type="none"/>
            <a:tailEnd len="sm" w="sm" type="none"/>
          </a:ln>
        </p:spPr>
      </p:pic>
      <p:pic>
        <p:nvPicPr>
          <p:cNvPr descr="Picture background" id="851" name="Google Shape;851;p18"/>
          <p:cNvPicPr preferRelativeResize="0"/>
          <p:nvPr/>
        </p:nvPicPr>
        <p:blipFill rotWithShape="1">
          <a:blip r:embed="rId4">
            <a:alphaModFix/>
          </a:blip>
          <a:srcRect b="7163" l="27309" r="26952" t="11529"/>
          <a:stretch/>
        </p:blipFill>
        <p:spPr>
          <a:xfrm>
            <a:off x="930196" y="3837414"/>
            <a:ext cx="1634067" cy="1634067"/>
          </a:xfrm>
          <a:prstGeom prst="rect">
            <a:avLst/>
          </a:prstGeom>
          <a:noFill/>
          <a:ln cap="flat" cmpd="sng" w="28575">
            <a:solidFill>
              <a:srgbClr val="15110E"/>
            </a:solidFill>
            <a:prstDash val="solid"/>
            <a:round/>
            <a:headEnd len="sm" w="sm" type="none"/>
            <a:tailEnd len="sm" w="sm" type="none"/>
          </a:ln>
        </p:spPr>
      </p:pic>
      <p:pic>
        <p:nvPicPr>
          <p:cNvPr descr="Picture background" id="852" name="Google Shape;852;p18"/>
          <p:cNvPicPr preferRelativeResize="0"/>
          <p:nvPr/>
        </p:nvPicPr>
        <p:blipFill rotWithShape="1">
          <a:blip r:embed="rId4">
            <a:alphaModFix/>
          </a:blip>
          <a:srcRect b="7163" l="27309" r="26952" t="11529"/>
          <a:stretch/>
        </p:blipFill>
        <p:spPr>
          <a:xfrm>
            <a:off x="1014863" y="3898214"/>
            <a:ext cx="1634067" cy="1634067"/>
          </a:xfrm>
          <a:prstGeom prst="rect">
            <a:avLst/>
          </a:prstGeom>
          <a:noFill/>
          <a:ln cap="flat" cmpd="sng" w="28575">
            <a:solidFill>
              <a:srgbClr val="15110E"/>
            </a:solidFill>
            <a:prstDash val="solid"/>
            <a:round/>
            <a:headEnd len="sm" w="sm" type="none"/>
            <a:tailEnd len="sm" w="sm" type="none"/>
          </a:ln>
        </p:spPr>
      </p:pic>
      <p:pic>
        <p:nvPicPr>
          <p:cNvPr descr="Picture background" id="853" name="Google Shape;853;p18"/>
          <p:cNvPicPr preferRelativeResize="0"/>
          <p:nvPr/>
        </p:nvPicPr>
        <p:blipFill rotWithShape="1">
          <a:blip r:embed="rId4">
            <a:alphaModFix/>
          </a:blip>
          <a:srcRect b="7163" l="27309" r="26952" t="11529"/>
          <a:stretch/>
        </p:blipFill>
        <p:spPr>
          <a:xfrm>
            <a:off x="1099530" y="3959014"/>
            <a:ext cx="1634067" cy="1634067"/>
          </a:xfrm>
          <a:prstGeom prst="rect">
            <a:avLst/>
          </a:prstGeom>
          <a:noFill/>
          <a:ln cap="flat" cmpd="sng" w="28575">
            <a:solidFill>
              <a:srgbClr val="15110E"/>
            </a:solidFill>
            <a:prstDash val="solid"/>
            <a:round/>
            <a:headEnd len="sm" w="sm" type="none"/>
            <a:tailEnd len="sm" w="sm" type="none"/>
          </a:ln>
        </p:spPr>
      </p:pic>
      <p:graphicFrame>
        <p:nvGraphicFramePr>
          <p:cNvPr id="854" name="Google Shape;854;p18"/>
          <p:cNvGraphicFramePr/>
          <p:nvPr/>
        </p:nvGraphicFramePr>
        <p:xfrm>
          <a:off x="4224872" y="3645907"/>
          <a:ext cx="3000000" cy="3000000"/>
        </p:xfrm>
        <a:graphic>
          <a:graphicData uri="http://schemas.openxmlformats.org/drawingml/2006/table">
            <a:tbl>
              <a:tblPr bandRow="1" firstRow="1">
                <a:noFill/>
                <a:tableStyleId>{A9B0E0E1-4E68-4C5C-ACD4-11C2C6A234C4}</a:tableStyleId>
              </a:tblPr>
              <a:tblGrid>
                <a:gridCol w="1368225"/>
                <a:gridCol w="1368225"/>
                <a:gridCol w="136822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Состояние поля</a:t>
                      </a:r>
                      <a:endParaRPr sz="1400" u="none" cap="none" strike="noStrike">
                        <a:latin typeface="IBM Plex Sans"/>
                        <a:ea typeface="IBM Plex Sans"/>
                        <a:cs typeface="IBM Plex Sans"/>
                        <a:sym typeface="IBM Plex Sans"/>
                      </a:endParaRPr>
                    </a:p>
                  </a:txBody>
                  <a:tcPr marT="45725" marB="45725" marR="91450" marL="91450">
                    <a:solidFill>
                      <a:srgbClr val="8E39E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Предыдущий ход соперника</a:t>
                      </a:r>
                      <a:endParaRPr sz="1400" u="none" cap="none" strike="noStrike">
                        <a:latin typeface="IBM Plex Sans"/>
                        <a:ea typeface="IBM Plex Sans"/>
                        <a:cs typeface="IBM Plex Sans"/>
                        <a:sym typeface="IBM Plex Sans"/>
                      </a:endParaRPr>
                    </a:p>
                  </a:txBody>
                  <a:tcPr marT="45725" marB="45725" marR="91450" marL="91450">
                    <a:solidFill>
                      <a:srgbClr val="8E39E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Следующий ход</a:t>
                      </a:r>
                      <a:endParaRPr sz="1400" u="none" cap="none" strike="noStrike">
                        <a:latin typeface="IBM Plex Sans"/>
                        <a:ea typeface="IBM Plex Sans"/>
                        <a:cs typeface="IBM Plex Sans"/>
                        <a:sym typeface="IBM Plex Sans"/>
                      </a:endParaRPr>
                    </a:p>
                  </a:txBody>
                  <a:tcPr marT="45725" marB="45725" marR="91450" marL="91450">
                    <a:solidFill>
                      <a:srgbClr val="8E39E2"/>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Пешка G2, ладья C3 …</a:t>
                      </a:r>
                      <a:endParaRPr sz="1400" u="none" cap="none" strike="noStrike">
                        <a:latin typeface="IBM Plex Sans"/>
                        <a:ea typeface="IBM Plex Sans"/>
                        <a:cs typeface="IBM Plex Sans"/>
                        <a:sym typeface="IBM Plex Sans"/>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ладья на C3 </a:t>
                      </a:r>
                      <a:endParaRPr sz="1400" u="none" cap="none" strike="noStrike">
                        <a:latin typeface="IBM Plex Sans"/>
                        <a:ea typeface="IBM Plex Sans"/>
                        <a:cs typeface="IBM Plex Sans"/>
                        <a:sym typeface="IBM Plex Sans"/>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Конь на F6</a:t>
                      </a:r>
                      <a:endParaRPr sz="1400" u="none" cap="none" strike="noStrike">
                        <a:latin typeface="IBM Plex Sans"/>
                        <a:ea typeface="IBM Plex Sans"/>
                        <a:cs typeface="IBM Plex Sans"/>
                        <a:sym typeface="IBM Plex Sans"/>
                      </a:endParaRPr>
                    </a:p>
                  </a:txBody>
                  <a:tcPr marT="45725" marB="45725" marR="91450" marL="91450">
                    <a:solidFill>
                      <a:srgbClr val="F8CEEE"/>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Слон B4, пешка G6 …</a:t>
                      </a:r>
                      <a:endParaRPr sz="1400" u="none" cap="none" strike="noStrike">
                        <a:latin typeface="IBM Plex Sans"/>
                        <a:ea typeface="IBM Plex Sans"/>
                        <a:cs typeface="IBM Plex Sans"/>
                        <a:sym typeface="IBM Plex Sans"/>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Король на D5</a:t>
                      </a:r>
                      <a:endParaRPr sz="1400" u="none" cap="none" strike="noStrike">
                        <a:latin typeface="IBM Plex Sans"/>
                        <a:ea typeface="IBM Plex Sans"/>
                        <a:cs typeface="IBM Plex Sans"/>
                        <a:sym typeface="IBM Plex Sans"/>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Пешка на C5</a:t>
                      </a:r>
                      <a:endParaRPr sz="1400" u="none" cap="none" strike="noStrike">
                        <a:latin typeface="IBM Plex Sans"/>
                        <a:ea typeface="IBM Plex Sans"/>
                        <a:cs typeface="IBM Plex Sans"/>
                        <a:sym typeface="IBM Plex Sans"/>
                      </a:endParaRPr>
                    </a:p>
                  </a:txBody>
                  <a:tcPr marT="45725" marB="45725" marR="91450" marL="91450">
                    <a:solidFill>
                      <a:srgbClr val="F8CEEE"/>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a:t>
                      </a:r>
                      <a:endParaRPr sz="1400" u="none" cap="none" strike="noStrike">
                        <a:latin typeface="IBM Plex Sans"/>
                        <a:ea typeface="IBM Plex Sans"/>
                        <a:cs typeface="IBM Plex Sans"/>
                        <a:sym typeface="IBM Plex Sans"/>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a:t>
                      </a:r>
                      <a:endParaRPr sz="1400" u="none" cap="none" strike="noStrike">
                        <a:latin typeface="IBM Plex Sans"/>
                        <a:ea typeface="IBM Plex Sans"/>
                        <a:cs typeface="IBM Plex Sans"/>
                        <a:sym typeface="IBM Plex Sans"/>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a:t>
                      </a:r>
                      <a:endParaRPr sz="1400" u="none" cap="none" strike="noStrike">
                        <a:latin typeface="IBM Plex Sans"/>
                        <a:ea typeface="IBM Plex Sans"/>
                        <a:cs typeface="IBM Plex Sans"/>
                        <a:sym typeface="IBM Plex Sans"/>
                      </a:endParaRPr>
                    </a:p>
                  </a:txBody>
                  <a:tcPr marT="45725" marB="45725" marR="91450" marL="91450">
                    <a:solidFill>
                      <a:srgbClr val="F8CEEE"/>
                    </a:solidFill>
                  </a:tcPr>
                </a:tc>
              </a:tr>
            </a:tbl>
          </a:graphicData>
        </a:graphic>
      </p:graphicFrame>
      <p:sp>
        <p:nvSpPr>
          <p:cNvPr id="855" name="Google Shape;855;p18"/>
          <p:cNvSpPr/>
          <p:nvPr/>
        </p:nvSpPr>
        <p:spPr>
          <a:xfrm>
            <a:off x="2953731" y="4520344"/>
            <a:ext cx="813900" cy="397800"/>
          </a:xfrm>
          <a:prstGeom prst="rightArrow">
            <a:avLst>
              <a:gd fmla="val 50000" name="adj1"/>
              <a:gd fmla="val 50000" name="adj2"/>
            </a:avLst>
          </a:prstGeom>
          <a:solidFill>
            <a:srgbClr val="8E39E2"/>
          </a:solidFill>
          <a:ln cap="flat" cmpd="sng" w="25400">
            <a:solidFill>
              <a:srgbClr val="0D3E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AF6"/>
              </a:solidFill>
              <a:latin typeface="Arial"/>
              <a:ea typeface="Arial"/>
              <a:cs typeface="Arial"/>
              <a:sym typeface="Arial"/>
            </a:endParaRPr>
          </a:p>
        </p:txBody>
      </p:sp>
      <p:sp>
        <p:nvSpPr>
          <p:cNvPr id="856" name="Google Shape;856;p18"/>
          <p:cNvSpPr txBox="1"/>
          <p:nvPr/>
        </p:nvSpPr>
        <p:spPr>
          <a:xfrm>
            <a:off x="4122475" y="3011585"/>
            <a:ext cx="29766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ru-RU" sz="2000" u="none" cap="none" strike="noStrike">
                <a:solidFill>
                  <a:srgbClr val="000000"/>
                </a:solidFill>
                <a:latin typeface="IBM Plex Sans"/>
                <a:ea typeface="IBM Plex Sans"/>
                <a:cs typeface="IBM Plex Sans"/>
                <a:sym typeface="IBM Plex Sans"/>
              </a:rPr>
              <a:t>Признаки</a:t>
            </a:r>
            <a:endParaRPr b="0" i="0" sz="2000" u="none" cap="none" strike="noStrike">
              <a:solidFill>
                <a:srgbClr val="000000"/>
              </a:solidFill>
              <a:latin typeface="IBM Plex Sans"/>
              <a:ea typeface="IBM Plex Sans"/>
              <a:cs typeface="IBM Plex Sans"/>
              <a:sym typeface="IBM Plex Sans"/>
            </a:endParaRPr>
          </a:p>
        </p:txBody>
      </p:sp>
      <p:sp>
        <p:nvSpPr>
          <p:cNvPr id="857" name="Google Shape;857;p18"/>
          <p:cNvSpPr txBox="1"/>
          <p:nvPr/>
        </p:nvSpPr>
        <p:spPr>
          <a:xfrm>
            <a:off x="6641983" y="3072366"/>
            <a:ext cx="21447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ru-RU" sz="1600" u="none" cap="none" strike="noStrike">
                <a:solidFill>
                  <a:srgbClr val="000000"/>
                </a:solidFill>
                <a:latin typeface="IBM Plex Sans"/>
                <a:ea typeface="IBM Plex Sans"/>
                <a:cs typeface="IBM Plex Sans"/>
                <a:sym typeface="IBM Plex Sans"/>
              </a:rPr>
              <a:t>Целевая переменная</a:t>
            </a:r>
            <a:endParaRPr b="0" i="0" sz="1600" u="none" cap="none" strike="noStrike">
              <a:solidFill>
                <a:srgbClr val="000000"/>
              </a:solidFill>
              <a:latin typeface="IBM Plex Sans"/>
              <a:ea typeface="IBM Plex Sans"/>
              <a:cs typeface="IBM Plex Sans"/>
              <a:sym typeface="IBM Plex Sans"/>
            </a:endParaRPr>
          </a:p>
        </p:txBody>
      </p:sp>
      <p:sp>
        <p:nvSpPr>
          <p:cNvPr id="858" name="Google Shape;858;p18"/>
          <p:cNvSpPr/>
          <p:nvPr/>
        </p:nvSpPr>
        <p:spPr>
          <a:xfrm rot="5400000">
            <a:off x="6057314" y="882512"/>
            <a:ext cx="439800" cy="4104600"/>
          </a:xfrm>
          <a:prstGeom prst="leftBrace">
            <a:avLst>
              <a:gd fmla="val 20833" name="adj1"/>
              <a:gd fmla="val 50000" name="adj2"/>
            </a:avLst>
          </a:prstGeom>
          <a:noFill/>
          <a:ln cap="flat" cmpd="sng" w="9525">
            <a:solidFill>
              <a:srgbClr val="0F55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5110E"/>
              </a:solidFill>
              <a:latin typeface="IBM Plex Sans"/>
              <a:ea typeface="IBM Plex Sans"/>
              <a:cs typeface="IBM Plex Sans"/>
              <a:sym typeface="IBM Plex Sans"/>
            </a:endParaRPr>
          </a:p>
        </p:txBody>
      </p:sp>
      <p:sp>
        <p:nvSpPr>
          <p:cNvPr id="859" name="Google Shape;859;p18"/>
          <p:cNvSpPr/>
          <p:nvPr/>
        </p:nvSpPr>
        <p:spPr>
          <a:xfrm rot="5400000">
            <a:off x="5508755" y="2111561"/>
            <a:ext cx="205800" cy="2773800"/>
          </a:xfrm>
          <a:prstGeom prst="leftBrace">
            <a:avLst>
              <a:gd fmla="val 20833" name="adj1"/>
              <a:gd fmla="val 50000" name="adj2"/>
            </a:avLst>
          </a:prstGeom>
          <a:noFill/>
          <a:ln cap="flat" cmpd="sng" w="9525">
            <a:solidFill>
              <a:srgbClr val="0F55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5110E"/>
              </a:solidFill>
              <a:latin typeface="IBM Plex Sans"/>
              <a:ea typeface="IBM Plex Sans"/>
              <a:cs typeface="IBM Plex Sans"/>
              <a:sym typeface="IBM Plex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grpSp>
        <p:nvGrpSpPr>
          <p:cNvPr id="864" name="Google Shape;864;g3cb20f13e01_0_776"/>
          <p:cNvGrpSpPr/>
          <p:nvPr/>
        </p:nvGrpSpPr>
        <p:grpSpPr>
          <a:xfrm>
            <a:off x="9353973" y="-1553420"/>
            <a:ext cx="2854020" cy="13716631"/>
            <a:chOff x="9353973" y="-1553420"/>
            <a:chExt cx="2854020" cy="13716631"/>
          </a:xfrm>
        </p:grpSpPr>
        <p:grpSp>
          <p:nvGrpSpPr>
            <p:cNvPr id="865" name="Google Shape;865;g3cb20f13e01_0_776"/>
            <p:cNvGrpSpPr/>
            <p:nvPr/>
          </p:nvGrpSpPr>
          <p:grpSpPr>
            <a:xfrm>
              <a:off x="9353973" y="-1553420"/>
              <a:ext cx="2838027" cy="13716631"/>
              <a:chOff x="9353973" y="-6079700"/>
              <a:chExt cx="2838027" cy="13716631"/>
            </a:xfrm>
          </p:grpSpPr>
          <p:pic>
            <p:nvPicPr>
              <p:cNvPr id="866" name="Google Shape;866;g3cb20f13e01_0_776"/>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867" name="Google Shape;867;g3cb20f13e01_0_776"/>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868" name="Google Shape;868;g3cb20f13e01_0_776"/>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9" name="Google Shape;869;g3cb20f13e01_0_776"/>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870" name="Google Shape;870;g3cb20f13e01_0_776"/>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Пример</a:t>
            </a:r>
            <a:endParaRPr b="0" i="0" sz="3600" u="none" cap="none" strike="noStrike">
              <a:solidFill>
                <a:srgbClr val="DFDFDF"/>
              </a:solidFill>
              <a:latin typeface="IBM Plex Sans"/>
              <a:ea typeface="IBM Plex Sans"/>
              <a:cs typeface="IBM Plex Sans"/>
              <a:sym typeface="IBM Plex Sans"/>
            </a:endParaRPr>
          </a:p>
        </p:txBody>
      </p:sp>
      <p:sp>
        <p:nvSpPr>
          <p:cNvPr id="871" name="Google Shape;871;g3cb20f13e01_0_776"/>
          <p:cNvSpPr txBox="1"/>
          <p:nvPr/>
        </p:nvSpPr>
        <p:spPr>
          <a:xfrm>
            <a:off x="984710" y="5424400"/>
            <a:ext cx="29766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ru-RU" sz="2000" u="none" cap="none" strike="noStrike">
                <a:solidFill>
                  <a:srgbClr val="000000"/>
                </a:solidFill>
                <a:latin typeface="IBM Plex Sans"/>
                <a:ea typeface="IBM Plex Sans"/>
                <a:cs typeface="IBM Plex Sans"/>
                <a:sym typeface="IBM Plex Sans"/>
              </a:rPr>
              <a:t>Обучающая выборка</a:t>
            </a:r>
            <a:endParaRPr b="0" i="0" sz="2000" u="none" cap="none" strike="noStrike">
              <a:solidFill>
                <a:srgbClr val="000000"/>
              </a:solidFill>
              <a:latin typeface="IBM Plex Sans"/>
              <a:ea typeface="IBM Plex Sans"/>
              <a:cs typeface="IBM Plex Sans"/>
              <a:sym typeface="IBM Plex Sans"/>
            </a:endParaRPr>
          </a:p>
        </p:txBody>
      </p:sp>
      <p:sp>
        <p:nvSpPr>
          <p:cNvPr id="872" name="Google Shape;872;g3cb20f13e01_0_776"/>
          <p:cNvSpPr/>
          <p:nvPr/>
        </p:nvSpPr>
        <p:spPr>
          <a:xfrm>
            <a:off x="6988553" y="3696752"/>
            <a:ext cx="1463400" cy="1008300"/>
          </a:xfrm>
          <a:prstGeom prst="wedgeEllipseCallout">
            <a:avLst>
              <a:gd fmla="val -20833" name="adj1"/>
              <a:gd fmla="val 62500" name="adj2"/>
            </a:avLst>
          </a:prstGeom>
          <a:solidFill>
            <a:srgbClr val="F8CEEE"/>
          </a:solidFill>
          <a:ln cap="flat" cmpd="sng" w="25400">
            <a:solidFill>
              <a:srgbClr val="F8CE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873" name="Google Shape;873;g3cb20f13e01_0_776"/>
          <p:cNvSpPr txBox="1"/>
          <p:nvPr/>
        </p:nvSpPr>
        <p:spPr>
          <a:xfrm>
            <a:off x="6735639" y="5270495"/>
            <a:ext cx="19692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ru-RU" sz="2000" u="none" cap="none" strike="noStrike">
                <a:solidFill>
                  <a:srgbClr val="000000"/>
                </a:solidFill>
                <a:latin typeface="IBM Plex Sans"/>
                <a:ea typeface="IBM Plex Sans"/>
                <a:cs typeface="IBM Plex Sans"/>
                <a:sym typeface="IBM Plex Sans"/>
              </a:rPr>
              <a:t>Истинная зависимость</a:t>
            </a:r>
            <a:endParaRPr b="0" i="0" sz="2000" u="none" cap="none" strike="noStrike">
              <a:solidFill>
                <a:srgbClr val="000000"/>
              </a:solidFill>
              <a:latin typeface="IBM Plex Sans"/>
              <a:ea typeface="IBM Plex Sans"/>
              <a:cs typeface="IBM Plex Sans"/>
              <a:sym typeface="IBM Plex Sans"/>
            </a:endParaRPr>
          </a:p>
        </p:txBody>
      </p:sp>
      <p:cxnSp>
        <p:nvCxnSpPr>
          <p:cNvPr id="874" name="Google Shape;874;g3cb20f13e01_0_776"/>
          <p:cNvCxnSpPr/>
          <p:nvPr/>
        </p:nvCxnSpPr>
        <p:spPr>
          <a:xfrm flipH="1" rot="10800000">
            <a:off x="4784841" y="4342471"/>
            <a:ext cx="441600" cy="11700"/>
          </a:xfrm>
          <a:prstGeom prst="straightConnector1">
            <a:avLst/>
          </a:prstGeom>
          <a:noFill/>
          <a:ln cap="flat" cmpd="sng" w="57150">
            <a:solidFill>
              <a:srgbClr val="8E39E2"/>
            </a:solidFill>
            <a:prstDash val="solid"/>
            <a:round/>
            <a:headEnd len="sm" w="sm" type="none"/>
            <a:tailEnd len="med" w="med" type="triangle"/>
          </a:ln>
        </p:spPr>
      </p:cxnSp>
      <p:cxnSp>
        <p:nvCxnSpPr>
          <p:cNvPr id="875" name="Google Shape;875;g3cb20f13e01_0_776"/>
          <p:cNvCxnSpPr/>
          <p:nvPr/>
        </p:nvCxnSpPr>
        <p:spPr>
          <a:xfrm flipH="1" rot="10800000">
            <a:off x="6416796" y="4342471"/>
            <a:ext cx="441600" cy="11700"/>
          </a:xfrm>
          <a:prstGeom prst="straightConnector1">
            <a:avLst/>
          </a:prstGeom>
          <a:noFill/>
          <a:ln cap="flat" cmpd="sng" w="57150">
            <a:solidFill>
              <a:srgbClr val="8E39E2"/>
            </a:solidFill>
            <a:prstDash val="solid"/>
            <a:round/>
            <a:headEnd len="sm" w="sm" type="none"/>
            <a:tailEnd len="med" w="med" type="triangle"/>
          </a:ln>
        </p:spPr>
      </p:cxnSp>
      <p:pic>
        <p:nvPicPr>
          <p:cNvPr descr="Picture background" id="876" name="Google Shape;876;g3cb20f13e01_0_776"/>
          <p:cNvPicPr preferRelativeResize="0"/>
          <p:nvPr/>
        </p:nvPicPr>
        <p:blipFill rotWithShape="1">
          <a:blip r:embed="rId4">
            <a:alphaModFix/>
          </a:blip>
          <a:srcRect b="0" l="0" r="0" t="0"/>
          <a:stretch/>
        </p:blipFill>
        <p:spPr>
          <a:xfrm>
            <a:off x="5164192" y="3767719"/>
            <a:ext cx="1172905" cy="1172905"/>
          </a:xfrm>
          <a:prstGeom prst="rect">
            <a:avLst/>
          </a:prstGeom>
          <a:noFill/>
          <a:ln>
            <a:noFill/>
          </a:ln>
        </p:spPr>
      </p:pic>
      <p:sp>
        <p:nvSpPr>
          <p:cNvPr id="877" name="Google Shape;877;g3cb20f13e01_0_776"/>
          <p:cNvSpPr txBox="1"/>
          <p:nvPr/>
        </p:nvSpPr>
        <p:spPr>
          <a:xfrm>
            <a:off x="4665874" y="5116624"/>
            <a:ext cx="21696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ru-RU" sz="2000" u="none" cap="none" strike="noStrike">
                <a:solidFill>
                  <a:srgbClr val="000000"/>
                </a:solidFill>
                <a:latin typeface="IBM Plex Sans"/>
                <a:ea typeface="IBM Plex Sans"/>
                <a:cs typeface="IBM Plex Sans"/>
                <a:sym typeface="IBM Plex Sans"/>
              </a:rPr>
              <a:t>Модель машинного обучения</a:t>
            </a:r>
            <a:endParaRPr b="0" i="0" sz="2000" u="none" cap="none" strike="noStrike">
              <a:solidFill>
                <a:srgbClr val="000000"/>
              </a:solidFill>
              <a:latin typeface="IBM Plex Sans"/>
              <a:ea typeface="IBM Plex Sans"/>
              <a:cs typeface="IBM Plex Sans"/>
              <a:sym typeface="IBM Plex Sans"/>
            </a:endParaRPr>
          </a:p>
        </p:txBody>
      </p:sp>
      <p:graphicFrame>
        <p:nvGraphicFramePr>
          <p:cNvPr id="878" name="Google Shape;878;g3cb20f13e01_0_776"/>
          <p:cNvGraphicFramePr/>
          <p:nvPr/>
        </p:nvGraphicFramePr>
        <p:xfrm>
          <a:off x="420672" y="3131570"/>
          <a:ext cx="3000000" cy="3000000"/>
        </p:xfrm>
        <a:graphic>
          <a:graphicData uri="http://schemas.openxmlformats.org/drawingml/2006/table">
            <a:tbl>
              <a:tblPr bandRow="1" firstRow="1">
                <a:noFill/>
                <a:tableStyleId>{A9B0E0E1-4E68-4C5C-ACD4-11C2C6A234C4}</a:tableStyleId>
              </a:tblPr>
              <a:tblGrid>
                <a:gridCol w="1368225"/>
                <a:gridCol w="1368225"/>
                <a:gridCol w="136822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Состояние поля</a:t>
                      </a:r>
                      <a:endParaRPr sz="1400" u="none" cap="none" strike="noStrike">
                        <a:latin typeface="IBM Plex Sans"/>
                        <a:ea typeface="IBM Plex Sans"/>
                        <a:cs typeface="IBM Plex Sans"/>
                        <a:sym typeface="IBM Plex Sans"/>
                      </a:endParaRPr>
                    </a:p>
                  </a:txBody>
                  <a:tcPr marT="45725" marB="45725" marR="91450" marL="91450">
                    <a:solidFill>
                      <a:srgbClr val="8E39E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Предыдущий ход соперника</a:t>
                      </a:r>
                      <a:endParaRPr sz="1400" u="none" cap="none" strike="noStrike">
                        <a:latin typeface="IBM Plex Sans"/>
                        <a:ea typeface="IBM Plex Sans"/>
                        <a:cs typeface="IBM Plex Sans"/>
                        <a:sym typeface="IBM Plex Sans"/>
                      </a:endParaRPr>
                    </a:p>
                  </a:txBody>
                  <a:tcPr marT="45725" marB="45725" marR="91450" marL="91450">
                    <a:solidFill>
                      <a:srgbClr val="8E39E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Следующий ход</a:t>
                      </a:r>
                      <a:endParaRPr sz="1400" u="none" cap="none" strike="noStrike">
                        <a:latin typeface="IBM Plex Sans"/>
                        <a:ea typeface="IBM Plex Sans"/>
                        <a:cs typeface="IBM Plex Sans"/>
                        <a:sym typeface="IBM Plex Sans"/>
                      </a:endParaRPr>
                    </a:p>
                  </a:txBody>
                  <a:tcPr marT="45725" marB="45725" marR="91450" marL="91450">
                    <a:solidFill>
                      <a:srgbClr val="8E39E2"/>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Пешка G2, ладья C3 …</a:t>
                      </a:r>
                      <a:endParaRPr sz="1400" u="none" cap="none" strike="noStrike">
                        <a:latin typeface="IBM Plex Sans"/>
                        <a:ea typeface="IBM Plex Sans"/>
                        <a:cs typeface="IBM Plex Sans"/>
                        <a:sym typeface="IBM Plex Sans"/>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ладья на C3 </a:t>
                      </a:r>
                      <a:endParaRPr sz="1400" u="none" cap="none" strike="noStrike">
                        <a:latin typeface="IBM Plex Sans"/>
                        <a:ea typeface="IBM Plex Sans"/>
                        <a:cs typeface="IBM Plex Sans"/>
                        <a:sym typeface="IBM Plex Sans"/>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Конь на F6</a:t>
                      </a:r>
                      <a:endParaRPr sz="1400" u="none" cap="none" strike="noStrike">
                        <a:latin typeface="IBM Plex Sans"/>
                        <a:ea typeface="IBM Plex Sans"/>
                        <a:cs typeface="IBM Plex Sans"/>
                        <a:sym typeface="IBM Plex Sans"/>
                      </a:endParaRPr>
                    </a:p>
                  </a:txBody>
                  <a:tcPr marT="45725" marB="45725" marR="91450" marL="91450">
                    <a:solidFill>
                      <a:srgbClr val="F8CEEE"/>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Слон B4, пешка G6 …</a:t>
                      </a:r>
                      <a:endParaRPr sz="1400" u="none" cap="none" strike="noStrike">
                        <a:latin typeface="IBM Plex Sans"/>
                        <a:ea typeface="IBM Plex Sans"/>
                        <a:cs typeface="IBM Plex Sans"/>
                        <a:sym typeface="IBM Plex Sans"/>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Король на D5</a:t>
                      </a:r>
                      <a:endParaRPr sz="1400" u="none" cap="none" strike="noStrike">
                        <a:latin typeface="IBM Plex Sans"/>
                        <a:ea typeface="IBM Plex Sans"/>
                        <a:cs typeface="IBM Plex Sans"/>
                        <a:sym typeface="IBM Plex Sans"/>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Пешка на C5</a:t>
                      </a:r>
                      <a:endParaRPr sz="1400" u="none" cap="none" strike="noStrike">
                        <a:latin typeface="IBM Plex Sans"/>
                        <a:ea typeface="IBM Plex Sans"/>
                        <a:cs typeface="IBM Plex Sans"/>
                        <a:sym typeface="IBM Plex Sans"/>
                      </a:endParaRPr>
                    </a:p>
                  </a:txBody>
                  <a:tcPr marT="45725" marB="45725" marR="91450" marL="91450">
                    <a:solidFill>
                      <a:srgbClr val="F8CEEE"/>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a:t>
                      </a:r>
                      <a:endParaRPr sz="1400" u="none" cap="none" strike="noStrike">
                        <a:latin typeface="IBM Plex Sans"/>
                        <a:ea typeface="IBM Plex Sans"/>
                        <a:cs typeface="IBM Plex Sans"/>
                        <a:sym typeface="IBM Plex Sans"/>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a:t>
                      </a:r>
                      <a:endParaRPr sz="1400" u="none" cap="none" strike="noStrike">
                        <a:latin typeface="IBM Plex Sans"/>
                        <a:ea typeface="IBM Plex Sans"/>
                        <a:cs typeface="IBM Plex Sans"/>
                        <a:sym typeface="IBM Plex Sans"/>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a:t>
                      </a:r>
                      <a:endParaRPr sz="1400" u="none" cap="none" strike="noStrike">
                        <a:latin typeface="IBM Plex Sans"/>
                        <a:ea typeface="IBM Plex Sans"/>
                        <a:cs typeface="IBM Plex Sans"/>
                        <a:sym typeface="IBM Plex Sans"/>
                      </a:endParaRPr>
                    </a:p>
                  </a:txBody>
                  <a:tcPr marT="45725" marB="45725" marR="91450" marL="91450">
                    <a:solidFill>
                      <a:srgbClr val="F8CEEE"/>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grpSp>
        <p:nvGrpSpPr>
          <p:cNvPr id="883" name="Google Shape;883;g3cb20f13e01_0_806"/>
          <p:cNvGrpSpPr/>
          <p:nvPr/>
        </p:nvGrpSpPr>
        <p:grpSpPr>
          <a:xfrm>
            <a:off x="9353973" y="-1553420"/>
            <a:ext cx="2854020" cy="13716631"/>
            <a:chOff x="9353973" y="-1553420"/>
            <a:chExt cx="2854020" cy="13716631"/>
          </a:xfrm>
        </p:grpSpPr>
        <p:grpSp>
          <p:nvGrpSpPr>
            <p:cNvPr id="884" name="Google Shape;884;g3cb20f13e01_0_806"/>
            <p:cNvGrpSpPr/>
            <p:nvPr/>
          </p:nvGrpSpPr>
          <p:grpSpPr>
            <a:xfrm>
              <a:off x="9353973" y="-1553420"/>
              <a:ext cx="2838027" cy="13716631"/>
              <a:chOff x="9353973" y="-6079700"/>
              <a:chExt cx="2838027" cy="13716631"/>
            </a:xfrm>
          </p:grpSpPr>
          <p:pic>
            <p:nvPicPr>
              <p:cNvPr id="885" name="Google Shape;885;g3cb20f13e01_0_806"/>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886" name="Google Shape;886;g3cb20f13e01_0_806"/>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887" name="Google Shape;887;g3cb20f13e01_0_806"/>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8" name="Google Shape;888;g3cb20f13e01_0_806"/>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889" name="Google Shape;889;g3cb20f13e01_0_806"/>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Пример</a:t>
            </a:r>
            <a:endParaRPr b="0" i="0" sz="3600" u="none" cap="none" strike="noStrike">
              <a:solidFill>
                <a:srgbClr val="DFDFDF"/>
              </a:solidFill>
              <a:latin typeface="IBM Plex Sans"/>
              <a:ea typeface="IBM Plex Sans"/>
              <a:cs typeface="IBM Plex Sans"/>
              <a:sym typeface="IBM Plex Sans"/>
            </a:endParaRPr>
          </a:p>
        </p:txBody>
      </p:sp>
      <p:sp>
        <p:nvSpPr>
          <p:cNvPr id="890" name="Google Shape;890;g3cb20f13e01_0_806"/>
          <p:cNvSpPr/>
          <p:nvPr/>
        </p:nvSpPr>
        <p:spPr>
          <a:xfrm>
            <a:off x="4185550" y="2383403"/>
            <a:ext cx="1463400" cy="1008300"/>
          </a:xfrm>
          <a:prstGeom prst="wedgeEllipseCallout">
            <a:avLst>
              <a:gd fmla="val -20833" name="adj1"/>
              <a:gd fmla="val 62500" name="adj2"/>
            </a:avLst>
          </a:prstGeom>
          <a:solidFill>
            <a:srgbClr val="F8CEEE"/>
          </a:solidFill>
          <a:ln cap="flat" cmpd="sng" w="25400">
            <a:solidFill>
              <a:srgbClr val="F8CE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ru-RU"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891" name="Google Shape;891;g3cb20f13e01_0_806"/>
          <p:cNvSpPr txBox="1"/>
          <p:nvPr/>
        </p:nvSpPr>
        <p:spPr>
          <a:xfrm>
            <a:off x="3932650" y="1628893"/>
            <a:ext cx="19692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ru-RU" sz="2000" u="none" cap="none" strike="noStrike">
                <a:solidFill>
                  <a:schemeClr val="dk1"/>
                </a:solidFill>
                <a:latin typeface="IBM Plex Sans"/>
                <a:ea typeface="IBM Plex Sans"/>
                <a:cs typeface="IBM Plex Sans"/>
                <a:sym typeface="IBM Plex Sans"/>
              </a:rPr>
              <a:t>Истинная зависимость</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IBM Plex Sans"/>
              <a:ea typeface="IBM Plex Sans"/>
              <a:cs typeface="IBM Plex Sans"/>
              <a:sym typeface="IBM Plex Sans"/>
            </a:endParaRPr>
          </a:p>
        </p:txBody>
      </p:sp>
      <p:cxnSp>
        <p:nvCxnSpPr>
          <p:cNvPr id="892" name="Google Shape;892;g3cb20f13e01_0_806"/>
          <p:cNvCxnSpPr/>
          <p:nvPr/>
        </p:nvCxnSpPr>
        <p:spPr>
          <a:xfrm flipH="1" rot="10800000">
            <a:off x="3543712" y="4142371"/>
            <a:ext cx="441600" cy="11700"/>
          </a:xfrm>
          <a:prstGeom prst="straightConnector1">
            <a:avLst/>
          </a:prstGeom>
          <a:noFill/>
          <a:ln cap="flat" cmpd="sng" w="57150">
            <a:solidFill>
              <a:srgbClr val="0F5568"/>
            </a:solidFill>
            <a:prstDash val="solid"/>
            <a:round/>
            <a:headEnd len="sm" w="sm" type="none"/>
            <a:tailEnd len="med" w="med" type="triangle"/>
          </a:ln>
        </p:spPr>
      </p:cxnSp>
      <p:pic>
        <p:nvPicPr>
          <p:cNvPr descr="Picture background" id="893" name="Google Shape;893;g3cb20f13e01_0_806"/>
          <p:cNvPicPr preferRelativeResize="0"/>
          <p:nvPr/>
        </p:nvPicPr>
        <p:blipFill rotWithShape="1">
          <a:blip r:embed="rId4">
            <a:alphaModFix/>
          </a:blip>
          <a:srcRect b="0" l="0" r="0" t="0"/>
          <a:stretch/>
        </p:blipFill>
        <p:spPr>
          <a:xfrm>
            <a:off x="4062989" y="3567619"/>
            <a:ext cx="1172905" cy="1172905"/>
          </a:xfrm>
          <a:prstGeom prst="rect">
            <a:avLst/>
          </a:prstGeom>
          <a:noFill/>
          <a:ln>
            <a:noFill/>
          </a:ln>
        </p:spPr>
      </p:pic>
      <p:sp>
        <p:nvSpPr>
          <p:cNvPr id="894" name="Google Shape;894;g3cb20f13e01_0_806"/>
          <p:cNvSpPr txBox="1"/>
          <p:nvPr/>
        </p:nvSpPr>
        <p:spPr>
          <a:xfrm>
            <a:off x="3564671" y="4916524"/>
            <a:ext cx="21696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ru-RU" sz="2000" u="none" cap="none" strike="noStrike">
                <a:solidFill>
                  <a:srgbClr val="000000"/>
                </a:solidFill>
                <a:latin typeface="IBM Plex Sans"/>
                <a:ea typeface="IBM Plex Sans"/>
                <a:cs typeface="IBM Plex Sans"/>
                <a:sym typeface="IBM Plex Sans"/>
              </a:rPr>
              <a:t>Модель машинного обучения</a:t>
            </a:r>
            <a:endParaRPr b="0" i="0" sz="2000" u="none" cap="none" strike="noStrike">
              <a:solidFill>
                <a:srgbClr val="000000"/>
              </a:solidFill>
              <a:latin typeface="IBM Plex Sans"/>
              <a:ea typeface="IBM Plex Sans"/>
              <a:cs typeface="IBM Plex Sans"/>
              <a:sym typeface="IBM Plex Sans"/>
            </a:endParaRPr>
          </a:p>
        </p:txBody>
      </p:sp>
      <p:graphicFrame>
        <p:nvGraphicFramePr>
          <p:cNvPr id="895" name="Google Shape;895;g3cb20f13e01_0_806"/>
          <p:cNvGraphicFramePr/>
          <p:nvPr/>
        </p:nvGraphicFramePr>
        <p:xfrm>
          <a:off x="6032615" y="3709571"/>
          <a:ext cx="3000000" cy="3000000"/>
        </p:xfrm>
        <a:graphic>
          <a:graphicData uri="http://schemas.openxmlformats.org/drawingml/2006/table">
            <a:tbl>
              <a:tblPr bandRow="1" firstRow="1">
                <a:noFill/>
                <a:tableStyleId>{A9B0E0E1-4E68-4C5C-ACD4-11C2C6A234C4}</a:tableStyleId>
              </a:tblPr>
              <a:tblGrid>
                <a:gridCol w="127847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Следующий ход</a:t>
                      </a:r>
                      <a:endParaRPr sz="1400" u="none" cap="none" strike="noStrike">
                        <a:latin typeface="IBM Plex Sans"/>
                        <a:ea typeface="IBM Plex Sans"/>
                        <a:cs typeface="IBM Plex Sans"/>
                        <a:sym typeface="IBM Plex Sans"/>
                      </a:endParaRPr>
                    </a:p>
                  </a:txBody>
                  <a:tcPr marT="45725" marB="45725" marR="91450" marL="91450">
                    <a:solidFill>
                      <a:srgbClr val="8E39E2"/>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Конь на F3</a:t>
                      </a:r>
                      <a:endParaRPr sz="1400" u="none" cap="none" strike="noStrike">
                        <a:latin typeface="IBM Plex Sans"/>
                        <a:ea typeface="IBM Plex Sans"/>
                        <a:cs typeface="IBM Plex Sans"/>
                        <a:sym typeface="IBM Plex Sans"/>
                      </a:endParaRPr>
                    </a:p>
                  </a:txBody>
                  <a:tcPr marT="45725" marB="45725" marR="91450" marL="91450"/>
                </a:tc>
              </a:tr>
            </a:tbl>
          </a:graphicData>
        </a:graphic>
      </p:graphicFrame>
      <p:cxnSp>
        <p:nvCxnSpPr>
          <p:cNvPr id="896" name="Google Shape;896;g3cb20f13e01_0_806"/>
          <p:cNvCxnSpPr/>
          <p:nvPr/>
        </p:nvCxnSpPr>
        <p:spPr>
          <a:xfrm flipH="1" rot="10800000">
            <a:off x="5292465" y="4130796"/>
            <a:ext cx="441600" cy="11700"/>
          </a:xfrm>
          <a:prstGeom prst="straightConnector1">
            <a:avLst/>
          </a:prstGeom>
          <a:noFill/>
          <a:ln cap="flat" cmpd="sng" w="57150">
            <a:solidFill>
              <a:srgbClr val="0F5568"/>
            </a:solidFill>
            <a:prstDash val="solid"/>
            <a:round/>
            <a:headEnd len="sm" w="sm" type="none"/>
            <a:tailEnd len="med" w="med" type="triangle"/>
          </a:ln>
        </p:spPr>
      </p:cxnSp>
      <p:sp>
        <p:nvSpPr>
          <p:cNvPr id="897" name="Google Shape;897;g3cb20f13e01_0_806"/>
          <p:cNvSpPr txBox="1"/>
          <p:nvPr/>
        </p:nvSpPr>
        <p:spPr>
          <a:xfrm>
            <a:off x="5513338" y="4853192"/>
            <a:ext cx="21696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ru-RU" sz="2000" u="none" cap="none" strike="noStrike">
                <a:solidFill>
                  <a:srgbClr val="000000"/>
                </a:solidFill>
                <a:latin typeface="IBM Plex Sans"/>
                <a:ea typeface="IBM Plex Sans"/>
                <a:cs typeface="IBM Plex Sans"/>
                <a:sym typeface="IBM Plex Sans"/>
              </a:rPr>
              <a:t>Предсказание</a:t>
            </a:r>
            <a:endParaRPr b="0" i="0" sz="2000" u="none" cap="none" strike="noStrike">
              <a:solidFill>
                <a:srgbClr val="000000"/>
              </a:solidFill>
              <a:latin typeface="IBM Plex Sans"/>
              <a:ea typeface="IBM Plex Sans"/>
              <a:cs typeface="IBM Plex Sans"/>
              <a:sym typeface="IBM Plex Sans"/>
            </a:endParaRPr>
          </a:p>
        </p:txBody>
      </p:sp>
      <p:graphicFrame>
        <p:nvGraphicFramePr>
          <p:cNvPr id="898" name="Google Shape;898;g3cb20f13e01_0_806"/>
          <p:cNvGraphicFramePr/>
          <p:nvPr/>
        </p:nvGraphicFramePr>
        <p:xfrm>
          <a:off x="658082" y="3666844"/>
          <a:ext cx="3000000" cy="3000000"/>
        </p:xfrm>
        <a:graphic>
          <a:graphicData uri="http://schemas.openxmlformats.org/drawingml/2006/table">
            <a:tbl>
              <a:tblPr bandRow="1" firstRow="1">
                <a:noFill/>
                <a:tableStyleId>{A9B0E0E1-4E68-4C5C-ACD4-11C2C6A234C4}</a:tableStyleId>
              </a:tblPr>
              <a:tblGrid>
                <a:gridCol w="1368225"/>
                <a:gridCol w="136822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Состояние поля</a:t>
                      </a:r>
                      <a:endParaRPr sz="1400" u="none" cap="none" strike="noStrike">
                        <a:latin typeface="IBM Plex Sans"/>
                        <a:ea typeface="IBM Plex Sans"/>
                        <a:cs typeface="IBM Plex Sans"/>
                        <a:sym typeface="IBM Plex Sans"/>
                      </a:endParaRPr>
                    </a:p>
                  </a:txBody>
                  <a:tcPr marT="45725" marB="45725" marR="91450" marL="91450">
                    <a:lnL cap="flat" cmpd="sng" w="9525">
                      <a:solidFill>
                        <a:srgbClr val="8E39E2"/>
                      </a:solidFill>
                      <a:prstDash val="solid"/>
                      <a:round/>
                      <a:headEnd len="sm" w="sm" type="none"/>
                      <a:tailEnd len="sm" w="sm" type="none"/>
                    </a:lnL>
                    <a:lnR cap="flat" cmpd="sng" w="9525">
                      <a:solidFill>
                        <a:srgbClr val="8E39E2"/>
                      </a:solidFill>
                      <a:prstDash val="solid"/>
                      <a:round/>
                      <a:headEnd len="sm" w="sm" type="none"/>
                      <a:tailEnd len="sm" w="sm" type="none"/>
                    </a:lnR>
                    <a:lnT cap="flat" cmpd="sng" w="9525">
                      <a:solidFill>
                        <a:srgbClr val="8E39E2"/>
                      </a:solidFill>
                      <a:prstDash val="solid"/>
                      <a:round/>
                      <a:headEnd len="sm" w="sm" type="none"/>
                      <a:tailEnd len="sm" w="sm" type="none"/>
                    </a:lnT>
                    <a:lnB cap="flat" cmpd="sng" w="9525">
                      <a:solidFill>
                        <a:srgbClr val="8E39E2"/>
                      </a:solidFill>
                      <a:prstDash val="solid"/>
                      <a:round/>
                      <a:headEnd len="sm" w="sm" type="none"/>
                      <a:tailEnd len="sm" w="sm" type="none"/>
                    </a:lnB>
                    <a:solidFill>
                      <a:srgbClr val="8E39E2"/>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Предыдущий ход соперника</a:t>
                      </a:r>
                      <a:endParaRPr sz="1400" u="none" cap="none" strike="noStrike">
                        <a:latin typeface="IBM Plex Sans"/>
                        <a:ea typeface="IBM Plex Sans"/>
                        <a:cs typeface="IBM Plex Sans"/>
                        <a:sym typeface="IBM Plex Sans"/>
                      </a:endParaRPr>
                    </a:p>
                  </a:txBody>
                  <a:tcPr marT="45725" marB="45725" marR="91450" marL="91450">
                    <a:lnL cap="flat" cmpd="sng" w="9525">
                      <a:solidFill>
                        <a:srgbClr val="8E39E2"/>
                      </a:solidFill>
                      <a:prstDash val="solid"/>
                      <a:round/>
                      <a:headEnd len="sm" w="sm" type="none"/>
                      <a:tailEnd len="sm" w="sm" type="none"/>
                    </a:lnL>
                    <a:lnR cap="flat" cmpd="sng" w="9525">
                      <a:solidFill>
                        <a:srgbClr val="8E39E2"/>
                      </a:solidFill>
                      <a:prstDash val="solid"/>
                      <a:round/>
                      <a:headEnd len="sm" w="sm" type="none"/>
                      <a:tailEnd len="sm" w="sm" type="none"/>
                    </a:lnR>
                    <a:lnT cap="flat" cmpd="sng" w="9525">
                      <a:solidFill>
                        <a:srgbClr val="8E39E2"/>
                      </a:solidFill>
                      <a:prstDash val="solid"/>
                      <a:round/>
                      <a:headEnd len="sm" w="sm" type="none"/>
                      <a:tailEnd len="sm" w="sm" type="none"/>
                    </a:lnT>
                    <a:lnB cap="flat" cmpd="sng" w="9525">
                      <a:solidFill>
                        <a:srgbClr val="8E39E2"/>
                      </a:solidFill>
                      <a:prstDash val="solid"/>
                      <a:round/>
                      <a:headEnd len="sm" w="sm" type="none"/>
                      <a:tailEnd len="sm" w="sm" type="none"/>
                    </a:lnB>
                    <a:solidFill>
                      <a:srgbClr val="8E39E2"/>
                    </a:solidFill>
                  </a:tcP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Пешка G2, ладья C3 …</a:t>
                      </a:r>
                      <a:endParaRPr sz="1400" u="none" cap="none" strike="noStrike">
                        <a:latin typeface="IBM Plex Sans"/>
                        <a:ea typeface="IBM Plex Sans"/>
                        <a:cs typeface="IBM Plex Sans"/>
                        <a:sym typeface="IBM Plex Sans"/>
                      </a:endParaRPr>
                    </a:p>
                  </a:txBody>
                  <a:tcPr marT="45725" marB="45725" marR="91450" marL="91450">
                    <a:lnT cap="flat" cmpd="sng" w="9525">
                      <a:solidFill>
                        <a:srgbClr val="8E39E2"/>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ru-RU" sz="1400" u="none" cap="none" strike="noStrike">
                          <a:latin typeface="IBM Plex Sans"/>
                          <a:ea typeface="IBM Plex Sans"/>
                          <a:cs typeface="IBM Plex Sans"/>
                          <a:sym typeface="IBM Plex Sans"/>
                        </a:rPr>
                        <a:t>ладья на C3 </a:t>
                      </a:r>
                      <a:endParaRPr sz="1400" u="none" cap="none" strike="noStrike">
                        <a:latin typeface="IBM Plex Sans"/>
                        <a:ea typeface="IBM Plex Sans"/>
                        <a:cs typeface="IBM Plex Sans"/>
                        <a:sym typeface="IBM Plex Sans"/>
                      </a:endParaRPr>
                    </a:p>
                  </a:txBody>
                  <a:tcPr marT="45725" marB="45725" marR="91450" marL="91450">
                    <a:lnT cap="flat" cmpd="sng" w="9525">
                      <a:solidFill>
                        <a:srgbClr val="8E39E2"/>
                      </a:solidFill>
                      <a:prstDash val="solid"/>
                      <a:round/>
                      <a:headEnd len="sm" w="sm" type="none"/>
                      <a:tailEnd len="sm" w="sm" type="none"/>
                    </a:lnT>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10"/>
          <p:cNvSpPr txBox="1"/>
          <p:nvPr/>
        </p:nvSpPr>
        <p:spPr>
          <a:xfrm>
            <a:off x="1055688" y="1327688"/>
            <a:ext cx="6421729" cy="301087"/>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Вопрос</a:t>
            </a:r>
            <a:endParaRPr b="1" i="0" sz="3600" u="none" cap="none" strike="noStrike">
              <a:solidFill>
                <a:schemeClr val="dk1"/>
              </a:solidFill>
              <a:latin typeface="IBM Plex Sans"/>
              <a:ea typeface="IBM Plex Sans"/>
              <a:cs typeface="IBM Plex Sans"/>
              <a:sym typeface="IBM Plex Sans"/>
            </a:endParaRPr>
          </a:p>
        </p:txBody>
      </p:sp>
      <p:grpSp>
        <p:nvGrpSpPr>
          <p:cNvPr id="904" name="Google Shape;904;p10"/>
          <p:cNvGrpSpPr/>
          <p:nvPr/>
        </p:nvGrpSpPr>
        <p:grpSpPr>
          <a:xfrm>
            <a:off x="9353973" y="-1553420"/>
            <a:ext cx="2853949" cy="13716633"/>
            <a:chOff x="9353973" y="-1553420"/>
            <a:chExt cx="2853949" cy="13716633"/>
          </a:xfrm>
        </p:grpSpPr>
        <p:grpSp>
          <p:nvGrpSpPr>
            <p:cNvPr id="905" name="Google Shape;905;p10"/>
            <p:cNvGrpSpPr/>
            <p:nvPr/>
          </p:nvGrpSpPr>
          <p:grpSpPr>
            <a:xfrm>
              <a:off x="9353973" y="-1553420"/>
              <a:ext cx="2838027" cy="13716633"/>
              <a:chOff x="9353973" y="-6079700"/>
              <a:chExt cx="2838027" cy="13716633"/>
            </a:xfrm>
          </p:grpSpPr>
          <p:pic>
            <p:nvPicPr>
              <p:cNvPr id="906" name="Google Shape;906;p10"/>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907" name="Google Shape;907;p10"/>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908" name="Google Shape;908;p10"/>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9" name="Google Shape;909;p10"/>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descr="Picture background" id="910" name="Google Shape;910;p10"/>
          <p:cNvPicPr preferRelativeResize="0"/>
          <p:nvPr/>
        </p:nvPicPr>
        <p:blipFill rotWithShape="1">
          <a:blip r:embed="rId4">
            <a:alphaModFix/>
          </a:blip>
          <a:srcRect b="0" l="0" r="0" t="0"/>
          <a:stretch/>
        </p:blipFill>
        <p:spPr>
          <a:xfrm>
            <a:off x="1116500" y="3255264"/>
            <a:ext cx="4838458" cy="2721632"/>
          </a:xfrm>
          <a:prstGeom prst="rect">
            <a:avLst/>
          </a:prstGeom>
          <a:noFill/>
          <a:ln>
            <a:noFill/>
          </a:ln>
        </p:spPr>
      </p:pic>
      <p:sp>
        <p:nvSpPr>
          <p:cNvPr id="911" name="Google Shape;911;p10"/>
          <p:cNvSpPr txBox="1"/>
          <p:nvPr/>
        </p:nvSpPr>
        <p:spPr>
          <a:xfrm>
            <a:off x="1125263" y="2860809"/>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900"/>
              <a:buFont typeface="Arial"/>
              <a:buNone/>
            </a:pPr>
            <a:r>
              <a:rPr b="1" i="0" lang="ru-RU" sz="1900" u="none" cap="none" strike="noStrike">
                <a:solidFill>
                  <a:schemeClr val="dk1"/>
                </a:solidFill>
                <a:latin typeface="IBM Plex Sans"/>
                <a:ea typeface="IBM Plex Sans"/>
                <a:cs typeface="IBM Plex Sans"/>
                <a:sym typeface="IBM Plex Sans"/>
              </a:rPr>
              <a:t>Deep Blue</a:t>
            </a:r>
            <a:endParaRPr b="1" i="0" sz="1900" u="none" cap="none" strike="noStrike">
              <a:solidFill>
                <a:schemeClr val="dk1"/>
              </a:solidFill>
              <a:latin typeface="IBM Plex Sans"/>
              <a:ea typeface="IBM Plex Sans"/>
              <a:cs typeface="IBM Plex Sans"/>
              <a:sym typeface="IBM Plex Sans"/>
            </a:endParaRPr>
          </a:p>
        </p:txBody>
      </p:sp>
      <p:sp>
        <p:nvSpPr>
          <p:cNvPr id="912" name="Google Shape;912;p10"/>
          <p:cNvSpPr txBox="1"/>
          <p:nvPr/>
        </p:nvSpPr>
        <p:spPr>
          <a:xfrm>
            <a:off x="2028899" y="6022325"/>
            <a:ext cx="3468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ru-RU" sz="1400" u="none" cap="none" strike="noStrike">
                <a:solidFill>
                  <a:srgbClr val="000000"/>
                </a:solidFill>
                <a:latin typeface="IBM Plex Sans"/>
                <a:ea typeface="IBM Plex Sans"/>
                <a:cs typeface="IBM Plex Sans"/>
                <a:sym typeface="IBM Plex Sans"/>
              </a:rPr>
              <a:t>Алгоритм, принимающий решение</a:t>
            </a:r>
            <a:endParaRPr b="0" i="0" sz="1400" u="none" cap="none" strike="noStrike">
              <a:solidFill>
                <a:srgbClr val="000000"/>
              </a:solidFill>
              <a:latin typeface="IBM Plex Sans"/>
              <a:ea typeface="IBM Plex Sans"/>
              <a:cs typeface="IBM Plex Sans"/>
              <a:sym typeface="IBM Plex Sans"/>
            </a:endParaRPr>
          </a:p>
        </p:txBody>
      </p:sp>
      <p:pic>
        <p:nvPicPr>
          <p:cNvPr descr="Picture background" id="913" name="Google Shape;913;p10"/>
          <p:cNvPicPr preferRelativeResize="0"/>
          <p:nvPr/>
        </p:nvPicPr>
        <p:blipFill rotWithShape="1">
          <a:blip r:embed="rId5">
            <a:alphaModFix/>
          </a:blip>
          <a:srcRect b="0" l="0" r="0" t="0"/>
          <a:stretch/>
        </p:blipFill>
        <p:spPr>
          <a:xfrm>
            <a:off x="7402666" y="3109587"/>
            <a:ext cx="1172905" cy="1172905"/>
          </a:xfrm>
          <a:prstGeom prst="rect">
            <a:avLst/>
          </a:prstGeom>
          <a:noFill/>
          <a:ln>
            <a:noFill/>
          </a:ln>
        </p:spPr>
      </p:pic>
      <p:sp>
        <p:nvSpPr>
          <p:cNvPr id="914" name="Google Shape;914;p10"/>
          <p:cNvSpPr txBox="1"/>
          <p:nvPr/>
        </p:nvSpPr>
        <p:spPr>
          <a:xfrm>
            <a:off x="6904348" y="4458492"/>
            <a:ext cx="21696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ru-RU" sz="2000" u="none" cap="none" strike="noStrike">
                <a:solidFill>
                  <a:srgbClr val="000000"/>
                </a:solidFill>
                <a:latin typeface="IBM Plex Sans"/>
                <a:ea typeface="IBM Plex Sans"/>
                <a:cs typeface="IBM Plex Sans"/>
                <a:sym typeface="IBM Plex Sans"/>
              </a:rPr>
              <a:t>Модель машинного обучения</a:t>
            </a:r>
            <a:endParaRPr b="0" i="0" sz="2000" u="none" cap="none" strike="noStrike">
              <a:solidFill>
                <a:srgbClr val="000000"/>
              </a:solidFill>
              <a:latin typeface="IBM Plex Sans"/>
              <a:ea typeface="IBM Plex Sans"/>
              <a:cs typeface="IBM Plex Sans"/>
              <a:sym typeface="IBM Plex Sans"/>
            </a:endParaRPr>
          </a:p>
        </p:txBody>
      </p:sp>
      <p:pic>
        <p:nvPicPr>
          <p:cNvPr id="915" name="Google Shape;915;p10"/>
          <p:cNvPicPr preferRelativeResize="0"/>
          <p:nvPr/>
        </p:nvPicPr>
        <p:blipFill rotWithShape="1">
          <a:blip r:embed="rId6">
            <a:alphaModFix/>
          </a:blip>
          <a:srcRect b="0" l="0" r="0" t="0"/>
          <a:stretch/>
        </p:blipFill>
        <p:spPr>
          <a:xfrm>
            <a:off x="8708574" y="4040996"/>
            <a:ext cx="3047978" cy="3052211"/>
          </a:xfrm>
          <a:prstGeom prst="rect">
            <a:avLst/>
          </a:prstGeom>
          <a:noFill/>
          <a:ln>
            <a:noFill/>
          </a:ln>
        </p:spPr>
      </p:pic>
      <p:sp>
        <p:nvSpPr>
          <p:cNvPr id="916" name="Google Shape;916;p10"/>
          <p:cNvSpPr txBox="1"/>
          <p:nvPr/>
        </p:nvSpPr>
        <p:spPr>
          <a:xfrm>
            <a:off x="1015175" y="1705975"/>
            <a:ext cx="64218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ru-RU" sz="2200" u="none" cap="none" strike="noStrike">
                <a:solidFill>
                  <a:srgbClr val="000000"/>
                </a:solidFill>
                <a:latin typeface="IBM Plex Sans"/>
                <a:ea typeface="IBM Plex Sans"/>
                <a:cs typeface="IBM Plex Sans"/>
                <a:sym typeface="IBM Plex Sans"/>
              </a:rPr>
              <a:t>В чем основная разница между Deep Blue и ML моделью?</a:t>
            </a:r>
            <a:endParaRPr b="0" i="0" sz="2200" u="none" cap="none" strike="noStrike">
              <a:solidFill>
                <a:srgbClr val="000000"/>
              </a:solidFill>
              <a:latin typeface="IBM Plex Sans"/>
              <a:ea typeface="IBM Plex Sans"/>
              <a:cs typeface="IBM Plex Sans"/>
              <a:sym typeface="IBM Plex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g3cb20f13e01_0_108"/>
          <p:cNvSpPr txBox="1"/>
          <p:nvPr/>
        </p:nvSpPr>
        <p:spPr>
          <a:xfrm>
            <a:off x="1055688" y="10228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Artificial Intelligence</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Искусственный интеллект</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922" name="Google Shape;922;g3cb20f13e01_0_108"/>
          <p:cNvGrpSpPr/>
          <p:nvPr/>
        </p:nvGrpSpPr>
        <p:grpSpPr>
          <a:xfrm>
            <a:off x="9353973" y="-1553420"/>
            <a:ext cx="2854020" cy="13716631"/>
            <a:chOff x="9353973" y="-1553420"/>
            <a:chExt cx="2854020" cy="13716631"/>
          </a:xfrm>
        </p:grpSpPr>
        <p:grpSp>
          <p:nvGrpSpPr>
            <p:cNvPr id="923" name="Google Shape;923;g3cb20f13e01_0_108"/>
            <p:cNvGrpSpPr/>
            <p:nvPr/>
          </p:nvGrpSpPr>
          <p:grpSpPr>
            <a:xfrm>
              <a:off x="9353973" y="-1553420"/>
              <a:ext cx="2838027" cy="13716631"/>
              <a:chOff x="9353973" y="-6079700"/>
              <a:chExt cx="2838027" cy="13716631"/>
            </a:xfrm>
          </p:grpSpPr>
          <p:pic>
            <p:nvPicPr>
              <p:cNvPr id="924" name="Google Shape;924;g3cb20f13e01_0_108"/>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925" name="Google Shape;925;g3cb20f13e01_0_108"/>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926" name="Google Shape;926;g3cb20f13e01_0_108"/>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7" name="Google Shape;927;g3cb20f13e01_0_108"/>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928" name="Google Shape;928;g3cb20f13e01_0_108"/>
          <p:cNvSpPr txBox="1"/>
          <p:nvPr/>
        </p:nvSpPr>
        <p:spPr>
          <a:xfrm>
            <a:off x="1055688" y="1909737"/>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000" u="none" cap="none" strike="noStrike">
                <a:solidFill>
                  <a:schemeClr val="dk1"/>
                </a:solidFill>
                <a:latin typeface="IBM Plex Sans"/>
                <a:ea typeface="IBM Plex Sans"/>
                <a:cs typeface="IBM Plex Sans"/>
                <a:sym typeface="IBM Plex Sans"/>
              </a:rPr>
              <a:t>Система, способная принимать решения </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rPr b="0" i="0" lang="ru-RU" sz="2000" u="none" cap="none" strike="noStrike">
                <a:solidFill>
                  <a:schemeClr val="dk1"/>
                </a:solidFill>
                <a:latin typeface="IBM Plex Sans"/>
                <a:ea typeface="IBM Plex Sans"/>
                <a:cs typeface="IBM Plex Sans"/>
                <a:sym typeface="IBM Plex Sans"/>
              </a:rPr>
              <a:t>на основе состояния мира</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pic>
        <p:nvPicPr>
          <p:cNvPr id="929" name="Google Shape;929;g3cb20f13e01_0_108"/>
          <p:cNvPicPr preferRelativeResize="0"/>
          <p:nvPr/>
        </p:nvPicPr>
        <p:blipFill rotWithShape="1">
          <a:blip r:embed="rId4">
            <a:alphaModFix/>
          </a:blip>
          <a:srcRect b="0" l="0" r="0" t="0"/>
          <a:stretch/>
        </p:blipFill>
        <p:spPr>
          <a:xfrm>
            <a:off x="8826215" y="354856"/>
            <a:ext cx="2867441" cy="2867441"/>
          </a:xfrm>
          <a:prstGeom prst="rect">
            <a:avLst/>
          </a:prstGeom>
          <a:noFill/>
          <a:ln>
            <a:noFill/>
          </a:ln>
        </p:spPr>
      </p:pic>
      <p:sp>
        <p:nvSpPr>
          <p:cNvPr id="930" name="Google Shape;930;g3cb20f13e01_0_108"/>
          <p:cNvSpPr/>
          <p:nvPr/>
        </p:nvSpPr>
        <p:spPr>
          <a:xfrm>
            <a:off x="5742275" y="3167079"/>
            <a:ext cx="3206100" cy="3174900"/>
          </a:xfrm>
          <a:prstGeom prst="ellipse">
            <a:avLst/>
          </a:prstGeom>
          <a:solidFill>
            <a:srgbClr val="8E39E2"/>
          </a:solidFill>
          <a:ln cap="flat" cmpd="sng" w="9525">
            <a:solidFill>
              <a:srgbClr val="8E39E2"/>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chemeClr val="dk1"/>
              </a:buClr>
              <a:buSzPts val="4800"/>
              <a:buFont typeface="Proxima Nova"/>
              <a:buNone/>
            </a:pPr>
            <a:r>
              <a:t/>
            </a:r>
            <a:endParaRPr b="0" i="0" sz="4600" u="none" cap="none" strike="noStrike">
              <a:solidFill>
                <a:schemeClr val="dk1"/>
              </a:solidFill>
              <a:latin typeface="Proxima Nova"/>
              <a:ea typeface="Proxima Nova"/>
              <a:cs typeface="Proxima Nova"/>
              <a:sym typeface="Proxima Nova"/>
            </a:endParaRPr>
          </a:p>
        </p:txBody>
      </p:sp>
      <p:sp>
        <p:nvSpPr>
          <p:cNvPr id="931" name="Google Shape;931;g3cb20f13e01_0_108"/>
          <p:cNvSpPr/>
          <p:nvPr/>
        </p:nvSpPr>
        <p:spPr>
          <a:xfrm>
            <a:off x="6175481" y="4002618"/>
            <a:ext cx="2339700" cy="2251800"/>
          </a:xfrm>
          <a:prstGeom prst="ellipse">
            <a:avLst/>
          </a:prstGeom>
          <a:solidFill>
            <a:srgbClr val="F8CEEE"/>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chemeClr val="dk1"/>
              </a:buClr>
              <a:buSzPts val="4800"/>
              <a:buFont typeface="Proxima Nova"/>
              <a:buNone/>
            </a:pPr>
            <a:r>
              <a:t/>
            </a:r>
            <a:endParaRPr b="0" i="0" sz="4600" u="none" cap="none" strike="noStrike">
              <a:solidFill>
                <a:schemeClr val="dk1"/>
              </a:solidFill>
              <a:latin typeface="Proxima Nova"/>
              <a:ea typeface="Proxima Nova"/>
              <a:cs typeface="Proxima Nova"/>
              <a:sym typeface="Proxima Nova"/>
            </a:endParaRPr>
          </a:p>
        </p:txBody>
      </p:sp>
      <p:sp>
        <p:nvSpPr>
          <p:cNvPr id="932" name="Google Shape;932;g3cb20f13e01_0_108"/>
          <p:cNvSpPr/>
          <p:nvPr/>
        </p:nvSpPr>
        <p:spPr>
          <a:xfrm>
            <a:off x="6353525" y="4572216"/>
            <a:ext cx="1983600" cy="1566300"/>
          </a:xfrm>
          <a:prstGeom prst="ellipse">
            <a:avLst/>
          </a:prstGeom>
          <a:solidFill>
            <a:srgbClr val="E4F9FD"/>
          </a:solidFill>
          <a:ln cap="flat" cmpd="sng" w="9525">
            <a:solidFill>
              <a:srgbClr val="C2E5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Nunito"/>
              <a:ea typeface="Nunito"/>
              <a:cs typeface="Nunito"/>
              <a:sym typeface="Nunito"/>
            </a:endParaRPr>
          </a:p>
        </p:txBody>
      </p:sp>
      <p:sp>
        <p:nvSpPr>
          <p:cNvPr id="933" name="Google Shape;933;g3cb20f13e01_0_108"/>
          <p:cNvSpPr txBox="1"/>
          <p:nvPr/>
        </p:nvSpPr>
        <p:spPr>
          <a:xfrm>
            <a:off x="7088000" y="47734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15110E"/>
                </a:solidFill>
                <a:latin typeface="IBM Plex Sans"/>
                <a:ea typeface="IBM Plex Sans"/>
                <a:cs typeface="IBM Plex Sans"/>
                <a:sym typeface="IBM Plex Sans"/>
              </a:rPr>
              <a:t>DL</a:t>
            </a:r>
            <a:endParaRPr b="0" i="0" sz="1500" u="none" cap="none" strike="noStrike">
              <a:solidFill>
                <a:srgbClr val="15110E"/>
              </a:solidFill>
              <a:latin typeface="IBM Plex Sans"/>
              <a:ea typeface="IBM Plex Sans"/>
              <a:cs typeface="IBM Plex Sans"/>
              <a:sym typeface="IBM Plex Sans"/>
            </a:endParaRPr>
          </a:p>
        </p:txBody>
      </p:sp>
      <p:sp>
        <p:nvSpPr>
          <p:cNvPr id="934" name="Google Shape;934;g3cb20f13e01_0_108"/>
          <p:cNvSpPr txBox="1"/>
          <p:nvPr/>
        </p:nvSpPr>
        <p:spPr>
          <a:xfrm>
            <a:off x="7101050" y="406667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15110E"/>
                </a:solidFill>
                <a:latin typeface="IBM Plex Sans"/>
                <a:ea typeface="IBM Plex Sans"/>
                <a:cs typeface="IBM Plex Sans"/>
                <a:sym typeface="IBM Plex Sans"/>
              </a:rPr>
              <a:t>ML</a:t>
            </a:r>
            <a:endParaRPr b="0" i="0" sz="1500" u="none" cap="none" strike="noStrike">
              <a:solidFill>
                <a:srgbClr val="15110E"/>
              </a:solidFill>
              <a:latin typeface="IBM Plex Sans"/>
              <a:ea typeface="IBM Plex Sans"/>
              <a:cs typeface="IBM Plex Sans"/>
              <a:sym typeface="IBM Plex Sans"/>
            </a:endParaRPr>
          </a:p>
        </p:txBody>
      </p:sp>
      <p:sp>
        <p:nvSpPr>
          <p:cNvPr id="935" name="Google Shape;935;g3cb20f13e01_0_108"/>
          <p:cNvSpPr txBox="1"/>
          <p:nvPr/>
        </p:nvSpPr>
        <p:spPr>
          <a:xfrm>
            <a:off x="7088000" y="3285525"/>
            <a:ext cx="2882400" cy="507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ru-RU" sz="2100" u="none" cap="none" strike="noStrike">
                <a:solidFill>
                  <a:srgbClr val="FFFFFF"/>
                </a:solidFill>
                <a:latin typeface="IBM Plex Sans"/>
                <a:ea typeface="IBM Plex Sans"/>
                <a:cs typeface="IBM Plex Sans"/>
                <a:sym typeface="IBM Plex Sans"/>
              </a:rPr>
              <a:t>AI</a:t>
            </a:r>
            <a:endParaRPr b="0" i="0" sz="1500" u="none" cap="none" strike="noStrike">
              <a:solidFill>
                <a:srgbClr val="FFFFFF"/>
              </a:solidFill>
              <a:latin typeface="IBM Plex Sans"/>
              <a:ea typeface="IBM Plex Sans"/>
              <a:cs typeface="IBM Plex Sans"/>
              <a:sym typeface="IBM Plex Sans"/>
            </a:endParaRPr>
          </a:p>
        </p:txBody>
      </p:sp>
      <p:sp>
        <p:nvSpPr>
          <p:cNvPr id="936" name="Google Shape;936;g3cb20f13e01_0_108"/>
          <p:cNvSpPr txBox="1"/>
          <p:nvPr/>
        </p:nvSpPr>
        <p:spPr>
          <a:xfrm>
            <a:off x="1055688" y="2899313"/>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Machine learning</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sp>
        <p:nvSpPr>
          <p:cNvPr id="937" name="Google Shape;937;g3cb20f13e01_0_108"/>
          <p:cNvSpPr txBox="1"/>
          <p:nvPr/>
        </p:nvSpPr>
        <p:spPr>
          <a:xfrm>
            <a:off x="1055698" y="3786150"/>
            <a:ext cx="46866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000" u="none" cap="none" strike="noStrike">
                <a:solidFill>
                  <a:schemeClr val="dk1"/>
                </a:solidFill>
                <a:latin typeface="IBM Plex Sans"/>
                <a:ea typeface="IBM Plex Sans"/>
                <a:cs typeface="IBM Plex Sans"/>
                <a:sym typeface="IBM Plex Sans"/>
              </a:rPr>
              <a:t>Система, принимающая решения на основе накопленного опыта и состояния мира</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sp>
        <p:nvSpPr>
          <p:cNvPr id="938" name="Google Shape;938;g3cb20f13e01_0_108"/>
          <p:cNvSpPr txBox="1"/>
          <p:nvPr/>
        </p:nvSpPr>
        <p:spPr>
          <a:xfrm>
            <a:off x="1055688" y="4847813"/>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Deep learning</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Глубокое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sp>
        <p:nvSpPr>
          <p:cNvPr id="939" name="Google Shape;939;g3cb20f13e01_0_108"/>
          <p:cNvSpPr txBox="1"/>
          <p:nvPr/>
        </p:nvSpPr>
        <p:spPr>
          <a:xfrm>
            <a:off x="1055688" y="5734662"/>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000" u="none" cap="none" strike="noStrike">
                <a:solidFill>
                  <a:schemeClr val="dk1"/>
                </a:solidFill>
                <a:latin typeface="IBM Plex Sans"/>
                <a:ea typeface="IBM Plex Sans"/>
                <a:cs typeface="IBM Plex Sans"/>
                <a:sym typeface="IBM Plex Sans"/>
              </a:rPr>
              <a:t>Подоблась машинного обучения, основанная на нейронных сетях</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g3cb20f13e01_0_849"/>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Когда нужно 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945" name="Google Shape;945;g3cb20f13e01_0_849"/>
          <p:cNvGrpSpPr/>
          <p:nvPr/>
        </p:nvGrpSpPr>
        <p:grpSpPr>
          <a:xfrm>
            <a:off x="9353973" y="-1553420"/>
            <a:ext cx="2854020" cy="13716631"/>
            <a:chOff x="9353973" y="-1553420"/>
            <a:chExt cx="2854020" cy="13716631"/>
          </a:xfrm>
        </p:grpSpPr>
        <p:grpSp>
          <p:nvGrpSpPr>
            <p:cNvPr id="946" name="Google Shape;946;g3cb20f13e01_0_849"/>
            <p:cNvGrpSpPr/>
            <p:nvPr/>
          </p:nvGrpSpPr>
          <p:grpSpPr>
            <a:xfrm>
              <a:off x="9353973" y="-1553420"/>
              <a:ext cx="2838027" cy="13716631"/>
              <a:chOff x="9353973" y="-6079700"/>
              <a:chExt cx="2838027" cy="13716631"/>
            </a:xfrm>
          </p:grpSpPr>
          <p:pic>
            <p:nvPicPr>
              <p:cNvPr id="947" name="Google Shape;947;g3cb20f13e01_0_849"/>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948" name="Google Shape;948;g3cb20f13e01_0_849"/>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949" name="Google Shape;949;g3cb20f13e01_0_849"/>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0" name="Google Shape;950;g3cb20f13e01_0_849"/>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951" name="Google Shape;951;g3cb20f13e01_0_849"/>
          <p:cNvPicPr preferRelativeResize="0"/>
          <p:nvPr/>
        </p:nvPicPr>
        <p:blipFill rotWithShape="1">
          <a:blip r:embed="rId4">
            <a:alphaModFix/>
          </a:blip>
          <a:srcRect b="0" l="0" r="0" t="0"/>
          <a:stretch/>
        </p:blipFill>
        <p:spPr>
          <a:xfrm>
            <a:off x="8708574" y="4040996"/>
            <a:ext cx="3047978" cy="305221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g3d3e78d848d_0_228"/>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Когда нужно 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957" name="Google Shape;957;g3d3e78d848d_0_228"/>
          <p:cNvGrpSpPr/>
          <p:nvPr/>
        </p:nvGrpSpPr>
        <p:grpSpPr>
          <a:xfrm>
            <a:off x="9353973" y="-1553420"/>
            <a:ext cx="2854020" cy="13716631"/>
            <a:chOff x="9353973" y="-1553420"/>
            <a:chExt cx="2854020" cy="13716631"/>
          </a:xfrm>
        </p:grpSpPr>
        <p:grpSp>
          <p:nvGrpSpPr>
            <p:cNvPr id="958" name="Google Shape;958;g3d3e78d848d_0_228"/>
            <p:cNvGrpSpPr/>
            <p:nvPr/>
          </p:nvGrpSpPr>
          <p:grpSpPr>
            <a:xfrm>
              <a:off x="9353973" y="-1553420"/>
              <a:ext cx="2838027" cy="13716631"/>
              <a:chOff x="9353973" y="-6079700"/>
              <a:chExt cx="2838027" cy="13716631"/>
            </a:xfrm>
          </p:grpSpPr>
          <p:pic>
            <p:nvPicPr>
              <p:cNvPr id="959" name="Google Shape;959;g3d3e78d848d_0_228"/>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960" name="Google Shape;960;g3d3e78d848d_0_228"/>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961" name="Google Shape;961;g3d3e78d848d_0_228"/>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2" name="Google Shape;962;g3d3e78d848d_0_228"/>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963" name="Google Shape;963;g3d3e78d848d_0_228"/>
          <p:cNvPicPr preferRelativeResize="0"/>
          <p:nvPr/>
        </p:nvPicPr>
        <p:blipFill rotWithShape="1">
          <a:blip r:embed="rId4">
            <a:alphaModFix/>
          </a:blip>
          <a:srcRect b="0" l="0" r="0" t="0"/>
          <a:stretch/>
        </p:blipFill>
        <p:spPr>
          <a:xfrm>
            <a:off x="8708574" y="4040996"/>
            <a:ext cx="3047978" cy="3052211"/>
          </a:xfrm>
          <a:prstGeom prst="rect">
            <a:avLst/>
          </a:prstGeom>
          <a:noFill/>
          <a:ln>
            <a:noFill/>
          </a:ln>
        </p:spPr>
      </p:pic>
      <p:sp>
        <p:nvSpPr>
          <p:cNvPr id="964" name="Google Shape;964;g3d3e78d848d_0_228"/>
          <p:cNvSpPr txBox="1"/>
          <p:nvPr/>
        </p:nvSpPr>
        <p:spPr>
          <a:xfrm>
            <a:off x="1055688" y="2525112"/>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800" u="none" cap="none" strike="noStrike">
                <a:solidFill>
                  <a:schemeClr val="dk1"/>
                </a:solidFill>
                <a:latin typeface="IBM Plex Sans"/>
                <a:ea typeface="IBM Plex Sans"/>
                <a:cs typeface="IBM Plex Sans"/>
                <a:sym typeface="IBM Plex Sans"/>
              </a:rPr>
              <a:t>Определять правила для решения задачи самостоятельно сложно и долго</a:t>
            </a:r>
            <a:endParaRPr b="0" i="0" sz="28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8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7"/>
          <p:cNvSpPr txBox="1"/>
          <p:nvPr/>
        </p:nvSpPr>
        <p:spPr>
          <a:xfrm>
            <a:off x="1055688" y="1327688"/>
            <a:ext cx="6421729" cy="301087"/>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Когда нужно 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970" name="Google Shape;970;p7"/>
          <p:cNvGrpSpPr/>
          <p:nvPr/>
        </p:nvGrpSpPr>
        <p:grpSpPr>
          <a:xfrm>
            <a:off x="9353973" y="-1553420"/>
            <a:ext cx="2853949" cy="13716633"/>
            <a:chOff x="9353973" y="-1553420"/>
            <a:chExt cx="2853949" cy="13716633"/>
          </a:xfrm>
        </p:grpSpPr>
        <p:grpSp>
          <p:nvGrpSpPr>
            <p:cNvPr id="971" name="Google Shape;971;p7"/>
            <p:cNvGrpSpPr/>
            <p:nvPr/>
          </p:nvGrpSpPr>
          <p:grpSpPr>
            <a:xfrm>
              <a:off x="9353973" y="-1553420"/>
              <a:ext cx="2838027" cy="13716633"/>
              <a:chOff x="9353973" y="-6079700"/>
              <a:chExt cx="2838027" cy="13716633"/>
            </a:xfrm>
          </p:grpSpPr>
          <p:pic>
            <p:nvPicPr>
              <p:cNvPr id="972" name="Google Shape;972;p7"/>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973" name="Google Shape;973;p7"/>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974" name="Google Shape;974;p7"/>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5" name="Google Shape;975;p7"/>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976" name="Google Shape;976;p7"/>
          <p:cNvPicPr preferRelativeResize="0"/>
          <p:nvPr/>
        </p:nvPicPr>
        <p:blipFill rotWithShape="1">
          <a:blip r:embed="rId4">
            <a:alphaModFix/>
          </a:blip>
          <a:srcRect b="0" l="0" r="0" t="0"/>
          <a:stretch/>
        </p:blipFill>
        <p:spPr>
          <a:xfrm>
            <a:off x="8708574" y="4040996"/>
            <a:ext cx="3047977" cy="3052211"/>
          </a:xfrm>
          <a:prstGeom prst="rect">
            <a:avLst/>
          </a:prstGeom>
          <a:noFill/>
          <a:ln>
            <a:noFill/>
          </a:ln>
        </p:spPr>
      </p:pic>
      <p:sp>
        <p:nvSpPr>
          <p:cNvPr id="977" name="Google Shape;977;p7"/>
          <p:cNvSpPr txBox="1"/>
          <p:nvPr/>
        </p:nvSpPr>
        <p:spPr>
          <a:xfrm>
            <a:off x="1055688" y="2525112"/>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300" u="none" cap="none" strike="noStrike">
                <a:solidFill>
                  <a:schemeClr val="dk1"/>
                </a:solidFill>
                <a:latin typeface="IBM Plex Sans"/>
                <a:ea typeface="IBM Plex Sans"/>
                <a:cs typeface="IBM Plex Sans"/>
                <a:sym typeface="IBM Plex Sans"/>
              </a:rPr>
              <a:t>Определять правила для решения задачи самостоятельно сложно и долго</a:t>
            </a:r>
            <a:endParaRPr b="0" i="0" sz="23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300" u="none" cap="none" strike="noStrike">
              <a:solidFill>
                <a:schemeClr val="dk1"/>
              </a:solidFill>
              <a:latin typeface="IBM Plex Sans"/>
              <a:ea typeface="IBM Plex Sans"/>
              <a:cs typeface="IBM Plex Sans"/>
              <a:sym typeface="IBM Plex Sans"/>
            </a:endParaRPr>
          </a:p>
        </p:txBody>
      </p:sp>
      <p:sp>
        <p:nvSpPr>
          <p:cNvPr id="978" name="Google Shape;978;p7"/>
          <p:cNvSpPr txBox="1"/>
          <p:nvPr/>
        </p:nvSpPr>
        <p:spPr>
          <a:xfrm>
            <a:off x="1055689" y="3558907"/>
            <a:ext cx="5022900" cy="27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ru-RU" sz="2300" u="none" cap="none" strike="noStrike">
                <a:solidFill>
                  <a:srgbClr val="8E39E2"/>
                </a:solidFill>
                <a:latin typeface="IBM Plex Sans"/>
                <a:ea typeface="IBM Plex Sans"/>
                <a:cs typeface="IBM Plex Sans"/>
                <a:sym typeface="IBM Plex Sans"/>
              </a:rPr>
              <a:t>Пример </a:t>
            </a:r>
            <a:endParaRPr b="1" i="0" sz="2300" u="none" cap="none" strike="noStrike">
              <a:solidFill>
                <a:srgbClr val="8E39E2"/>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0" i="0" sz="4300" u="none" cap="none" strike="noStrike">
              <a:solidFill>
                <a:srgbClr val="8E39E2"/>
              </a:solidFill>
              <a:latin typeface="IBM Plex Sans"/>
              <a:ea typeface="IBM Plex Sans"/>
              <a:cs typeface="IBM Plex Sans"/>
              <a:sym typeface="IBM Plex Sans"/>
            </a:endParaRPr>
          </a:p>
        </p:txBody>
      </p:sp>
      <p:sp>
        <p:nvSpPr>
          <p:cNvPr id="979" name="Google Shape;979;p7"/>
          <p:cNvSpPr txBox="1"/>
          <p:nvPr/>
        </p:nvSpPr>
        <p:spPr>
          <a:xfrm>
            <a:off x="1055704" y="3958950"/>
            <a:ext cx="68010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300" u="none" cap="none" strike="noStrike">
                <a:solidFill>
                  <a:schemeClr val="dk1"/>
                </a:solidFill>
                <a:latin typeface="IBM Plex Sans"/>
                <a:ea typeface="IBM Plex Sans"/>
                <a:cs typeface="IBM Plex Sans"/>
                <a:sym typeface="IBM Plex Sans"/>
              </a:rPr>
              <a:t>Есть фотографии собак и кошек, необходимо определить, какое животное находится на фото</a:t>
            </a:r>
            <a:endParaRPr b="0" i="0" sz="23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300" u="none" cap="none" strike="noStrike">
              <a:solidFill>
                <a:schemeClr val="dk1"/>
              </a:solidFill>
              <a:latin typeface="IBM Plex Sans"/>
              <a:ea typeface="IBM Plex Sans"/>
              <a:cs typeface="IBM Plex Sans"/>
              <a:sym typeface="IBM Plex Sans"/>
            </a:endParaRPr>
          </a:p>
        </p:txBody>
      </p:sp>
      <p:pic>
        <p:nvPicPr>
          <p:cNvPr id="980" name="Google Shape;980;p7"/>
          <p:cNvPicPr preferRelativeResize="0"/>
          <p:nvPr/>
        </p:nvPicPr>
        <p:blipFill rotWithShape="1">
          <a:blip r:embed="rId5">
            <a:alphaModFix/>
          </a:blip>
          <a:srcRect b="0" l="0" r="0" t="0"/>
          <a:stretch/>
        </p:blipFill>
        <p:spPr>
          <a:xfrm>
            <a:off x="339836" y="3558903"/>
            <a:ext cx="649736" cy="652443"/>
          </a:xfrm>
          <a:prstGeom prst="rect">
            <a:avLst/>
          </a:prstGeom>
          <a:noFill/>
          <a:ln>
            <a:noFill/>
          </a:ln>
        </p:spPr>
      </p:pic>
      <p:sp>
        <p:nvSpPr>
          <p:cNvPr id="981" name="Google Shape;981;p7"/>
          <p:cNvSpPr txBox="1"/>
          <p:nvPr/>
        </p:nvSpPr>
        <p:spPr>
          <a:xfrm>
            <a:off x="965689" y="4867012"/>
            <a:ext cx="5022900" cy="27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ru-RU" sz="2300" u="none" cap="none" strike="noStrike">
                <a:solidFill>
                  <a:srgbClr val="8E39E2"/>
                </a:solidFill>
                <a:latin typeface="IBM Plex Sans"/>
                <a:ea typeface="IBM Plex Sans"/>
                <a:cs typeface="IBM Plex Sans"/>
                <a:sym typeface="IBM Plex Sans"/>
              </a:rPr>
              <a:t>Пример </a:t>
            </a:r>
            <a:endParaRPr b="1" i="0" sz="2300" u="none" cap="none" strike="noStrike">
              <a:solidFill>
                <a:srgbClr val="8E39E2"/>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0" i="0" sz="2300" u="none" cap="none" strike="noStrike">
              <a:solidFill>
                <a:srgbClr val="8E39E2"/>
              </a:solidFill>
              <a:latin typeface="IBM Plex Sans"/>
              <a:ea typeface="IBM Plex Sans"/>
              <a:cs typeface="IBM Plex Sans"/>
              <a:sym typeface="IBM Plex Sans"/>
            </a:endParaRPr>
          </a:p>
        </p:txBody>
      </p:sp>
      <p:sp>
        <p:nvSpPr>
          <p:cNvPr id="982" name="Google Shape;982;p7"/>
          <p:cNvSpPr txBox="1"/>
          <p:nvPr/>
        </p:nvSpPr>
        <p:spPr>
          <a:xfrm>
            <a:off x="965704" y="5238475"/>
            <a:ext cx="68910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300" u="none" cap="none" strike="noStrike">
                <a:solidFill>
                  <a:schemeClr val="dk1"/>
                </a:solidFill>
                <a:latin typeface="IBM Plex Sans"/>
                <a:ea typeface="IBM Plex Sans"/>
                <a:cs typeface="IBM Plex Sans"/>
                <a:sym typeface="IBM Plex Sans"/>
              </a:rPr>
              <a:t>Есть масса тела и ускорение свободного падения. Необходимо рассчитать силу тяжести, действующую на предмет</a:t>
            </a:r>
            <a:endParaRPr b="0" i="0" sz="23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300" u="none" cap="none" strike="noStrike">
              <a:solidFill>
                <a:schemeClr val="dk1"/>
              </a:solidFill>
              <a:latin typeface="IBM Plex Sans"/>
              <a:ea typeface="IBM Plex Sans"/>
              <a:cs typeface="IBM Plex Sans"/>
              <a:sym typeface="IBM Plex Sans"/>
            </a:endParaRPr>
          </a:p>
        </p:txBody>
      </p:sp>
      <p:pic>
        <p:nvPicPr>
          <p:cNvPr id="983" name="Google Shape;983;p7"/>
          <p:cNvPicPr preferRelativeResize="0"/>
          <p:nvPr/>
        </p:nvPicPr>
        <p:blipFill rotWithShape="1">
          <a:blip r:embed="rId6">
            <a:alphaModFix/>
          </a:blip>
          <a:srcRect b="0" l="0" r="0" t="0"/>
          <a:stretch/>
        </p:blipFill>
        <p:spPr>
          <a:xfrm>
            <a:off x="339828" y="5060804"/>
            <a:ext cx="625871" cy="62847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3cb20f13e01_0_865"/>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Когда нужно 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989" name="Google Shape;989;g3cb20f13e01_0_865"/>
          <p:cNvGrpSpPr/>
          <p:nvPr/>
        </p:nvGrpSpPr>
        <p:grpSpPr>
          <a:xfrm>
            <a:off x="9353973" y="-1553420"/>
            <a:ext cx="2854020" cy="13716631"/>
            <a:chOff x="9353973" y="-1553420"/>
            <a:chExt cx="2854020" cy="13716631"/>
          </a:xfrm>
        </p:grpSpPr>
        <p:grpSp>
          <p:nvGrpSpPr>
            <p:cNvPr id="990" name="Google Shape;990;g3cb20f13e01_0_865"/>
            <p:cNvGrpSpPr/>
            <p:nvPr/>
          </p:nvGrpSpPr>
          <p:grpSpPr>
            <a:xfrm>
              <a:off x="9353973" y="-1553420"/>
              <a:ext cx="2838027" cy="13716631"/>
              <a:chOff x="9353973" y="-6079700"/>
              <a:chExt cx="2838027" cy="13716631"/>
            </a:xfrm>
          </p:grpSpPr>
          <p:pic>
            <p:nvPicPr>
              <p:cNvPr id="991" name="Google Shape;991;g3cb20f13e01_0_865"/>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992" name="Google Shape;992;g3cb20f13e01_0_865"/>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993" name="Google Shape;993;g3cb20f13e01_0_865"/>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94" name="Google Shape;994;g3cb20f13e01_0_865"/>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995" name="Google Shape;995;g3cb20f13e01_0_865"/>
          <p:cNvPicPr preferRelativeResize="0"/>
          <p:nvPr/>
        </p:nvPicPr>
        <p:blipFill rotWithShape="1">
          <a:blip r:embed="rId4">
            <a:alphaModFix/>
          </a:blip>
          <a:srcRect b="0" l="0" r="0" t="0"/>
          <a:stretch/>
        </p:blipFill>
        <p:spPr>
          <a:xfrm>
            <a:off x="8708574" y="4040996"/>
            <a:ext cx="3047978" cy="3052211"/>
          </a:xfrm>
          <a:prstGeom prst="rect">
            <a:avLst/>
          </a:prstGeom>
          <a:noFill/>
          <a:ln>
            <a:noFill/>
          </a:ln>
        </p:spPr>
      </p:pic>
      <p:sp>
        <p:nvSpPr>
          <p:cNvPr id="996" name="Google Shape;996;g3cb20f13e01_0_865"/>
          <p:cNvSpPr txBox="1"/>
          <p:nvPr/>
        </p:nvSpPr>
        <p:spPr>
          <a:xfrm>
            <a:off x="1055688" y="2525112"/>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300" u="none" cap="none" strike="noStrike">
                <a:solidFill>
                  <a:schemeClr val="dk1"/>
                </a:solidFill>
                <a:latin typeface="IBM Plex Sans"/>
                <a:ea typeface="IBM Plex Sans"/>
                <a:cs typeface="IBM Plex Sans"/>
                <a:sym typeface="IBM Plex Sans"/>
              </a:rPr>
              <a:t>Нужно учесть множество факторов и условий</a:t>
            </a:r>
            <a:endParaRPr b="0" i="0" sz="23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3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g3cb20f13e01_0_877"/>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Когда нужно 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1002" name="Google Shape;1002;g3cb20f13e01_0_877"/>
          <p:cNvGrpSpPr/>
          <p:nvPr/>
        </p:nvGrpSpPr>
        <p:grpSpPr>
          <a:xfrm>
            <a:off x="9353973" y="-1553420"/>
            <a:ext cx="2854020" cy="13716631"/>
            <a:chOff x="9353973" y="-1553420"/>
            <a:chExt cx="2854020" cy="13716631"/>
          </a:xfrm>
        </p:grpSpPr>
        <p:grpSp>
          <p:nvGrpSpPr>
            <p:cNvPr id="1003" name="Google Shape;1003;g3cb20f13e01_0_877"/>
            <p:cNvGrpSpPr/>
            <p:nvPr/>
          </p:nvGrpSpPr>
          <p:grpSpPr>
            <a:xfrm>
              <a:off x="9353973" y="-1553420"/>
              <a:ext cx="2838027" cy="13716631"/>
              <a:chOff x="9353973" y="-6079700"/>
              <a:chExt cx="2838027" cy="13716631"/>
            </a:xfrm>
          </p:grpSpPr>
          <p:pic>
            <p:nvPicPr>
              <p:cNvPr id="1004" name="Google Shape;1004;g3cb20f13e01_0_877"/>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005" name="Google Shape;1005;g3cb20f13e01_0_877"/>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006" name="Google Shape;1006;g3cb20f13e01_0_877"/>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07" name="Google Shape;1007;g3cb20f13e01_0_877"/>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008" name="Google Shape;1008;g3cb20f13e01_0_877"/>
          <p:cNvPicPr preferRelativeResize="0"/>
          <p:nvPr/>
        </p:nvPicPr>
        <p:blipFill rotWithShape="1">
          <a:blip r:embed="rId4">
            <a:alphaModFix/>
          </a:blip>
          <a:srcRect b="0" l="0" r="0" t="0"/>
          <a:stretch/>
        </p:blipFill>
        <p:spPr>
          <a:xfrm>
            <a:off x="8708574" y="4040996"/>
            <a:ext cx="3047978" cy="3052211"/>
          </a:xfrm>
          <a:prstGeom prst="rect">
            <a:avLst/>
          </a:prstGeom>
          <a:noFill/>
          <a:ln>
            <a:noFill/>
          </a:ln>
        </p:spPr>
      </p:pic>
      <p:sp>
        <p:nvSpPr>
          <p:cNvPr id="1009" name="Google Shape;1009;g3cb20f13e01_0_877"/>
          <p:cNvSpPr txBox="1"/>
          <p:nvPr/>
        </p:nvSpPr>
        <p:spPr>
          <a:xfrm>
            <a:off x="1055688" y="2525112"/>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300" u="none" cap="none" strike="noStrike">
                <a:solidFill>
                  <a:schemeClr val="dk1"/>
                </a:solidFill>
                <a:latin typeface="IBM Plex Sans"/>
                <a:ea typeface="IBM Plex Sans"/>
                <a:cs typeface="IBM Plex Sans"/>
                <a:sym typeface="IBM Plex Sans"/>
              </a:rPr>
              <a:t>Нужно учесть множество факторов и условий</a:t>
            </a:r>
            <a:endParaRPr b="0" i="0" sz="23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300" u="none" cap="none" strike="noStrike">
              <a:solidFill>
                <a:schemeClr val="dk1"/>
              </a:solidFill>
              <a:latin typeface="IBM Plex Sans"/>
              <a:ea typeface="IBM Plex Sans"/>
              <a:cs typeface="IBM Plex Sans"/>
              <a:sym typeface="IBM Plex Sans"/>
            </a:endParaRPr>
          </a:p>
        </p:txBody>
      </p:sp>
      <p:sp>
        <p:nvSpPr>
          <p:cNvPr id="1010" name="Google Shape;1010;g3cb20f13e01_0_877"/>
          <p:cNvSpPr txBox="1"/>
          <p:nvPr/>
        </p:nvSpPr>
        <p:spPr>
          <a:xfrm>
            <a:off x="1055689" y="3406507"/>
            <a:ext cx="5022900" cy="27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ru-RU" sz="2300" u="none" cap="none" strike="noStrike">
                <a:solidFill>
                  <a:srgbClr val="8E39E2"/>
                </a:solidFill>
                <a:latin typeface="IBM Plex Sans"/>
                <a:ea typeface="IBM Plex Sans"/>
                <a:cs typeface="IBM Plex Sans"/>
                <a:sym typeface="IBM Plex Sans"/>
              </a:rPr>
              <a:t>Пример </a:t>
            </a:r>
            <a:endParaRPr b="1" i="0" sz="2300" u="none" cap="none" strike="noStrike">
              <a:solidFill>
                <a:srgbClr val="8E39E2"/>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0" i="0" sz="2300" u="none" cap="none" strike="noStrike">
              <a:solidFill>
                <a:srgbClr val="8E39E2"/>
              </a:solidFill>
              <a:latin typeface="IBM Plex Sans"/>
              <a:ea typeface="IBM Plex Sans"/>
              <a:cs typeface="IBM Plex Sans"/>
              <a:sym typeface="IBM Plex Sans"/>
            </a:endParaRPr>
          </a:p>
        </p:txBody>
      </p:sp>
      <p:sp>
        <p:nvSpPr>
          <p:cNvPr id="1011" name="Google Shape;1011;g3cb20f13e01_0_877"/>
          <p:cNvSpPr txBox="1"/>
          <p:nvPr/>
        </p:nvSpPr>
        <p:spPr>
          <a:xfrm>
            <a:off x="1055688" y="3730357"/>
            <a:ext cx="50229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300" u="none" cap="none" strike="noStrike">
                <a:solidFill>
                  <a:schemeClr val="dk1"/>
                </a:solidFill>
                <a:latin typeface="IBM Plex Sans"/>
                <a:ea typeface="IBM Plex Sans"/>
                <a:cs typeface="IBM Plex Sans"/>
                <a:sym typeface="IBM Plex Sans"/>
              </a:rPr>
              <a:t>Есть разнообразные параметры автомобиля. Необходимо определить стоимость </a:t>
            </a:r>
            <a:endParaRPr b="0" i="0" sz="23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300" u="none" cap="none" strike="noStrike">
              <a:solidFill>
                <a:schemeClr val="dk1"/>
              </a:solidFill>
              <a:latin typeface="IBM Plex Sans"/>
              <a:ea typeface="IBM Plex Sans"/>
              <a:cs typeface="IBM Plex Sans"/>
              <a:sym typeface="IBM Plex Sans"/>
            </a:endParaRPr>
          </a:p>
        </p:txBody>
      </p:sp>
      <p:pic>
        <p:nvPicPr>
          <p:cNvPr id="1012" name="Google Shape;1012;g3cb20f13e01_0_877"/>
          <p:cNvPicPr preferRelativeResize="0"/>
          <p:nvPr/>
        </p:nvPicPr>
        <p:blipFill rotWithShape="1">
          <a:blip r:embed="rId5">
            <a:alphaModFix/>
          </a:blip>
          <a:srcRect b="0" l="0" r="0" t="0"/>
          <a:stretch/>
        </p:blipFill>
        <p:spPr>
          <a:xfrm>
            <a:off x="339836" y="3406503"/>
            <a:ext cx="649736" cy="65244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8"/>
          <p:cNvSpPr txBox="1"/>
          <p:nvPr/>
        </p:nvSpPr>
        <p:spPr>
          <a:xfrm>
            <a:off x="1055689" y="1327688"/>
            <a:ext cx="6421729" cy="301087"/>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chemeClr val="dk1"/>
              </a:buClr>
              <a:buSzPts val="3600"/>
              <a:buFont typeface="Arial"/>
              <a:buNone/>
            </a:pPr>
            <a:r>
              <a:rPr b="1" i="0" lang="ru-RU" sz="3600" u="none" cap="none" strike="noStrike">
                <a:solidFill>
                  <a:schemeClr val="dk1"/>
                </a:solidFill>
                <a:latin typeface="IBM Plex Sans"/>
                <a:ea typeface="IBM Plex Sans"/>
                <a:cs typeface="IBM Plex Sans"/>
                <a:sym typeface="IBM Plex Sans"/>
              </a:rPr>
              <a:t>Когда можно 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1018" name="Google Shape;1018;p8"/>
          <p:cNvGrpSpPr/>
          <p:nvPr/>
        </p:nvGrpSpPr>
        <p:grpSpPr>
          <a:xfrm>
            <a:off x="9353973" y="-1553420"/>
            <a:ext cx="2853949" cy="13716633"/>
            <a:chOff x="9353973" y="-1553420"/>
            <a:chExt cx="2853949" cy="13716633"/>
          </a:xfrm>
        </p:grpSpPr>
        <p:grpSp>
          <p:nvGrpSpPr>
            <p:cNvPr id="1019" name="Google Shape;1019;p8"/>
            <p:cNvGrpSpPr/>
            <p:nvPr/>
          </p:nvGrpSpPr>
          <p:grpSpPr>
            <a:xfrm>
              <a:off x="9353973" y="-1553420"/>
              <a:ext cx="2838027" cy="13716633"/>
              <a:chOff x="9353973" y="-6079700"/>
              <a:chExt cx="2838027" cy="13716633"/>
            </a:xfrm>
          </p:grpSpPr>
          <p:pic>
            <p:nvPicPr>
              <p:cNvPr id="1020" name="Google Shape;1020;p8"/>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1021" name="Google Shape;1021;p8"/>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1022" name="Google Shape;1022;p8"/>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23" name="Google Shape;1023;p8"/>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024" name="Google Shape;1024;p8"/>
          <p:cNvPicPr preferRelativeResize="0"/>
          <p:nvPr/>
        </p:nvPicPr>
        <p:blipFill rotWithShape="1">
          <a:blip r:embed="rId4">
            <a:alphaModFix/>
          </a:blip>
          <a:srcRect b="0" l="0" r="0" t="0"/>
          <a:stretch/>
        </p:blipFill>
        <p:spPr>
          <a:xfrm>
            <a:off x="8350995" y="3553293"/>
            <a:ext cx="3497712" cy="350257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g3d3e78d848d_0_243"/>
          <p:cNvSpPr txBox="1"/>
          <p:nvPr/>
        </p:nvSpPr>
        <p:spPr>
          <a:xfrm>
            <a:off x="1055689"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chemeClr val="dk1"/>
              </a:buClr>
              <a:buSzPts val="3600"/>
              <a:buFont typeface="Arial"/>
              <a:buNone/>
            </a:pPr>
            <a:r>
              <a:rPr b="1" i="0" lang="ru-RU" sz="3600" u="none" cap="none" strike="noStrike">
                <a:solidFill>
                  <a:schemeClr val="dk1"/>
                </a:solidFill>
                <a:latin typeface="IBM Plex Sans"/>
                <a:ea typeface="IBM Plex Sans"/>
                <a:cs typeface="IBM Plex Sans"/>
                <a:sym typeface="IBM Plex Sans"/>
              </a:rPr>
              <a:t>Когда можно Машинное обучение?</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chemeClr val="dk1"/>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1030" name="Google Shape;1030;g3d3e78d848d_0_243"/>
          <p:cNvGrpSpPr/>
          <p:nvPr/>
        </p:nvGrpSpPr>
        <p:grpSpPr>
          <a:xfrm>
            <a:off x="9353973" y="-1553420"/>
            <a:ext cx="2854020" cy="13716631"/>
            <a:chOff x="9353973" y="-1553420"/>
            <a:chExt cx="2854020" cy="13716631"/>
          </a:xfrm>
        </p:grpSpPr>
        <p:grpSp>
          <p:nvGrpSpPr>
            <p:cNvPr id="1031" name="Google Shape;1031;g3d3e78d848d_0_243"/>
            <p:cNvGrpSpPr/>
            <p:nvPr/>
          </p:nvGrpSpPr>
          <p:grpSpPr>
            <a:xfrm>
              <a:off x="9353973" y="-1553420"/>
              <a:ext cx="2838027" cy="13716631"/>
              <a:chOff x="9353973" y="-6079700"/>
              <a:chExt cx="2838027" cy="13716631"/>
            </a:xfrm>
          </p:grpSpPr>
          <p:pic>
            <p:nvPicPr>
              <p:cNvPr id="1032" name="Google Shape;1032;g3d3e78d848d_0_243"/>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033" name="Google Shape;1033;g3d3e78d848d_0_243"/>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034" name="Google Shape;1034;g3d3e78d848d_0_243"/>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5" name="Google Shape;1035;g3d3e78d848d_0_243"/>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036" name="Google Shape;1036;g3d3e78d848d_0_243"/>
          <p:cNvPicPr preferRelativeResize="0"/>
          <p:nvPr/>
        </p:nvPicPr>
        <p:blipFill rotWithShape="1">
          <a:blip r:embed="rId4">
            <a:alphaModFix/>
          </a:blip>
          <a:srcRect b="0" l="0" r="0" t="0"/>
          <a:stretch/>
        </p:blipFill>
        <p:spPr>
          <a:xfrm>
            <a:off x="8350995" y="3553293"/>
            <a:ext cx="3497711" cy="3502571"/>
          </a:xfrm>
          <a:prstGeom prst="rect">
            <a:avLst/>
          </a:prstGeom>
          <a:noFill/>
          <a:ln>
            <a:noFill/>
          </a:ln>
        </p:spPr>
      </p:pic>
      <p:sp>
        <p:nvSpPr>
          <p:cNvPr id="1037" name="Google Shape;1037;g3d3e78d848d_0_243"/>
          <p:cNvSpPr txBox="1"/>
          <p:nvPr/>
        </p:nvSpPr>
        <p:spPr>
          <a:xfrm>
            <a:off x="1055688" y="2525112"/>
            <a:ext cx="53658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300" u="none" cap="none" strike="noStrike">
                <a:solidFill>
                  <a:schemeClr val="dk1"/>
                </a:solidFill>
                <a:latin typeface="IBM Plex Sans"/>
                <a:ea typeface="IBM Plex Sans"/>
                <a:cs typeface="IBM Plex Sans"/>
                <a:sym typeface="IBM Plex Sans"/>
              </a:rPr>
              <a:t>Есть данные.</a:t>
            </a:r>
            <a:endParaRPr b="0" i="0" sz="23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3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3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rPr b="0" i="0" lang="ru-RU" sz="2300" u="none" cap="none" strike="noStrike">
                <a:solidFill>
                  <a:schemeClr val="dk1"/>
                </a:solidFill>
                <a:latin typeface="IBM Plex Sans"/>
                <a:ea typeface="IBM Plex Sans"/>
                <a:cs typeface="IBM Plex Sans"/>
                <a:sym typeface="IBM Plex Sans"/>
              </a:rPr>
              <a:t>Основываясь на данных модель выявляет истинную зависимость. Если данных мало или они плохого качества, то и истинная зависимость будет выявлена плохо. </a:t>
            </a:r>
            <a:endParaRPr b="0" i="0" sz="23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3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rPr b="0" i="0" lang="ru-RU" sz="2300" u="none" cap="none" strike="noStrike">
                <a:solidFill>
                  <a:schemeClr val="dk1"/>
                </a:solidFill>
                <a:latin typeface="IBM Plex Sans"/>
                <a:ea typeface="IBM Plex Sans"/>
                <a:cs typeface="IBM Plex Sans"/>
                <a:sym typeface="IBM Plex Sans"/>
              </a:rPr>
              <a:t>В таком случае качество предсказаний будет низкое.</a:t>
            </a:r>
            <a:endParaRPr b="0" i="0" sz="23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grpSp>
        <p:nvGrpSpPr>
          <p:cNvPr id="1042" name="Google Shape;1042;g3cb20f13e01_0_926"/>
          <p:cNvGrpSpPr/>
          <p:nvPr/>
        </p:nvGrpSpPr>
        <p:grpSpPr>
          <a:xfrm>
            <a:off x="9353973" y="-1553420"/>
            <a:ext cx="2854020" cy="13716631"/>
            <a:chOff x="9353973" y="-1553420"/>
            <a:chExt cx="2854020" cy="13716631"/>
          </a:xfrm>
        </p:grpSpPr>
        <p:grpSp>
          <p:nvGrpSpPr>
            <p:cNvPr id="1043" name="Google Shape;1043;g3cb20f13e01_0_926"/>
            <p:cNvGrpSpPr/>
            <p:nvPr/>
          </p:nvGrpSpPr>
          <p:grpSpPr>
            <a:xfrm>
              <a:off x="9353973" y="-1553420"/>
              <a:ext cx="2838027" cy="13716631"/>
              <a:chOff x="9353973" y="-6079700"/>
              <a:chExt cx="2838027" cy="13716631"/>
            </a:xfrm>
          </p:grpSpPr>
          <p:pic>
            <p:nvPicPr>
              <p:cNvPr id="1044" name="Google Shape;1044;g3cb20f13e01_0_926"/>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045" name="Google Shape;1045;g3cb20f13e01_0_926"/>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046" name="Google Shape;1046;g3cb20f13e01_0_926"/>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7" name="Google Shape;1047;g3cb20f13e01_0_926"/>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048" name="Google Shape;1048;g3cb20f13e01_0_926"/>
          <p:cNvSpPr txBox="1"/>
          <p:nvPr/>
        </p:nvSpPr>
        <p:spPr>
          <a:xfrm>
            <a:off x="1060850" y="2662300"/>
            <a:ext cx="6202500" cy="7749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000000"/>
              </a:buClr>
              <a:buSzPts val="4800"/>
              <a:buFont typeface="Arial"/>
              <a:buNone/>
            </a:pPr>
            <a:r>
              <a:rPr b="1" i="0" lang="ru-RU" sz="4400" u="none" cap="none" strike="noStrike">
                <a:solidFill>
                  <a:schemeClr val="dk1"/>
                </a:solidFill>
                <a:latin typeface="IBM Plex Sans"/>
                <a:ea typeface="IBM Plex Sans"/>
                <a:cs typeface="IBM Plex Sans"/>
                <a:sym typeface="IBM Plex Sans"/>
              </a:rPr>
              <a:t>Виды машинного обучения</a:t>
            </a:r>
            <a:endParaRPr b="1" i="0" sz="4400" u="none" cap="none" strike="noStrike">
              <a:solidFill>
                <a:schemeClr val="dk1"/>
              </a:solidFill>
              <a:latin typeface="IBM Plex Sans"/>
              <a:ea typeface="IBM Plex Sans"/>
              <a:cs typeface="IBM Plex Sans"/>
              <a:sym typeface="IBM Plex Sans"/>
            </a:endParaRPr>
          </a:p>
        </p:txBody>
      </p:sp>
      <p:sp>
        <p:nvSpPr>
          <p:cNvPr id="1049" name="Google Shape;1049;g3cb20f13e01_0_926"/>
          <p:cNvSpPr txBox="1"/>
          <p:nvPr/>
        </p:nvSpPr>
        <p:spPr>
          <a:xfrm>
            <a:off x="1060857" y="6033838"/>
            <a:ext cx="3771900" cy="235500"/>
          </a:xfrm>
          <a:prstGeom prst="rect">
            <a:avLst/>
          </a:prstGeom>
          <a:noFill/>
          <a:ln>
            <a:noFill/>
          </a:ln>
        </p:spPr>
        <p:txBody>
          <a:bodyPr anchorCtr="0" anchor="t" bIns="0" lIns="0" spcFirstLastPara="1" rIns="0" wrap="square" tIns="19875">
            <a:spAutoFit/>
          </a:bodyPr>
          <a:lstStyle/>
          <a:p>
            <a:pPr indent="0" lvl="0" marL="20942" marR="8376" rtl="0" algn="l">
              <a:lnSpc>
                <a:spcPct val="12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ularionova@mail.tsu.ru</a:t>
            </a:r>
            <a:endParaRPr b="0" i="0" sz="1400" u="none" cap="none" strike="noStrike">
              <a:solidFill>
                <a:schemeClr val="dk1"/>
              </a:solidFill>
              <a:latin typeface="IBM Plex Sans"/>
              <a:ea typeface="IBM Plex Sans"/>
              <a:cs typeface="IBM Plex Sans"/>
              <a:sym typeface="IBM Plex Sans"/>
            </a:endParaRPr>
          </a:p>
        </p:txBody>
      </p:sp>
      <p:sp>
        <p:nvSpPr>
          <p:cNvPr id="1050" name="Google Shape;1050;g3cb20f13e01_0_926"/>
          <p:cNvSpPr txBox="1"/>
          <p:nvPr/>
        </p:nvSpPr>
        <p:spPr>
          <a:xfrm>
            <a:off x="1060857" y="5282291"/>
            <a:ext cx="4032300" cy="561900"/>
          </a:xfrm>
          <a:prstGeom prst="rect">
            <a:avLst/>
          </a:prstGeom>
          <a:noFill/>
          <a:ln>
            <a:noFill/>
          </a:ln>
        </p:spPr>
        <p:txBody>
          <a:bodyPr anchorCtr="0" anchor="t" bIns="0" lIns="0" spcFirstLastPara="1" rIns="0" wrap="square" tIns="19875">
            <a:spAutoFit/>
          </a:bodyPr>
          <a:lstStyle/>
          <a:p>
            <a:pPr indent="0" lvl="0" marL="20942" marR="8376" rtl="0" algn="l">
              <a:lnSpc>
                <a:spcPct val="12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Ларионова Ульяна</a:t>
            </a:r>
            <a:endParaRPr b="0" i="0" sz="1400" u="none" cap="none" strike="noStrike">
              <a:solidFill>
                <a:srgbClr val="000000"/>
              </a:solidFill>
              <a:latin typeface="Arial"/>
              <a:ea typeface="Arial"/>
              <a:cs typeface="Arial"/>
              <a:sym typeface="Arial"/>
            </a:endParaRPr>
          </a:p>
          <a:p>
            <a:pPr indent="0" lvl="0" marL="20942" marR="8376" rtl="0" algn="l">
              <a:lnSpc>
                <a:spcPct val="12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Преподаватель</a:t>
            </a:r>
            <a:endParaRPr b="0" i="0" sz="1600" u="none" cap="none" strike="noStrike">
              <a:solidFill>
                <a:schemeClr val="dk1"/>
              </a:solidFill>
              <a:latin typeface="IBM Plex Sans"/>
              <a:ea typeface="IBM Plex Sans"/>
              <a:cs typeface="IBM Plex Sans"/>
              <a:sym typeface="IBM Plex Sans"/>
            </a:endParaRPr>
          </a:p>
        </p:txBody>
      </p:sp>
      <p:pic>
        <p:nvPicPr>
          <p:cNvPr id="1051" name="Google Shape;1051;g3cb20f13e01_0_926"/>
          <p:cNvPicPr preferRelativeResize="0"/>
          <p:nvPr/>
        </p:nvPicPr>
        <p:blipFill rotWithShape="1">
          <a:blip r:embed="rId4">
            <a:alphaModFix/>
          </a:blip>
          <a:srcRect b="0" l="0" r="0" t="0"/>
          <a:stretch/>
        </p:blipFill>
        <p:spPr>
          <a:xfrm flipH="1" rot="10800000">
            <a:off x="8976462" y="3862790"/>
            <a:ext cx="2872246" cy="2884213"/>
          </a:xfrm>
          <a:prstGeom prst="rect">
            <a:avLst/>
          </a:prstGeom>
          <a:noFill/>
          <a:ln>
            <a:noFill/>
          </a:ln>
        </p:spPr>
      </p:pic>
      <p:pic>
        <p:nvPicPr>
          <p:cNvPr id="1052" name="Google Shape;1052;g3cb20f13e01_0_926"/>
          <p:cNvPicPr preferRelativeResize="0"/>
          <p:nvPr/>
        </p:nvPicPr>
        <p:blipFill rotWithShape="1">
          <a:blip r:embed="rId5">
            <a:alphaModFix/>
          </a:blip>
          <a:srcRect b="0" l="0" r="0" t="0"/>
          <a:stretch/>
        </p:blipFill>
        <p:spPr>
          <a:xfrm>
            <a:off x="2180216" y="336521"/>
            <a:ext cx="1565995" cy="562924"/>
          </a:xfrm>
          <a:prstGeom prst="rect">
            <a:avLst/>
          </a:prstGeom>
          <a:noFill/>
          <a:ln>
            <a:noFill/>
          </a:ln>
        </p:spPr>
      </p:pic>
      <p:pic>
        <p:nvPicPr>
          <p:cNvPr id="1053" name="Google Shape;1053;g3cb20f13e01_0_926"/>
          <p:cNvPicPr preferRelativeResize="0"/>
          <p:nvPr/>
        </p:nvPicPr>
        <p:blipFill rotWithShape="1">
          <a:blip r:embed="rId6">
            <a:alphaModFix/>
          </a:blip>
          <a:srcRect b="0" l="0" r="0" t="0"/>
          <a:stretch/>
        </p:blipFill>
        <p:spPr>
          <a:xfrm>
            <a:off x="1055688" y="285516"/>
            <a:ext cx="677246" cy="77496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grpSp>
        <p:nvGrpSpPr>
          <p:cNvPr id="1058" name="Google Shape;1058;p9"/>
          <p:cNvGrpSpPr/>
          <p:nvPr/>
        </p:nvGrpSpPr>
        <p:grpSpPr>
          <a:xfrm>
            <a:off x="9353973" y="-1553420"/>
            <a:ext cx="2853949" cy="13716633"/>
            <a:chOff x="9353973" y="-1553420"/>
            <a:chExt cx="2853949" cy="13716633"/>
          </a:xfrm>
        </p:grpSpPr>
        <p:grpSp>
          <p:nvGrpSpPr>
            <p:cNvPr id="1059" name="Google Shape;1059;p9"/>
            <p:cNvGrpSpPr/>
            <p:nvPr/>
          </p:nvGrpSpPr>
          <p:grpSpPr>
            <a:xfrm>
              <a:off x="9353973" y="-1553420"/>
              <a:ext cx="2838027" cy="13716633"/>
              <a:chOff x="9353973" y="-6079700"/>
              <a:chExt cx="2838027" cy="13716633"/>
            </a:xfrm>
          </p:grpSpPr>
          <p:pic>
            <p:nvPicPr>
              <p:cNvPr id="1060" name="Google Shape;1060;p9"/>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1061" name="Google Shape;1061;p9"/>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1062" name="Google Shape;1062;p9"/>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3" name="Google Shape;1063;p9"/>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064" name="Google Shape;1064;p9"/>
          <p:cNvPicPr preferRelativeResize="0"/>
          <p:nvPr/>
        </p:nvPicPr>
        <p:blipFill rotWithShape="1">
          <a:blip r:embed="rId4">
            <a:alphaModFix/>
          </a:blip>
          <a:srcRect b="0" l="0" r="0" t="0"/>
          <a:stretch/>
        </p:blipFill>
        <p:spPr>
          <a:xfrm>
            <a:off x="366150" y="679913"/>
            <a:ext cx="8171424" cy="58509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1"/>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Обучение с учителем</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supervised learning</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1070" name="Google Shape;1070;p11"/>
          <p:cNvGrpSpPr/>
          <p:nvPr/>
        </p:nvGrpSpPr>
        <p:grpSpPr>
          <a:xfrm>
            <a:off x="9353973" y="-1553420"/>
            <a:ext cx="2854020" cy="13716631"/>
            <a:chOff x="9353973" y="-1553420"/>
            <a:chExt cx="2854020" cy="13716631"/>
          </a:xfrm>
        </p:grpSpPr>
        <p:grpSp>
          <p:nvGrpSpPr>
            <p:cNvPr id="1071" name="Google Shape;1071;p11"/>
            <p:cNvGrpSpPr/>
            <p:nvPr/>
          </p:nvGrpSpPr>
          <p:grpSpPr>
            <a:xfrm>
              <a:off x="9353973" y="-1553420"/>
              <a:ext cx="2838027" cy="13716631"/>
              <a:chOff x="9353973" y="-6079700"/>
              <a:chExt cx="2838027" cy="13716631"/>
            </a:xfrm>
          </p:grpSpPr>
          <p:pic>
            <p:nvPicPr>
              <p:cNvPr id="1072" name="Google Shape;1072;p11"/>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073" name="Google Shape;1073;p11"/>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074" name="Google Shape;1074;p11"/>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5" name="Google Shape;1075;p11"/>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076" name="Google Shape;1076;p11"/>
          <p:cNvSpPr txBox="1"/>
          <p:nvPr/>
        </p:nvSpPr>
        <p:spPr>
          <a:xfrm>
            <a:off x="1055700" y="2337325"/>
            <a:ext cx="5365800" cy="23460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2300" u="none" cap="none" strike="noStrike">
                <a:solidFill>
                  <a:schemeClr val="dk1"/>
                </a:solidFill>
                <a:latin typeface="IBM Plex Sans"/>
                <a:ea typeface="IBM Plex Sans"/>
                <a:cs typeface="IBM Plex Sans"/>
                <a:sym typeface="IBM Plex Sans"/>
              </a:rPr>
              <a:t>Правильные ответы для каждого объекта обучающей выборки заранее известны</a:t>
            </a:r>
            <a:endParaRPr b="0" i="0" sz="23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3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2300" u="none" cap="none" strike="noStrike">
              <a:solidFill>
                <a:schemeClr val="dk1"/>
              </a:solidFill>
              <a:latin typeface="IBM Plex Sans"/>
              <a:ea typeface="IBM Plex Sans"/>
              <a:cs typeface="IBM Plex Sans"/>
              <a:sym typeface="IBM Plex Sans"/>
            </a:endParaRPr>
          </a:p>
        </p:txBody>
      </p:sp>
      <p:pic>
        <p:nvPicPr>
          <p:cNvPr id="1077" name="Google Shape;1077;p11"/>
          <p:cNvPicPr preferRelativeResize="0"/>
          <p:nvPr/>
        </p:nvPicPr>
        <p:blipFill rotWithShape="1">
          <a:blip r:embed="rId4">
            <a:alphaModFix/>
          </a:blip>
          <a:srcRect b="0" l="0" r="0" t="0"/>
          <a:stretch/>
        </p:blipFill>
        <p:spPr>
          <a:xfrm>
            <a:off x="8441516" y="3933811"/>
            <a:ext cx="3047978" cy="304797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12"/>
          <p:cNvSpPr txBox="1"/>
          <p:nvPr/>
        </p:nvSpPr>
        <p:spPr>
          <a:xfrm>
            <a:off x="1055688" y="1327688"/>
            <a:ext cx="6421729" cy="301087"/>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Регрессия</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1083" name="Google Shape;1083;p12"/>
          <p:cNvGrpSpPr/>
          <p:nvPr/>
        </p:nvGrpSpPr>
        <p:grpSpPr>
          <a:xfrm>
            <a:off x="9353973" y="-1553420"/>
            <a:ext cx="2853949" cy="13716633"/>
            <a:chOff x="9353973" y="-1553420"/>
            <a:chExt cx="2853949" cy="13716633"/>
          </a:xfrm>
        </p:grpSpPr>
        <p:grpSp>
          <p:nvGrpSpPr>
            <p:cNvPr id="1084" name="Google Shape;1084;p12"/>
            <p:cNvGrpSpPr/>
            <p:nvPr/>
          </p:nvGrpSpPr>
          <p:grpSpPr>
            <a:xfrm>
              <a:off x="9353973" y="-1553420"/>
              <a:ext cx="2838027" cy="13716633"/>
              <a:chOff x="9353973" y="-6079700"/>
              <a:chExt cx="2838027" cy="13716633"/>
            </a:xfrm>
          </p:grpSpPr>
          <p:pic>
            <p:nvPicPr>
              <p:cNvPr id="1085" name="Google Shape;1085;p12"/>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1086" name="Google Shape;1086;p12"/>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1087" name="Google Shape;1087;p12"/>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8" name="Google Shape;1088;p12"/>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089" name="Google Shape;1089;p12"/>
          <p:cNvPicPr preferRelativeResize="0"/>
          <p:nvPr/>
        </p:nvPicPr>
        <p:blipFill rotWithShape="1">
          <a:blip r:embed="rId4">
            <a:alphaModFix/>
          </a:blip>
          <a:srcRect b="0" l="0" r="0" t="0"/>
          <a:stretch/>
        </p:blipFill>
        <p:spPr>
          <a:xfrm>
            <a:off x="9297671" y="4482903"/>
            <a:ext cx="2248125" cy="2248125"/>
          </a:xfrm>
          <a:prstGeom prst="rect">
            <a:avLst/>
          </a:prstGeom>
          <a:noFill/>
          <a:ln>
            <a:noFill/>
          </a:ln>
        </p:spPr>
      </p:pic>
      <p:sp>
        <p:nvSpPr>
          <p:cNvPr id="1090" name="Google Shape;1090;p12"/>
          <p:cNvSpPr txBox="1"/>
          <p:nvPr/>
        </p:nvSpPr>
        <p:spPr>
          <a:xfrm>
            <a:off x="979700" y="3071875"/>
            <a:ext cx="5252100" cy="2252100"/>
          </a:xfrm>
          <a:prstGeom prst="rect">
            <a:avLst/>
          </a:prstGeom>
          <a:noFill/>
          <a:ln>
            <a:noFill/>
          </a:ln>
        </p:spPr>
        <p:txBody>
          <a:bodyPr anchorCtr="0" anchor="t" bIns="0" lIns="0" spcFirstLastPara="1" rIns="0" wrap="square" tIns="19875">
            <a:spAutoFit/>
          </a:bodyPr>
          <a:lstStyle/>
          <a:p>
            <a:pPr indent="-355600" lvl="0" marL="457200" marR="0" rtl="0" algn="l">
              <a:lnSpc>
                <a:spcPct val="100000"/>
              </a:lnSpc>
              <a:spcBef>
                <a:spcPts val="0"/>
              </a:spcBef>
              <a:spcAft>
                <a:spcPts val="0"/>
              </a:spcAft>
              <a:buClr>
                <a:schemeClr val="dk1"/>
              </a:buClr>
              <a:buSzPts val="2000"/>
              <a:buFont typeface="IBM Plex Sans"/>
              <a:buChar char="●"/>
            </a:pPr>
            <a:r>
              <a:rPr b="0" i="0" lang="ru-RU" sz="2000" u="none" cap="none" strike="noStrike">
                <a:solidFill>
                  <a:schemeClr val="dk1"/>
                </a:solidFill>
                <a:latin typeface="IBM Plex Sans"/>
                <a:ea typeface="IBM Plex Sans"/>
                <a:cs typeface="IBM Plex Sans"/>
                <a:sym typeface="IBM Plex Sans"/>
              </a:rPr>
              <a:t>предсказание продолжительности поездки на каршеринге</a:t>
            </a:r>
            <a:endParaRPr b="0" i="0" sz="2000" u="none" cap="none" strike="noStrike">
              <a:solidFill>
                <a:schemeClr val="dk1"/>
              </a:solidFill>
              <a:latin typeface="IBM Plex Sans"/>
              <a:ea typeface="IBM Plex Sans"/>
              <a:cs typeface="IBM Plex Sans"/>
              <a:sym typeface="IBM Plex Sans"/>
            </a:endParaRPr>
          </a:p>
          <a:p>
            <a:pPr indent="-355600" lvl="0" marL="457200" marR="0" rtl="0" algn="l">
              <a:lnSpc>
                <a:spcPct val="100000"/>
              </a:lnSpc>
              <a:spcBef>
                <a:spcPts val="1000"/>
              </a:spcBef>
              <a:spcAft>
                <a:spcPts val="0"/>
              </a:spcAft>
              <a:buClr>
                <a:schemeClr val="dk1"/>
              </a:buClr>
              <a:buSzPts val="2000"/>
              <a:buFont typeface="IBM Plex Sans"/>
              <a:buChar char="●"/>
            </a:pPr>
            <a:r>
              <a:rPr b="0" i="0" lang="ru-RU" sz="2000" u="none" cap="none" strike="noStrike">
                <a:solidFill>
                  <a:schemeClr val="dk1"/>
                </a:solidFill>
                <a:latin typeface="IBM Plex Sans"/>
                <a:ea typeface="IBM Plex Sans"/>
                <a:cs typeface="IBM Plex Sans"/>
                <a:sym typeface="IBM Plex Sans"/>
              </a:rPr>
              <a:t>спрос на конкретный товар в конкретный день </a:t>
            </a:r>
            <a:endParaRPr b="0" i="0" sz="2000" u="none" cap="none" strike="noStrike">
              <a:solidFill>
                <a:schemeClr val="dk1"/>
              </a:solidFill>
              <a:latin typeface="IBM Plex Sans"/>
              <a:ea typeface="IBM Plex Sans"/>
              <a:cs typeface="IBM Plex Sans"/>
              <a:sym typeface="IBM Plex Sans"/>
            </a:endParaRPr>
          </a:p>
          <a:p>
            <a:pPr indent="-355600" lvl="0" marL="457200" marR="0" rtl="0" algn="l">
              <a:lnSpc>
                <a:spcPct val="100000"/>
              </a:lnSpc>
              <a:spcBef>
                <a:spcPts val="1000"/>
              </a:spcBef>
              <a:spcAft>
                <a:spcPts val="0"/>
              </a:spcAft>
              <a:buClr>
                <a:schemeClr val="dk1"/>
              </a:buClr>
              <a:buSzPts val="2000"/>
              <a:buFont typeface="IBM Plex Sans"/>
              <a:buChar char="●"/>
            </a:pPr>
            <a:r>
              <a:rPr b="0" i="0" lang="ru-RU" sz="2000" u="none" cap="none" strike="noStrike">
                <a:solidFill>
                  <a:schemeClr val="dk1"/>
                </a:solidFill>
                <a:latin typeface="IBM Plex Sans"/>
                <a:ea typeface="IBM Plex Sans"/>
                <a:cs typeface="IBM Plex Sans"/>
                <a:sym typeface="IBM Plex Sans"/>
              </a:rPr>
              <a:t>погода в вашем городе на завтра</a:t>
            </a:r>
            <a:endParaRPr b="0" i="0" sz="2000" u="none" cap="none" strike="noStrike">
              <a:solidFill>
                <a:schemeClr val="dk1"/>
              </a:solidFill>
              <a:latin typeface="IBM Plex Sans"/>
              <a:ea typeface="IBM Plex Sans"/>
              <a:cs typeface="IBM Plex Sans"/>
              <a:sym typeface="IBM Plex Sans"/>
            </a:endParaRPr>
          </a:p>
          <a:p>
            <a:pPr indent="0" lvl="0" marL="457200" marR="0" rtl="0" algn="l">
              <a:lnSpc>
                <a:spcPct val="100000"/>
              </a:lnSpc>
              <a:spcBef>
                <a:spcPts val="1000"/>
              </a:spcBef>
              <a:spcAft>
                <a:spcPts val="100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sp>
        <p:nvSpPr>
          <p:cNvPr id="1091" name="Google Shape;1091;p12"/>
          <p:cNvSpPr txBox="1"/>
          <p:nvPr/>
        </p:nvSpPr>
        <p:spPr>
          <a:xfrm>
            <a:off x="979700" y="1628775"/>
            <a:ext cx="7708800" cy="1253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ru-RU" sz="6000" u="none" cap="none" strike="noStrike">
                <a:solidFill>
                  <a:srgbClr val="8E39E2"/>
                </a:solidFill>
                <a:latin typeface="Montserrat SemiBold"/>
                <a:ea typeface="Montserrat SemiBold"/>
                <a:cs typeface="Montserrat SemiBold"/>
                <a:sym typeface="Montserrat SemiBold"/>
              </a:rPr>
              <a:t>𝕐=ℝ или</a:t>
            </a:r>
            <a:endParaRPr b="0" i="0" sz="6000" u="none" cap="none" strike="noStrike">
              <a:solidFill>
                <a:srgbClr val="8E39E2"/>
              </a:solidFill>
              <a:latin typeface="Montserrat SemiBold"/>
              <a:ea typeface="Montserrat SemiBold"/>
              <a:cs typeface="Montserrat SemiBold"/>
              <a:sym typeface="Montserrat SemiBold"/>
            </a:endParaRPr>
          </a:p>
        </p:txBody>
      </p:sp>
      <p:sp>
        <p:nvSpPr>
          <p:cNvPr id="1092" name="Google Shape;1092;p12"/>
          <p:cNvSpPr txBox="1"/>
          <p:nvPr/>
        </p:nvSpPr>
        <p:spPr>
          <a:xfrm>
            <a:off x="4408700" y="1628775"/>
            <a:ext cx="7708800" cy="1253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ru-RU" sz="6000" u="none" cap="none" strike="noStrike">
                <a:solidFill>
                  <a:srgbClr val="8E39E2"/>
                </a:solidFill>
                <a:latin typeface="Montserrat SemiBold"/>
                <a:ea typeface="Montserrat SemiBold"/>
                <a:cs typeface="Montserrat SemiBold"/>
                <a:sym typeface="Montserrat SemiBold"/>
              </a:rPr>
              <a:t>𝕐=ℝ</a:t>
            </a:r>
            <a:endParaRPr b="0" i="0" sz="6000" u="none" cap="none" strike="noStrike">
              <a:solidFill>
                <a:srgbClr val="8E39E2"/>
              </a:solidFill>
              <a:latin typeface="Montserrat SemiBold"/>
              <a:ea typeface="Montserrat SemiBold"/>
              <a:cs typeface="Montserrat SemiBold"/>
              <a:sym typeface="Montserrat SemiBold"/>
            </a:endParaRPr>
          </a:p>
        </p:txBody>
      </p:sp>
      <p:sp>
        <p:nvSpPr>
          <p:cNvPr id="1093" name="Google Shape;1093;p12"/>
          <p:cNvSpPr txBox="1"/>
          <p:nvPr/>
        </p:nvSpPr>
        <p:spPr>
          <a:xfrm>
            <a:off x="5967499" y="1739325"/>
            <a:ext cx="836100" cy="7140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1" lang="ru-RU" sz="3000" u="none" cap="none" strike="noStrike">
                <a:solidFill>
                  <a:srgbClr val="8E39E2"/>
                </a:solidFill>
                <a:latin typeface="Montserrat SemiBold"/>
                <a:ea typeface="Montserrat SemiBold"/>
                <a:cs typeface="Montserrat SemiBold"/>
                <a:sym typeface="Montserrat SemiBold"/>
              </a:rPr>
              <a:t>K</a:t>
            </a:r>
            <a:endParaRPr b="0" i="1" sz="3000" u="none" cap="none" strike="noStrike">
              <a:solidFill>
                <a:srgbClr val="8E39E2"/>
              </a:solidFill>
              <a:latin typeface="Montserrat SemiBold"/>
              <a:ea typeface="Montserrat SemiBold"/>
              <a:cs typeface="Montserrat SemiBold"/>
              <a:sym typeface="Montserrat SemiBold"/>
            </a:endParaRPr>
          </a:p>
        </p:txBody>
      </p:sp>
      <p:pic>
        <p:nvPicPr>
          <p:cNvPr id="1094" name="Google Shape;1094;p12"/>
          <p:cNvPicPr preferRelativeResize="0"/>
          <p:nvPr/>
        </p:nvPicPr>
        <p:blipFill rotWithShape="1">
          <a:blip r:embed="rId5">
            <a:alphaModFix/>
          </a:blip>
          <a:srcRect b="0" l="0" r="0" t="0"/>
          <a:stretch/>
        </p:blipFill>
        <p:spPr>
          <a:xfrm>
            <a:off x="5967500" y="4181950"/>
            <a:ext cx="3071150" cy="20845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g3cb20f13e01_0_950"/>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Многоклассовая классификация</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1100" name="Google Shape;1100;g3cb20f13e01_0_950"/>
          <p:cNvGrpSpPr/>
          <p:nvPr/>
        </p:nvGrpSpPr>
        <p:grpSpPr>
          <a:xfrm>
            <a:off x="9353973" y="-1553420"/>
            <a:ext cx="2854020" cy="13716631"/>
            <a:chOff x="9353973" y="-1553420"/>
            <a:chExt cx="2854020" cy="13716631"/>
          </a:xfrm>
        </p:grpSpPr>
        <p:grpSp>
          <p:nvGrpSpPr>
            <p:cNvPr id="1101" name="Google Shape;1101;g3cb20f13e01_0_950"/>
            <p:cNvGrpSpPr/>
            <p:nvPr/>
          </p:nvGrpSpPr>
          <p:grpSpPr>
            <a:xfrm>
              <a:off x="9353973" y="-1553420"/>
              <a:ext cx="2838027" cy="13716631"/>
              <a:chOff x="9353973" y="-6079700"/>
              <a:chExt cx="2838027" cy="13716631"/>
            </a:xfrm>
          </p:grpSpPr>
          <p:pic>
            <p:nvPicPr>
              <p:cNvPr id="1102" name="Google Shape;1102;g3cb20f13e01_0_950"/>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103" name="Google Shape;1103;g3cb20f13e01_0_950"/>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104" name="Google Shape;1104;g3cb20f13e01_0_950"/>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5" name="Google Shape;1105;g3cb20f13e01_0_950"/>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106" name="Google Shape;1106;g3cb20f13e01_0_950"/>
          <p:cNvPicPr preferRelativeResize="0"/>
          <p:nvPr/>
        </p:nvPicPr>
        <p:blipFill rotWithShape="1">
          <a:blip r:embed="rId4">
            <a:alphaModFix/>
          </a:blip>
          <a:srcRect b="0" l="0" r="0" t="0"/>
          <a:stretch/>
        </p:blipFill>
        <p:spPr>
          <a:xfrm>
            <a:off x="9297671" y="4482903"/>
            <a:ext cx="2248124" cy="2248124"/>
          </a:xfrm>
          <a:prstGeom prst="rect">
            <a:avLst/>
          </a:prstGeom>
          <a:noFill/>
          <a:ln>
            <a:noFill/>
          </a:ln>
        </p:spPr>
      </p:pic>
      <p:sp>
        <p:nvSpPr>
          <p:cNvPr id="1107" name="Google Shape;1107;g3cb20f13e01_0_950"/>
          <p:cNvSpPr txBox="1"/>
          <p:nvPr/>
        </p:nvSpPr>
        <p:spPr>
          <a:xfrm>
            <a:off x="979700" y="3346325"/>
            <a:ext cx="5252100" cy="1815900"/>
          </a:xfrm>
          <a:prstGeom prst="rect">
            <a:avLst/>
          </a:prstGeom>
          <a:noFill/>
          <a:ln>
            <a:noFill/>
          </a:ln>
        </p:spPr>
        <p:txBody>
          <a:bodyPr anchorCtr="0" anchor="t" bIns="0" lIns="0" spcFirstLastPara="1" rIns="0" wrap="square" tIns="19875">
            <a:spAutoFit/>
          </a:bodyPr>
          <a:lstStyle/>
          <a:p>
            <a:pPr indent="-355600" lvl="0" marL="457200" marR="0" rtl="0" algn="l">
              <a:lnSpc>
                <a:spcPct val="100000"/>
              </a:lnSpc>
              <a:spcBef>
                <a:spcPts val="0"/>
              </a:spcBef>
              <a:spcAft>
                <a:spcPts val="0"/>
              </a:spcAft>
              <a:buClr>
                <a:schemeClr val="dk1"/>
              </a:buClr>
              <a:buSzPts val="2000"/>
              <a:buFont typeface="IBM Plex Sans"/>
              <a:buChar char="●"/>
            </a:pPr>
            <a:r>
              <a:rPr b="0" i="0" lang="ru-RU" sz="2000" u="none" cap="none" strike="noStrike">
                <a:solidFill>
                  <a:schemeClr val="dk1"/>
                </a:solidFill>
                <a:latin typeface="IBM Plex Sans"/>
                <a:ea typeface="IBM Plex Sans"/>
                <a:cs typeface="IBM Plex Sans"/>
                <a:sym typeface="IBM Plex Sans"/>
              </a:rPr>
              <a:t>определение предметной области для научной статьи</a:t>
            </a:r>
            <a:endParaRPr b="0" i="0" sz="2000" u="none" cap="none" strike="noStrike">
              <a:solidFill>
                <a:schemeClr val="dk1"/>
              </a:solidFill>
              <a:latin typeface="IBM Plex Sans"/>
              <a:ea typeface="IBM Plex Sans"/>
              <a:cs typeface="IBM Plex Sans"/>
              <a:sym typeface="IBM Plex Sans"/>
            </a:endParaRPr>
          </a:p>
          <a:p>
            <a:pPr indent="-355600" lvl="0" marL="457200" marR="0" rtl="0" algn="l">
              <a:lnSpc>
                <a:spcPct val="100000"/>
              </a:lnSpc>
              <a:spcBef>
                <a:spcPts val="1000"/>
              </a:spcBef>
              <a:spcAft>
                <a:spcPts val="0"/>
              </a:spcAft>
              <a:buClr>
                <a:schemeClr val="dk1"/>
              </a:buClr>
              <a:buSzPts val="2000"/>
              <a:buFont typeface="IBM Plex Sans"/>
              <a:buChar char="●"/>
            </a:pPr>
            <a:r>
              <a:rPr b="0" i="0" lang="ru-RU" sz="2000" u="none" cap="none" strike="noStrike">
                <a:solidFill>
                  <a:schemeClr val="dk1"/>
                </a:solidFill>
                <a:latin typeface="IBM Plex Sans"/>
                <a:ea typeface="IBM Plex Sans"/>
                <a:cs typeface="IBM Plex Sans"/>
                <a:sym typeface="IBM Plex Sans"/>
              </a:rPr>
              <a:t>классификация типов рака</a:t>
            </a:r>
            <a:endParaRPr b="0" i="0" sz="2000" u="none" cap="none" strike="noStrike">
              <a:solidFill>
                <a:schemeClr val="dk1"/>
              </a:solidFill>
              <a:latin typeface="IBM Plex Sans"/>
              <a:ea typeface="IBM Plex Sans"/>
              <a:cs typeface="IBM Plex Sans"/>
              <a:sym typeface="IBM Plex Sans"/>
            </a:endParaRPr>
          </a:p>
          <a:p>
            <a:pPr indent="-355600" lvl="0" marL="457200" marR="0" rtl="0" algn="l">
              <a:lnSpc>
                <a:spcPct val="100000"/>
              </a:lnSpc>
              <a:spcBef>
                <a:spcPts val="1000"/>
              </a:spcBef>
              <a:spcAft>
                <a:spcPts val="1000"/>
              </a:spcAft>
              <a:buClr>
                <a:schemeClr val="dk1"/>
              </a:buClr>
              <a:buSzPts val="2000"/>
              <a:buFont typeface="IBM Plex Sans"/>
              <a:buChar char="●"/>
            </a:pPr>
            <a:r>
              <a:rPr b="0" i="0" lang="ru-RU" sz="2000" u="none" cap="none" strike="noStrike">
                <a:solidFill>
                  <a:schemeClr val="dk1"/>
                </a:solidFill>
                <a:latin typeface="IBM Plex Sans"/>
                <a:ea typeface="IBM Plex Sans"/>
                <a:cs typeface="IBM Plex Sans"/>
                <a:sym typeface="IBM Plex Sans"/>
              </a:rPr>
              <a:t>классификация дорожных знаков для систем автономного вождения</a:t>
            </a:r>
            <a:endParaRPr b="0" i="0" sz="2000" u="none" cap="none" strike="noStrike">
              <a:solidFill>
                <a:schemeClr val="dk1"/>
              </a:solidFill>
              <a:latin typeface="IBM Plex Sans"/>
              <a:ea typeface="IBM Plex Sans"/>
              <a:cs typeface="IBM Plex Sans"/>
              <a:sym typeface="IBM Plex Sans"/>
            </a:endParaRPr>
          </a:p>
        </p:txBody>
      </p:sp>
      <p:sp>
        <p:nvSpPr>
          <p:cNvPr id="1108" name="Google Shape;1108;g3cb20f13e01_0_950"/>
          <p:cNvSpPr txBox="1"/>
          <p:nvPr/>
        </p:nvSpPr>
        <p:spPr>
          <a:xfrm>
            <a:off x="979700" y="1764825"/>
            <a:ext cx="7708800" cy="1253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ru-RU" sz="6000" u="none" cap="none" strike="noStrike">
                <a:solidFill>
                  <a:srgbClr val="8E39E2"/>
                </a:solidFill>
                <a:latin typeface="Montserrat SemiBold"/>
                <a:ea typeface="Montserrat SemiBold"/>
                <a:cs typeface="Montserrat SemiBold"/>
                <a:sym typeface="Montserrat SemiBold"/>
              </a:rPr>
              <a:t>𝕐=1,…,K</a:t>
            </a:r>
            <a:endParaRPr b="0" i="0" sz="6000" u="none" cap="none" strike="noStrike">
              <a:solidFill>
                <a:srgbClr val="8E39E2"/>
              </a:solidFill>
              <a:latin typeface="Montserrat SemiBold"/>
              <a:ea typeface="Montserrat SemiBold"/>
              <a:cs typeface="Montserrat SemiBold"/>
              <a:sym typeface="Montserrat SemiBo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cb20f13e01_0_967"/>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Бинарная классификация</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1114" name="Google Shape;1114;g3cb20f13e01_0_967"/>
          <p:cNvGrpSpPr/>
          <p:nvPr/>
        </p:nvGrpSpPr>
        <p:grpSpPr>
          <a:xfrm>
            <a:off x="9353973" y="-1553420"/>
            <a:ext cx="2854020" cy="13716631"/>
            <a:chOff x="9353973" y="-1553420"/>
            <a:chExt cx="2854020" cy="13716631"/>
          </a:xfrm>
        </p:grpSpPr>
        <p:grpSp>
          <p:nvGrpSpPr>
            <p:cNvPr id="1115" name="Google Shape;1115;g3cb20f13e01_0_967"/>
            <p:cNvGrpSpPr/>
            <p:nvPr/>
          </p:nvGrpSpPr>
          <p:grpSpPr>
            <a:xfrm>
              <a:off x="9353973" y="-1553420"/>
              <a:ext cx="2838027" cy="13716631"/>
              <a:chOff x="9353973" y="-6079700"/>
              <a:chExt cx="2838027" cy="13716631"/>
            </a:xfrm>
          </p:grpSpPr>
          <p:pic>
            <p:nvPicPr>
              <p:cNvPr id="1116" name="Google Shape;1116;g3cb20f13e01_0_967"/>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117" name="Google Shape;1117;g3cb20f13e01_0_967"/>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118" name="Google Shape;1118;g3cb20f13e01_0_967"/>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9" name="Google Shape;1119;g3cb20f13e01_0_967"/>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120" name="Google Shape;1120;g3cb20f13e01_0_967"/>
          <p:cNvPicPr preferRelativeResize="0"/>
          <p:nvPr/>
        </p:nvPicPr>
        <p:blipFill rotWithShape="1">
          <a:blip r:embed="rId4">
            <a:alphaModFix/>
          </a:blip>
          <a:srcRect b="0" l="0" r="0" t="0"/>
          <a:stretch/>
        </p:blipFill>
        <p:spPr>
          <a:xfrm>
            <a:off x="9297671" y="4482903"/>
            <a:ext cx="2248124" cy="2248124"/>
          </a:xfrm>
          <a:prstGeom prst="rect">
            <a:avLst/>
          </a:prstGeom>
          <a:noFill/>
          <a:ln>
            <a:noFill/>
          </a:ln>
        </p:spPr>
      </p:pic>
      <p:sp>
        <p:nvSpPr>
          <p:cNvPr id="1121" name="Google Shape;1121;g3cb20f13e01_0_967"/>
          <p:cNvSpPr txBox="1"/>
          <p:nvPr/>
        </p:nvSpPr>
        <p:spPr>
          <a:xfrm>
            <a:off x="979700" y="3346325"/>
            <a:ext cx="5252100" cy="2252100"/>
          </a:xfrm>
          <a:prstGeom prst="rect">
            <a:avLst/>
          </a:prstGeom>
          <a:noFill/>
          <a:ln>
            <a:noFill/>
          </a:ln>
        </p:spPr>
        <p:txBody>
          <a:bodyPr anchorCtr="0" anchor="t" bIns="0" lIns="0" spcFirstLastPara="1" rIns="0" wrap="square" tIns="19875">
            <a:spAutoFit/>
          </a:bodyPr>
          <a:lstStyle/>
          <a:p>
            <a:pPr indent="-355600" lvl="0" marL="457200" marR="0" rtl="0" algn="l">
              <a:lnSpc>
                <a:spcPct val="100000"/>
              </a:lnSpc>
              <a:spcBef>
                <a:spcPts val="0"/>
              </a:spcBef>
              <a:spcAft>
                <a:spcPts val="0"/>
              </a:spcAft>
              <a:buClr>
                <a:schemeClr val="dk1"/>
              </a:buClr>
              <a:buSzPts val="2000"/>
              <a:buFont typeface="IBM Plex Sans"/>
              <a:buChar char="●"/>
            </a:pPr>
            <a:r>
              <a:rPr b="0" i="0" lang="ru-RU" sz="2000" u="none" cap="none" strike="noStrike">
                <a:solidFill>
                  <a:schemeClr val="dk1"/>
                </a:solidFill>
                <a:latin typeface="IBM Plex Sans"/>
                <a:ea typeface="IBM Plex Sans"/>
                <a:cs typeface="IBM Plex Sans"/>
                <a:sym typeface="IBM Plex Sans"/>
              </a:rPr>
              <a:t>кликнет ли пользователь по рекламному объявлению</a:t>
            </a:r>
            <a:endParaRPr b="0" i="0" sz="2000" u="none" cap="none" strike="noStrike">
              <a:solidFill>
                <a:schemeClr val="dk1"/>
              </a:solidFill>
              <a:latin typeface="IBM Plex Sans"/>
              <a:ea typeface="IBM Plex Sans"/>
              <a:cs typeface="IBM Plex Sans"/>
              <a:sym typeface="IBM Plex Sans"/>
            </a:endParaRPr>
          </a:p>
          <a:p>
            <a:pPr indent="-355600" lvl="0" marL="457200" marR="0" rtl="0" algn="l">
              <a:lnSpc>
                <a:spcPct val="100000"/>
              </a:lnSpc>
              <a:spcBef>
                <a:spcPts val="1000"/>
              </a:spcBef>
              <a:spcAft>
                <a:spcPts val="0"/>
              </a:spcAft>
              <a:buClr>
                <a:schemeClr val="dk1"/>
              </a:buClr>
              <a:buSzPts val="2000"/>
              <a:buFont typeface="IBM Plex Sans"/>
              <a:buChar char="●"/>
            </a:pPr>
            <a:r>
              <a:rPr b="0" i="0" lang="ru-RU" sz="2000" u="none" cap="none" strike="noStrike">
                <a:solidFill>
                  <a:schemeClr val="dk1"/>
                </a:solidFill>
                <a:latin typeface="IBM Plex Sans"/>
                <a:ea typeface="IBM Plex Sans"/>
                <a:cs typeface="IBM Plex Sans"/>
                <a:sym typeface="IBM Plex Sans"/>
              </a:rPr>
              <a:t>вернёт ли клиент кредит в установленный срок</a:t>
            </a:r>
            <a:endParaRPr b="0" i="0" sz="2000" u="none" cap="none" strike="noStrike">
              <a:solidFill>
                <a:schemeClr val="dk1"/>
              </a:solidFill>
              <a:latin typeface="IBM Plex Sans"/>
              <a:ea typeface="IBM Plex Sans"/>
              <a:cs typeface="IBM Plex Sans"/>
              <a:sym typeface="IBM Plex Sans"/>
            </a:endParaRPr>
          </a:p>
          <a:p>
            <a:pPr indent="-355600" lvl="0" marL="457200" marR="0" rtl="0" algn="l">
              <a:lnSpc>
                <a:spcPct val="100000"/>
              </a:lnSpc>
              <a:spcBef>
                <a:spcPts val="1000"/>
              </a:spcBef>
              <a:spcAft>
                <a:spcPts val="0"/>
              </a:spcAft>
              <a:buClr>
                <a:schemeClr val="dk1"/>
              </a:buClr>
              <a:buSzPts val="2000"/>
              <a:buFont typeface="IBM Plex Sans"/>
              <a:buChar char="●"/>
            </a:pPr>
            <a:r>
              <a:rPr b="0" i="0" lang="ru-RU" sz="2000" u="none" cap="none" strike="noStrike">
                <a:solidFill>
                  <a:schemeClr val="dk1"/>
                </a:solidFill>
                <a:latin typeface="IBM Plex Sans"/>
                <a:ea typeface="IBM Plex Sans"/>
                <a:cs typeface="IBM Plex Sans"/>
                <a:sym typeface="IBM Plex Sans"/>
              </a:rPr>
              <a:t>сдаст ли студент сессию</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100000"/>
              </a:lnSpc>
              <a:spcBef>
                <a:spcPts val="1000"/>
              </a:spcBef>
              <a:spcAft>
                <a:spcPts val="100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sp>
        <p:nvSpPr>
          <p:cNvPr id="1122" name="Google Shape;1122;g3cb20f13e01_0_967"/>
          <p:cNvSpPr txBox="1"/>
          <p:nvPr/>
        </p:nvSpPr>
        <p:spPr>
          <a:xfrm>
            <a:off x="979700" y="1764825"/>
            <a:ext cx="7708800" cy="1253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ru-RU" sz="6000" u="none" cap="none" strike="noStrike">
                <a:solidFill>
                  <a:srgbClr val="8E39E2"/>
                </a:solidFill>
                <a:latin typeface="Montserrat SemiBold"/>
                <a:ea typeface="Montserrat SemiBold"/>
                <a:cs typeface="Montserrat SemiBold"/>
                <a:sym typeface="Montserrat SemiBold"/>
              </a:rPr>
              <a:t>𝕐=0, 1</a:t>
            </a:r>
            <a:endParaRPr b="0" i="0" sz="6000" u="none" cap="none" strike="noStrike">
              <a:solidFill>
                <a:srgbClr val="8E39E2"/>
              </a:solidFill>
              <a:latin typeface="Montserrat SemiBold"/>
              <a:ea typeface="Montserrat SemiBold"/>
              <a:cs typeface="Montserrat SemiBold"/>
              <a:sym typeface="Montserrat SemiBo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g3cb20f13e01_0_982"/>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multilabel classification</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1128" name="Google Shape;1128;g3cb20f13e01_0_982"/>
          <p:cNvGrpSpPr/>
          <p:nvPr/>
        </p:nvGrpSpPr>
        <p:grpSpPr>
          <a:xfrm>
            <a:off x="9353973" y="-1553420"/>
            <a:ext cx="2854020" cy="13716631"/>
            <a:chOff x="9353973" y="-1553420"/>
            <a:chExt cx="2854020" cy="13716631"/>
          </a:xfrm>
        </p:grpSpPr>
        <p:grpSp>
          <p:nvGrpSpPr>
            <p:cNvPr id="1129" name="Google Shape;1129;g3cb20f13e01_0_982"/>
            <p:cNvGrpSpPr/>
            <p:nvPr/>
          </p:nvGrpSpPr>
          <p:grpSpPr>
            <a:xfrm>
              <a:off x="9353973" y="-1553420"/>
              <a:ext cx="2838027" cy="13716631"/>
              <a:chOff x="9353973" y="-6079700"/>
              <a:chExt cx="2838027" cy="13716631"/>
            </a:xfrm>
          </p:grpSpPr>
          <p:pic>
            <p:nvPicPr>
              <p:cNvPr id="1130" name="Google Shape;1130;g3cb20f13e01_0_982"/>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131" name="Google Shape;1131;g3cb20f13e01_0_982"/>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132" name="Google Shape;1132;g3cb20f13e01_0_982"/>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3" name="Google Shape;1133;g3cb20f13e01_0_982"/>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134" name="Google Shape;1134;g3cb20f13e01_0_982"/>
          <p:cNvPicPr preferRelativeResize="0"/>
          <p:nvPr/>
        </p:nvPicPr>
        <p:blipFill rotWithShape="1">
          <a:blip r:embed="rId4">
            <a:alphaModFix/>
          </a:blip>
          <a:srcRect b="0" l="0" r="0" t="0"/>
          <a:stretch/>
        </p:blipFill>
        <p:spPr>
          <a:xfrm>
            <a:off x="9297671" y="4482903"/>
            <a:ext cx="2248124" cy="2248124"/>
          </a:xfrm>
          <a:prstGeom prst="rect">
            <a:avLst/>
          </a:prstGeom>
          <a:noFill/>
          <a:ln>
            <a:noFill/>
          </a:ln>
        </p:spPr>
      </p:pic>
      <p:sp>
        <p:nvSpPr>
          <p:cNvPr id="1135" name="Google Shape;1135;g3cb20f13e01_0_982"/>
          <p:cNvSpPr txBox="1"/>
          <p:nvPr/>
        </p:nvSpPr>
        <p:spPr>
          <a:xfrm>
            <a:off x="979700" y="3346325"/>
            <a:ext cx="5252100" cy="1944000"/>
          </a:xfrm>
          <a:prstGeom prst="rect">
            <a:avLst/>
          </a:prstGeom>
          <a:noFill/>
          <a:ln>
            <a:noFill/>
          </a:ln>
        </p:spPr>
        <p:txBody>
          <a:bodyPr anchorCtr="0" anchor="t" bIns="0" lIns="0" spcFirstLastPara="1" rIns="0" wrap="square" tIns="19875">
            <a:spAutoFit/>
          </a:bodyPr>
          <a:lstStyle/>
          <a:p>
            <a:pPr indent="-355600" lvl="0" marL="457200" marR="0" rtl="0" algn="l">
              <a:lnSpc>
                <a:spcPct val="100000"/>
              </a:lnSpc>
              <a:spcBef>
                <a:spcPts val="0"/>
              </a:spcBef>
              <a:spcAft>
                <a:spcPts val="0"/>
              </a:spcAft>
              <a:buClr>
                <a:schemeClr val="dk1"/>
              </a:buClr>
              <a:buSzPts val="2000"/>
              <a:buFont typeface="IBM Plex Sans"/>
              <a:buChar char="●"/>
            </a:pPr>
            <a:r>
              <a:rPr b="0" i="0" lang="ru-RU" sz="2000" u="none" cap="none" strike="noStrike">
                <a:solidFill>
                  <a:schemeClr val="dk1"/>
                </a:solidFill>
                <a:latin typeface="IBM Plex Sans"/>
                <a:ea typeface="IBM Plex Sans"/>
                <a:cs typeface="IBM Plex Sans"/>
                <a:sym typeface="IBM Plex Sans"/>
              </a:rPr>
              <a:t>автоматическое проставления тегов для ресторанов</a:t>
            </a:r>
            <a:endParaRPr b="0" i="0" sz="2000" u="none" cap="none" strike="noStrike">
              <a:solidFill>
                <a:schemeClr val="dk1"/>
              </a:solidFill>
              <a:latin typeface="IBM Plex Sans"/>
              <a:ea typeface="IBM Plex Sans"/>
              <a:cs typeface="IBM Plex Sans"/>
              <a:sym typeface="IBM Plex Sans"/>
            </a:endParaRPr>
          </a:p>
          <a:p>
            <a:pPr indent="-355600" lvl="0" marL="457200" marR="0" rtl="0" algn="l">
              <a:lnSpc>
                <a:spcPct val="100000"/>
              </a:lnSpc>
              <a:spcBef>
                <a:spcPts val="1000"/>
              </a:spcBef>
              <a:spcAft>
                <a:spcPts val="0"/>
              </a:spcAft>
              <a:buClr>
                <a:schemeClr val="dk1"/>
              </a:buClr>
              <a:buSzPts val="2000"/>
              <a:buFont typeface="IBM Plex Sans"/>
              <a:buChar char="●"/>
            </a:pPr>
            <a:r>
              <a:rPr b="0" i="0" lang="ru-RU" sz="2000" u="none" cap="none" strike="noStrike">
                <a:solidFill>
                  <a:schemeClr val="dk1"/>
                </a:solidFill>
                <a:latin typeface="IBM Plex Sans"/>
                <a:ea typeface="IBM Plex Sans"/>
                <a:cs typeface="IBM Plex Sans"/>
                <a:sym typeface="IBM Plex Sans"/>
              </a:rPr>
              <a:t>проставление жанров музыки</a:t>
            </a:r>
            <a:endParaRPr b="0" i="0" sz="2000" u="none" cap="none" strike="noStrike">
              <a:solidFill>
                <a:schemeClr val="dk1"/>
              </a:solidFill>
              <a:latin typeface="IBM Plex Sans"/>
              <a:ea typeface="IBM Plex Sans"/>
              <a:cs typeface="IBM Plex Sans"/>
              <a:sym typeface="IBM Plex Sans"/>
            </a:endParaRPr>
          </a:p>
          <a:p>
            <a:pPr indent="0" lvl="0" marL="457200" marR="0" rtl="0" algn="l">
              <a:lnSpc>
                <a:spcPct val="100000"/>
              </a:lnSpc>
              <a:spcBef>
                <a:spcPts val="1000"/>
              </a:spcBef>
              <a:spcAft>
                <a:spcPts val="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100000"/>
              </a:lnSpc>
              <a:spcBef>
                <a:spcPts val="1000"/>
              </a:spcBef>
              <a:spcAft>
                <a:spcPts val="1000"/>
              </a:spcAft>
              <a:buClr>
                <a:srgbClr val="000000"/>
              </a:buClr>
              <a:buSzPts val="1600"/>
              <a:buFont typeface="Arial"/>
              <a:buNone/>
            </a:pPr>
            <a:r>
              <a:t/>
            </a:r>
            <a:endParaRPr b="0" i="0" sz="2000" u="none" cap="none" strike="noStrike">
              <a:solidFill>
                <a:schemeClr val="dk1"/>
              </a:solidFill>
              <a:latin typeface="IBM Plex Sans"/>
              <a:ea typeface="IBM Plex Sans"/>
              <a:cs typeface="IBM Plex Sans"/>
              <a:sym typeface="IBM Plex Sans"/>
            </a:endParaRPr>
          </a:p>
        </p:txBody>
      </p:sp>
      <p:sp>
        <p:nvSpPr>
          <p:cNvPr id="1136" name="Google Shape;1136;g3cb20f13e01_0_982"/>
          <p:cNvSpPr txBox="1"/>
          <p:nvPr/>
        </p:nvSpPr>
        <p:spPr>
          <a:xfrm>
            <a:off x="1055700" y="1751375"/>
            <a:ext cx="7708800" cy="12537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ru-RU" sz="6000" u="none" cap="none" strike="noStrike">
                <a:solidFill>
                  <a:srgbClr val="8E39E2"/>
                </a:solidFill>
                <a:latin typeface="Montserrat SemiBold"/>
                <a:ea typeface="Montserrat SemiBold"/>
                <a:cs typeface="Montserrat SemiBold"/>
                <a:sym typeface="Montserrat SemiBold"/>
              </a:rPr>
              <a:t>𝕐=0,1</a:t>
            </a:r>
            <a:endParaRPr b="0" i="0" sz="6000" u="none" cap="none" strike="noStrike">
              <a:solidFill>
                <a:srgbClr val="8E39E2"/>
              </a:solidFill>
              <a:latin typeface="Montserrat SemiBold"/>
              <a:ea typeface="Montserrat SemiBold"/>
              <a:cs typeface="Montserrat SemiBold"/>
              <a:sym typeface="Montserrat SemiBold"/>
            </a:endParaRPr>
          </a:p>
        </p:txBody>
      </p:sp>
      <p:sp>
        <p:nvSpPr>
          <p:cNvPr id="1137" name="Google Shape;1137;g3cb20f13e01_0_982"/>
          <p:cNvSpPr txBox="1"/>
          <p:nvPr/>
        </p:nvSpPr>
        <p:spPr>
          <a:xfrm>
            <a:off x="3116425" y="1861925"/>
            <a:ext cx="836100" cy="7140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1" lang="ru-RU" sz="3000" u="none" cap="none" strike="noStrike">
                <a:solidFill>
                  <a:srgbClr val="8E39E2"/>
                </a:solidFill>
                <a:latin typeface="Montserrat SemiBold"/>
                <a:ea typeface="Montserrat SemiBold"/>
                <a:cs typeface="Montserrat SemiBold"/>
                <a:sym typeface="Montserrat SemiBold"/>
              </a:rPr>
              <a:t>K</a:t>
            </a:r>
            <a:endParaRPr b="0" i="1" sz="3000" u="none" cap="none" strike="noStrike">
              <a:solidFill>
                <a:srgbClr val="8E39E2"/>
              </a:solidFill>
              <a:latin typeface="Montserrat SemiBold"/>
              <a:ea typeface="Montserrat SemiBold"/>
              <a:cs typeface="Montserrat SemiBold"/>
              <a:sym typeface="Montserrat SemiBo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g3d3e78d848d_0_276"/>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К какой задаче относятся следующие примеры:</a:t>
            </a:r>
            <a:endParaRPr b="1" i="0" sz="3600" u="none" cap="none" strike="noStrike">
              <a:solidFill>
                <a:schemeClr val="dk1"/>
              </a:solidFill>
              <a:latin typeface="IBM Plex Sans"/>
              <a:ea typeface="IBM Plex Sans"/>
              <a:cs typeface="IBM Plex Sans"/>
              <a:sym typeface="IBM Plex Sans"/>
            </a:endParaRPr>
          </a:p>
        </p:txBody>
      </p:sp>
      <p:grpSp>
        <p:nvGrpSpPr>
          <p:cNvPr id="1143" name="Google Shape;1143;g3d3e78d848d_0_276"/>
          <p:cNvGrpSpPr/>
          <p:nvPr/>
        </p:nvGrpSpPr>
        <p:grpSpPr>
          <a:xfrm>
            <a:off x="9353973" y="-1553420"/>
            <a:ext cx="2854020" cy="13716631"/>
            <a:chOff x="9353973" y="-1553420"/>
            <a:chExt cx="2854020" cy="13716631"/>
          </a:xfrm>
        </p:grpSpPr>
        <p:grpSp>
          <p:nvGrpSpPr>
            <p:cNvPr id="1144" name="Google Shape;1144;g3d3e78d848d_0_276"/>
            <p:cNvGrpSpPr/>
            <p:nvPr/>
          </p:nvGrpSpPr>
          <p:grpSpPr>
            <a:xfrm>
              <a:off x="9353973" y="-1553420"/>
              <a:ext cx="2838027" cy="13716631"/>
              <a:chOff x="9353973" y="-6079700"/>
              <a:chExt cx="2838027" cy="13716631"/>
            </a:xfrm>
          </p:grpSpPr>
          <p:pic>
            <p:nvPicPr>
              <p:cNvPr id="1145" name="Google Shape;1145;g3d3e78d848d_0_276"/>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146" name="Google Shape;1146;g3d3e78d848d_0_276"/>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147" name="Google Shape;1147;g3d3e78d848d_0_276"/>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8" name="Google Shape;1148;g3d3e78d848d_0_276"/>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149" name="Google Shape;1149;g3d3e78d848d_0_276"/>
          <p:cNvPicPr preferRelativeResize="0"/>
          <p:nvPr/>
        </p:nvPicPr>
        <p:blipFill rotWithShape="1">
          <a:blip r:embed="rId4">
            <a:alphaModFix/>
          </a:blip>
          <a:srcRect b="0" l="0" r="0" t="0"/>
          <a:stretch/>
        </p:blipFill>
        <p:spPr>
          <a:xfrm>
            <a:off x="9297671" y="4482903"/>
            <a:ext cx="2248124" cy="2248124"/>
          </a:xfrm>
          <a:prstGeom prst="rect">
            <a:avLst/>
          </a:prstGeom>
          <a:noFill/>
          <a:ln>
            <a:noFill/>
          </a:ln>
        </p:spPr>
      </p:pic>
      <p:sp>
        <p:nvSpPr>
          <p:cNvPr id="1150" name="Google Shape;1150;g3d3e78d848d_0_276"/>
          <p:cNvSpPr txBox="1"/>
          <p:nvPr/>
        </p:nvSpPr>
        <p:spPr>
          <a:xfrm>
            <a:off x="6877637" y="2519918"/>
            <a:ext cx="3262200" cy="23676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000000"/>
              </a:buClr>
              <a:buSzPts val="3600"/>
              <a:buFont typeface="Arial"/>
              <a:buNone/>
            </a:pPr>
            <a:r>
              <a:rPr b="1" i="0" lang="ru-RU" sz="2200" u="none" cap="none" strike="noStrike">
                <a:solidFill>
                  <a:srgbClr val="8E39E2"/>
                </a:solidFill>
                <a:latin typeface="IBM Plex Sans"/>
                <a:ea typeface="IBM Plex Sans"/>
                <a:cs typeface="IBM Plex Sans"/>
                <a:sym typeface="IBM Plex Sans"/>
              </a:rPr>
              <a:t>Регрессия</a:t>
            </a:r>
            <a:endParaRPr b="1" i="0" sz="2200" u="none" cap="none" strike="noStrike">
              <a:solidFill>
                <a:srgbClr val="8E39E2"/>
              </a:solidFill>
              <a:latin typeface="IBM Plex Sans"/>
              <a:ea typeface="IBM Plex Sans"/>
              <a:cs typeface="IBM Plex Sans"/>
              <a:sym typeface="IBM Plex Sans"/>
            </a:endParaRPr>
          </a:p>
          <a:p>
            <a:pPr indent="0" lvl="0" marL="0" marR="0" rtl="0" algn="l">
              <a:lnSpc>
                <a:spcPct val="80000"/>
              </a:lnSpc>
              <a:spcBef>
                <a:spcPts val="0"/>
              </a:spcBef>
              <a:spcAft>
                <a:spcPts val="0"/>
              </a:spcAft>
              <a:buClr>
                <a:srgbClr val="000000"/>
              </a:buClr>
              <a:buSzPts val="3600"/>
              <a:buFont typeface="Arial"/>
              <a:buNone/>
            </a:pPr>
            <a:r>
              <a:t/>
            </a:r>
            <a:endParaRPr b="1" i="0" sz="2200" u="none" cap="none" strike="noStrike">
              <a:solidFill>
                <a:srgbClr val="8E39E2"/>
              </a:solidFill>
              <a:latin typeface="IBM Plex Sans"/>
              <a:ea typeface="IBM Plex Sans"/>
              <a:cs typeface="IBM Plex Sans"/>
              <a:sym typeface="IBM Plex Sans"/>
            </a:endParaRPr>
          </a:p>
          <a:p>
            <a:pPr indent="0" lvl="0" marL="0" marR="0" rtl="0" algn="l">
              <a:lnSpc>
                <a:spcPct val="80000"/>
              </a:lnSpc>
              <a:spcBef>
                <a:spcPts val="0"/>
              </a:spcBef>
              <a:spcAft>
                <a:spcPts val="0"/>
              </a:spcAft>
              <a:buClr>
                <a:srgbClr val="000000"/>
              </a:buClr>
              <a:buSzPts val="3600"/>
              <a:buFont typeface="Arial"/>
              <a:buNone/>
            </a:pPr>
            <a:r>
              <a:rPr b="1" i="0" lang="ru-RU" sz="2200" u="none" cap="none" strike="noStrike">
                <a:solidFill>
                  <a:srgbClr val="8E39E2"/>
                </a:solidFill>
                <a:latin typeface="IBM Plex Sans"/>
                <a:ea typeface="IBM Plex Sans"/>
                <a:cs typeface="IBM Plex Sans"/>
                <a:sym typeface="IBM Plex Sans"/>
              </a:rPr>
              <a:t>Многоклассовая классификация</a:t>
            </a:r>
            <a:endParaRPr b="1" i="0" sz="2200" u="none" cap="none" strike="noStrike">
              <a:solidFill>
                <a:srgbClr val="8E39E2"/>
              </a:solidFill>
              <a:latin typeface="IBM Plex Sans"/>
              <a:ea typeface="IBM Plex Sans"/>
              <a:cs typeface="IBM Plex Sans"/>
              <a:sym typeface="IBM Plex Sans"/>
            </a:endParaRPr>
          </a:p>
          <a:p>
            <a:pPr indent="0" lvl="0" marL="0" marR="0" rtl="0" algn="l">
              <a:lnSpc>
                <a:spcPct val="80000"/>
              </a:lnSpc>
              <a:spcBef>
                <a:spcPts val="0"/>
              </a:spcBef>
              <a:spcAft>
                <a:spcPts val="0"/>
              </a:spcAft>
              <a:buClr>
                <a:srgbClr val="000000"/>
              </a:buClr>
              <a:buSzPts val="3600"/>
              <a:buFont typeface="Arial"/>
              <a:buNone/>
            </a:pPr>
            <a:r>
              <a:t/>
            </a:r>
            <a:endParaRPr b="1" i="0" sz="2200" u="none" cap="none" strike="noStrike">
              <a:solidFill>
                <a:srgbClr val="8E39E2"/>
              </a:solidFill>
              <a:latin typeface="IBM Plex Sans"/>
              <a:ea typeface="IBM Plex Sans"/>
              <a:cs typeface="IBM Plex Sans"/>
              <a:sym typeface="IBM Plex Sans"/>
            </a:endParaRPr>
          </a:p>
          <a:p>
            <a:pPr indent="0" lvl="0" marL="0" marR="0" rtl="0" algn="l">
              <a:lnSpc>
                <a:spcPct val="80000"/>
              </a:lnSpc>
              <a:spcBef>
                <a:spcPts val="0"/>
              </a:spcBef>
              <a:spcAft>
                <a:spcPts val="0"/>
              </a:spcAft>
              <a:buClr>
                <a:srgbClr val="000000"/>
              </a:buClr>
              <a:buSzPts val="3600"/>
              <a:buFont typeface="Arial"/>
              <a:buNone/>
            </a:pPr>
            <a:r>
              <a:rPr b="1" i="0" lang="ru-RU" sz="2200" u="none" cap="none" strike="noStrike">
                <a:solidFill>
                  <a:srgbClr val="8E39E2"/>
                </a:solidFill>
                <a:latin typeface="IBM Plex Sans"/>
                <a:ea typeface="IBM Plex Sans"/>
                <a:cs typeface="IBM Plex Sans"/>
                <a:sym typeface="IBM Plex Sans"/>
              </a:rPr>
              <a:t>Бинакрная классификация</a:t>
            </a:r>
            <a:endParaRPr b="1" i="0" sz="2200" u="none" cap="none" strike="noStrike">
              <a:solidFill>
                <a:srgbClr val="8E39E2"/>
              </a:solidFill>
              <a:latin typeface="IBM Plex Sans"/>
              <a:ea typeface="IBM Plex Sans"/>
              <a:cs typeface="IBM Plex Sans"/>
              <a:sym typeface="IBM Plex Sans"/>
            </a:endParaRPr>
          </a:p>
          <a:p>
            <a:pPr indent="0" lvl="0" marL="0" marR="0" rtl="0" algn="l">
              <a:lnSpc>
                <a:spcPct val="80000"/>
              </a:lnSpc>
              <a:spcBef>
                <a:spcPts val="0"/>
              </a:spcBef>
              <a:spcAft>
                <a:spcPts val="0"/>
              </a:spcAft>
              <a:buClr>
                <a:srgbClr val="000000"/>
              </a:buClr>
              <a:buSzPts val="3600"/>
              <a:buFont typeface="Arial"/>
              <a:buNone/>
            </a:pPr>
            <a:r>
              <a:t/>
            </a:r>
            <a:endParaRPr b="1" i="0" sz="2200" u="none" cap="none" strike="noStrike">
              <a:solidFill>
                <a:srgbClr val="8E39E2"/>
              </a:solidFill>
              <a:latin typeface="IBM Plex Sans"/>
              <a:ea typeface="IBM Plex Sans"/>
              <a:cs typeface="IBM Plex Sans"/>
              <a:sym typeface="IBM Plex Sans"/>
            </a:endParaRPr>
          </a:p>
          <a:p>
            <a:pPr indent="0" lvl="0" marL="0" marR="0" rtl="0" algn="l">
              <a:lnSpc>
                <a:spcPct val="80000"/>
              </a:lnSpc>
              <a:spcBef>
                <a:spcPts val="0"/>
              </a:spcBef>
              <a:spcAft>
                <a:spcPts val="0"/>
              </a:spcAft>
              <a:buClr>
                <a:srgbClr val="000000"/>
              </a:buClr>
              <a:buSzPts val="3600"/>
              <a:buFont typeface="Arial"/>
              <a:buNone/>
            </a:pPr>
            <a:r>
              <a:rPr b="1" i="0" lang="ru-RU" sz="2200" u="none" cap="none" strike="noStrike">
                <a:solidFill>
                  <a:srgbClr val="8E39E2"/>
                </a:solidFill>
                <a:latin typeface="IBM Plex Sans"/>
                <a:ea typeface="IBM Plex Sans"/>
                <a:cs typeface="IBM Plex Sans"/>
                <a:sym typeface="IBM Plex Sans"/>
              </a:rPr>
              <a:t>Многоклассовая классификация с пересекающимися классами</a:t>
            </a:r>
            <a:endParaRPr b="1" i="0" sz="2200" u="none" cap="none" strike="noStrike">
              <a:solidFill>
                <a:srgbClr val="8E39E2"/>
              </a:solidFill>
              <a:latin typeface="IBM Plex Sans"/>
              <a:ea typeface="IBM Plex Sans"/>
              <a:cs typeface="IBM Plex Sans"/>
              <a:sym typeface="IBM Plex Sans"/>
            </a:endParaRPr>
          </a:p>
        </p:txBody>
      </p:sp>
      <p:pic>
        <p:nvPicPr>
          <p:cNvPr id="1151" name="Google Shape;1151;g3d3e78d848d_0_276"/>
          <p:cNvPicPr preferRelativeResize="0"/>
          <p:nvPr/>
        </p:nvPicPr>
        <p:blipFill rotWithShape="1">
          <a:blip r:embed="rId5">
            <a:alphaModFix/>
          </a:blip>
          <a:srcRect b="26703" l="49039" r="0" t="14842"/>
          <a:stretch/>
        </p:blipFill>
        <p:spPr>
          <a:xfrm>
            <a:off x="1099375" y="3074450"/>
            <a:ext cx="5295849" cy="3405275"/>
          </a:xfrm>
          <a:prstGeom prst="rect">
            <a:avLst/>
          </a:prstGeom>
          <a:noFill/>
          <a:ln>
            <a:noFill/>
          </a:ln>
        </p:spPr>
      </p:pic>
      <p:sp>
        <p:nvSpPr>
          <p:cNvPr id="1152" name="Google Shape;1152;g3d3e78d848d_0_276"/>
          <p:cNvSpPr txBox="1"/>
          <p:nvPr/>
        </p:nvSpPr>
        <p:spPr>
          <a:xfrm>
            <a:off x="1055700" y="2427950"/>
            <a:ext cx="5383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ru-RU" sz="1500" u="none" cap="none" strike="noStrike">
                <a:solidFill>
                  <a:srgbClr val="000000"/>
                </a:solidFill>
                <a:latin typeface="IBM Plex Sans"/>
                <a:ea typeface="IBM Plex Sans"/>
                <a:cs typeface="IBM Plex Sans"/>
                <a:sym typeface="IBM Plex Sans"/>
              </a:rPr>
              <a:t>По признакам необходимо определить вид ириса (Iris setosa, Iris versicolor или Iris virginica). </a:t>
            </a:r>
            <a:endParaRPr b="0" i="0" sz="1500" u="none" cap="none" strike="noStrike">
              <a:solidFill>
                <a:srgbClr val="000000"/>
              </a:solidFill>
              <a:latin typeface="IBM Plex Sans"/>
              <a:ea typeface="IBM Plex Sans"/>
              <a:cs typeface="IBM Plex Sans"/>
              <a:sym typeface="IBM Plex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g3d3e78d848d_0_295"/>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К какой задаче относятся следующие примеры:</a:t>
            </a:r>
            <a:endParaRPr b="1" i="0" sz="3600" u="none" cap="none" strike="noStrike">
              <a:solidFill>
                <a:schemeClr val="dk1"/>
              </a:solidFill>
              <a:latin typeface="IBM Plex Sans"/>
              <a:ea typeface="IBM Plex Sans"/>
              <a:cs typeface="IBM Plex Sans"/>
              <a:sym typeface="IBM Plex Sans"/>
            </a:endParaRPr>
          </a:p>
        </p:txBody>
      </p:sp>
      <p:grpSp>
        <p:nvGrpSpPr>
          <p:cNvPr id="1158" name="Google Shape;1158;g3d3e78d848d_0_295"/>
          <p:cNvGrpSpPr/>
          <p:nvPr/>
        </p:nvGrpSpPr>
        <p:grpSpPr>
          <a:xfrm>
            <a:off x="9353973" y="-1553420"/>
            <a:ext cx="2854020" cy="13716631"/>
            <a:chOff x="9353973" y="-1553420"/>
            <a:chExt cx="2854020" cy="13716631"/>
          </a:xfrm>
        </p:grpSpPr>
        <p:grpSp>
          <p:nvGrpSpPr>
            <p:cNvPr id="1159" name="Google Shape;1159;g3d3e78d848d_0_295"/>
            <p:cNvGrpSpPr/>
            <p:nvPr/>
          </p:nvGrpSpPr>
          <p:grpSpPr>
            <a:xfrm>
              <a:off x="9353973" y="-1553420"/>
              <a:ext cx="2838027" cy="13716631"/>
              <a:chOff x="9353973" y="-6079700"/>
              <a:chExt cx="2838027" cy="13716631"/>
            </a:xfrm>
          </p:grpSpPr>
          <p:pic>
            <p:nvPicPr>
              <p:cNvPr id="1160" name="Google Shape;1160;g3d3e78d848d_0_295"/>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161" name="Google Shape;1161;g3d3e78d848d_0_295"/>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162" name="Google Shape;1162;g3d3e78d848d_0_295"/>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3" name="Google Shape;1163;g3d3e78d848d_0_295"/>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164" name="Google Shape;1164;g3d3e78d848d_0_295"/>
          <p:cNvPicPr preferRelativeResize="0"/>
          <p:nvPr/>
        </p:nvPicPr>
        <p:blipFill rotWithShape="1">
          <a:blip r:embed="rId4">
            <a:alphaModFix/>
          </a:blip>
          <a:srcRect b="0" l="0" r="0" t="0"/>
          <a:stretch/>
        </p:blipFill>
        <p:spPr>
          <a:xfrm>
            <a:off x="9297671" y="4482903"/>
            <a:ext cx="2248124" cy="2248124"/>
          </a:xfrm>
          <a:prstGeom prst="rect">
            <a:avLst/>
          </a:prstGeom>
          <a:noFill/>
          <a:ln>
            <a:noFill/>
          </a:ln>
        </p:spPr>
      </p:pic>
      <p:sp>
        <p:nvSpPr>
          <p:cNvPr id="1165" name="Google Shape;1165;g3d3e78d848d_0_295"/>
          <p:cNvSpPr txBox="1"/>
          <p:nvPr/>
        </p:nvSpPr>
        <p:spPr>
          <a:xfrm>
            <a:off x="1010340" y="2413050"/>
            <a:ext cx="4124100" cy="326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ru-RU" sz="2000" u="none" cap="none" strike="noStrike">
                <a:solidFill>
                  <a:srgbClr val="0F1115"/>
                </a:solidFill>
                <a:highlight>
                  <a:srgbClr val="FFFFFF"/>
                </a:highlight>
                <a:latin typeface="IBM Plex Sans"/>
                <a:ea typeface="IBM Plex Sans"/>
                <a:cs typeface="IBM Plex Sans"/>
                <a:sym typeface="IBM Plex Sans"/>
              </a:rPr>
              <a:t>Имеются метеоданные за последние 5 лет: давление, влажность, скорость ветра, а также фактическая температура воздуха в полдень каждого дня.</a:t>
            </a:r>
            <a:endParaRPr b="0" i="0" sz="2000" u="none" cap="none" strike="noStrike">
              <a:solidFill>
                <a:srgbClr val="0F1115"/>
              </a:solidFill>
              <a:highlight>
                <a:srgbClr val="FFFFFF"/>
              </a:highlight>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F1115"/>
              </a:solidFill>
              <a:highlight>
                <a:srgbClr val="FFFFFF"/>
              </a:highlight>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1"/>
              </a:buClr>
              <a:buSzPts val="1100"/>
              <a:buFont typeface="Arial"/>
              <a:buNone/>
            </a:pPr>
            <a:r>
              <a:rPr b="0" i="0" lang="ru-RU" sz="2000" u="none" cap="none" strike="noStrike">
                <a:solidFill>
                  <a:srgbClr val="0F1115"/>
                </a:solidFill>
                <a:highlight>
                  <a:srgbClr val="FFFFFF"/>
                </a:highlight>
                <a:latin typeface="IBM Plex Sans"/>
                <a:ea typeface="IBM Plex Sans"/>
                <a:cs typeface="IBM Plex Sans"/>
                <a:sym typeface="IBM Plex Sans"/>
              </a:rPr>
              <a:t>Необходимо построить модель для предсказания числового значения температуры</a:t>
            </a:r>
            <a:endParaRPr b="0" i="0" sz="2000" u="none" cap="none" strike="noStrike">
              <a:solidFill>
                <a:srgbClr val="0F1115"/>
              </a:solidFill>
              <a:highlight>
                <a:srgbClr val="FFFFFF"/>
              </a:highlight>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F1115"/>
              </a:solidFill>
              <a:highlight>
                <a:srgbClr val="FFFFFF"/>
              </a:highlight>
              <a:latin typeface="IBM Plex Sans"/>
              <a:ea typeface="IBM Plex Sans"/>
              <a:cs typeface="IBM Plex Sans"/>
              <a:sym typeface="IBM Plex Sans"/>
            </a:endParaRPr>
          </a:p>
        </p:txBody>
      </p:sp>
      <p:sp>
        <p:nvSpPr>
          <p:cNvPr id="1166" name="Google Shape;1166;g3d3e78d848d_0_295"/>
          <p:cNvSpPr txBox="1"/>
          <p:nvPr/>
        </p:nvSpPr>
        <p:spPr>
          <a:xfrm>
            <a:off x="5607637" y="2557268"/>
            <a:ext cx="3262200" cy="23676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000000"/>
              </a:buClr>
              <a:buSzPts val="3600"/>
              <a:buFont typeface="Arial"/>
              <a:buNone/>
            </a:pPr>
            <a:r>
              <a:rPr b="1" i="0" lang="ru-RU" sz="2200" u="none" cap="none" strike="noStrike">
                <a:solidFill>
                  <a:srgbClr val="8E39E2"/>
                </a:solidFill>
                <a:latin typeface="IBM Plex Sans"/>
                <a:ea typeface="IBM Plex Sans"/>
                <a:cs typeface="IBM Plex Sans"/>
                <a:sym typeface="IBM Plex Sans"/>
              </a:rPr>
              <a:t>Регрессия</a:t>
            </a:r>
            <a:endParaRPr b="1" i="0" sz="2200" u="none" cap="none" strike="noStrike">
              <a:solidFill>
                <a:srgbClr val="8E39E2"/>
              </a:solidFill>
              <a:latin typeface="IBM Plex Sans"/>
              <a:ea typeface="IBM Plex Sans"/>
              <a:cs typeface="IBM Plex Sans"/>
              <a:sym typeface="IBM Plex Sans"/>
            </a:endParaRPr>
          </a:p>
          <a:p>
            <a:pPr indent="0" lvl="0" marL="0" marR="0" rtl="0" algn="l">
              <a:lnSpc>
                <a:spcPct val="80000"/>
              </a:lnSpc>
              <a:spcBef>
                <a:spcPts val="0"/>
              </a:spcBef>
              <a:spcAft>
                <a:spcPts val="0"/>
              </a:spcAft>
              <a:buClr>
                <a:srgbClr val="000000"/>
              </a:buClr>
              <a:buSzPts val="3600"/>
              <a:buFont typeface="Arial"/>
              <a:buNone/>
            </a:pPr>
            <a:r>
              <a:t/>
            </a:r>
            <a:endParaRPr b="1" i="0" sz="2200" u="none" cap="none" strike="noStrike">
              <a:solidFill>
                <a:srgbClr val="8E39E2"/>
              </a:solidFill>
              <a:latin typeface="IBM Plex Sans"/>
              <a:ea typeface="IBM Plex Sans"/>
              <a:cs typeface="IBM Plex Sans"/>
              <a:sym typeface="IBM Plex Sans"/>
            </a:endParaRPr>
          </a:p>
          <a:p>
            <a:pPr indent="0" lvl="0" marL="0" marR="0" rtl="0" algn="l">
              <a:lnSpc>
                <a:spcPct val="80000"/>
              </a:lnSpc>
              <a:spcBef>
                <a:spcPts val="0"/>
              </a:spcBef>
              <a:spcAft>
                <a:spcPts val="0"/>
              </a:spcAft>
              <a:buClr>
                <a:srgbClr val="000000"/>
              </a:buClr>
              <a:buSzPts val="3600"/>
              <a:buFont typeface="Arial"/>
              <a:buNone/>
            </a:pPr>
            <a:r>
              <a:rPr b="1" i="0" lang="ru-RU" sz="2200" u="none" cap="none" strike="noStrike">
                <a:solidFill>
                  <a:srgbClr val="8E39E2"/>
                </a:solidFill>
                <a:latin typeface="IBM Plex Sans"/>
                <a:ea typeface="IBM Plex Sans"/>
                <a:cs typeface="IBM Plex Sans"/>
                <a:sym typeface="IBM Plex Sans"/>
              </a:rPr>
              <a:t>Многоклассовая классификация</a:t>
            </a:r>
            <a:endParaRPr b="1" i="0" sz="2200" u="none" cap="none" strike="noStrike">
              <a:solidFill>
                <a:srgbClr val="8E39E2"/>
              </a:solidFill>
              <a:latin typeface="IBM Plex Sans"/>
              <a:ea typeface="IBM Plex Sans"/>
              <a:cs typeface="IBM Plex Sans"/>
              <a:sym typeface="IBM Plex Sans"/>
            </a:endParaRPr>
          </a:p>
          <a:p>
            <a:pPr indent="0" lvl="0" marL="0" marR="0" rtl="0" algn="l">
              <a:lnSpc>
                <a:spcPct val="80000"/>
              </a:lnSpc>
              <a:spcBef>
                <a:spcPts val="0"/>
              </a:spcBef>
              <a:spcAft>
                <a:spcPts val="0"/>
              </a:spcAft>
              <a:buClr>
                <a:srgbClr val="000000"/>
              </a:buClr>
              <a:buSzPts val="3600"/>
              <a:buFont typeface="Arial"/>
              <a:buNone/>
            </a:pPr>
            <a:r>
              <a:t/>
            </a:r>
            <a:endParaRPr b="1" i="0" sz="2200" u="none" cap="none" strike="noStrike">
              <a:solidFill>
                <a:srgbClr val="8E39E2"/>
              </a:solidFill>
              <a:latin typeface="IBM Plex Sans"/>
              <a:ea typeface="IBM Plex Sans"/>
              <a:cs typeface="IBM Plex Sans"/>
              <a:sym typeface="IBM Plex Sans"/>
            </a:endParaRPr>
          </a:p>
          <a:p>
            <a:pPr indent="0" lvl="0" marL="0" marR="0" rtl="0" algn="l">
              <a:lnSpc>
                <a:spcPct val="80000"/>
              </a:lnSpc>
              <a:spcBef>
                <a:spcPts val="0"/>
              </a:spcBef>
              <a:spcAft>
                <a:spcPts val="0"/>
              </a:spcAft>
              <a:buClr>
                <a:srgbClr val="000000"/>
              </a:buClr>
              <a:buSzPts val="3600"/>
              <a:buFont typeface="Arial"/>
              <a:buNone/>
            </a:pPr>
            <a:r>
              <a:rPr b="1" i="0" lang="ru-RU" sz="2200" u="none" cap="none" strike="noStrike">
                <a:solidFill>
                  <a:srgbClr val="8E39E2"/>
                </a:solidFill>
                <a:latin typeface="IBM Plex Sans"/>
                <a:ea typeface="IBM Plex Sans"/>
                <a:cs typeface="IBM Plex Sans"/>
                <a:sym typeface="IBM Plex Sans"/>
              </a:rPr>
              <a:t>Бинакрная классификация</a:t>
            </a:r>
            <a:endParaRPr b="1" i="0" sz="2200" u="none" cap="none" strike="noStrike">
              <a:solidFill>
                <a:srgbClr val="8E39E2"/>
              </a:solidFill>
              <a:latin typeface="IBM Plex Sans"/>
              <a:ea typeface="IBM Plex Sans"/>
              <a:cs typeface="IBM Plex Sans"/>
              <a:sym typeface="IBM Plex Sans"/>
            </a:endParaRPr>
          </a:p>
          <a:p>
            <a:pPr indent="0" lvl="0" marL="0" marR="0" rtl="0" algn="l">
              <a:lnSpc>
                <a:spcPct val="80000"/>
              </a:lnSpc>
              <a:spcBef>
                <a:spcPts val="0"/>
              </a:spcBef>
              <a:spcAft>
                <a:spcPts val="0"/>
              </a:spcAft>
              <a:buClr>
                <a:srgbClr val="000000"/>
              </a:buClr>
              <a:buSzPts val="3600"/>
              <a:buFont typeface="Arial"/>
              <a:buNone/>
            </a:pPr>
            <a:r>
              <a:t/>
            </a:r>
            <a:endParaRPr b="1" i="0" sz="2200" u="none" cap="none" strike="noStrike">
              <a:solidFill>
                <a:srgbClr val="8E39E2"/>
              </a:solidFill>
              <a:latin typeface="IBM Plex Sans"/>
              <a:ea typeface="IBM Plex Sans"/>
              <a:cs typeface="IBM Plex Sans"/>
              <a:sym typeface="IBM Plex Sans"/>
            </a:endParaRPr>
          </a:p>
          <a:p>
            <a:pPr indent="0" lvl="0" marL="0" marR="0" rtl="0" algn="l">
              <a:lnSpc>
                <a:spcPct val="80000"/>
              </a:lnSpc>
              <a:spcBef>
                <a:spcPts val="0"/>
              </a:spcBef>
              <a:spcAft>
                <a:spcPts val="0"/>
              </a:spcAft>
              <a:buClr>
                <a:srgbClr val="000000"/>
              </a:buClr>
              <a:buSzPts val="3600"/>
              <a:buFont typeface="Arial"/>
              <a:buNone/>
            </a:pPr>
            <a:r>
              <a:rPr b="1" i="0" lang="ru-RU" sz="2200" u="none" cap="none" strike="noStrike">
                <a:solidFill>
                  <a:srgbClr val="8E39E2"/>
                </a:solidFill>
                <a:latin typeface="IBM Plex Sans"/>
                <a:ea typeface="IBM Plex Sans"/>
                <a:cs typeface="IBM Plex Sans"/>
                <a:sym typeface="IBM Plex Sans"/>
              </a:rPr>
              <a:t>Многоклассовая классификация с пересекающимися классами</a:t>
            </a:r>
            <a:endParaRPr b="1" i="0" sz="2200" u="none" cap="none" strike="noStrike">
              <a:solidFill>
                <a:srgbClr val="8E39E2"/>
              </a:solidFill>
              <a:latin typeface="IBM Plex Sans"/>
              <a:ea typeface="IBM Plex Sans"/>
              <a:cs typeface="IBM Plex Sans"/>
              <a:sym typeface="IBM Plex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g3cb20f13e01_0_1012"/>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Обучение без учителя</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unsupervised learning</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1172" name="Google Shape;1172;g3cb20f13e01_0_1012"/>
          <p:cNvGrpSpPr/>
          <p:nvPr/>
        </p:nvGrpSpPr>
        <p:grpSpPr>
          <a:xfrm>
            <a:off x="9353973" y="-1553420"/>
            <a:ext cx="2854020" cy="13716631"/>
            <a:chOff x="9353973" y="-1553420"/>
            <a:chExt cx="2854020" cy="13716631"/>
          </a:xfrm>
        </p:grpSpPr>
        <p:grpSp>
          <p:nvGrpSpPr>
            <p:cNvPr id="1173" name="Google Shape;1173;g3cb20f13e01_0_1012"/>
            <p:cNvGrpSpPr/>
            <p:nvPr/>
          </p:nvGrpSpPr>
          <p:grpSpPr>
            <a:xfrm>
              <a:off x="9353973" y="-1553420"/>
              <a:ext cx="2838027" cy="13716631"/>
              <a:chOff x="9353973" y="-6079700"/>
              <a:chExt cx="2838027" cy="13716631"/>
            </a:xfrm>
          </p:grpSpPr>
          <p:pic>
            <p:nvPicPr>
              <p:cNvPr id="1174" name="Google Shape;1174;g3cb20f13e01_0_1012"/>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175" name="Google Shape;1175;g3cb20f13e01_0_1012"/>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176" name="Google Shape;1176;g3cb20f13e01_0_1012"/>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7" name="Google Shape;1177;g3cb20f13e01_0_1012"/>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178" name="Google Shape;1178;g3cb20f13e01_0_1012"/>
          <p:cNvSpPr txBox="1"/>
          <p:nvPr/>
        </p:nvSpPr>
        <p:spPr>
          <a:xfrm>
            <a:off x="1055700" y="2337325"/>
            <a:ext cx="5365800" cy="23460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Правильные ответы для каждого объекта обучающей выборки заранее НЕ известны</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1600"/>
              <a:buFont typeface="Arial"/>
              <a:buNone/>
            </a:pPr>
            <a:r>
              <a:t/>
            </a:r>
            <a:endParaRPr b="0" i="0" sz="1600" u="none" cap="none" strike="noStrike">
              <a:solidFill>
                <a:schemeClr val="dk1"/>
              </a:solidFill>
              <a:latin typeface="IBM Plex Sans"/>
              <a:ea typeface="IBM Plex Sans"/>
              <a:cs typeface="IBM Plex Sans"/>
              <a:sym typeface="IBM Plex Sans"/>
            </a:endParaRPr>
          </a:p>
        </p:txBody>
      </p:sp>
      <p:pic>
        <p:nvPicPr>
          <p:cNvPr id="1179" name="Google Shape;1179;g3cb20f13e01_0_1012"/>
          <p:cNvPicPr preferRelativeResize="0"/>
          <p:nvPr/>
        </p:nvPicPr>
        <p:blipFill rotWithShape="1">
          <a:blip r:embed="rId4">
            <a:alphaModFix/>
          </a:blip>
          <a:srcRect b="0" l="0" r="0" t="0"/>
          <a:stretch/>
        </p:blipFill>
        <p:spPr>
          <a:xfrm>
            <a:off x="8441516" y="3933811"/>
            <a:ext cx="3047978" cy="3047978"/>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13"/>
          <p:cNvSpPr txBox="1"/>
          <p:nvPr/>
        </p:nvSpPr>
        <p:spPr>
          <a:xfrm>
            <a:off x="1055688" y="1327688"/>
            <a:ext cx="6421729" cy="301087"/>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Кластеризация </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1185" name="Google Shape;1185;p13"/>
          <p:cNvGrpSpPr/>
          <p:nvPr/>
        </p:nvGrpSpPr>
        <p:grpSpPr>
          <a:xfrm>
            <a:off x="9353973" y="-1553420"/>
            <a:ext cx="2853949" cy="13716633"/>
            <a:chOff x="9353973" y="-1553420"/>
            <a:chExt cx="2853949" cy="13716633"/>
          </a:xfrm>
        </p:grpSpPr>
        <p:grpSp>
          <p:nvGrpSpPr>
            <p:cNvPr id="1186" name="Google Shape;1186;p13"/>
            <p:cNvGrpSpPr/>
            <p:nvPr/>
          </p:nvGrpSpPr>
          <p:grpSpPr>
            <a:xfrm>
              <a:off x="9353973" y="-1553420"/>
              <a:ext cx="2838027" cy="13716633"/>
              <a:chOff x="9353973" y="-6079700"/>
              <a:chExt cx="2838027" cy="13716633"/>
            </a:xfrm>
          </p:grpSpPr>
          <p:pic>
            <p:nvPicPr>
              <p:cNvPr id="1187" name="Google Shape;1187;p13"/>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1188" name="Google Shape;1188;p13"/>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1189" name="Google Shape;1189;p13"/>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0" name="Google Shape;1190;p13"/>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191" name="Google Shape;1191;p13"/>
          <p:cNvPicPr preferRelativeResize="0"/>
          <p:nvPr/>
        </p:nvPicPr>
        <p:blipFill rotWithShape="1">
          <a:blip r:embed="rId4">
            <a:alphaModFix/>
          </a:blip>
          <a:srcRect b="0" l="0" r="0" t="0"/>
          <a:stretch/>
        </p:blipFill>
        <p:spPr>
          <a:xfrm>
            <a:off x="9424416" y="4441575"/>
            <a:ext cx="1994635" cy="1994635"/>
          </a:xfrm>
          <a:prstGeom prst="rect">
            <a:avLst/>
          </a:prstGeom>
          <a:noFill/>
          <a:ln>
            <a:noFill/>
          </a:ln>
        </p:spPr>
      </p:pic>
      <p:sp>
        <p:nvSpPr>
          <p:cNvPr id="1192" name="Google Shape;1192;p13"/>
          <p:cNvSpPr txBox="1"/>
          <p:nvPr/>
        </p:nvSpPr>
        <p:spPr>
          <a:xfrm>
            <a:off x="962902" y="2015550"/>
            <a:ext cx="6421800" cy="1539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rgbClr val="15110E"/>
              </a:buClr>
              <a:buSzPts val="2000"/>
              <a:buFont typeface="IBM Plex Sans"/>
              <a:buChar char="●"/>
            </a:pPr>
            <a:r>
              <a:rPr b="0" i="0" lang="ru-RU" sz="2000" u="none" cap="none" strike="noStrike">
                <a:solidFill>
                  <a:srgbClr val="15110E"/>
                </a:solidFill>
                <a:latin typeface="IBM Plex Sans"/>
                <a:ea typeface="IBM Plex Sans"/>
                <a:cs typeface="IBM Plex Sans"/>
                <a:sym typeface="IBM Plex Sans"/>
              </a:rPr>
              <a:t>кластеризация документов из электронной библиотеки по темам</a:t>
            </a:r>
            <a:endParaRPr b="0" i="0" sz="2000" u="none" cap="none" strike="noStrike">
              <a:solidFill>
                <a:srgbClr val="15110E"/>
              </a:solidFill>
              <a:latin typeface="IBM Plex Sans"/>
              <a:ea typeface="IBM Plex Sans"/>
              <a:cs typeface="IBM Plex Sans"/>
              <a:sym typeface="IBM Plex Sans"/>
            </a:endParaRPr>
          </a:p>
          <a:p>
            <a:pPr indent="-355600" lvl="0" marL="457200" marR="0" rtl="0" algn="l">
              <a:lnSpc>
                <a:spcPct val="100000"/>
              </a:lnSpc>
              <a:spcBef>
                <a:spcPts val="0"/>
              </a:spcBef>
              <a:spcAft>
                <a:spcPts val="0"/>
              </a:spcAft>
              <a:buClr>
                <a:srgbClr val="15110E"/>
              </a:buClr>
              <a:buSzPts val="2000"/>
              <a:buFont typeface="IBM Plex Sans"/>
              <a:buChar char="●"/>
            </a:pPr>
            <a:r>
              <a:rPr b="0" i="0" lang="ru-RU" sz="2000" u="none" cap="none" strike="noStrike">
                <a:solidFill>
                  <a:srgbClr val="15110E"/>
                </a:solidFill>
                <a:latin typeface="IBM Plex Sans"/>
                <a:ea typeface="IBM Plex Sans"/>
                <a:cs typeface="IBM Plex Sans"/>
                <a:sym typeface="IBM Plex Sans"/>
              </a:rPr>
              <a:t>кластеризация новостей по сюжетам</a:t>
            </a:r>
            <a:endParaRPr b="0" i="0" sz="2000" u="none" cap="none" strike="noStrike">
              <a:solidFill>
                <a:srgbClr val="15110E"/>
              </a:solidFill>
              <a:latin typeface="IBM Plex Sans"/>
              <a:ea typeface="IBM Plex Sans"/>
              <a:cs typeface="IBM Plex Sans"/>
              <a:sym typeface="IBM Plex Sans"/>
            </a:endParaRPr>
          </a:p>
          <a:p>
            <a:pPr indent="-355600" lvl="0" marL="457200" marR="0" rtl="0" algn="l">
              <a:lnSpc>
                <a:spcPct val="100000"/>
              </a:lnSpc>
              <a:spcBef>
                <a:spcPts val="0"/>
              </a:spcBef>
              <a:spcAft>
                <a:spcPts val="0"/>
              </a:spcAft>
              <a:buClr>
                <a:srgbClr val="15110E"/>
              </a:buClr>
              <a:buSzPts val="2000"/>
              <a:buFont typeface="IBM Plex Sans"/>
              <a:buChar char="●"/>
            </a:pPr>
            <a:r>
              <a:rPr b="0" i="0" lang="ru-RU" sz="2000" u="none" cap="none" strike="noStrike">
                <a:solidFill>
                  <a:srgbClr val="15110E"/>
                </a:solidFill>
                <a:latin typeface="IBM Plex Sans"/>
                <a:ea typeface="IBM Plex Sans"/>
                <a:cs typeface="IBM Plex Sans"/>
                <a:sym typeface="IBM Plex Sans"/>
              </a:rPr>
              <a:t>ответов респондентов по содержанию</a:t>
            </a:r>
            <a:endParaRPr b="0" i="0" sz="2000" u="none" cap="none" strike="noStrike">
              <a:solidFill>
                <a:srgbClr val="15110E"/>
              </a:solidFill>
              <a:latin typeface="IBM Plex Sans"/>
              <a:ea typeface="IBM Plex Sans"/>
              <a:cs typeface="IBM Plex Sans"/>
              <a:sym typeface="IBM Plex Sans"/>
            </a:endParaRPr>
          </a:p>
        </p:txBody>
      </p:sp>
      <p:pic>
        <p:nvPicPr>
          <p:cNvPr id="1193" name="Google Shape;1193;p13"/>
          <p:cNvPicPr preferRelativeResize="0"/>
          <p:nvPr/>
        </p:nvPicPr>
        <p:blipFill rotWithShape="1">
          <a:blip r:embed="rId5">
            <a:alphaModFix/>
          </a:blip>
          <a:srcRect b="0" l="0" r="0" t="0"/>
          <a:stretch/>
        </p:blipFill>
        <p:spPr>
          <a:xfrm>
            <a:off x="962905" y="3471225"/>
            <a:ext cx="8050625" cy="29649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14"/>
          <p:cNvSpPr txBox="1"/>
          <p:nvPr/>
        </p:nvSpPr>
        <p:spPr>
          <a:xfrm>
            <a:off x="1055688" y="1327688"/>
            <a:ext cx="6421729" cy="301087"/>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Обучение с подкреплением</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Reinforcement learning</a:t>
            </a:r>
            <a:endParaRPr b="1" i="0" sz="3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i="0" sz="3600" u="none" cap="none" strike="noStrike">
              <a:solidFill>
                <a:schemeClr val="dk1"/>
              </a:solidFill>
              <a:latin typeface="IBM Plex Sans"/>
              <a:ea typeface="IBM Plex Sans"/>
              <a:cs typeface="IBM Plex Sans"/>
              <a:sym typeface="IBM Plex Sans"/>
            </a:endParaRPr>
          </a:p>
        </p:txBody>
      </p:sp>
      <p:grpSp>
        <p:nvGrpSpPr>
          <p:cNvPr id="1199" name="Google Shape;1199;p14"/>
          <p:cNvGrpSpPr/>
          <p:nvPr/>
        </p:nvGrpSpPr>
        <p:grpSpPr>
          <a:xfrm>
            <a:off x="9353973" y="-1553420"/>
            <a:ext cx="2853949" cy="13716633"/>
            <a:chOff x="9353973" y="-1553420"/>
            <a:chExt cx="2853949" cy="13716633"/>
          </a:xfrm>
        </p:grpSpPr>
        <p:grpSp>
          <p:nvGrpSpPr>
            <p:cNvPr id="1200" name="Google Shape;1200;p14"/>
            <p:cNvGrpSpPr/>
            <p:nvPr/>
          </p:nvGrpSpPr>
          <p:grpSpPr>
            <a:xfrm>
              <a:off x="9353973" y="-1553420"/>
              <a:ext cx="2838027" cy="13716633"/>
              <a:chOff x="9353973" y="-6079700"/>
              <a:chExt cx="2838027" cy="13716633"/>
            </a:xfrm>
          </p:grpSpPr>
          <p:pic>
            <p:nvPicPr>
              <p:cNvPr id="1201" name="Google Shape;1201;p14"/>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1202" name="Google Shape;1202;p14"/>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1203" name="Google Shape;1203;p14"/>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4" name="Google Shape;1204;p14"/>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205" name="Google Shape;1205;p14"/>
          <p:cNvPicPr preferRelativeResize="0"/>
          <p:nvPr/>
        </p:nvPicPr>
        <p:blipFill rotWithShape="1">
          <a:blip r:embed="rId4">
            <a:alphaModFix/>
          </a:blip>
          <a:srcRect b="0" l="0" r="0" t="0"/>
          <a:stretch/>
        </p:blipFill>
        <p:spPr>
          <a:xfrm>
            <a:off x="9424416" y="4441575"/>
            <a:ext cx="1994635" cy="1994635"/>
          </a:xfrm>
          <a:prstGeom prst="rect">
            <a:avLst/>
          </a:prstGeom>
          <a:noFill/>
          <a:ln>
            <a:noFill/>
          </a:ln>
        </p:spPr>
      </p:pic>
      <p:sp>
        <p:nvSpPr>
          <p:cNvPr id="1206" name="Google Shape;1206;p14"/>
          <p:cNvSpPr txBox="1"/>
          <p:nvPr/>
        </p:nvSpPr>
        <p:spPr>
          <a:xfrm>
            <a:off x="1055700" y="2220275"/>
            <a:ext cx="5000100" cy="160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ru-RU" sz="1900" u="none" cap="none" strike="noStrike">
                <a:solidFill>
                  <a:srgbClr val="15110E"/>
                </a:solidFill>
                <a:latin typeface="IBM Plex Sans"/>
                <a:ea typeface="IBM Plex Sans"/>
                <a:cs typeface="IBM Plex Sans"/>
                <a:sym typeface="IBM Plex Sans"/>
              </a:rPr>
              <a:t>Алгоритм за каждое действие получает награду или наказание</a:t>
            </a:r>
            <a:endParaRPr b="0" i="0" sz="1900" u="none" cap="none" strike="noStrike">
              <a:solidFill>
                <a:srgbClr val="15110E"/>
              </a:solidFill>
              <a:latin typeface="IBM Plex Sans"/>
              <a:ea typeface="IBM Plex Sans"/>
              <a:cs typeface="IBM Plex Sans"/>
              <a:sym typeface="IBM Plex Sans"/>
            </a:endParaRPr>
          </a:p>
        </p:txBody>
      </p:sp>
      <p:pic>
        <p:nvPicPr>
          <p:cNvPr id="1207" name="Google Shape;1207;p14"/>
          <p:cNvPicPr preferRelativeResize="0"/>
          <p:nvPr/>
        </p:nvPicPr>
        <p:blipFill rotWithShape="1">
          <a:blip r:embed="rId5">
            <a:alphaModFix/>
          </a:blip>
          <a:srcRect b="0" l="0" r="0" t="0"/>
          <a:stretch/>
        </p:blipFill>
        <p:spPr>
          <a:xfrm>
            <a:off x="1155276" y="3019854"/>
            <a:ext cx="6867275" cy="33331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grpSp>
        <p:nvGrpSpPr>
          <p:cNvPr id="1212" name="Google Shape;1212;g3cb20f13e01_0_1028"/>
          <p:cNvGrpSpPr/>
          <p:nvPr/>
        </p:nvGrpSpPr>
        <p:grpSpPr>
          <a:xfrm>
            <a:off x="9353973" y="-1553420"/>
            <a:ext cx="2854020" cy="13716631"/>
            <a:chOff x="9353973" y="-1553420"/>
            <a:chExt cx="2854020" cy="13716631"/>
          </a:xfrm>
        </p:grpSpPr>
        <p:grpSp>
          <p:nvGrpSpPr>
            <p:cNvPr id="1213" name="Google Shape;1213;g3cb20f13e01_0_1028"/>
            <p:cNvGrpSpPr/>
            <p:nvPr/>
          </p:nvGrpSpPr>
          <p:grpSpPr>
            <a:xfrm>
              <a:off x="9353973" y="-1553420"/>
              <a:ext cx="2838027" cy="13716631"/>
              <a:chOff x="9353973" y="-6079700"/>
              <a:chExt cx="2838027" cy="13716631"/>
            </a:xfrm>
          </p:grpSpPr>
          <p:pic>
            <p:nvPicPr>
              <p:cNvPr id="1214" name="Google Shape;1214;g3cb20f13e01_0_1028"/>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215" name="Google Shape;1215;g3cb20f13e01_0_1028"/>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216" name="Google Shape;1216;g3cb20f13e01_0_1028"/>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7" name="Google Shape;1217;g3cb20f13e01_0_1028"/>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218" name="Google Shape;1218;g3cb20f13e01_0_1028"/>
          <p:cNvPicPr preferRelativeResize="0"/>
          <p:nvPr/>
        </p:nvPicPr>
        <p:blipFill rotWithShape="1">
          <a:blip r:embed="rId4">
            <a:alphaModFix/>
          </a:blip>
          <a:srcRect b="0" l="0" r="0" t="0"/>
          <a:stretch/>
        </p:blipFill>
        <p:spPr>
          <a:xfrm>
            <a:off x="9424416" y="4441575"/>
            <a:ext cx="1994636" cy="1994636"/>
          </a:xfrm>
          <a:prstGeom prst="rect">
            <a:avLst/>
          </a:prstGeom>
          <a:noFill/>
          <a:ln>
            <a:noFill/>
          </a:ln>
        </p:spPr>
      </p:pic>
      <p:pic>
        <p:nvPicPr>
          <p:cNvPr id="1219" name="Google Shape;1219;g3cb20f13e01_0_1028"/>
          <p:cNvPicPr preferRelativeResize="0"/>
          <p:nvPr/>
        </p:nvPicPr>
        <p:blipFill rotWithShape="1">
          <a:blip r:embed="rId5">
            <a:alphaModFix/>
          </a:blip>
          <a:srcRect b="59210" l="0" r="51114" t="0"/>
          <a:stretch/>
        </p:blipFill>
        <p:spPr>
          <a:xfrm>
            <a:off x="1533525" y="584863"/>
            <a:ext cx="6767500" cy="2673301"/>
          </a:xfrm>
          <a:prstGeom prst="rect">
            <a:avLst/>
          </a:prstGeom>
          <a:noFill/>
          <a:ln>
            <a:noFill/>
          </a:ln>
        </p:spPr>
      </p:pic>
      <p:pic>
        <p:nvPicPr>
          <p:cNvPr id="1220" name="Google Shape;1220;g3cb20f13e01_0_1028"/>
          <p:cNvPicPr preferRelativeResize="0"/>
          <p:nvPr/>
        </p:nvPicPr>
        <p:blipFill rotWithShape="1">
          <a:blip r:embed="rId5">
            <a:alphaModFix/>
          </a:blip>
          <a:srcRect b="7162" l="49349" r="1764" t="52047"/>
          <a:stretch/>
        </p:blipFill>
        <p:spPr>
          <a:xfrm>
            <a:off x="1533525" y="3599836"/>
            <a:ext cx="6767500" cy="2673301"/>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grpSp>
        <p:nvGrpSpPr>
          <p:cNvPr id="1225" name="Google Shape;1225;g3cb20f13e01_0_1043"/>
          <p:cNvGrpSpPr/>
          <p:nvPr/>
        </p:nvGrpSpPr>
        <p:grpSpPr>
          <a:xfrm>
            <a:off x="9353973" y="-1553420"/>
            <a:ext cx="2854020" cy="13716631"/>
            <a:chOff x="9353973" y="-1553420"/>
            <a:chExt cx="2854020" cy="13716631"/>
          </a:xfrm>
        </p:grpSpPr>
        <p:grpSp>
          <p:nvGrpSpPr>
            <p:cNvPr id="1226" name="Google Shape;1226;g3cb20f13e01_0_1043"/>
            <p:cNvGrpSpPr/>
            <p:nvPr/>
          </p:nvGrpSpPr>
          <p:grpSpPr>
            <a:xfrm>
              <a:off x="9353973" y="-1553420"/>
              <a:ext cx="2838027" cy="13716631"/>
              <a:chOff x="9353973" y="-6079700"/>
              <a:chExt cx="2838027" cy="13716631"/>
            </a:xfrm>
          </p:grpSpPr>
          <p:pic>
            <p:nvPicPr>
              <p:cNvPr id="1227" name="Google Shape;1227;g3cb20f13e01_0_1043"/>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228" name="Google Shape;1228;g3cb20f13e01_0_1043"/>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229" name="Google Shape;1229;g3cb20f13e01_0_1043"/>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0" name="Google Shape;1230;g3cb20f13e01_0_1043"/>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231" name="Google Shape;1231;g3cb20f13e01_0_1043"/>
          <p:cNvPicPr preferRelativeResize="0"/>
          <p:nvPr/>
        </p:nvPicPr>
        <p:blipFill rotWithShape="1">
          <a:blip r:embed="rId4">
            <a:alphaModFix/>
          </a:blip>
          <a:srcRect b="0" l="0" r="0" t="0"/>
          <a:stretch/>
        </p:blipFill>
        <p:spPr>
          <a:xfrm>
            <a:off x="3476566" y="2621225"/>
            <a:ext cx="1994636" cy="1994636"/>
          </a:xfrm>
          <a:prstGeom prst="rect">
            <a:avLst/>
          </a:prstGeom>
          <a:noFill/>
          <a:ln>
            <a:noFill/>
          </a:ln>
        </p:spPr>
      </p:pic>
      <p:sp>
        <p:nvSpPr>
          <p:cNvPr id="1232" name="Google Shape;1232;g3cb20f13e01_0_1043"/>
          <p:cNvSpPr txBox="1"/>
          <p:nvPr/>
        </p:nvSpPr>
        <p:spPr>
          <a:xfrm>
            <a:off x="1055700" y="2778675"/>
            <a:ext cx="3097500" cy="94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300"/>
              <a:buFont typeface="Arial"/>
              <a:buNone/>
            </a:pPr>
            <a:r>
              <a:rPr b="0" i="0" lang="ru-RU" sz="3300" u="none" cap="none" strike="noStrike">
                <a:solidFill>
                  <a:srgbClr val="15110E"/>
                </a:solidFill>
                <a:latin typeface="IBM Plex Sans SemiBold"/>
                <a:ea typeface="IBM Plex Sans SemiBold"/>
                <a:cs typeface="IBM Plex Sans SemiBold"/>
                <a:sym typeface="IBM Plex Sans SemiBold"/>
              </a:rPr>
              <a:t>Я люблю машинное обучение</a:t>
            </a:r>
            <a:endParaRPr b="0" i="0" sz="3300" u="none" cap="none" strike="noStrike">
              <a:solidFill>
                <a:srgbClr val="15110E"/>
              </a:solidFill>
              <a:latin typeface="IBM Plex Sans SemiBold"/>
              <a:ea typeface="IBM Plex Sans SemiBold"/>
              <a:cs typeface="IBM Plex Sans SemiBold"/>
              <a:sym typeface="IBM Plex Sans SemiBold"/>
            </a:endParaRPr>
          </a:p>
        </p:txBody>
      </p:sp>
      <p:sp>
        <p:nvSpPr>
          <p:cNvPr id="1233" name="Google Shape;1233;g3cb20f13e01_0_1043"/>
          <p:cNvSpPr txBox="1"/>
          <p:nvPr/>
        </p:nvSpPr>
        <p:spPr>
          <a:xfrm>
            <a:off x="5605475" y="2867575"/>
            <a:ext cx="3097500" cy="94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300"/>
              <a:buFont typeface="Arial"/>
              <a:buNone/>
            </a:pPr>
            <a:r>
              <a:rPr b="0" i="0" lang="ru-RU" sz="3300" u="none" cap="none" strike="noStrike">
                <a:solidFill>
                  <a:srgbClr val="15110E"/>
                </a:solidFill>
                <a:latin typeface="IBM Plex Sans SemiBold"/>
                <a:ea typeface="IBM Plex Sans SemiBold"/>
                <a:cs typeface="IBM Plex Sans SemiBold"/>
                <a:sym typeface="IBM Plex Sans SemiBold"/>
              </a:rPr>
              <a:t>I love machine learning</a:t>
            </a:r>
            <a:endParaRPr b="0" i="0" sz="3300" u="none" cap="none" strike="noStrike">
              <a:solidFill>
                <a:srgbClr val="15110E"/>
              </a:solidFill>
              <a:latin typeface="IBM Plex Sans SemiBold"/>
              <a:ea typeface="IBM Plex Sans SemiBold"/>
              <a:cs typeface="IBM Plex Sans SemiBold"/>
              <a:sym typeface="IBM Plex Sans SemiBo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grpSp>
        <p:nvGrpSpPr>
          <p:cNvPr id="1238" name="Google Shape;1238;p15"/>
          <p:cNvGrpSpPr/>
          <p:nvPr/>
        </p:nvGrpSpPr>
        <p:grpSpPr>
          <a:xfrm>
            <a:off x="9353973" y="-1553420"/>
            <a:ext cx="2853949" cy="13716633"/>
            <a:chOff x="9353973" y="-1553420"/>
            <a:chExt cx="2853949" cy="13716633"/>
          </a:xfrm>
        </p:grpSpPr>
        <p:grpSp>
          <p:nvGrpSpPr>
            <p:cNvPr id="1239" name="Google Shape;1239;p15"/>
            <p:cNvGrpSpPr/>
            <p:nvPr/>
          </p:nvGrpSpPr>
          <p:grpSpPr>
            <a:xfrm>
              <a:off x="9353973" y="-1553420"/>
              <a:ext cx="2838027" cy="13716633"/>
              <a:chOff x="9353973" y="-6079700"/>
              <a:chExt cx="2838027" cy="13716633"/>
            </a:xfrm>
          </p:grpSpPr>
          <p:pic>
            <p:nvPicPr>
              <p:cNvPr id="1240" name="Google Shape;1240;p15"/>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1241" name="Google Shape;1241;p15"/>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1242" name="Google Shape;1242;p15"/>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3" name="Google Shape;1243;p15"/>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244" name="Google Shape;1244;p15"/>
          <p:cNvPicPr preferRelativeResize="0"/>
          <p:nvPr/>
        </p:nvPicPr>
        <p:blipFill rotWithShape="1">
          <a:blip r:embed="rId4">
            <a:alphaModFix/>
          </a:blip>
          <a:srcRect b="0" l="0" r="0" t="0"/>
          <a:stretch/>
        </p:blipFill>
        <p:spPr>
          <a:xfrm>
            <a:off x="9057537" y="4431141"/>
            <a:ext cx="2011886" cy="2014681"/>
          </a:xfrm>
          <a:prstGeom prst="rect">
            <a:avLst/>
          </a:prstGeom>
          <a:noFill/>
          <a:ln>
            <a:noFill/>
          </a:ln>
        </p:spPr>
      </p:pic>
      <p:pic>
        <p:nvPicPr>
          <p:cNvPr id="1245" name="Google Shape;1245;p15"/>
          <p:cNvPicPr preferRelativeResize="0"/>
          <p:nvPr/>
        </p:nvPicPr>
        <p:blipFill rotWithShape="1">
          <a:blip r:embed="rId5">
            <a:alphaModFix/>
          </a:blip>
          <a:srcRect b="0" l="0" r="0" t="0"/>
          <a:stretch/>
        </p:blipFill>
        <p:spPr>
          <a:xfrm>
            <a:off x="237050" y="1009650"/>
            <a:ext cx="8602134" cy="48387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g3d1a00d9b9a_0_45"/>
          <p:cNvSpPr txBox="1"/>
          <p:nvPr/>
        </p:nvSpPr>
        <p:spPr>
          <a:xfrm>
            <a:off x="1060850" y="2662300"/>
            <a:ext cx="6202500" cy="7749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000000"/>
              </a:buClr>
              <a:buSzPts val="4800"/>
              <a:buFont typeface="Arial"/>
              <a:buNone/>
            </a:pPr>
            <a:r>
              <a:rPr b="1" i="0" lang="ru-RU" sz="4400" u="none" cap="none" strike="noStrike">
                <a:solidFill>
                  <a:schemeClr val="dk1"/>
                </a:solidFill>
                <a:latin typeface="IBM Plex Sans"/>
                <a:ea typeface="IBM Plex Sans"/>
                <a:cs typeface="IBM Plex Sans"/>
                <a:sym typeface="IBM Plex Sans"/>
              </a:rPr>
              <a:t>Проект</a:t>
            </a:r>
            <a:endParaRPr b="1" i="0" sz="4400" u="none" cap="none" strike="noStrike">
              <a:solidFill>
                <a:schemeClr val="dk1"/>
              </a:solidFill>
              <a:latin typeface="IBM Plex Sans"/>
              <a:ea typeface="IBM Plex Sans"/>
              <a:cs typeface="IBM Plex Sans"/>
              <a:sym typeface="IBM Plex Sans"/>
            </a:endParaRPr>
          </a:p>
        </p:txBody>
      </p:sp>
      <p:sp>
        <p:nvSpPr>
          <p:cNvPr id="1251" name="Google Shape;1251;g3d1a00d9b9a_0_45"/>
          <p:cNvSpPr txBox="1"/>
          <p:nvPr/>
        </p:nvSpPr>
        <p:spPr>
          <a:xfrm>
            <a:off x="1060857" y="6033838"/>
            <a:ext cx="3771900" cy="235500"/>
          </a:xfrm>
          <a:prstGeom prst="rect">
            <a:avLst/>
          </a:prstGeom>
          <a:noFill/>
          <a:ln>
            <a:noFill/>
          </a:ln>
        </p:spPr>
        <p:txBody>
          <a:bodyPr anchorCtr="0" anchor="t" bIns="0" lIns="0" spcFirstLastPara="1" rIns="0" wrap="square" tIns="19875">
            <a:spAutoFit/>
          </a:bodyPr>
          <a:lstStyle/>
          <a:p>
            <a:pPr indent="0" lvl="0" marL="20942" marR="8377" rtl="0" algn="l">
              <a:lnSpc>
                <a:spcPct val="12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ularionova@mail.tsu.ru</a:t>
            </a:r>
            <a:endParaRPr b="0" i="0" sz="1400" u="none" cap="none" strike="noStrike">
              <a:solidFill>
                <a:schemeClr val="dk1"/>
              </a:solidFill>
              <a:latin typeface="IBM Plex Sans"/>
              <a:ea typeface="IBM Plex Sans"/>
              <a:cs typeface="IBM Plex Sans"/>
              <a:sym typeface="IBM Plex Sans"/>
            </a:endParaRPr>
          </a:p>
        </p:txBody>
      </p:sp>
      <p:sp>
        <p:nvSpPr>
          <p:cNvPr id="1252" name="Google Shape;1252;g3d1a00d9b9a_0_45"/>
          <p:cNvSpPr txBox="1"/>
          <p:nvPr/>
        </p:nvSpPr>
        <p:spPr>
          <a:xfrm>
            <a:off x="1060857" y="5282291"/>
            <a:ext cx="4032300" cy="561900"/>
          </a:xfrm>
          <a:prstGeom prst="rect">
            <a:avLst/>
          </a:prstGeom>
          <a:noFill/>
          <a:ln>
            <a:noFill/>
          </a:ln>
        </p:spPr>
        <p:txBody>
          <a:bodyPr anchorCtr="0" anchor="t" bIns="0" lIns="0" spcFirstLastPara="1" rIns="0" wrap="square" tIns="19875">
            <a:spAutoFit/>
          </a:bodyPr>
          <a:lstStyle/>
          <a:p>
            <a:pPr indent="0" lvl="0" marL="20942" marR="8377" rtl="0" algn="l">
              <a:lnSpc>
                <a:spcPct val="12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Ларионова Ульяна</a:t>
            </a:r>
            <a:endParaRPr b="0" i="0" sz="1400" u="none" cap="none" strike="noStrike">
              <a:solidFill>
                <a:srgbClr val="000000"/>
              </a:solidFill>
              <a:latin typeface="Arial"/>
              <a:ea typeface="Arial"/>
              <a:cs typeface="Arial"/>
              <a:sym typeface="Arial"/>
            </a:endParaRPr>
          </a:p>
          <a:p>
            <a:pPr indent="0" lvl="0" marL="20942" marR="8377" rtl="0" algn="l">
              <a:lnSpc>
                <a:spcPct val="12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Преподаватель</a:t>
            </a:r>
            <a:endParaRPr b="0" i="0" sz="1600" u="none" cap="none" strike="noStrike">
              <a:solidFill>
                <a:schemeClr val="dk1"/>
              </a:solidFill>
              <a:latin typeface="IBM Plex Sans"/>
              <a:ea typeface="IBM Plex Sans"/>
              <a:cs typeface="IBM Plex Sans"/>
              <a:sym typeface="IBM Plex Sans"/>
            </a:endParaRPr>
          </a:p>
        </p:txBody>
      </p:sp>
      <p:pic>
        <p:nvPicPr>
          <p:cNvPr id="1253" name="Google Shape;1253;g3d1a00d9b9a_0_45"/>
          <p:cNvPicPr preferRelativeResize="0"/>
          <p:nvPr/>
        </p:nvPicPr>
        <p:blipFill rotWithShape="1">
          <a:blip r:embed="rId3">
            <a:alphaModFix/>
          </a:blip>
          <a:srcRect b="0" l="0" r="0" t="0"/>
          <a:stretch/>
        </p:blipFill>
        <p:spPr>
          <a:xfrm flipH="1" rot="10800000">
            <a:off x="8976462" y="3862790"/>
            <a:ext cx="2872246" cy="2884213"/>
          </a:xfrm>
          <a:prstGeom prst="rect">
            <a:avLst/>
          </a:prstGeom>
          <a:noFill/>
          <a:ln>
            <a:noFill/>
          </a:ln>
        </p:spPr>
      </p:pic>
      <p:grpSp>
        <p:nvGrpSpPr>
          <p:cNvPr id="1254" name="Google Shape;1254;g3d1a00d9b9a_0_45"/>
          <p:cNvGrpSpPr/>
          <p:nvPr/>
        </p:nvGrpSpPr>
        <p:grpSpPr>
          <a:xfrm>
            <a:off x="9353973" y="-1553420"/>
            <a:ext cx="2854020" cy="13716631"/>
            <a:chOff x="9353973" y="-1553420"/>
            <a:chExt cx="2854020" cy="13716631"/>
          </a:xfrm>
        </p:grpSpPr>
        <p:grpSp>
          <p:nvGrpSpPr>
            <p:cNvPr id="1255" name="Google Shape;1255;g3d1a00d9b9a_0_45"/>
            <p:cNvGrpSpPr/>
            <p:nvPr/>
          </p:nvGrpSpPr>
          <p:grpSpPr>
            <a:xfrm>
              <a:off x="9353973" y="-1553420"/>
              <a:ext cx="2838027" cy="13716631"/>
              <a:chOff x="9353973" y="-6079700"/>
              <a:chExt cx="2838027" cy="13716631"/>
            </a:xfrm>
          </p:grpSpPr>
          <p:pic>
            <p:nvPicPr>
              <p:cNvPr id="1256" name="Google Shape;1256;g3d1a00d9b9a_0_45"/>
              <p:cNvPicPr preferRelativeResize="0"/>
              <p:nvPr/>
            </p:nvPicPr>
            <p:blipFill rotWithShape="1">
              <a:blip r:embed="rId4">
                <a:alphaModFix/>
              </a:blip>
              <a:srcRect b="0" l="1283" r="0" t="0"/>
              <a:stretch/>
            </p:blipFill>
            <p:spPr>
              <a:xfrm>
                <a:off x="9353973" y="778933"/>
                <a:ext cx="2838027" cy="6857998"/>
              </a:xfrm>
              <a:prstGeom prst="rect">
                <a:avLst/>
              </a:prstGeom>
              <a:noFill/>
              <a:ln>
                <a:noFill/>
              </a:ln>
            </p:spPr>
          </p:pic>
          <p:pic>
            <p:nvPicPr>
              <p:cNvPr id="1257" name="Google Shape;1257;g3d1a00d9b9a_0_45"/>
              <p:cNvPicPr preferRelativeResize="0"/>
              <p:nvPr/>
            </p:nvPicPr>
            <p:blipFill rotWithShape="1">
              <a:blip r:embed="rId4">
                <a:alphaModFix/>
              </a:blip>
              <a:srcRect b="0" l="1283" r="0" t="0"/>
              <a:stretch/>
            </p:blipFill>
            <p:spPr>
              <a:xfrm>
                <a:off x="9353973" y="-6079700"/>
                <a:ext cx="2838027" cy="6857998"/>
              </a:xfrm>
              <a:prstGeom prst="rect">
                <a:avLst/>
              </a:prstGeom>
              <a:noFill/>
              <a:ln>
                <a:noFill/>
              </a:ln>
            </p:spPr>
          </p:pic>
        </p:grpSp>
        <p:sp>
          <p:nvSpPr>
            <p:cNvPr id="1258" name="Google Shape;1258;g3d1a00d9b9a_0_45"/>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9" name="Google Shape;1259;g3d1a00d9b9a_0_45"/>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260" name="Google Shape;1260;g3d1a00d9b9a_0_45"/>
          <p:cNvPicPr preferRelativeResize="0"/>
          <p:nvPr/>
        </p:nvPicPr>
        <p:blipFill rotWithShape="1">
          <a:blip r:embed="rId5">
            <a:alphaModFix/>
          </a:blip>
          <a:srcRect b="0" l="0" r="0" t="0"/>
          <a:stretch/>
        </p:blipFill>
        <p:spPr>
          <a:xfrm>
            <a:off x="1055688" y="285516"/>
            <a:ext cx="677246" cy="77496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sp>
        <p:nvSpPr>
          <p:cNvPr id="1265" name="Google Shape;1265;p16"/>
          <p:cNvSpPr txBox="1"/>
          <p:nvPr/>
        </p:nvSpPr>
        <p:spPr>
          <a:xfrm>
            <a:off x="1055688" y="1327688"/>
            <a:ext cx="6421729" cy="301087"/>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Titanic: Machine Learning from Disaster</a:t>
            </a:r>
            <a:endParaRPr b="0" i="0" sz="3600" u="none" cap="none" strike="noStrike">
              <a:solidFill>
                <a:srgbClr val="DFDFDF"/>
              </a:solidFill>
              <a:latin typeface="IBM Plex Sans"/>
              <a:ea typeface="IBM Plex Sans"/>
              <a:cs typeface="IBM Plex Sans"/>
              <a:sym typeface="IBM Plex Sans"/>
            </a:endParaRPr>
          </a:p>
        </p:txBody>
      </p:sp>
      <p:grpSp>
        <p:nvGrpSpPr>
          <p:cNvPr id="1266" name="Google Shape;1266;p16"/>
          <p:cNvGrpSpPr/>
          <p:nvPr/>
        </p:nvGrpSpPr>
        <p:grpSpPr>
          <a:xfrm>
            <a:off x="9353973" y="-1553420"/>
            <a:ext cx="2853949" cy="13716633"/>
            <a:chOff x="9353973" y="-1553420"/>
            <a:chExt cx="2853949" cy="13716633"/>
          </a:xfrm>
        </p:grpSpPr>
        <p:grpSp>
          <p:nvGrpSpPr>
            <p:cNvPr id="1267" name="Google Shape;1267;p16"/>
            <p:cNvGrpSpPr/>
            <p:nvPr/>
          </p:nvGrpSpPr>
          <p:grpSpPr>
            <a:xfrm>
              <a:off x="9353973" y="-1553420"/>
              <a:ext cx="2838027" cy="13716633"/>
              <a:chOff x="9353973" y="-6079700"/>
              <a:chExt cx="2838027" cy="13716633"/>
            </a:xfrm>
          </p:grpSpPr>
          <p:pic>
            <p:nvPicPr>
              <p:cNvPr id="1268" name="Google Shape;1268;p16"/>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1269" name="Google Shape;1269;p16"/>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1270" name="Google Shape;1270;p16"/>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71" name="Google Shape;1271;p16"/>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272" name="Google Shape;1272;p16"/>
          <p:cNvSpPr txBox="1"/>
          <p:nvPr/>
        </p:nvSpPr>
        <p:spPr>
          <a:xfrm>
            <a:off x="1055688" y="2303732"/>
            <a:ext cx="50229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0" i="0" lang="ru-RU" sz="1600" u="none" cap="none" strike="noStrike">
                <a:solidFill>
                  <a:schemeClr val="dk1"/>
                </a:solidFill>
                <a:latin typeface="IBM Plex Sans"/>
                <a:ea typeface="IBM Plex Sans"/>
                <a:cs typeface="IBM Plex Sans"/>
                <a:sym typeface="IBM Plex Sans"/>
              </a:rPr>
              <a:t>15 апреля 1912 года — столкновение с айсбергом в первом рейсе</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0" i="0" lang="ru-RU" sz="1600" u="none" cap="none" strike="noStrike">
                <a:solidFill>
                  <a:schemeClr val="dk1"/>
                </a:solidFill>
                <a:latin typeface="IBM Plex Sans"/>
                <a:ea typeface="IBM Plex Sans"/>
                <a:cs typeface="IBM Plex Sans"/>
                <a:sym typeface="IBM Plex Sans"/>
              </a:rPr>
              <a:t>2224 человека на борту, 1502 погибших</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0" i="0" lang="ru-RU" sz="1600" u="none" cap="none" strike="noStrike">
                <a:solidFill>
                  <a:schemeClr val="dk1"/>
                </a:solidFill>
                <a:latin typeface="IBM Plex Sans"/>
                <a:ea typeface="IBM Plex Sans"/>
                <a:cs typeface="IBM Plex Sans"/>
                <a:sym typeface="IBM Plex Sans"/>
              </a:rPr>
              <a:t>Выжило всего 32% пассажиров</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0" i="0" lang="ru-RU" sz="1600" u="none" cap="none" strike="noStrike">
                <a:solidFill>
                  <a:schemeClr val="dk1"/>
                </a:solidFill>
                <a:latin typeface="IBM Plex Sans"/>
                <a:ea typeface="IBM Plex Sans"/>
                <a:cs typeface="IBM Plex Sans"/>
                <a:sym typeface="IBM Plex Sans"/>
              </a:rPr>
              <a:t>Причина: нехватка шлюпок</a:t>
            </a:r>
            <a:endParaRPr b="0" i="0" sz="1600" u="none" cap="none" strike="noStrike">
              <a:solidFill>
                <a:schemeClr val="dk1"/>
              </a:solidFill>
              <a:latin typeface="IBM Plex Sans"/>
              <a:ea typeface="IBM Plex Sans"/>
              <a:cs typeface="IBM Plex Sans"/>
              <a:sym typeface="IBM Plex Sans"/>
            </a:endParaRPr>
          </a:p>
        </p:txBody>
      </p:sp>
      <p:pic>
        <p:nvPicPr>
          <p:cNvPr id="1273" name="Google Shape;1273;p16"/>
          <p:cNvPicPr preferRelativeResize="0"/>
          <p:nvPr/>
        </p:nvPicPr>
        <p:blipFill rotWithShape="1">
          <a:blip r:embed="rId4">
            <a:alphaModFix/>
          </a:blip>
          <a:srcRect b="0" l="0" r="0" t="0"/>
          <a:stretch/>
        </p:blipFill>
        <p:spPr>
          <a:xfrm>
            <a:off x="8835381" y="3877696"/>
            <a:ext cx="2638190" cy="264185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g3d4a20b5c44_0_26"/>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Titanic: Machine Learning from Disaster</a:t>
            </a:r>
            <a:endParaRPr b="0" i="0" sz="3600" u="none" cap="none" strike="noStrike">
              <a:solidFill>
                <a:srgbClr val="DFDFDF"/>
              </a:solidFill>
              <a:latin typeface="IBM Plex Sans"/>
              <a:ea typeface="IBM Plex Sans"/>
              <a:cs typeface="IBM Plex Sans"/>
              <a:sym typeface="IBM Plex Sans"/>
            </a:endParaRPr>
          </a:p>
        </p:txBody>
      </p:sp>
      <p:grpSp>
        <p:nvGrpSpPr>
          <p:cNvPr id="1279" name="Google Shape;1279;g3d4a20b5c44_0_26"/>
          <p:cNvGrpSpPr/>
          <p:nvPr/>
        </p:nvGrpSpPr>
        <p:grpSpPr>
          <a:xfrm>
            <a:off x="9353973" y="-1553420"/>
            <a:ext cx="2854020" cy="13716631"/>
            <a:chOff x="9353973" y="-1553420"/>
            <a:chExt cx="2854020" cy="13716631"/>
          </a:xfrm>
        </p:grpSpPr>
        <p:grpSp>
          <p:nvGrpSpPr>
            <p:cNvPr id="1280" name="Google Shape;1280;g3d4a20b5c44_0_26"/>
            <p:cNvGrpSpPr/>
            <p:nvPr/>
          </p:nvGrpSpPr>
          <p:grpSpPr>
            <a:xfrm>
              <a:off x="9353973" y="-1553420"/>
              <a:ext cx="2838027" cy="13716631"/>
              <a:chOff x="9353973" y="-6079700"/>
              <a:chExt cx="2838027" cy="13716631"/>
            </a:xfrm>
          </p:grpSpPr>
          <p:pic>
            <p:nvPicPr>
              <p:cNvPr id="1281" name="Google Shape;1281;g3d4a20b5c44_0_26"/>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282" name="Google Shape;1282;g3d4a20b5c44_0_26"/>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283" name="Google Shape;1283;g3d4a20b5c44_0_26"/>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4" name="Google Shape;1284;g3d4a20b5c44_0_26"/>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285" name="Google Shape;1285;g3d4a20b5c44_0_26"/>
          <p:cNvSpPr txBox="1"/>
          <p:nvPr/>
        </p:nvSpPr>
        <p:spPr>
          <a:xfrm>
            <a:off x="1055688" y="2303732"/>
            <a:ext cx="50229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1600" u="none" cap="none" strike="noStrike">
                <a:solidFill>
                  <a:schemeClr val="dk1"/>
                </a:solidFill>
                <a:latin typeface="IBM Plex Sans"/>
                <a:ea typeface="IBM Plex Sans"/>
                <a:cs typeface="IBM Plex Sans"/>
                <a:sym typeface="IBM Plex Sans"/>
              </a:rPr>
              <a:t>Что мы знаем о пассажирах?</a:t>
            </a:r>
            <a:endParaRPr b="1"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0" i="0" lang="ru-RU" sz="1600" u="none" cap="none" strike="noStrike">
                <a:solidFill>
                  <a:schemeClr val="dk1"/>
                </a:solidFill>
                <a:latin typeface="IBM Plex Sans"/>
                <a:ea typeface="IBM Plex Sans"/>
                <a:cs typeface="IBM Plex Sans"/>
                <a:sym typeface="IBM Plex Sans"/>
              </a:rPr>
              <a:t>Возраст, пол, класс билета, порт посадки и др.</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1600" u="none" cap="none" strike="noStrike">
                <a:solidFill>
                  <a:schemeClr val="dk1"/>
                </a:solidFill>
                <a:latin typeface="IBM Plex Sans"/>
                <a:ea typeface="IBM Plex Sans"/>
                <a:cs typeface="IBM Plex Sans"/>
                <a:sym typeface="IBM Plex Sans"/>
              </a:rPr>
              <a:t>Задача</a:t>
            </a:r>
            <a:r>
              <a:rPr b="0" i="0" lang="ru-RU" sz="1600" u="none" cap="none" strike="noStrike">
                <a:solidFill>
                  <a:schemeClr val="dk1"/>
                </a:solidFill>
                <a:latin typeface="IBM Plex Sans"/>
                <a:ea typeface="IBM Plex Sans"/>
                <a:cs typeface="IBM Plex Sans"/>
                <a:sym typeface="IBM Plex Sans"/>
              </a:rPr>
              <a:t>:</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0" i="0" lang="ru-RU" sz="1600" u="none" cap="none" strike="noStrike">
                <a:solidFill>
                  <a:schemeClr val="dk1"/>
                </a:solidFill>
                <a:latin typeface="IBM Plex Sans"/>
                <a:ea typeface="IBM Plex Sans"/>
                <a:cs typeface="IBM Plex Sans"/>
                <a:sym typeface="IBM Plex Sans"/>
              </a:rPr>
              <a:t>Предсказать: выжил пассажир (1) или погиб (0)</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1" i="0" lang="ru-RU" sz="1600" u="none" cap="none" strike="noStrike">
                <a:solidFill>
                  <a:schemeClr val="dk1"/>
                </a:solidFill>
                <a:latin typeface="IBM Plex Sans"/>
                <a:ea typeface="IBM Plex Sans"/>
                <a:cs typeface="IBM Plex Sans"/>
                <a:sym typeface="IBM Plex Sans"/>
              </a:rPr>
              <a:t>Цель проекта:</a:t>
            </a:r>
            <a:endParaRPr b="1" i="0" sz="16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0" i="0" lang="ru-RU" sz="1600" u="none" cap="none" strike="noStrike">
                <a:solidFill>
                  <a:schemeClr val="dk1"/>
                </a:solidFill>
                <a:latin typeface="IBM Plex Sans"/>
                <a:ea typeface="IBM Plex Sans"/>
                <a:cs typeface="IBM Plex Sans"/>
                <a:sym typeface="IBM Plex Sans"/>
              </a:rPr>
              <a:t>Пройти полный путь data scientist’а: от анализа данных до готовой модели прогнозирования выживания</a:t>
            </a:r>
            <a:endParaRPr b="0" i="0" sz="1600" u="none" cap="none" strike="noStrike">
              <a:solidFill>
                <a:schemeClr val="dk1"/>
              </a:solidFill>
              <a:latin typeface="IBM Plex Sans"/>
              <a:ea typeface="IBM Plex Sans"/>
              <a:cs typeface="IBM Plex Sans"/>
              <a:sym typeface="IBM Plex Sans"/>
            </a:endParaRPr>
          </a:p>
        </p:txBody>
      </p:sp>
      <p:pic>
        <p:nvPicPr>
          <p:cNvPr id="1286" name="Google Shape;1286;g3d4a20b5c44_0_26"/>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22"/>
          <p:cNvSpPr txBox="1"/>
          <p:nvPr/>
        </p:nvSpPr>
        <p:spPr>
          <a:xfrm>
            <a:off x="1055688" y="1327688"/>
            <a:ext cx="6421729" cy="301087"/>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Этапы работы над проектом</a:t>
            </a:r>
            <a:endParaRPr b="0" i="0" sz="3600" u="none" cap="none" strike="noStrike">
              <a:solidFill>
                <a:srgbClr val="DFDFDF"/>
              </a:solidFill>
              <a:latin typeface="IBM Plex Sans"/>
              <a:ea typeface="IBM Plex Sans"/>
              <a:cs typeface="IBM Plex Sans"/>
              <a:sym typeface="IBM Plex Sans"/>
            </a:endParaRPr>
          </a:p>
        </p:txBody>
      </p:sp>
      <p:grpSp>
        <p:nvGrpSpPr>
          <p:cNvPr id="1292" name="Google Shape;1292;p22"/>
          <p:cNvGrpSpPr/>
          <p:nvPr/>
        </p:nvGrpSpPr>
        <p:grpSpPr>
          <a:xfrm>
            <a:off x="9353973" y="-1553420"/>
            <a:ext cx="2853949" cy="13716633"/>
            <a:chOff x="9353973" y="-1553420"/>
            <a:chExt cx="2853949" cy="13716633"/>
          </a:xfrm>
        </p:grpSpPr>
        <p:grpSp>
          <p:nvGrpSpPr>
            <p:cNvPr id="1293" name="Google Shape;1293;p22"/>
            <p:cNvGrpSpPr/>
            <p:nvPr/>
          </p:nvGrpSpPr>
          <p:grpSpPr>
            <a:xfrm>
              <a:off x="9353973" y="-1553420"/>
              <a:ext cx="2838027" cy="13716633"/>
              <a:chOff x="9353973" y="-6079700"/>
              <a:chExt cx="2838027" cy="13716633"/>
            </a:xfrm>
          </p:grpSpPr>
          <p:pic>
            <p:nvPicPr>
              <p:cNvPr id="1294" name="Google Shape;1294;p22"/>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1295" name="Google Shape;1295;p22"/>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1296" name="Google Shape;1296;p22"/>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7" name="Google Shape;1297;p22"/>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298" name="Google Shape;1298;p22"/>
          <p:cNvSpPr txBox="1"/>
          <p:nvPr/>
        </p:nvSpPr>
        <p:spPr>
          <a:xfrm>
            <a:off x="1055700" y="2091475"/>
            <a:ext cx="5937900" cy="29553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00000"/>
              </a:lnSpc>
              <a:spcBef>
                <a:spcPts val="2000"/>
              </a:spcBef>
              <a:spcAft>
                <a:spcPts val="0"/>
              </a:spcAft>
              <a:buClr>
                <a:schemeClr val="dk1"/>
              </a:buClr>
              <a:buSzPts val="1800"/>
              <a:buFont typeface="IBM Plex Sans"/>
              <a:buAutoNum type="arabicPeriod"/>
            </a:pPr>
            <a:r>
              <a:rPr b="0" i="0" lang="ru-RU" sz="1800" u="none" cap="none" strike="noStrike">
                <a:solidFill>
                  <a:schemeClr val="dk1"/>
                </a:solidFill>
                <a:latin typeface="IBM Plex Sans"/>
                <a:ea typeface="IBM Plex Sans"/>
                <a:cs typeface="IBM Plex Sans"/>
                <a:sym typeface="IBM Plex Sans"/>
              </a:rPr>
              <a:t>Определение проблемы (Problem Definition)</a:t>
            </a:r>
            <a:endParaRPr b="0" i="0" sz="1800" u="none" cap="none" strike="noStrike">
              <a:solidFill>
                <a:schemeClr val="dk1"/>
              </a:solidFill>
              <a:latin typeface="IBM Plex Sans"/>
              <a:ea typeface="IBM Plex Sans"/>
              <a:cs typeface="IBM Plex Sans"/>
              <a:sym typeface="IBM Plex Sans"/>
            </a:endParaRPr>
          </a:p>
          <a:p>
            <a:pPr indent="-342900" lvl="0" marL="457200" marR="0" rtl="0" algn="l">
              <a:lnSpc>
                <a:spcPct val="100000"/>
              </a:lnSpc>
              <a:spcBef>
                <a:spcPts val="0"/>
              </a:spcBef>
              <a:spcAft>
                <a:spcPts val="0"/>
              </a:spcAft>
              <a:buClr>
                <a:schemeClr val="dk1"/>
              </a:buClr>
              <a:buSzPts val="1800"/>
              <a:buFont typeface="IBM Plex Sans"/>
              <a:buAutoNum type="arabicPeriod"/>
            </a:pPr>
            <a:r>
              <a:rPr b="0" i="0" lang="ru-RU" sz="1800" u="none" cap="none" strike="noStrike">
                <a:solidFill>
                  <a:schemeClr val="dk1"/>
                </a:solidFill>
                <a:latin typeface="IBM Plex Sans"/>
                <a:ea typeface="IBM Plex Sans"/>
                <a:cs typeface="IBM Plex Sans"/>
                <a:sym typeface="IBM Plex Sans"/>
              </a:rPr>
              <a:t>Сбор данных (Data Gathering)</a:t>
            </a:r>
            <a:endParaRPr b="0" i="0" sz="1800" u="none" cap="none" strike="noStrike">
              <a:solidFill>
                <a:schemeClr val="dk1"/>
              </a:solidFill>
              <a:latin typeface="IBM Plex Sans"/>
              <a:ea typeface="IBM Plex Sans"/>
              <a:cs typeface="IBM Plex Sans"/>
              <a:sym typeface="IBM Plex Sans"/>
            </a:endParaRPr>
          </a:p>
          <a:p>
            <a:pPr indent="-342900" lvl="0" marL="457200" marR="0" rtl="0" algn="l">
              <a:lnSpc>
                <a:spcPct val="100000"/>
              </a:lnSpc>
              <a:spcBef>
                <a:spcPts val="0"/>
              </a:spcBef>
              <a:spcAft>
                <a:spcPts val="0"/>
              </a:spcAft>
              <a:buClr>
                <a:schemeClr val="dk1"/>
              </a:buClr>
              <a:buSzPts val="1800"/>
              <a:buFont typeface="IBM Plex Sans"/>
              <a:buAutoNum type="arabicPeriod"/>
            </a:pPr>
            <a:r>
              <a:rPr b="0" i="0" lang="ru-RU" sz="1800" u="none" cap="none" strike="noStrike">
                <a:solidFill>
                  <a:schemeClr val="dk1"/>
                </a:solidFill>
                <a:latin typeface="IBM Plex Sans"/>
                <a:ea typeface="IBM Plex Sans"/>
                <a:cs typeface="IBM Plex Sans"/>
                <a:sym typeface="IBM Plex Sans"/>
              </a:rPr>
              <a:t>Подготовка данных (Data Preparation / Wrangling)</a:t>
            </a:r>
            <a:endParaRPr b="0" i="0" sz="1800" u="none" cap="none" strike="noStrike">
              <a:solidFill>
                <a:schemeClr val="dk1"/>
              </a:solidFill>
              <a:latin typeface="IBM Plex Sans"/>
              <a:ea typeface="IBM Plex Sans"/>
              <a:cs typeface="IBM Plex Sans"/>
              <a:sym typeface="IBM Plex Sans"/>
            </a:endParaRPr>
          </a:p>
          <a:p>
            <a:pPr indent="-342900" lvl="0" marL="457200" marR="0" rtl="0" algn="l">
              <a:lnSpc>
                <a:spcPct val="100000"/>
              </a:lnSpc>
              <a:spcBef>
                <a:spcPts val="0"/>
              </a:spcBef>
              <a:spcAft>
                <a:spcPts val="0"/>
              </a:spcAft>
              <a:buClr>
                <a:schemeClr val="dk1"/>
              </a:buClr>
              <a:buSzPts val="1800"/>
              <a:buFont typeface="IBM Plex Sans"/>
              <a:buAutoNum type="arabicPeriod"/>
            </a:pPr>
            <a:r>
              <a:rPr b="0" i="0" lang="ru-RU" sz="1800" u="none" cap="none" strike="noStrike">
                <a:solidFill>
                  <a:schemeClr val="dk1"/>
                </a:solidFill>
                <a:latin typeface="IBM Plex Sans"/>
                <a:ea typeface="IBM Plex Sans"/>
                <a:cs typeface="IBM Plex Sans"/>
                <a:sym typeface="IBM Plex Sans"/>
              </a:rPr>
              <a:t>Исследовательский анализ (Exploratory Analysis)</a:t>
            </a:r>
            <a:endParaRPr b="0" i="0" sz="1800" u="none" cap="none" strike="noStrike">
              <a:solidFill>
                <a:schemeClr val="dk1"/>
              </a:solidFill>
              <a:latin typeface="IBM Plex Sans"/>
              <a:ea typeface="IBM Plex Sans"/>
              <a:cs typeface="IBM Plex Sans"/>
              <a:sym typeface="IBM Plex Sans"/>
            </a:endParaRPr>
          </a:p>
          <a:p>
            <a:pPr indent="-342900" lvl="0" marL="457200" marR="0" rtl="0" algn="l">
              <a:lnSpc>
                <a:spcPct val="100000"/>
              </a:lnSpc>
              <a:spcBef>
                <a:spcPts val="0"/>
              </a:spcBef>
              <a:spcAft>
                <a:spcPts val="0"/>
              </a:spcAft>
              <a:buClr>
                <a:schemeClr val="dk1"/>
              </a:buClr>
              <a:buSzPts val="1800"/>
              <a:buFont typeface="IBM Plex Sans"/>
              <a:buAutoNum type="arabicPeriod"/>
            </a:pPr>
            <a:r>
              <a:rPr b="0" i="0" lang="ru-RU" sz="1800" u="none" cap="none" strike="noStrike">
                <a:solidFill>
                  <a:schemeClr val="dk1"/>
                </a:solidFill>
                <a:latin typeface="IBM Plex Sans"/>
                <a:ea typeface="IBM Plex Sans"/>
                <a:cs typeface="IBM Plex Sans"/>
                <a:sym typeface="IBM Plex Sans"/>
              </a:rPr>
              <a:t>Инженерия признаков (Feature Engineering)</a:t>
            </a:r>
            <a:endParaRPr b="0" i="0" sz="1800" u="none" cap="none" strike="noStrike">
              <a:solidFill>
                <a:schemeClr val="dk1"/>
              </a:solidFill>
              <a:latin typeface="IBM Plex Sans"/>
              <a:ea typeface="IBM Plex Sans"/>
              <a:cs typeface="IBM Plex Sans"/>
              <a:sym typeface="IBM Plex Sans"/>
            </a:endParaRPr>
          </a:p>
          <a:p>
            <a:pPr indent="-342900" lvl="0" marL="457200" marR="0" rtl="0" algn="l">
              <a:lnSpc>
                <a:spcPct val="100000"/>
              </a:lnSpc>
              <a:spcBef>
                <a:spcPts val="0"/>
              </a:spcBef>
              <a:spcAft>
                <a:spcPts val="0"/>
              </a:spcAft>
              <a:buClr>
                <a:schemeClr val="dk1"/>
              </a:buClr>
              <a:buSzPts val="1800"/>
              <a:buFont typeface="IBM Plex Sans"/>
              <a:buAutoNum type="arabicPeriod"/>
            </a:pPr>
            <a:r>
              <a:rPr b="0" i="0" lang="ru-RU" sz="1800" u="none" cap="none" strike="noStrike">
                <a:solidFill>
                  <a:schemeClr val="dk1"/>
                </a:solidFill>
                <a:latin typeface="IBM Plex Sans"/>
                <a:ea typeface="IBM Plex Sans"/>
                <a:cs typeface="IBM Plex Sans"/>
                <a:sym typeface="IBM Plex Sans"/>
              </a:rPr>
              <a:t>Обучение модели</a:t>
            </a:r>
            <a:endParaRPr b="0" i="0" sz="1800" u="none" cap="none" strike="noStrike">
              <a:solidFill>
                <a:schemeClr val="dk1"/>
              </a:solidFill>
              <a:latin typeface="IBM Plex Sans"/>
              <a:ea typeface="IBM Plex Sans"/>
              <a:cs typeface="IBM Plex Sans"/>
              <a:sym typeface="IBM Plex Sans"/>
            </a:endParaRPr>
          </a:p>
          <a:p>
            <a:pPr indent="-342900" lvl="0" marL="457200" marR="0" rtl="0" algn="l">
              <a:lnSpc>
                <a:spcPct val="100000"/>
              </a:lnSpc>
              <a:spcBef>
                <a:spcPts val="0"/>
              </a:spcBef>
              <a:spcAft>
                <a:spcPts val="0"/>
              </a:spcAft>
              <a:buClr>
                <a:schemeClr val="dk1"/>
              </a:buClr>
              <a:buSzPts val="1800"/>
              <a:buFont typeface="IBM Plex Sans"/>
              <a:buAutoNum type="arabicPeriod"/>
            </a:pPr>
            <a:r>
              <a:rPr b="0" i="0" lang="ru-RU" sz="1800" u="none" cap="none" strike="noStrike">
                <a:solidFill>
                  <a:schemeClr val="dk1"/>
                </a:solidFill>
                <a:latin typeface="IBM Plex Sans"/>
                <a:ea typeface="IBM Plex Sans"/>
                <a:cs typeface="IBM Plex Sans"/>
                <a:sym typeface="IBM Plex Sans"/>
              </a:rPr>
              <a:t>Валидация и внедрение модели (Validation &amp; Implementation)</a:t>
            </a:r>
            <a:endParaRPr b="0" i="0" sz="1800" u="none" cap="none" strike="noStrike">
              <a:solidFill>
                <a:schemeClr val="dk1"/>
              </a:solidFill>
              <a:latin typeface="IBM Plex Sans"/>
              <a:ea typeface="IBM Plex Sans"/>
              <a:cs typeface="IBM Plex Sans"/>
              <a:sym typeface="IBM Plex Sans"/>
            </a:endParaRPr>
          </a:p>
          <a:p>
            <a:pPr indent="-342900" lvl="0" marL="457200" marR="0" rtl="0" algn="l">
              <a:lnSpc>
                <a:spcPct val="100000"/>
              </a:lnSpc>
              <a:spcBef>
                <a:spcPts val="0"/>
              </a:spcBef>
              <a:spcAft>
                <a:spcPts val="0"/>
              </a:spcAft>
              <a:buClr>
                <a:schemeClr val="dk1"/>
              </a:buClr>
              <a:buSzPts val="1800"/>
              <a:buFont typeface="IBM Plex Sans"/>
              <a:buAutoNum type="arabicPeriod"/>
            </a:pPr>
            <a:r>
              <a:rPr b="0" i="0" lang="ru-RU" sz="1800" u="none" cap="none" strike="noStrike">
                <a:solidFill>
                  <a:schemeClr val="dk1"/>
                </a:solidFill>
                <a:latin typeface="IBM Plex Sans"/>
                <a:ea typeface="IBM Plex Sans"/>
                <a:cs typeface="IBM Plex Sans"/>
                <a:sym typeface="IBM Plex Sans"/>
              </a:rPr>
              <a:t>Оптимизация и стратегирование (Optimization &amp; Strategize)</a:t>
            </a:r>
            <a:endParaRPr b="0" i="0" sz="18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g3d4a20b5c44_0_14"/>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Kaggle</a:t>
            </a:r>
            <a:endParaRPr b="0" i="0" sz="3600" u="none" cap="none" strike="noStrike">
              <a:solidFill>
                <a:srgbClr val="DFDFDF"/>
              </a:solidFill>
              <a:latin typeface="IBM Plex Sans"/>
              <a:ea typeface="IBM Plex Sans"/>
              <a:cs typeface="IBM Plex Sans"/>
              <a:sym typeface="IBM Plex Sans"/>
            </a:endParaRPr>
          </a:p>
        </p:txBody>
      </p:sp>
      <p:grpSp>
        <p:nvGrpSpPr>
          <p:cNvPr id="1304" name="Google Shape;1304;g3d4a20b5c44_0_14"/>
          <p:cNvGrpSpPr/>
          <p:nvPr/>
        </p:nvGrpSpPr>
        <p:grpSpPr>
          <a:xfrm>
            <a:off x="9353973" y="-1553420"/>
            <a:ext cx="2854020" cy="13716631"/>
            <a:chOff x="9353973" y="-1553420"/>
            <a:chExt cx="2854020" cy="13716631"/>
          </a:xfrm>
        </p:grpSpPr>
        <p:grpSp>
          <p:nvGrpSpPr>
            <p:cNvPr id="1305" name="Google Shape;1305;g3d4a20b5c44_0_14"/>
            <p:cNvGrpSpPr/>
            <p:nvPr/>
          </p:nvGrpSpPr>
          <p:grpSpPr>
            <a:xfrm>
              <a:off x="9353973" y="-1553420"/>
              <a:ext cx="2838027" cy="13716631"/>
              <a:chOff x="9353973" y="-6079700"/>
              <a:chExt cx="2838027" cy="13716631"/>
            </a:xfrm>
          </p:grpSpPr>
          <p:pic>
            <p:nvPicPr>
              <p:cNvPr id="1306" name="Google Shape;1306;g3d4a20b5c44_0_14"/>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307" name="Google Shape;1307;g3d4a20b5c44_0_14"/>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308" name="Google Shape;1308;g3d4a20b5c44_0_14"/>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9" name="Google Shape;1309;g3d4a20b5c44_0_14"/>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310" name="Google Shape;1310;g3d4a20b5c44_0_14"/>
          <p:cNvSpPr txBox="1"/>
          <p:nvPr/>
        </p:nvSpPr>
        <p:spPr>
          <a:xfrm>
            <a:off x="1055701" y="2303725"/>
            <a:ext cx="6730500" cy="18078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0" i="0" lang="ru-RU" sz="2000" u="none" cap="none" strike="noStrike">
                <a:solidFill>
                  <a:schemeClr val="dk1"/>
                </a:solidFill>
                <a:latin typeface="IBM Plex Sans"/>
                <a:ea typeface="IBM Plex Sans"/>
                <a:cs typeface="IBM Plex Sans"/>
                <a:sym typeface="IBM Plex Sans"/>
              </a:rPr>
              <a:t>Kaggle - это международная платформа, на которой проводятся соревнования по анализу данных.</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0" i="0" lang="ru-RU" sz="2000" u="none" cap="none" strike="noStrike">
                <a:solidFill>
                  <a:schemeClr val="dk1"/>
                </a:solidFill>
                <a:latin typeface="IBM Plex Sans"/>
                <a:ea typeface="IBM Plex Sans"/>
                <a:cs typeface="IBM Plex Sans"/>
                <a:sym typeface="IBM Plex Sans"/>
              </a:rPr>
              <a:t>На платформе есть соревнования для новичков, они помечены тегами:</a:t>
            </a:r>
            <a:endParaRPr b="0" i="0" sz="2000" u="none" cap="none" strike="noStrike">
              <a:solidFill>
                <a:schemeClr val="dk1"/>
              </a:solidFill>
              <a:latin typeface="IBM Plex Sans"/>
              <a:ea typeface="IBM Plex Sans"/>
              <a:cs typeface="IBM Plex Sans"/>
              <a:sym typeface="IBM Plex Sans"/>
            </a:endParaRPr>
          </a:p>
          <a:p>
            <a:pPr indent="-355600" lvl="0" marL="457200" marR="0" rtl="0" algn="l">
              <a:lnSpc>
                <a:spcPct val="70000"/>
              </a:lnSpc>
              <a:spcBef>
                <a:spcPts val="0"/>
              </a:spcBef>
              <a:spcAft>
                <a:spcPts val="0"/>
              </a:spcAft>
              <a:buClr>
                <a:schemeClr val="dk1"/>
              </a:buClr>
              <a:buSzPts val="2000"/>
              <a:buFont typeface="IBM Plex Sans"/>
              <a:buChar char="●"/>
            </a:pPr>
            <a:r>
              <a:rPr b="0" i="0" lang="ru-RU" sz="2000" u="none" cap="none" strike="noStrike">
                <a:solidFill>
                  <a:schemeClr val="dk1"/>
                </a:solidFill>
                <a:latin typeface="IBM Plex Sans"/>
                <a:ea typeface="IBM Plex Sans"/>
                <a:cs typeface="IBM Plex Sans"/>
                <a:sym typeface="IBM Plex Sans"/>
              </a:rPr>
              <a:t>getting started</a:t>
            </a:r>
            <a:endParaRPr b="0" i="0" sz="2000" u="none" cap="none" strike="noStrike">
              <a:solidFill>
                <a:schemeClr val="dk1"/>
              </a:solidFill>
              <a:latin typeface="IBM Plex Sans"/>
              <a:ea typeface="IBM Plex Sans"/>
              <a:cs typeface="IBM Plex Sans"/>
              <a:sym typeface="IBM Plex Sans"/>
            </a:endParaRPr>
          </a:p>
          <a:p>
            <a:pPr indent="-355600" lvl="0" marL="457200" marR="0" rtl="0" algn="l">
              <a:lnSpc>
                <a:spcPct val="70000"/>
              </a:lnSpc>
              <a:spcBef>
                <a:spcPts val="0"/>
              </a:spcBef>
              <a:spcAft>
                <a:spcPts val="0"/>
              </a:spcAft>
              <a:buClr>
                <a:schemeClr val="dk1"/>
              </a:buClr>
              <a:buSzPts val="2000"/>
              <a:buFont typeface="IBM Plex Sans"/>
              <a:buChar char="●"/>
            </a:pPr>
            <a:r>
              <a:rPr b="0" i="0" lang="ru-RU" sz="2000" u="none" cap="none" strike="noStrike">
                <a:solidFill>
                  <a:schemeClr val="dk1"/>
                </a:solidFill>
                <a:latin typeface="IBM Plex Sans"/>
                <a:ea typeface="IBM Plex Sans"/>
                <a:cs typeface="IBM Plex Sans"/>
                <a:sym typeface="IBM Plex Sans"/>
              </a:rPr>
              <a:t>knowledge</a:t>
            </a:r>
            <a:endParaRPr b="0" i="0" sz="2000" u="none" cap="none" strike="noStrike">
              <a:solidFill>
                <a:schemeClr val="dk1"/>
              </a:solidFill>
              <a:latin typeface="IBM Plex Sans"/>
              <a:ea typeface="IBM Plex Sans"/>
              <a:cs typeface="IBM Plex Sans"/>
              <a:sym typeface="IBM Plex Sans"/>
            </a:endParaRPr>
          </a:p>
          <a:p>
            <a:pPr indent="-355600" lvl="0" marL="457200" marR="0" rtl="0" algn="l">
              <a:lnSpc>
                <a:spcPct val="70000"/>
              </a:lnSpc>
              <a:spcBef>
                <a:spcPts val="0"/>
              </a:spcBef>
              <a:spcAft>
                <a:spcPts val="0"/>
              </a:spcAft>
              <a:buClr>
                <a:schemeClr val="dk1"/>
              </a:buClr>
              <a:buSzPts val="2000"/>
              <a:buFont typeface="IBM Plex Sans"/>
              <a:buChar char="●"/>
            </a:pPr>
            <a:r>
              <a:rPr b="0" i="0" lang="ru-RU" sz="2000" u="none" cap="none" strike="noStrike">
                <a:solidFill>
                  <a:schemeClr val="dk1"/>
                </a:solidFill>
                <a:latin typeface="IBM Plex Sans"/>
                <a:ea typeface="IBM Plex Sans"/>
                <a:cs typeface="IBM Plex Sans"/>
                <a:sym typeface="IBM Plex Sans"/>
              </a:rPr>
              <a:t>playground</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2000"/>
              <a:buFont typeface="Arial"/>
              <a:buNone/>
            </a:pPr>
            <a:r>
              <a:t/>
            </a:r>
            <a:endParaRPr b="0" i="0" sz="2000" u="none" cap="none" strike="noStrike">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rPr b="0" i="0" lang="ru-RU" sz="2000" u="none" cap="none" strike="noStrike">
                <a:solidFill>
                  <a:schemeClr val="dk1"/>
                </a:solidFill>
                <a:latin typeface="IBM Plex Sans"/>
                <a:ea typeface="IBM Plex Sans"/>
                <a:cs typeface="IBM Plex Sans"/>
                <a:sym typeface="IBM Plex Sans"/>
              </a:rPr>
              <a:t>Помимо этого, там опубликовано огромное количество датасетов под разные задачи.</a:t>
            </a:r>
            <a:endParaRPr b="0" i="0" sz="2000" u="none" cap="none" strike="noStrike">
              <a:solidFill>
                <a:schemeClr val="dk1"/>
              </a:solidFill>
              <a:latin typeface="IBM Plex Sans"/>
              <a:ea typeface="IBM Plex Sans"/>
              <a:cs typeface="IBM Plex Sans"/>
              <a:sym typeface="IBM Plex Sans"/>
            </a:endParaRPr>
          </a:p>
        </p:txBody>
      </p:sp>
      <p:pic>
        <p:nvPicPr>
          <p:cNvPr id="1311" name="Google Shape;1311;g3d4a20b5c44_0_14"/>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g3d4a20b5c44_0_65"/>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Kaggle</a:t>
            </a:r>
            <a:endParaRPr b="0" i="0" sz="3600" u="none" cap="none" strike="noStrike">
              <a:solidFill>
                <a:srgbClr val="DFDFDF"/>
              </a:solidFill>
              <a:latin typeface="IBM Plex Sans"/>
              <a:ea typeface="IBM Plex Sans"/>
              <a:cs typeface="IBM Plex Sans"/>
              <a:sym typeface="IBM Plex Sans"/>
            </a:endParaRPr>
          </a:p>
        </p:txBody>
      </p:sp>
      <p:grpSp>
        <p:nvGrpSpPr>
          <p:cNvPr id="1317" name="Google Shape;1317;g3d4a20b5c44_0_65"/>
          <p:cNvGrpSpPr/>
          <p:nvPr/>
        </p:nvGrpSpPr>
        <p:grpSpPr>
          <a:xfrm>
            <a:off x="9353973" y="-1553420"/>
            <a:ext cx="2854020" cy="13716631"/>
            <a:chOff x="9353973" y="-1553420"/>
            <a:chExt cx="2854020" cy="13716631"/>
          </a:xfrm>
        </p:grpSpPr>
        <p:grpSp>
          <p:nvGrpSpPr>
            <p:cNvPr id="1318" name="Google Shape;1318;g3d4a20b5c44_0_65"/>
            <p:cNvGrpSpPr/>
            <p:nvPr/>
          </p:nvGrpSpPr>
          <p:grpSpPr>
            <a:xfrm>
              <a:off x="9353973" y="-1553420"/>
              <a:ext cx="2838027" cy="13716631"/>
              <a:chOff x="9353973" y="-6079700"/>
              <a:chExt cx="2838027" cy="13716631"/>
            </a:xfrm>
          </p:grpSpPr>
          <p:pic>
            <p:nvPicPr>
              <p:cNvPr id="1319" name="Google Shape;1319;g3d4a20b5c44_0_65"/>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320" name="Google Shape;1320;g3d4a20b5c44_0_65"/>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321" name="Google Shape;1321;g3d4a20b5c44_0_65"/>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22" name="Google Shape;1322;g3d4a20b5c44_0_65"/>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323" name="Google Shape;1323;g3d4a20b5c44_0_65"/>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pic>
        <p:nvPicPr>
          <p:cNvPr id="1324" name="Google Shape;1324;g3d4a20b5c44_0_65"/>
          <p:cNvPicPr preferRelativeResize="0"/>
          <p:nvPr/>
        </p:nvPicPr>
        <p:blipFill rotWithShape="1">
          <a:blip r:embed="rId5">
            <a:alphaModFix/>
          </a:blip>
          <a:srcRect b="0" l="0" r="0" t="0"/>
          <a:stretch/>
        </p:blipFill>
        <p:spPr>
          <a:xfrm>
            <a:off x="563275" y="1922788"/>
            <a:ext cx="8530582" cy="4596758"/>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g3d4a20b5c44_0_78"/>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Kaggle</a:t>
            </a:r>
            <a:endParaRPr b="0" i="0" sz="3600" u="none" cap="none" strike="noStrike">
              <a:solidFill>
                <a:srgbClr val="DFDFDF"/>
              </a:solidFill>
              <a:latin typeface="IBM Plex Sans"/>
              <a:ea typeface="IBM Plex Sans"/>
              <a:cs typeface="IBM Plex Sans"/>
              <a:sym typeface="IBM Plex Sans"/>
            </a:endParaRPr>
          </a:p>
        </p:txBody>
      </p:sp>
      <p:grpSp>
        <p:nvGrpSpPr>
          <p:cNvPr id="1330" name="Google Shape;1330;g3d4a20b5c44_0_78"/>
          <p:cNvGrpSpPr/>
          <p:nvPr/>
        </p:nvGrpSpPr>
        <p:grpSpPr>
          <a:xfrm>
            <a:off x="9353973" y="-1553420"/>
            <a:ext cx="2854020" cy="13716631"/>
            <a:chOff x="9353973" y="-1553420"/>
            <a:chExt cx="2854020" cy="13716631"/>
          </a:xfrm>
        </p:grpSpPr>
        <p:grpSp>
          <p:nvGrpSpPr>
            <p:cNvPr id="1331" name="Google Shape;1331;g3d4a20b5c44_0_78"/>
            <p:cNvGrpSpPr/>
            <p:nvPr/>
          </p:nvGrpSpPr>
          <p:grpSpPr>
            <a:xfrm>
              <a:off x="9353973" y="-1553420"/>
              <a:ext cx="2838027" cy="13716631"/>
              <a:chOff x="9353973" y="-6079700"/>
              <a:chExt cx="2838027" cy="13716631"/>
            </a:xfrm>
          </p:grpSpPr>
          <p:pic>
            <p:nvPicPr>
              <p:cNvPr id="1332" name="Google Shape;1332;g3d4a20b5c44_0_78"/>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333" name="Google Shape;1333;g3d4a20b5c44_0_78"/>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334" name="Google Shape;1334;g3d4a20b5c44_0_78"/>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5" name="Google Shape;1335;g3d4a20b5c44_0_78"/>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336" name="Google Shape;1336;g3d4a20b5c44_0_78"/>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pic>
        <p:nvPicPr>
          <p:cNvPr id="1337" name="Google Shape;1337;g3d4a20b5c44_0_78"/>
          <p:cNvPicPr preferRelativeResize="0"/>
          <p:nvPr/>
        </p:nvPicPr>
        <p:blipFill rotWithShape="1">
          <a:blip r:embed="rId5">
            <a:alphaModFix/>
          </a:blip>
          <a:srcRect b="9739" l="23124" r="0" t="0"/>
          <a:stretch/>
        </p:blipFill>
        <p:spPr>
          <a:xfrm>
            <a:off x="1055700" y="1924175"/>
            <a:ext cx="7802926" cy="446197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g3d4bbec988b_0_7"/>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Kaggle</a:t>
            </a:r>
            <a:endParaRPr b="0" i="0" sz="3600" u="none" cap="none" strike="noStrike">
              <a:solidFill>
                <a:srgbClr val="DFDFDF"/>
              </a:solidFill>
              <a:latin typeface="IBM Plex Sans"/>
              <a:ea typeface="IBM Plex Sans"/>
              <a:cs typeface="IBM Plex Sans"/>
              <a:sym typeface="IBM Plex Sans"/>
            </a:endParaRPr>
          </a:p>
        </p:txBody>
      </p:sp>
      <p:grpSp>
        <p:nvGrpSpPr>
          <p:cNvPr id="1343" name="Google Shape;1343;g3d4bbec988b_0_7"/>
          <p:cNvGrpSpPr/>
          <p:nvPr/>
        </p:nvGrpSpPr>
        <p:grpSpPr>
          <a:xfrm>
            <a:off x="9353973" y="-1553420"/>
            <a:ext cx="2854020" cy="13716631"/>
            <a:chOff x="9353973" y="-1553420"/>
            <a:chExt cx="2854020" cy="13716631"/>
          </a:xfrm>
        </p:grpSpPr>
        <p:grpSp>
          <p:nvGrpSpPr>
            <p:cNvPr id="1344" name="Google Shape;1344;g3d4bbec988b_0_7"/>
            <p:cNvGrpSpPr/>
            <p:nvPr/>
          </p:nvGrpSpPr>
          <p:grpSpPr>
            <a:xfrm>
              <a:off x="9353973" y="-1553420"/>
              <a:ext cx="2838027" cy="13716631"/>
              <a:chOff x="9353973" y="-6079700"/>
              <a:chExt cx="2838027" cy="13716631"/>
            </a:xfrm>
          </p:grpSpPr>
          <p:pic>
            <p:nvPicPr>
              <p:cNvPr id="1345" name="Google Shape;1345;g3d4bbec988b_0_7"/>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346" name="Google Shape;1346;g3d4bbec988b_0_7"/>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347" name="Google Shape;1347;g3d4bbec988b_0_7"/>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48" name="Google Shape;1348;g3d4bbec988b_0_7"/>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349" name="Google Shape;1349;g3d4bbec988b_0_7"/>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pic>
        <p:nvPicPr>
          <p:cNvPr id="1350" name="Google Shape;1350;g3d4bbec988b_0_7"/>
          <p:cNvPicPr preferRelativeResize="0"/>
          <p:nvPr/>
        </p:nvPicPr>
        <p:blipFill rotWithShape="1">
          <a:blip r:embed="rId5">
            <a:alphaModFix/>
          </a:blip>
          <a:srcRect b="0" l="0" r="0" t="0"/>
          <a:stretch/>
        </p:blipFill>
        <p:spPr>
          <a:xfrm>
            <a:off x="788000" y="1933688"/>
            <a:ext cx="8468601" cy="4924312"/>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sp>
        <p:nvSpPr>
          <p:cNvPr id="1355" name="Google Shape;1355;g3d4bbec988b_0_20"/>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Kaggle</a:t>
            </a:r>
            <a:endParaRPr b="0" i="0" sz="3600" u="none" cap="none" strike="noStrike">
              <a:solidFill>
                <a:srgbClr val="DFDFDF"/>
              </a:solidFill>
              <a:latin typeface="IBM Plex Sans"/>
              <a:ea typeface="IBM Plex Sans"/>
              <a:cs typeface="IBM Plex Sans"/>
              <a:sym typeface="IBM Plex Sans"/>
            </a:endParaRPr>
          </a:p>
        </p:txBody>
      </p:sp>
      <p:grpSp>
        <p:nvGrpSpPr>
          <p:cNvPr id="1356" name="Google Shape;1356;g3d4bbec988b_0_20"/>
          <p:cNvGrpSpPr/>
          <p:nvPr/>
        </p:nvGrpSpPr>
        <p:grpSpPr>
          <a:xfrm>
            <a:off x="9353973" y="-1553420"/>
            <a:ext cx="2854020" cy="13716631"/>
            <a:chOff x="9353973" y="-1553420"/>
            <a:chExt cx="2854020" cy="13716631"/>
          </a:xfrm>
        </p:grpSpPr>
        <p:grpSp>
          <p:nvGrpSpPr>
            <p:cNvPr id="1357" name="Google Shape;1357;g3d4bbec988b_0_20"/>
            <p:cNvGrpSpPr/>
            <p:nvPr/>
          </p:nvGrpSpPr>
          <p:grpSpPr>
            <a:xfrm>
              <a:off x="9353973" y="-1553420"/>
              <a:ext cx="2838027" cy="13716631"/>
              <a:chOff x="9353973" y="-6079700"/>
              <a:chExt cx="2838027" cy="13716631"/>
            </a:xfrm>
          </p:grpSpPr>
          <p:pic>
            <p:nvPicPr>
              <p:cNvPr id="1358" name="Google Shape;1358;g3d4bbec988b_0_20"/>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359" name="Google Shape;1359;g3d4bbec988b_0_20"/>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360" name="Google Shape;1360;g3d4bbec988b_0_20"/>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1" name="Google Shape;1361;g3d4bbec988b_0_20"/>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362" name="Google Shape;1362;g3d4bbec988b_0_20"/>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pic>
        <p:nvPicPr>
          <p:cNvPr id="1363" name="Google Shape;1363;g3d4bbec988b_0_20"/>
          <p:cNvPicPr preferRelativeResize="0"/>
          <p:nvPr/>
        </p:nvPicPr>
        <p:blipFill rotWithShape="1">
          <a:blip r:embed="rId5">
            <a:alphaModFix/>
          </a:blip>
          <a:srcRect b="0" l="0" r="0" t="0"/>
          <a:stretch/>
        </p:blipFill>
        <p:spPr>
          <a:xfrm>
            <a:off x="1178075" y="2047423"/>
            <a:ext cx="3525250" cy="457182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sp>
        <p:nvSpPr>
          <p:cNvPr id="1368" name="Google Shape;1368;g3d4bbec988b_0_34"/>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Kaggle</a:t>
            </a:r>
            <a:endParaRPr b="0" i="0" sz="3600" u="none" cap="none" strike="noStrike">
              <a:solidFill>
                <a:srgbClr val="DFDFDF"/>
              </a:solidFill>
              <a:latin typeface="IBM Plex Sans"/>
              <a:ea typeface="IBM Plex Sans"/>
              <a:cs typeface="IBM Plex Sans"/>
              <a:sym typeface="IBM Plex Sans"/>
            </a:endParaRPr>
          </a:p>
        </p:txBody>
      </p:sp>
      <p:grpSp>
        <p:nvGrpSpPr>
          <p:cNvPr id="1369" name="Google Shape;1369;g3d4bbec988b_0_34"/>
          <p:cNvGrpSpPr/>
          <p:nvPr/>
        </p:nvGrpSpPr>
        <p:grpSpPr>
          <a:xfrm>
            <a:off x="9353973" y="-1553420"/>
            <a:ext cx="2854020" cy="13716631"/>
            <a:chOff x="9353973" y="-1553420"/>
            <a:chExt cx="2854020" cy="13716631"/>
          </a:xfrm>
        </p:grpSpPr>
        <p:grpSp>
          <p:nvGrpSpPr>
            <p:cNvPr id="1370" name="Google Shape;1370;g3d4bbec988b_0_34"/>
            <p:cNvGrpSpPr/>
            <p:nvPr/>
          </p:nvGrpSpPr>
          <p:grpSpPr>
            <a:xfrm>
              <a:off x="9353973" y="-1553420"/>
              <a:ext cx="2838027" cy="13716631"/>
              <a:chOff x="9353973" y="-6079700"/>
              <a:chExt cx="2838027" cy="13716631"/>
            </a:xfrm>
          </p:grpSpPr>
          <p:pic>
            <p:nvPicPr>
              <p:cNvPr id="1371" name="Google Shape;1371;g3d4bbec988b_0_34"/>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372" name="Google Shape;1372;g3d4bbec988b_0_34"/>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373" name="Google Shape;1373;g3d4bbec988b_0_34"/>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74" name="Google Shape;1374;g3d4bbec988b_0_34"/>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375" name="Google Shape;1375;g3d4bbec988b_0_34"/>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pic>
        <p:nvPicPr>
          <p:cNvPr id="1376" name="Google Shape;1376;g3d4bbec988b_0_34"/>
          <p:cNvPicPr preferRelativeResize="0"/>
          <p:nvPr/>
        </p:nvPicPr>
        <p:blipFill rotWithShape="1">
          <a:blip r:embed="rId5">
            <a:alphaModFix/>
          </a:blip>
          <a:srcRect b="0" l="0" r="0" t="0"/>
          <a:stretch/>
        </p:blipFill>
        <p:spPr>
          <a:xfrm>
            <a:off x="4703325" y="2153462"/>
            <a:ext cx="7030274" cy="4465788"/>
          </a:xfrm>
          <a:prstGeom prst="rect">
            <a:avLst/>
          </a:prstGeom>
          <a:noFill/>
          <a:ln>
            <a:noFill/>
          </a:ln>
        </p:spPr>
      </p:pic>
      <p:pic>
        <p:nvPicPr>
          <p:cNvPr id="1377" name="Google Shape;1377;g3d4bbec988b_0_34"/>
          <p:cNvPicPr preferRelativeResize="0"/>
          <p:nvPr/>
        </p:nvPicPr>
        <p:blipFill rotWithShape="1">
          <a:blip r:embed="rId6">
            <a:alphaModFix/>
          </a:blip>
          <a:srcRect b="0" l="0" r="0" t="0"/>
          <a:stretch/>
        </p:blipFill>
        <p:spPr>
          <a:xfrm>
            <a:off x="1178075" y="2047423"/>
            <a:ext cx="3525250" cy="457182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1"/>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Работа в команде</a:t>
            </a:r>
            <a:endParaRPr b="0" i="0" sz="3600" u="none" cap="none" strike="noStrike">
              <a:solidFill>
                <a:srgbClr val="DFDFDF"/>
              </a:solidFill>
              <a:latin typeface="IBM Plex Sans"/>
              <a:ea typeface="IBM Plex Sans"/>
              <a:cs typeface="IBM Plex Sans"/>
              <a:sym typeface="IBM Plex Sans"/>
            </a:endParaRPr>
          </a:p>
        </p:txBody>
      </p:sp>
      <p:grpSp>
        <p:nvGrpSpPr>
          <p:cNvPr id="1383" name="Google Shape;1383;p1"/>
          <p:cNvGrpSpPr/>
          <p:nvPr/>
        </p:nvGrpSpPr>
        <p:grpSpPr>
          <a:xfrm>
            <a:off x="9353973" y="-1553420"/>
            <a:ext cx="2854020" cy="13716631"/>
            <a:chOff x="9353973" y="-1553420"/>
            <a:chExt cx="2854020" cy="13716631"/>
          </a:xfrm>
        </p:grpSpPr>
        <p:grpSp>
          <p:nvGrpSpPr>
            <p:cNvPr id="1384" name="Google Shape;1384;p1"/>
            <p:cNvGrpSpPr/>
            <p:nvPr/>
          </p:nvGrpSpPr>
          <p:grpSpPr>
            <a:xfrm>
              <a:off x="9353973" y="-1553420"/>
              <a:ext cx="2838027" cy="13716631"/>
              <a:chOff x="9353973" y="-6079700"/>
              <a:chExt cx="2838027" cy="13716631"/>
            </a:xfrm>
          </p:grpSpPr>
          <p:pic>
            <p:nvPicPr>
              <p:cNvPr id="1385" name="Google Shape;1385;p1"/>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386" name="Google Shape;1386;p1"/>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387" name="Google Shape;1387;p1"/>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88" name="Google Shape;1388;p1"/>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389" name="Google Shape;1389;p1"/>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sp>
        <p:nvSpPr>
          <p:cNvPr id="1390" name="Google Shape;1390;p1"/>
          <p:cNvSpPr txBox="1"/>
          <p:nvPr/>
        </p:nvSpPr>
        <p:spPr>
          <a:xfrm>
            <a:off x="1055701" y="2303725"/>
            <a:ext cx="6730500" cy="1807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ru-RU" sz="2000" u="none" cap="none" strike="noStrike">
                <a:solidFill>
                  <a:schemeClr val="dk1"/>
                </a:solidFill>
                <a:latin typeface="IBM Plex Sans"/>
                <a:ea typeface="IBM Plex Sans"/>
                <a:cs typeface="IBM Plex Sans"/>
                <a:sym typeface="IBM Plex Sans"/>
              </a:rPr>
              <a:t>Договоритесь о целях: </a:t>
            </a:r>
            <a:endParaRPr/>
          </a:p>
          <a:p>
            <a:pPr indent="-342900" lvl="0" marL="342900" marR="0" rtl="0" algn="l">
              <a:lnSpc>
                <a:spcPct val="150000"/>
              </a:lnSpc>
              <a:spcBef>
                <a:spcPts val="0"/>
              </a:spcBef>
              <a:spcAft>
                <a:spcPts val="0"/>
              </a:spcAft>
              <a:buClr>
                <a:srgbClr val="000000"/>
              </a:buClr>
              <a:buSzPts val="3600"/>
              <a:buFont typeface="Arial"/>
              <a:buChar char="-"/>
            </a:pPr>
            <a:r>
              <a:rPr b="0" i="0" lang="ru-RU" sz="2000" u="none" cap="none" strike="noStrike">
                <a:solidFill>
                  <a:schemeClr val="dk1"/>
                </a:solidFill>
                <a:latin typeface="IBM Plex Sans"/>
                <a:ea typeface="IBM Plex Sans"/>
                <a:cs typeface="IBM Plex Sans"/>
                <a:sym typeface="IBM Plex Sans"/>
              </a:rPr>
              <a:t>Получить топ по метрикам, закрыть задание на максимум</a:t>
            </a:r>
            <a:endParaRPr/>
          </a:p>
          <a:p>
            <a:pPr indent="-342900" lvl="0" marL="342900" marR="0" rtl="0" algn="l">
              <a:lnSpc>
                <a:spcPct val="150000"/>
              </a:lnSpc>
              <a:spcBef>
                <a:spcPts val="0"/>
              </a:spcBef>
              <a:spcAft>
                <a:spcPts val="0"/>
              </a:spcAft>
              <a:buClr>
                <a:srgbClr val="000000"/>
              </a:buClr>
              <a:buSzPts val="3600"/>
              <a:buFont typeface="Arial"/>
              <a:buChar char="-"/>
            </a:pPr>
            <a:r>
              <a:rPr b="0" i="0" lang="ru-RU" sz="2000" u="none" cap="none" strike="noStrike">
                <a:solidFill>
                  <a:schemeClr val="dk1"/>
                </a:solidFill>
                <a:latin typeface="IBM Plex Sans"/>
                <a:ea typeface="IBM Plex Sans"/>
                <a:cs typeface="IBM Plex Sans"/>
                <a:sym typeface="IBM Plex Sans"/>
              </a:rPr>
              <a:t>Попробовать, поэксперементировать</a:t>
            </a:r>
            <a:endParaRPr b="0" i="0" sz="2000" u="none" cap="none" strike="noStrike">
              <a:solidFill>
                <a:schemeClr val="dk1"/>
              </a:solidFill>
              <a:latin typeface="IBM Plex Sans"/>
              <a:ea typeface="IBM Plex Sans"/>
              <a:cs typeface="IBM Plex Sans"/>
              <a:sym typeface="IBM Plex Sans"/>
            </a:endParaRPr>
          </a:p>
          <a:p>
            <a:pPr indent="-342900" lvl="0" marL="342900" marR="0" rtl="0" algn="l">
              <a:lnSpc>
                <a:spcPct val="150000"/>
              </a:lnSpc>
              <a:spcBef>
                <a:spcPts val="0"/>
              </a:spcBef>
              <a:spcAft>
                <a:spcPts val="0"/>
              </a:spcAft>
              <a:buClr>
                <a:srgbClr val="000000"/>
              </a:buClr>
              <a:buSzPts val="3600"/>
              <a:buFont typeface="Arial"/>
              <a:buChar char="-"/>
            </a:pPr>
            <a:r>
              <a:rPr b="0" i="0" lang="ru-RU" sz="2000" u="none" cap="none" strike="noStrike">
                <a:solidFill>
                  <a:schemeClr val="dk1"/>
                </a:solidFill>
                <a:latin typeface="IBM Plex Sans"/>
                <a:ea typeface="IBM Plex Sans"/>
                <a:cs typeface="IBM Plex Sans"/>
                <a:sym typeface="IBM Plex Sans"/>
              </a:rPr>
              <a:t>Пройти планку сдачи курса</a:t>
            </a:r>
            <a:endParaRPr b="0" i="0" sz="20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17"/>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Работа в команде</a:t>
            </a:r>
            <a:endParaRPr b="0" i="0" sz="3600" u="none" cap="none" strike="noStrike">
              <a:solidFill>
                <a:srgbClr val="DFDFDF"/>
              </a:solidFill>
              <a:latin typeface="IBM Plex Sans"/>
              <a:ea typeface="IBM Plex Sans"/>
              <a:cs typeface="IBM Plex Sans"/>
              <a:sym typeface="IBM Plex Sans"/>
            </a:endParaRPr>
          </a:p>
        </p:txBody>
      </p:sp>
      <p:grpSp>
        <p:nvGrpSpPr>
          <p:cNvPr id="1396" name="Google Shape;1396;p17"/>
          <p:cNvGrpSpPr/>
          <p:nvPr/>
        </p:nvGrpSpPr>
        <p:grpSpPr>
          <a:xfrm>
            <a:off x="9353973" y="-1553420"/>
            <a:ext cx="2854020" cy="13716631"/>
            <a:chOff x="9353973" y="-1553420"/>
            <a:chExt cx="2854020" cy="13716631"/>
          </a:xfrm>
        </p:grpSpPr>
        <p:grpSp>
          <p:nvGrpSpPr>
            <p:cNvPr id="1397" name="Google Shape;1397;p17"/>
            <p:cNvGrpSpPr/>
            <p:nvPr/>
          </p:nvGrpSpPr>
          <p:grpSpPr>
            <a:xfrm>
              <a:off x="9353973" y="-1553420"/>
              <a:ext cx="2838027" cy="13716631"/>
              <a:chOff x="9353973" y="-6079700"/>
              <a:chExt cx="2838027" cy="13716631"/>
            </a:xfrm>
          </p:grpSpPr>
          <p:pic>
            <p:nvPicPr>
              <p:cNvPr id="1398" name="Google Shape;1398;p17"/>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399" name="Google Shape;1399;p17"/>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400" name="Google Shape;1400;p17"/>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01" name="Google Shape;1401;p17"/>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402" name="Google Shape;1402;p17"/>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sp>
        <p:nvSpPr>
          <p:cNvPr id="1403" name="Google Shape;1403;p17"/>
          <p:cNvSpPr txBox="1"/>
          <p:nvPr/>
        </p:nvSpPr>
        <p:spPr>
          <a:xfrm>
            <a:off x="1055701" y="2303725"/>
            <a:ext cx="6730500" cy="18078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000000"/>
              </a:buClr>
              <a:buSzPts val="3600"/>
              <a:buFont typeface="Arial"/>
              <a:buChar char="-"/>
            </a:pPr>
            <a:r>
              <a:rPr b="0" i="0" lang="ru-RU" sz="2000" u="none" cap="none" strike="noStrike">
                <a:solidFill>
                  <a:schemeClr val="dk1"/>
                </a:solidFill>
                <a:latin typeface="IBM Plex Sans"/>
                <a:ea typeface="IBM Plex Sans"/>
                <a:cs typeface="IBM Plex Sans"/>
                <a:sym typeface="IBM Plex Sans"/>
              </a:rPr>
              <a:t>Выберите формат встреч и время:</a:t>
            </a:r>
            <a:endParaRPr/>
          </a:p>
          <a:p>
            <a:pPr indent="-342900" lvl="0" marL="342900" marR="0" rtl="0" algn="l">
              <a:lnSpc>
                <a:spcPct val="150000"/>
              </a:lnSpc>
              <a:spcBef>
                <a:spcPts val="0"/>
              </a:spcBef>
              <a:spcAft>
                <a:spcPts val="0"/>
              </a:spcAft>
              <a:buClr>
                <a:srgbClr val="000000"/>
              </a:buClr>
              <a:buSzPts val="3600"/>
              <a:buFont typeface="Arial"/>
              <a:buChar char="-"/>
            </a:pPr>
            <a:r>
              <a:rPr b="0" i="0" lang="ru-RU" sz="2000" u="none" cap="none" strike="noStrike">
                <a:solidFill>
                  <a:schemeClr val="dk1"/>
                </a:solidFill>
                <a:latin typeface="IBM Plex Sans"/>
                <a:ea typeface="IBM Plex Sans"/>
                <a:cs typeface="IBM Plex Sans"/>
                <a:sym typeface="IBM Plex Sans"/>
              </a:rPr>
              <a:t>Встречаетесь очно или онлайн</a:t>
            </a:r>
            <a:endParaRPr/>
          </a:p>
          <a:p>
            <a:pPr indent="-342900" lvl="0" marL="342900" marR="0" rtl="0" algn="l">
              <a:lnSpc>
                <a:spcPct val="150000"/>
              </a:lnSpc>
              <a:spcBef>
                <a:spcPts val="0"/>
              </a:spcBef>
              <a:spcAft>
                <a:spcPts val="0"/>
              </a:spcAft>
              <a:buClr>
                <a:srgbClr val="000000"/>
              </a:buClr>
              <a:buSzPts val="3600"/>
              <a:buFont typeface="Arial"/>
              <a:buChar char="-"/>
            </a:pPr>
            <a:r>
              <a:rPr b="0" i="0" lang="ru-RU" sz="2000" u="none" cap="none" strike="noStrike">
                <a:solidFill>
                  <a:schemeClr val="dk1"/>
                </a:solidFill>
                <a:latin typeface="IBM Plex Sans"/>
                <a:ea typeface="IBM Plex Sans"/>
                <a:cs typeface="IBM Plex Sans"/>
                <a:sym typeface="IBM Plex Sans"/>
              </a:rPr>
              <a:t>Разбираете теорию самостоятельно или вместе</a:t>
            </a:r>
            <a:endParaRPr/>
          </a:p>
          <a:p>
            <a:pPr indent="-342900" lvl="0" marL="342900" marR="0" rtl="0" algn="l">
              <a:lnSpc>
                <a:spcPct val="150000"/>
              </a:lnSpc>
              <a:spcBef>
                <a:spcPts val="0"/>
              </a:spcBef>
              <a:spcAft>
                <a:spcPts val="0"/>
              </a:spcAft>
              <a:buClr>
                <a:srgbClr val="000000"/>
              </a:buClr>
              <a:buSzPts val="3600"/>
              <a:buFont typeface="Arial"/>
              <a:buChar char="-"/>
            </a:pPr>
            <a:r>
              <a:rPr b="0" i="0" lang="ru-RU" sz="2000" u="none" cap="none" strike="noStrike">
                <a:solidFill>
                  <a:schemeClr val="dk1"/>
                </a:solidFill>
                <a:latin typeface="IBM Plex Sans"/>
                <a:ea typeface="IBM Plex Sans"/>
                <a:cs typeface="IBM Plex Sans"/>
                <a:sym typeface="IBM Plex Sans"/>
              </a:rPr>
              <a:t>Пишете код самостоятельно, потом обсуждаете результат и прогресс, либо пишете код одновременно</a:t>
            </a:r>
            <a:endParaRPr b="0" i="0" sz="20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9"/>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i="0" lang="ru-RU" sz="3600" u="none" cap="none" strike="noStrike">
                <a:solidFill>
                  <a:schemeClr val="dk1"/>
                </a:solidFill>
                <a:latin typeface="IBM Plex Sans"/>
                <a:ea typeface="IBM Plex Sans"/>
                <a:cs typeface="IBM Plex Sans"/>
                <a:sym typeface="IBM Plex Sans"/>
              </a:rPr>
              <a:t>Работа в команде</a:t>
            </a:r>
            <a:endParaRPr b="0" i="0" sz="3600" u="none" cap="none" strike="noStrike">
              <a:solidFill>
                <a:srgbClr val="DFDFDF"/>
              </a:solidFill>
              <a:latin typeface="IBM Plex Sans"/>
              <a:ea typeface="IBM Plex Sans"/>
              <a:cs typeface="IBM Plex Sans"/>
              <a:sym typeface="IBM Plex Sans"/>
            </a:endParaRPr>
          </a:p>
        </p:txBody>
      </p:sp>
      <p:grpSp>
        <p:nvGrpSpPr>
          <p:cNvPr id="1409" name="Google Shape;1409;p19"/>
          <p:cNvGrpSpPr/>
          <p:nvPr/>
        </p:nvGrpSpPr>
        <p:grpSpPr>
          <a:xfrm>
            <a:off x="9353973" y="-1553420"/>
            <a:ext cx="2854020" cy="13716631"/>
            <a:chOff x="9353973" y="-1553420"/>
            <a:chExt cx="2854020" cy="13716631"/>
          </a:xfrm>
        </p:grpSpPr>
        <p:grpSp>
          <p:nvGrpSpPr>
            <p:cNvPr id="1410" name="Google Shape;1410;p19"/>
            <p:cNvGrpSpPr/>
            <p:nvPr/>
          </p:nvGrpSpPr>
          <p:grpSpPr>
            <a:xfrm>
              <a:off x="9353973" y="-1553420"/>
              <a:ext cx="2838027" cy="13716631"/>
              <a:chOff x="9353973" y="-6079700"/>
              <a:chExt cx="2838027" cy="13716631"/>
            </a:xfrm>
          </p:grpSpPr>
          <p:pic>
            <p:nvPicPr>
              <p:cNvPr id="1411" name="Google Shape;1411;p19"/>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412" name="Google Shape;1412;p19"/>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413" name="Google Shape;1413;p19"/>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14" name="Google Shape;1414;p19"/>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415" name="Google Shape;1415;p19"/>
          <p:cNvPicPr preferRelativeResize="0"/>
          <p:nvPr/>
        </p:nvPicPr>
        <p:blipFill rotWithShape="1">
          <a:blip r:embed="rId4">
            <a:alphaModFix/>
          </a:blip>
          <a:srcRect b="0" l="0" r="0" t="0"/>
          <a:stretch/>
        </p:blipFill>
        <p:spPr>
          <a:xfrm>
            <a:off x="8835381" y="3877696"/>
            <a:ext cx="2638190" cy="2641856"/>
          </a:xfrm>
          <a:prstGeom prst="rect">
            <a:avLst/>
          </a:prstGeom>
          <a:noFill/>
          <a:ln>
            <a:noFill/>
          </a:ln>
        </p:spPr>
      </p:pic>
      <p:sp>
        <p:nvSpPr>
          <p:cNvPr id="1416" name="Google Shape;1416;p19"/>
          <p:cNvSpPr txBox="1"/>
          <p:nvPr/>
        </p:nvSpPr>
        <p:spPr>
          <a:xfrm>
            <a:off x="1055701" y="2303725"/>
            <a:ext cx="6730500" cy="1807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ru-RU" sz="2000" u="none" cap="none" strike="noStrike">
                <a:solidFill>
                  <a:schemeClr val="dk1"/>
                </a:solidFill>
                <a:latin typeface="IBM Plex Sans"/>
                <a:ea typeface="IBM Plex Sans"/>
                <a:cs typeface="IBM Plex Sans"/>
                <a:sym typeface="IBM Plex Sans"/>
              </a:rPr>
              <a:t>Работайте итеративно:</a:t>
            </a:r>
            <a:endParaRPr/>
          </a:p>
          <a:p>
            <a:pPr indent="0" lvl="0" marL="0" marR="0" rtl="0" algn="l">
              <a:lnSpc>
                <a:spcPct val="150000"/>
              </a:lnSpc>
              <a:spcBef>
                <a:spcPts val="0"/>
              </a:spcBef>
              <a:spcAft>
                <a:spcPts val="0"/>
              </a:spcAft>
              <a:buNone/>
            </a:pPr>
            <a:r>
              <a:rPr b="0" i="0" lang="ru-RU" sz="2000" u="none" cap="none" strike="noStrike">
                <a:solidFill>
                  <a:schemeClr val="dk1"/>
                </a:solidFill>
                <a:latin typeface="IBM Plex Sans"/>
                <a:ea typeface="IBM Plex Sans"/>
                <a:cs typeface="IBM Plex Sans"/>
                <a:sym typeface="IBM Plex Sans"/>
              </a:rPr>
              <a:t>Сначала пройдите все этапы, потом возвращайтесь к прошлым шагам и постепенно их улучшайте</a:t>
            </a:r>
            <a:endParaRPr b="0" i="0" sz="20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1" name="Shape 1421"/>
        <p:cNvGrpSpPr/>
        <p:nvPr/>
      </p:nvGrpSpPr>
      <p:grpSpPr>
        <a:xfrm>
          <a:off x="0" y="0"/>
          <a:ext cx="0" cy="0"/>
          <a:chOff x="0" y="0"/>
          <a:chExt cx="0" cy="0"/>
        </a:xfrm>
      </p:grpSpPr>
      <p:sp>
        <p:nvSpPr>
          <p:cNvPr id="1422" name="Google Shape;1422;g3cb20f13e01_0_1073"/>
          <p:cNvSpPr txBox="1"/>
          <p:nvPr/>
        </p:nvSpPr>
        <p:spPr>
          <a:xfrm>
            <a:off x="1055688" y="2561602"/>
            <a:ext cx="6463800" cy="13683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000000"/>
              </a:buClr>
              <a:buSzPts val="4400"/>
              <a:buFont typeface="Arial"/>
              <a:buNone/>
            </a:pPr>
            <a:r>
              <a:rPr b="1" i="0" lang="ru-RU" sz="4400" u="none" cap="none" strike="noStrike">
                <a:solidFill>
                  <a:schemeClr val="dk1"/>
                </a:solidFill>
                <a:latin typeface="IBM Plex Sans"/>
                <a:ea typeface="IBM Plex Sans"/>
                <a:cs typeface="IBM Plex Sans"/>
                <a:sym typeface="IBM Plex Sans"/>
              </a:rPr>
              <a:t>Спасибо </a:t>
            </a:r>
            <a:br>
              <a:rPr b="1" i="0" lang="ru-RU" sz="4400" u="none" cap="none" strike="noStrike">
                <a:solidFill>
                  <a:schemeClr val="dk1"/>
                </a:solidFill>
                <a:latin typeface="IBM Plex Sans"/>
                <a:ea typeface="IBM Plex Sans"/>
                <a:cs typeface="IBM Plex Sans"/>
                <a:sym typeface="IBM Plex Sans"/>
              </a:rPr>
            </a:br>
            <a:r>
              <a:rPr b="1" i="0" lang="ru-RU" sz="4400" u="none" cap="none" strike="noStrike">
                <a:solidFill>
                  <a:schemeClr val="dk1"/>
                </a:solidFill>
                <a:latin typeface="IBM Plex Sans"/>
                <a:ea typeface="IBM Plex Sans"/>
                <a:cs typeface="IBM Plex Sans"/>
                <a:sym typeface="IBM Plex Sans"/>
              </a:rPr>
              <a:t>за внимание</a:t>
            </a:r>
            <a:endParaRPr b="1" i="0" sz="4400" u="none" cap="none" strike="noStrike">
              <a:solidFill>
                <a:schemeClr val="dk1"/>
              </a:solidFill>
              <a:latin typeface="IBM Plex Sans"/>
              <a:ea typeface="IBM Plex Sans"/>
              <a:cs typeface="IBM Plex Sans"/>
              <a:sym typeface="IBM Plex Sans"/>
            </a:endParaRPr>
          </a:p>
        </p:txBody>
      </p:sp>
      <p:sp>
        <p:nvSpPr>
          <p:cNvPr id="1423" name="Google Shape;1423;g3cb20f13e01_0_1073"/>
          <p:cNvSpPr txBox="1"/>
          <p:nvPr/>
        </p:nvSpPr>
        <p:spPr>
          <a:xfrm>
            <a:off x="1055688" y="5861930"/>
            <a:ext cx="3771900" cy="494100"/>
          </a:xfrm>
          <a:prstGeom prst="rect">
            <a:avLst/>
          </a:prstGeom>
          <a:noFill/>
          <a:ln>
            <a:noFill/>
          </a:ln>
        </p:spPr>
        <p:txBody>
          <a:bodyPr anchorCtr="0" anchor="t" bIns="0" lIns="0" spcFirstLastPara="1" rIns="0" wrap="square" tIns="19875">
            <a:spAutoFit/>
          </a:bodyPr>
          <a:lstStyle/>
          <a:p>
            <a:pPr indent="0" lvl="0" marL="20942" marR="8376" rtl="0" algn="l">
              <a:lnSpc>
                <a:spcPct val="12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ularionova@mail.tsu.ru</a:t>
            </a:r>
            <a:endParaRPr b="0" i="0" sz="1400" u="none" cap="none" strike="noStrike">
              <a:solidFill>
                <a:schemeClr val="dk1"/>
              </a:solidFill>
              <a:latin typeface="IBM Plex Sans"/>
              <a:ea typeface="IBM Plex Sans"/>
              <a:cs typeface="IBM Plex Sans"/>
              <a:sym typeface="IBM Plex Sans"/>
            </a:endParaRPr>
          </a:p>
          <a:p>
            <a:pPr indent="0" lvl="0" marL="20942" marR="8376" rtl="0" algn="l">
              <a:lnSpc>
                <a:spcPct val="120000"/>
              </a:lnSpc>
              <a:spcBef>
                <a:spcPts val="0"/>
              </a:spcBef>
              <a:spcAft>
                <a:spcPts val="0"/>
              </a:spcAft>
              <a:buClr>
                <a:srgbClr val="000000"/>
              </a:buClr>
              <a:buSzPts val="1400"/>
              <a:buFont typeface="Arial"/>
              <a:buNone/>
            </a:pPr>
            <a:r>
              <a:t/>
            </a:r>
            <a:endParaRPr b="0" i="0" sz="1400" u="none" cap="none" strike="noStrike">
              <a:solidFill>
                <a:schemeClr val="dk1"/>
              </a:solidFill>
              <a:latin typeface="IBM Plex Sans"/>
              <a:ea typeface="IBM Plex Sans"/>
              <a:cs typeface="IBM Plex Sans"/>
              <a:sym typeface="IBM Plex Sans"/>
            </a:endParaRPr>
          </a:p>
        </p:txBody>
      </p:sp>
      <p:sp>
        <p:nvSpPr>
          <p:cNvPr id="1424" name="Google Shape;1424;g3cb20f13e01_0_1073"/>
          <p:cNvSpPr txBox="1"/>
          <p:nvPr/>
        </p:nvSpPr>
        <p:spPr>
          <a:xfrm>
            <a:off x="1055688" y="5110383"/>
            <a:ext cx="4032300" cy="857400"/>
          </a:xfrm>
          <a:prstGeom prst="rect">
            <a:avLst/>
          </a:prstGeom>
          <a:noFill/>
          <a:ln>
            <a:noFill/>
          </a:ln>
        </p:spPr>
        <p:txBody>
          <a:bodyPr anchorCtr="0" anchor="t" bIns="0" lIns="0" spcFirstLastPara="1" rIns="0" wrap="square" tIns="19875">
            <a:spAutoFit/>
          </a:bodyPr>
          <a:lstStyle/>
          <a:p>
            <a:pPr indent="0" lvl="0" marL="20942" marR="8376" rtl="0" algn="l">
              <a:lnSpc>
                <a:spcPct val="12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Ларионова Ульяна</a:t>
            </a:r>
            <a:endParaRPr b="0" i="0" sz="1400" u="none" cap="none" strike="noStrike">
              <a:solidFill>
                <a:schemeClr val="dk1"/>
              </a:solidFill>
              <a:latin typeface="Arial"/>
              <a:ea typeface="Arial"/>
              <a:cs typeface="Arial"/>
              <a:sym typeface="Arial"/>
            </a:endParaRPr>
          </a:p>
          <a:p>
            <a:pPr indent="0" lvl="0" marL="20942" marR="8376" rtl="0" algn="l">
              <a:lnSpc>
                <a:spcPct val="12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Преподаватель</a:t>
            </a:r>
            <a:endParaRPr b="0" i="0" sz="1600" u="none" cap="none" strike="noStrike">
              <a:solidFill>
                <a:schemeClr val="dk1"/>
              </a:solidFill>
              <a:latin typeface="IBM Plex Sans"/>
              <a:ea typeface="IBM Plex Sans"/>
              <a:cs typeface="IBM Plex Sans"/>
              <a:sym typeface="IBM Plex Sans"/>
            </a:endParaRPr>
          </a:p>
          <a:p>
            <a:pPr indent="0" lvl="0" marL="20942" marR="8376" rtl="0" algn="l">
              <a:lnSpc>
                <a:spcPct val="120000"/>
              </a:lnSpc>
              <a:spcBef>
                <a:spcPts val="0"/>
              </a:spcBef>
              <a:spcAft>
                <a:spcPts val="0"/>
              </a:spcAft>
              <a:buClr>
                <a:srgbClr val="000000"/>
              </a:buClr>
              <a:buSzPts val="1600"/>
              <a:buFont typeface="Arial"/>
              <a:buNone/>
            </a:pPr>
            <a:r>
              <a:t/>
            </a:r>
            <a:endParaRPr b="0" i="0" sz="1600" u="none" cap="none" strike="noStrike">
              <a:solidFill>
                <a:schemeClr val="dk1"/>
              </a:solidFill>
              <a:latin typeface="IBM Plex Sans"/>
              <a:ea typeface="IBM Plex Sans"/>
              <a:cs typeface="IBM Plex Sans"/>
              <a:sym typeface="IBM Plex Sans"/>
            </a:endParaRPr>
          </a:p>
        </p:txBody>
      </p:sp>
      <p:pic>
        <p:nvPicPr>
          <p:cNvPr id="1425" name="Google Shape;1425;g3cb20f13e01_0_1073"/>
          <p:cNvPicPr preferRelativeResize="0"/>
          <p:nvPr/>
        </p:nvPicPr>
        <p:blipFill rotWithShape="1">
          <a:blip r:embed="rId3">
            <a:alphaModFix/>
          </a:blip>
          <a:srcRect b="0" l="1283" r="0" t="0"/>
          <a:stretch/>
        </p:blipFill>
        <p:spPr>
          <a:xfrm>
            <a:off x="9353973" y="0"/>
            <a:ext cx="2838027" cy="6857998"/>
          </a:xfrm>
          <a:prstGeom prst="rect">
            <a:avLst/>
          </a:prstGeom>
          <a:noFill/>
          <a:ln>
            <a:noFill/>
          </a:ln>
        </p:spPr>
      </p:pic>
      <p:pic>
        <p:nvPicPr>
          <p:cNvPr id="1426" name="Google Shape;1426;g3cb20f13e01_0_1073"/>
          <p:cNvPicPr preferRelativeResize="0"/>
          <p:nvPr/>
        </p:nvPicPr>
        <p:blipFill rotWithShape="1">
          <a:blip r:embed="rId4">
            <a:alphaModFix/>
          </a:blip>
          <a:srcRect b="0" l="0" r="0" t="0"/>
          <a:stretch/>
        </p:blipFill>
        <p:spPr>
          <a:xfrm>
            <a:off x="1055688" y="373794"/>
            <a:ext cx="677246" cy="774960"/>
          </a:xfrm>
          <a:prstGeom prst="rect">
            <a:avLst/>
          </a:prstGeom>
          <a:noFill/>
          <a:ln>
            <a:noFill/>
          </a:ln>
        </p:spPr>
      </p:pic>
      <p:pic>
        <p:nvPicPr>
          <p:cNvPr id="1427" name="Google Shape;1427;g3cb20f13e01_0_1073"/>
          <p:cNvPicPr preferRelativeResize="0"/>
          <p:nvPr/>
        </p:nvPicPr>
        <p:blipFill rotWithShape="1">
          <a:blip r:embed="rId5">
            <a:alphaModFix/>
          </a:blip>
          <a:srcRect b="0" l="0" r="0" t="0"/>
          <a:stretch/>
        </p:blipFill>
        <p:spPr>
          <a:xfrm>
            <a:off x="7519551" y="2892706"/>
            <a:ext cx="4439788" cy="444595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2022-09-15T07:23:32Z</dcterms:created>
  <dc:creator>UserIDO</dc:creator>
</cp:coreProperties>
</file>