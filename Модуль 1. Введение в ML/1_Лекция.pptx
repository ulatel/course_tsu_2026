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5"/>
  </p:notesMasterIdLst>
  <p:sldIdLst>
    <p:sldId id="256" r:id="rId2"/>
    <p:sldId id="334" r:id="rId3"/>
    <p:sldId id="337" r:id="rId4"/>
    <p:sldId id="257" r:id="rId5"/>
    <p:sldId id="338"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39" r:id="rId69"/>
    <p:sldId id="347" r:id="rId70"/>
    <p:sldId id="348" r:id="rId71"/>
    <p:sldId id="349" r:id="rId72"/>
    <p:sldId id="355" r:id="rId73"/>
    <p:sldId id="357" r:id="rId74"/>
    <p:sldId id="350" r:id="rId75"/>
    <p:sldId id="351" r:id="rId76"/>
    <p:sldId id="352" r:id="rId77"/>
    <p:sldId id="343" r:id="rId78"/>
    <p:sldId id="345" r:id="rId79"/>
    <p:sldId id="354" r:id="rId80"/>
    <p:sldId id="320" r:id="rId81"/>
    <p:sldId id="321" r:id="rId82"/>
    <p:sldId id="322" r:id="rId83"/>
    <p:sldId id="323" r:id="rId84"/>
    <p:sldId id="324" r:id="rId85"/>
    <p:sldId id="325" r:id="rId86"/>
    <p:sldId id="326" r:id="rId87"/>
    <p:sldId id="327" r:id="rId88"/>
    <p:sldId id="328" r:id="rId89"/>
    <p:sldId id="329" r:id="rId90"/>
    <p:sldId id="330" r:id="rId91"/>
    <p:sldId id="331" r:id="rId92"/>
    <p:sldId id="332" r:id="rId93"/>
    <p:sldId id="333" r:id="rId94"/>
  </p:sldIdLst>
  <p:sldSz cx="12192000" cy="6858000"/>
  <p:notesSz cx="6858000" cy="9144000"/>
  <p:embeddedFontLst>
    <p:embeddedFont>
      <p:font typeface="Calibri" panose="020F0502020204030204" pitchFamily="34" charset="0"/>
      <p:regular r:id="rId96"/>
      <p:bold r:id="rId97"/>
      <p:italic r:id="rId98"/>
      <p:boldItalic r:id="rId99"/>
    </p:embeddedFont>
    <p:embeddedFont>
      <p:font typeface="IBM Plex Sans" panose="020B0503050203000203" pitchFamily="34" charset="0"/>
      <p:regular r:id="rId100"/>
      <p:bold r:id="rId101"/>
      <p:italic r:id="rId102"/>
      <p:boldItalic r:id="rId103"/>
    </p:embeddedFont>
    <p:embeddedFont>
      <p:font typeface="IBM Plex Sans SemiBold" panose="020B0703050203000203" pitchFamily="34" charset="0"/>
      <p:regular r:id="rId104"/>
      <p:bold r:id="rId105"/>
      <p:italic r:id="rId106"/>
      <p:boldItalic r:id="rId107"/>
    </p:embeddedFont>
    <p:embeddedFont>
      <p:font typeface="Montserrat Medium" panose="00000600000000000000" pitchFamily="2" charset="-52"/>
      <p:regular r:id="rId108"/>
      <p:italic r:id="rId109"/>
    </p:embeddedFont>
    <p:embeddedFont>
      <p:font typeface="Montserrat SemiBold" panose="00000700000000000000" pitchFamily="2" charset="-52"/>
      <p:regular r:id="rId110"/>
      <p:bold r:id="rId111"/>
      <p:italic r:id="rId112"/>
      <p:boldItalic r:id="rId113"/>
    </p:embeddedFont>
    <p:embeddedFont>
      <p:font typeface="Nunito" panose="020B0604020202020204" charset="-52"/>
      <p:regular r:id="rId114"/>
      <p:bold r:id="rId115"/>
      <p:italic r:id="rId116"/>
      <p:boldItalic r:id="rId117"/>
    </p:embeddedFont>
    <p:embeddedFont>
      <p:font typeface="Proxima Nova" panose="020B0604020202020204" charset="0"/>
      <p:regular r:id="rId118"/>
      <p:bold r:id="rId119"/>
      <p:italic r:id="rId120"/>
      <p:boldItalic r:id="rId121"/>
    </p:embeddedFont>
    <p:embeddedFont>
      <p:font typeface="Roboto" panose="020B0604020202020204" charset="0"/>
      <p:regular r:id="rId122"/>
      <p:bold r:id="rId123"/>
      <p:italic r:id="rId124"/>
      <p:boldItalic r:id="rId125"/>
    </p:embeddedFont>
    <p:embeddedFont>
      <p:font typeface="Roboto Mono" panose="020B0604020202020204" charset="0"/>
      <p:regular r:id="rId126"/>
      <p:bold r:id="rId127"/>
      <p:italic r:id="rId128"/>
      <p:boldItalic r:id="rId1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26">
          <p15:clr>
            <a:srgbClr val="A4A3A4"/>
          </p15:clr>
        </p15:guide>
        <p15:guide id="2" pos="665">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0" roundtripDataSignature="AMtx7mieMakUvhOChR7n+/23fPooxqTPI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B0E0E1-4E68-4C5C-ACD4-11C2C6A234C4}">
  <a:tblStyle styleId="{A9B0E0E1-4E68-4C5C-ACD4-11C2C6A234C4}" styleName="Table_0">
    <a:wholeTbl>
      <a:tcTxStyle b="off" i="off">
        <a:font>
          <a:latin typeface="Arial"/>
          <a:ea typeface="Arial"/>
          <a:cs typeface="Arial"/>
        </a:font>
        <a:srgbClr val="15110E"/>
      </a:tcTxStyle>
      <a:tcStyle>
        <a:tcBdr>
          <a:left>
            <a:ln w="9525" cap="flat" cmpd="sng">
              <a:solidFill>
                <a:srgbClr val="135669"/>
              </a:solidFill>
              <a:prstDash val="solid"/>
              <a:round/>
              <a:headEnd type="none" w="sm" len="sm"/>
              <a:tailEnd type="none" w="sm" len="sm"/>
            </a:ln>
          </a:left>
          <a:right>
            <a:ln w="9525" cap="flat" cmpd="sng">
              <a:solidFill>
                <a:srgbClr val="135669"/>
              </a:solidFill>
              <a:prstDash val="solid"/>
              <a:round/>
              <a:headEnd type="none" w="sm" len="sm"/>
              <a:tailEnd type="none" w="sm" len="sm"/>
            </a:ln>
          </a:right>
          <a:top>
            <a:ln w="9525" cap="flat" cmpd="sng">
              <a:solidFill>
                <a:srgbClr val="135669"/>
              </a:solidFill>
              <a:prstDash val="solid"/>
              <a:round/>
              <a:headEnd type="none" w="sm" len="sm"/>
              <a:tailEnd type="none" w="sm" len="sm"/>
            </a:ln>
          </a:top>
          <a:bottom>
            <a:ln w="9525" cap="flat" cmpd="sng">
              <a:solidFill>
                <a:srgbClr val="135669"/>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rgbClr val="135669"/>
              </a:solidFill>
              <a:prstDash val="solid"/>
              <a:round/>
              <a:headEnd type="none" w="sm" len="sm"/>
              <a:tailEnd type="none" w="sm" len="sm"/>
            </a:ln>
          </a:top>
          <a:bottom>
            <a:ln w="9525" cap="flat" cmpd="sng">
              <a:solidFill>
                <a:srgbClr val="135669"/>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rgbClr val="135669"/>
              </a:solidFill>
              <a:prstDash val="solid"/>
              <a:round/>
              <a:headEnd type="none" w="sm" len="sm"/>
              <a:tailEnd type="none" w="sm" len="sm"/>
            </a:ln>
          </a:left>
          <a:right>
            <a:ln w="9525" cap="flat" cmpd="sng">
              <a:solidFill>
                <a:srgbClr val="135669"/>
              </a:solidFill>
              <a:prstDash val="solid"/>
              <a:round/>
              <a:headEnd type="none" w="sm" len="sm"/>
              <a:tailEnd type="none" w="sm" len="sm"/>
            </a:ln>
          </a:right>
        </a:tcBdr>
      </a:tcStyle>
    </a:band1V>
    <a:band2V>
      <a:tcTxStyle b="off" i="off"/>
      <a:tcStyle>
        <a:tcBdr>
          <a:left>
            <a:ln w="9525" cap="flat" cmpd="sng">
              <a:solidFill>
                <a:srgbClr val="135669"/>
              </a:solidFill>
              <a:prstDash val="solid"/>
              <a:round/>
              <a:headEnd type="none" w="sm" len="sm"/>
              <a:tailEnd type="none" w="sm" len="sm"/>
            </a:ln>
          </a:left>
          <a:right>
            <a:ln w="9525" cap="flat" cmpd="sng">
              <a:solidFill>
                <a:srgbClr val="135669"/>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rgbClr val="135669"/>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rgbClr val="FFFAF6"/>
      </a:tcTxStyle>
      <a:tcStyle>
        <a:tcBdr/>
        <a:fill>
          <a:solidFill>
            <a:srgbClr val="135669"/>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265" autoAdjust="0"/>
  </p:normalViewPr>
  <p:slideViewPr>
    <p:cSldViewPr snapToGrid="0">
      <p:cViewPr>
        <p:scale>
          <a:sx n="33" d="100"/>
          <a:sy n="33" d="100"/>
        </p:scale>
        <p:origin x="956" y="216"/>
      </p:cViewPr>
      <p:guideLst>
        <p:guide orient="horz" pos="1026"/>
        <p:guide pos="6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22.fntdata"/><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font" Target="fonts/font12.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7.fntdata"/><Relationship Id="rId123" Type="http://schemas.openxmlformats.org/officeDocument/2006/relationships/font" Target="fonts/font28.fntdata"/><Relationship Id="rId128" Type="http://schemas.openxmlformats.org/officeDocument/2006/relationships/font" Target="fonts/font33.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8.fntdata"/><Relationship Id="rId118" Type="http://schemas.openxmlformats.org/officeDocument/2006/relationships/font" Target="fonts/font23.fntdata"/><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8.fntdata"/><Relationship Id="rId108" Type="http://schemas.openxmlformats.org/officeDocument/2006/relationships/font" Target="fonts/font13.fntdata"/><Relationship Id="rId124" Type="http://schemas.openxmlformats.org/officeDocument/2006/relationships/font" Target="fonts/font29.fntdata"/><Relationship Id="rId129" Type="http://schemas.openxmlformats.org/officeDocument/2006/relationships/font" Target="fonts/font34.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9.fntdata"/><Relationship Id="rId119" Type="http://schemas.openxmlformats.org/officeDocument/2006/relationships/font" Target="fonts/font24.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customschemas.google.com/relationships/presentationmetadata" Target="meta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14.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2.fntdata"/><Relationship Id="rId104" Type="http://schemas.openxmlformats.org/officeDocument/2006/relationships/font" Target="fonts/font9.fntdata"/><Relationship Id="rId120" Type="http://schemas.openxmlformats.org/officeDocument/2006/relationships/font" Target="fonts/font25.fntdata"/><Relationship Id="rId125" Type="http://schemas.openxmlformats.org/officeDocument/2006/relationships/font" Target="fonts/font30.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15.fntdata"/><Relationship Id="rId115" Type="http://schemas.openxmlformats.org/officeDocument/2006/relationships/font" Target="fonts/font20.fntdata"/><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5.fntdata"/><Relationship Id="rId105" Type="http://schemas.openxmlformats.org/officeDocument/2006/relationships/font" Target="fonts/font10.fntdata"/><Relationship Id="rId126" Type="http://schemas.openxmlformats.org/officeDocument/2006/relationships/font" Target="fonts/font3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font" Target="fonts/font3.fntdata"/><Relationship Id="rId121" Type="http://schemas.openxmlformats.org/officeDocument/2006/relationships/font" Target="fonts/font26.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6.fntdata"/><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11.fntdata"/><Relationship Id="rId127" Type="http://schemas.openxmlformats.org/officeDocument/2006/relationships/font" Target="fonts/font32.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font" Target="fonts/font4.fntdata"/><Relationship Id="rId101" Type="http://schemas.openxmlformats.org/officeDocument/2006/relationships/font" Target="fonts/font6.fntdata"/><Relationship Id="rId122" Type="http://schemas.openxmlformats.org/officeDocument/2006/relationships/font" Target="fonts/font27.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font" Target="fonts/font17.fntdata"/><Relationship Id="rId13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ru.wikipedia.org/wiki/%D0%9A%D0%BE%D0%BC%D0%BF%D1%8C%D1%8E%D1%82%D0%B5%D1%80%D0%BD%D1%8B%D0%B5_%D1%88%D0%B0%D1%85%D0%BC%D0%B0%D1%82%D1%8B"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ru.wikipedia.org/wiki/%D0%9A%D0%B0%D1%81%D0%BF%D0%B0%D1%80%D0%BE%D0%B2,_%D0%93%D0%B0%D1%80%D1%80%D0%B8_%D0%9A%D0%B8%D0%BC%D0%BE%D0%B2%D0%B8%D1%87" TargetMode="External"/><Relationship Id="rId5" Type="http://schemas.openxmlformats.org/officeDocument/2006/relationships/hyperlink" Target="https://ru.wikipedia.org/wiki/Deep_Blue#cite_note-autogenerated1-2" TargetMode="External"/><Relationship Id="rId4" Type="http://schemas.openxmlformats.org/officeDocument/2006/relationships/hyperlink" Target="https://ru.wikipedia.org/wiki/Deep_Blue#cite_note-_38b4ed192731cfdf-1"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Ладно, давайте начинать, меня зовут ульяна, и вот с чего начнем. Очень часто Большинство курсов врут вам. Не намеренно — но врут.</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Они дают вам чистые данные, пошаговые инструкции и правильные ответы в конце учебника. Выполнив все задания вы остаетесь с ощущением, что вы что-то умеете. А потом попадаете на реальный проект — и всё разваливается.</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Потому что в реальности инструкцию, что делать, вам никто не написал.</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Именно поэтому существует этот курс. </a:t>
            </a:r>
            <a:endParaRPr/>
          </a:p>
        </p:txBody>
      </p:sp>
      <p:sp>
        <p:nvSpPr>
          <p:cNvPr id="63" name="Google Shape;6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68b4a4f3df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68b4a4f3df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68b4a4f3df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68b4a4f3df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0707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cb2c61a5be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Не будет лекций и лабораторных с инструкциями.</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Следующие пять недель вы будете работать с задчей Титаника — одной из самых известных в машинном обучении. Задача простая: предсказать, кто выжил. Но именно в этой простоте и скрыта основная сложность.</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Готовых инструкций не будет. Никто не скажет, какую модель взять, какие признаки создать, где ошибка в вашем коде. У вас будет теория, она будет рассказана либо сегодня, либо описана в курсе. Однако, вы столкнетесь с этим сами — в команде, в реальном времени.</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Вы будете изучать, разбираться, объяснять друг другу, спорить. Заходить в тупики. Переделывать то, что казалось готовым. Именно так и выглядит настоящая работа над ML-проектом.</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Почему это важно?</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Потому что навык — это не то, что вы знаете. Это то, что вы можете сделать, когда столкнетесь с проблемой.</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Теорию вы освоите самостоятельно — и это тоже часть задания. Но я буду рядом, когда вы зайдёте в тупик и не будете понимать, почему модель не работает. Мы разберёмся вместе. Для этого у нас будут практики каждую неделю. На них вы можете мне задавать вопросы, просить консультации.</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Цель меня как преподавателя - создать для вас оптимальные условия для получения опыта.</a:t>
            </a:r>
            <a:endParaRPr sz="1100">
              <a:latin typeface="Arial"/>
              <a:ea typeface="Arial"/>
              <a:cs typeface="Arial"/>
              <a:sym typeface="Arial"/>
            </a:endParaRPr>
          </a:p>
          <a:p>
            <a:pPr marL="0" lvl="0" indent="0" algn="l" rtl="0">
              <a:lnSpc>
                <a:spcPct val="100000"/>
              </a:lnSpc>
              <a:spcBef>
                <a:spcPts val="0"/>
              </a:spcBef>
              <a:spcAft>
                <a:spcPts val="0"/>
              </a:spcAft>
              <a:buClr>
                <a:srgbClr val="000000"/>
              </a:buClr>
              <a:buSzPts val="1400"/>
              <a:buFont typeface="Arial"/>
              <a:buNone/>
            </a:pPr>
            <a:endParaRPr sz="1100">
              <a:latin typeface="Arial"/>
              <a:ea typeface="Arial"/>
              <a:cs typeface="Arial"/>
              <a:sym typeface="Arial"/>
            </a:endParaRPr>
          </a:p>
        </p:txBody>
      </p:sp>
      <p:sp>
        <p:nvSpPr>
          <p:cNvPr id="77" name="Google Shape;77;g3cb2c61a5be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cb2c61a5be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Не будет лекций и лабораторных с инструкциями.</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Следующие пять недель вы будете работать с задчей Титаника — одной из самых известных в машинном обучении. Задача простая: предсказать, кто выжил. Но именно в этой простоте и скрыта основная сложность.</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Готовых инструкций не будет. Никто не скажет, какую модель взять, какие признаки создать, где ошибка в вашем коде. У вас будет теория, она будет рассказана либо сегодня, либо описана в курсе. Однако, вы столкнетесь с этим сами — в команде, в реальном времени.</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Вы будете изучать, разбираться, объяснять друг другу, спорить. Заходить в тупики. Переделывать то, что казалось готовым. Именно так и выглядит настоящая работа над ML-проектом.</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Почему это важно?</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Потому что навык — это не то, что вы знаете. Это то, что вы можете сделать, когда столкнетесь с проблемой.</a:t>
            </a: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Теорию вы освоите самостоятельно — и это тоже часть задания. Но я буду рядом, когда вы зайдёте в тупик и не будете понимать, почему модель не работает. Мы разберёмся вместе. Для этого у нас будут практики каждую неделю. На них вы можете мне задавать вопросы, просить консультации.</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Цель меня как преподавателя - создать для вас оптимальные условия для получения опыта.</a:t>
            </a:r>
            <a:endParaRPr sz="1100">
              <a:latin typeface="Arial"/>
              <a:ea typeface="Arial"/>
              <a:cs typeface="Arial"/>
              <a:sym typeface="Arial"/>
            </a:endParaRPr>
          </a:p>
          <a:p>
            <a:pPr marL="0" lvl="0" indent="0" algn="l" rtl="0">
              <a:lnSpc>
                <a:spcPct val="100000"/>
              </a:lnSpc>
              <a:spcBef>
                <a:spcPts val="0"/>
              </a:spcBef>
              <a:spcAft>
                <a:spcPts val="0"/>
              </a:spcAft>
              <a:buClr>
                <a:srgbClr val="000000"/>
              </a:buClr>
              <a:buSzPts val="1400"/>
              <a:buFont typeface="Arial"/>
              <a:buNone/>
            </a:pPr>
            <a:endParaRPr sz="1100">
              <a:latin typeface="Arial"/>
              <a:ea typeface="Arial"/>
              <a:cs typeface="Arial"/>
              <a:sym typeface="Arial"/>
            </a:endParaRPr>
          </a:p>
        </p:txBody>
      </p:sp>
      <p:sp>
        <p:nvSpPr>
          <p:cNvPr id="77" name="Google Shape;77;g3cb2c61a5be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5358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d1a00d9b9a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sz="1100">
                <a:latin typeface="Arial"/>
                <a:ea typeface="Arial"/>
                <a:cs typeface="Arial"/>
                <a:sym typeface="Arial"/>
              </a:rPr>
              <a:t>Как будет выставляться оценка</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Всего за проект можно получить 100 баллов</a:t>
            </a: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для получения зачета по дисциплине вам надо набрать 60 баллов</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баллы складываются из двух частей - оценка вашего кода (макс 50) + качество вашей модели (макс 50) </a:t>
            </a: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как они конкретно будут оцениваться - разберем сегодня в конце лекции</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помимо этого - вам надо 2 раза показать прогресс до итоговой сдачи.</a:t>
            </a: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Я вам скину таблицу, куда вам с командой надо будет вписаться, когда вы планируете показать прогресс. Вам надо показать один раз прогресс в первой половине курса + во второй половине курса.</a:t>
            </a: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То есть на практике вы подходите ко мне, показываете, что у вас получилось. Я ставлю вам отметку, что прогресс показан.</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если вы не показали прогресс -20 баллов к итоговой оценке</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посещаемость на оценку не влияет, однако, вам все равно придется прийти, чтобы показать прогресс.</a:t>
            </a:r>
            <a:endParaRPr sz="1100">
              <a:latin typeface="Arial"/>
              <a:ea typeface="Arial"/>
              <a:cs typeface="Arial"/>
              <a:sym typeface="Arial"/>
            </a:endParaRPr>
          </a:p>
        </p:txBody>
      </p:sp>
      <p:sp>
        <p:nvSpPr>
          <p:cNvPr id="92" name="Google Shape;92;g3d1a00d9b9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cb2c61a5be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Главное, что нужно понять про наш курс: он про результат и понимание, а не про формальное выполнения заданий</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Про списывание (или "заимствование"): Если вы взяли чужой код (у другой команды, с GitHub, из статьи), есть два условия, чтобы это не считалось списыванием:</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Вы обязаны предупредить об этом заранее или явно указать это в работе.</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Вы должны продемонстрировать, что понимаете этот код. Я задам вопросы. Если вы скопировали сложную модель и не можете объяснить, как она работает, — это провал.</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Санкции: Если будет замечено злоупотребление (скопировали и выдали за свое), работа получает 0 баллов — команда теряет право сдать эту работу в принципе. Будьте честны с нами и с собой.</a:t>
            </a:r>
            <a:endParaRPr sz="1100">
              <a:latin typeface="Arial"/>
              <a:ea typeface="Arial"/>
              <a:cs typeface="Arial"/>
              <a:sym typeface="Arial"/>
            </a:endParaRPr>
          </a:p>
        </p:txBody>
      </p:sp>
      <p:sp>
        <p:nvSpPr>
          <p:cNvPr id="108" name="Google Shape;108;g3cb2c61a5be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d3e78d848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Вы имеете полное право пользоваться любыми инструментами, включая ChatGPT и аналоги для пояснения теории или кода. Настоятельно не рекомендую просить генерировать готовый код. Разобраться в таком коде - гораздо сложнее. Если вы все таки сгенерируете код, правила аналогичные использованию чужого кода</a:t>
            </a:r>
            <a:endParaRPr sz="1100">
              <a:latin typeface="Arial"/>
              <a:ea typeface="Arial"/>
              <a:cs typeface="Arial"/>
              <a:sym typeface="Arial"/>
            </a:endParaRPr>
          </a:p>
        </p:txBody>
      </p:sp>
      <p:sp>
        <p:nvSpPr>
          <p:cNvPr id="124" name="Google Shape;124;g3d3e78d848d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cb2c61a5b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sz="1100">
                <a:latin typeface="Arial"/>
                <a:ea typeface="Arial"/>
                <a:cs typeface="Arial"/>
                <a:sym typeface="Arial"/>
              </a:rPr>
              <a:t>Сейчас мы с вами погрузимся в основные термины и теорию</a:t>
            </a: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sz="1100">
                <a:latin typeface="Arial"/>
                <a:ea typeface="Arial"/>
                <a:cs typeface="Arial"/>
                <a:sym typeface="Arial"/>
              </a:rPr>
              <a:t>Во второй половине мы обсудим, какое задание вам надо выполнить</a:t>
            </a:r>
            <a:endParaRPr sz="1100">
              <a:latin typeface="Arial"/>
              <a:ea typeface="Arial"/>
              <a:cs typeface="Arial"/>
              <a:sym typeface="Arial"/>
            </a:endParaRPr>
          </a:p>
        </p:txBody>
      </p:sp>
      <p:sp>
        <p:nvSpPr>
          <p:cNvPr id="140" name="Google Shape;140;g3cb2c61a5b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начала, разберемся, что таккое ИИ</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Это Система, способная так или иначе принимать решения на основе состояния мира</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Наприме</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56" name="Google Shape;1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cb20f13e01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b="1">
                <a:latin typeface="Arial"/>
                <a:ea typeface="Arial"/>
                <a:cs typeface="Arial"/>
                <a:sym typeface="Arial"/>
              </a:rPr>
              <a:t>Например, один из первых, ИИ - Deep Blue</a:t>
            </a:r>
            <a:r>
              <a:rPr lang="ru-RU" sz="1100">
                <a:latin typeface="Arial"/>
                <a:ea typeface="Arial"/>
                <a:cs typeface="Arial"/>
                <a:sym typeface="Arial"/>
              </a:rPr>
              <a:t> —это </a:t>
            </a:r>
            <a:r>
              <a:rPr lang="ru-RU" sz="1100" u="sng">
                <a:solidFill>
                  <a:schemeClr val="hlink"/>
                </a:solidFill>
                <a:latin typeface="Arial"/>
                <a:ea typeface="Arial"/>
                <a:cs typeface="Arial"/>
                <a:sym typeface="Arial"/>
                <a:hlinkClick r:id="rId3"/>
              </a:rPr>
              <a:t>шахматный суперкомпьютер</a:t>
            </a:r>
            <a:r>
              <a:rPr lang="ru-RU" sz="1100" u="sng" baseline="30000">
                <a:solidFill>
                  <a:schemeClr val="hlink"/>
                </a:solidFill>
                <a:latin typeface="Arial"/>
                <a:ea typeface="Arial"/>
                <a:cs typeface="Arial"/>
                <a:sym typeface="Arial"/>
                <a:hlinkClick r:id="rId4"/>
              </a:rPr>
              <a:t>[1]</a:t>
            </a:r>
            <a:r>
              <a:rPr lang="ru-RU" sz="1100" u="sng" baseline="30000">
                <a:solidFill>
                  <a:schemeClr val="hlink"/>
                </a:solidFill>
                <a:latin typeface="Arial"/>
                <a:ea typeface="Arial"/>
                <a:cs typeface="Arial"/>
                <a:sym typeface="Arial"/>
                <a:hlinkClick r:id="rId5"/>
              </a:rPr>
              <a:t>[2]</a:t>
            </a:r>
            <a:r>
              <a:rPr lang="ru-RU" sz="1100">
                <a:latin typeface="Arial"/>
                <a:ea typeface="Arial"/>
                <a:cs typeface="Arial"/>
                <a:sym typeface="Arial"/>
              </a:rPr>
              <a:t>,. 11 мая 1997 года </a:t>
            </a:r>
            <a:r>
              <a:rPr lang="ru-RU" sz="1100" b="1">
                <a:latin typeface="Arial"/>
                <a:ea typeface="Arial"/>
                <a:cs typeface="Arial"/>
                <a:sym typeface="Arial"/>
              </a:rPr>
              <a:t>он </a:t>
            </a:r>
            <a:r>
              <a:rPr lang="ru-RU" sz="1100">
                <a:latin typeface="Arial"/>
                <a:ea typeface="Arial"/>
                <a:cs typeface="Arial"/>
                <a:sym typeface="Arial"/>
              </a:rPr>
              <a:t>выиграл матч из 6 партий у тогдашнего чемпиона мира </a:t>
            </a:r>
            <a:r>
              <a:rPr lang="ru-RU" sz="1100" u="sng">
                <a:solidFill>
                  <a:schemeClr val="hlink"/>
                </a:solidFill>
                <a:latin typeface="Arial"/>
                <a:ea typeface="Arial"/>
                <a:cs typeface="Arial"/>
                <a:sym typeface="Arial"/>
                <a:hlinkClick r:id="rId6"/>
              </a:rPr>
              <a:t>Гарри Каспарова</a:t>
            </a:r>
            <a:r>
              <a:rPr lang="ru-RU" sz="1100">
                <a:latin typeface="Arial"/>
                <a:ea typeface="Arial"/>
                <a:cs typeface="Arial"/>
                <a:sym typeface="Arial"/>
              </a:rPr>
              <a:t>.</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Если упрощенно, как он работал:</a:t>
            </a:r>
            <a:endParaRPr sz="1100">
              <a:latin typeface="Arial"/>
              <a:ea typeface="Arial"/>
              <a:cs typeface="Arial"/>
              <a:sym typeface="Arial"/>
            </a:endParaRPr>
          </a:p>
          <a:p>
            <a:pPr marL="171450" lvl="0" indent="-171450" algn="l" rtl="0">
              <a:lnSpc>
                <a:spcPct val="100000"/>
              </a:lnSpc>
              <a:spcBef>
                <a:spcPts val="0"/>
              </a:spcBef>
              <a:spcAft>
                <a:spcPts val="0"/>
              </a:spcAft>
              <a:buClr>
                <a:schemeClr val="dk1"/>
              </a:buClr>
              <a:buSzPts val="1100"/>
              <a:buChar char="-"/>
            </a:pPr>
            <a:r>
              <a:rPr lang="ru-RU" sz="1100">
                <a:latin typeface="Arial"/>
                <a:ea typeface="Arial"/>
                <a:cs typeface="Arial"/>
                <a:sym typeface="Arial"/>
              </a:rPr>
              <a:t>Система анализировала положение шахмат на доске</a:t>
            </a:r>
            <a:endParaRPr sz="1100">
              <a:latin typeface="Arial"/>
              <a:ea typeface="Arial"/>
              <a:cs typeface="Arial"/>
              <a:sym typeface="Arial"/>
            </a:endParaRPr>
          </a:p>
          <a:p>
            <a:pPr marL="171450" lvl="0" indent="-171450" algn="l" rtl="0">
              <a:lnSpc>
                <a:spcPct val="100000"/>
              </a:lnSpc>
              <a:spcBef>
                <a:spcPts val="0"/>
              </a:spcBef>
              <a:spcAft>
                <a:spcPts val="0"/>
              </a:spcAft>
              <a:buClr>
                <a:schemeClr val="dk1"/>
              </a:buClr>
              <a:buSzPts val="1100"/>
              <a:buChar char="-"/>
            </a:pPr>
            <a:r>
              <a:rPr lang="ru-RU" sz="1100">
                <a:latin typeface="Arial"/>
                <a:ea typeface="Arial"/>
                <a:cs typeface="Arial"/>
                <a:sym typeface="Arial"/>
              </a:rPr>
              <a:t>Оптимизированным перебором среди всех возможных ходов искала лучший</a:t>
            </a:r>
            <a:endParaRPr sz="1100">
              <a:latin typeface="Arial"/>
              <a:ea typeface="Arial"/>
              <a:cs typeface="Arial"/>
              <a:sym typeface="Arial"/>
            </a:endParaRPr>
          </a:p>
          <a:p>
            <a:pPr marL="171450" lvl="0" indent="-171450" algn="l" rtl="0">
              <a:lnSpc>
                <a:spcPct val="100000"/>
              </a:lnSpc>
              <a:spcBef>
                <a:spcPts val="0"/>
              </a:spcBef>
              <a:spcAft>
                <a:spcPts val="0"/>
              </a:spcAft>
              <a:buClr>
                <a:schemeClr val="dk1"/>
              </a:buClr>
              <a:buSzPts val="1100"/>
              <a:buChar char="-"/>
            </a:pPr>
            <a:r>
              <a:rPr lang="ru-RU" sz="1100">
                <a:latin typeface="Arial"/>
                <a:ea typeface="Arial"/>
                <a:cs typeface="Arial"/>
                <a:sym typeface="Arial"/>
              </a:rPr>
              <a:t>Определяла, какие ходы последуют далее</a:t>
            </a:r>
            <a:endParaRPr sz="1100">
              <a:latin typeface="Arial"/>
              <a:ea typeface="Arial"/>
              <a:cs typeface="Arial"/>
              <a:sym typeface="Arial"/>
            </a:endParaRPr>
          </a:p>
          <a:p>
            <a:pPr marL="171450" lvl="0" indent="-171450" algn="l" rtl="0">
              <a:lnSpc>
                <a:spcPct val="100000"/>
              </a:lnSpc>
              <a:spcBef>
                <a:spcPts val="0"/>
              </a:spcBef>
              <a:spcAft>
                <a:spcPts val="0"/>
              </a:spcAft>
              <a:buClr>
                <a:schemeClr val="dk1"/>
              </a:buClr>
              <a:buSzPts val="1100"/>
              <a:buChar char="-"/>
            </a:pPr>
            <a:r>
              <a:rPr lang="ru-RU" sz="1100">
                <a:latin typeface="Arial"/>
                <a:ea typeface="Arial"/>
                <a:cs typeface="Arial"/>
                <a:sym typeface="Arial"/>
              </a:rPr>
              <a:t>Решала, как все таки лучше пойти</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этого работала </a:t>
            </a:r>
            <a:r>
              <a:rPr lang="ru-RU" sz="1100" i="1">
                <a:latin typeface="Arial"/>
                <a:ea typeface="Arial"/>
                <a:cs typeface="Arial"/>
                <a:sym typeface="Arial"/>
              </a:rPr>
              <a:t>целая экосистема сложных алгоритмов для принятия оптимального решения</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i="1">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i="1">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i="1">
                <a:latin typeface="Arial"/>
                <a:ea typeface="Arial"/>
                <a:cs typeface="Arial"/>
                <a:sym typeface="Arial"/>
              </a:rPr>
              <a:t>В данном примере позиции фигур на шахматном поле – состояние мира, </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71" name="Google Shape;171;g3cb20f13e01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cb20f13e01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i="1">
                <a:latin typeface="Arial"/>
                <a:ea typeface="Arial"/>
                <a:cs typeface="Arial"/>
                <a:sym typeface="Arial"/>
              </a:rPr>
              <a:t>а </a:t>
            </a:r>
            <a:r>
              <a:rPr lang="ru-RU" sz="1100" b="1">
                <a:latin typeface="Arial"/>
                <a:ea typeface="Arial"/>
                <a:cs typeface="Arial"/>
                <a:sym typeface="Arial"/>
              </a:rPr>
              <a:t>Deep Blue - </a:t>
            </a:r>
            <a:r>
              <a:rPr lang="ru-RU" sz="1100">
                <a:latin typeface="Arial"/>
                <a:ea typeface="Arial"/>
                <a:cs typeface="Arial"/>
                <a:sym typeface="Arial"/>
              </a:rPr>
              <a:t>Система,</a:t>
            </a:r>
            <a:endParaRPr/>
          </a:p>
        </p:txBody>
      </p:sp>
      <p:sp>
        <p:nvSpPr>
          <p:cNvPr id="188" name="Google Shape;188;g3cb20f13e01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cb20f13e01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 способная принимать решения</a:t>
            </a:r>
            <a:endParaRPr/>
          </a:p>
          <a:p>
            <a:pPr marL="0" lvl="0" indent="0" algn="l" rtl="0">
              <a:lnSpc>
                <a:spcPct val="100000"/>
              </a:lnSpc>
              <a:spcBef>
                <a:spcPts val="0"/>
              </a:spcBef>
              <a:spcAft>
                <a:spcPts val="0"/>
              </a:spcAft>
              <a:buSzPts val="1400"/>
              <a:buNone/>
            </a:pPr>
            <a:endParaRPr/>
          </a:p>
        </p:txBody>
      </p:sp>
      <p:sp>
        <p:nvSpPr>
          <p:cNvPr id="205" name="Google Shape;205;g3cb20f13e01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cb20f13e01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ML – подобласть ИИ - Система, принимающая решения на основе накопленного опыта и состояния мира</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222" name="Google Shape;222;g3cb20f13e01_0_1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cb20f13e01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того, чтобы понять, что это значит, обратимся к тому, как принимает решение человек.</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Предположим, вы вышли на улицу, там хмурое небо, вскоре идет дождь. </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 следующий день вы выходите на улицу – небо ясное. Дождя не было.        – это ваш накопленный опыт.</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241" name="Google Shape;241;g3cb20f13e01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cb20f13e01_0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 следующий день вы видите хмурое небо и берете зонт</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 данном примере - Хмурое небо – состояние мира,</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265" name="Google Shape;265;g3cb20f13e01_0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cb20f13e01_0_1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 а вы система, которая приняла решение на основе накопленного опыта и состояния мира</a:t>
            </a:r>
            <a:endParaRPr/>
          </a:p>
        </p:txBody>
      </p:sp>
      <p:sp>
        <p:nvSpPr>
          <p:cNvPr id="288" name="Google Shape;288;g3cb20f13e01_0_1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cb20f13e01_0_2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Если на более реальных примера, вы смотрите Клипы, и вам почему-то попадаются невероятно интересные, что хочется листать их вечно. </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Подбирают вам эти клипы с помощью МО</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Система имеет накопленный опыт – информацию о всех пользователях, какие клипы они смотрели, какие лайкали, а какие быстро пролистывали</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Состояние мира в данном случае – это то, какие клипы понравились именно вам.</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Система на основе опыта понимает, что нравилось пользователям, которые лайкали примерно то же самое, и принимает решение – что показать дальше вам</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311" name="Google Shape;311;g3cb20f13e01_0_2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cb20f13e01_0_2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Или задача перевода аудио записи в текст.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ru-RU"/>
              <a:t>системы, занимающихся переводом из текст в аудио, принимают решения на основе большого набора пар аудио записи и их текстовой расшифровки - это накопленный опыт</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ru-RU"/>
              <a:t>ваше голосовое сообщение - состояние мира</a:t>
            </a:r>
            <a:endParaRPr/>
          </a:p>
          <a:p>
            <a:pPr marL="0" lvl="0" indent="0" algn="l" rtl="0">
              <a:lnSpc>
                <a:spcPct val="100000"/>
              </a:lnSpc>
              <a:spcBef>
                <a:spcPts val="0"/>
              </a:spcBef>
              <a:spcAft>
                <a:spcPts val="0"/>
              </a:spcAft>
              <a:buSzPts val="1400"/>
              <a:buNone/>
            </a:pPr>
            <a:r>
              <a:rPr lang="ru-RU"/>
              <a:t>а принятое решение - то, как его перевести в текст</a:t>
            </a:r>
            <a:endParaRPr/>
          </a:p>
        </p:txBody>
      </p:sp>
      <p:sp>
        <p:nvSpPr>
          <p:cNvPr id="348" name="Google Shape;348;g3cb20f13e01_0_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cb20f13e01_0_3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Или предположим некая компания, продающая свечи, хочет знать, сколько будет гореть свечка по ее составу.</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ru-RU"/>
              <a:t>Уже есть набор данных, содержащий n свечей с их составом и скоростью горения. это накопленный опыт</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ru-RU"/>
              <a:t>новая свечка, скорость горения, которой нам неизветска - состояние мира, а сколько она будет гореть - принятое решение</a:t>
            </a:r>
            <a:endParaRPr/>
          </a:p>
        </p:txBody>
      </p:sp>
      <p:sp>
        <p:nvSpPr>
          <p:cNvPr id="375" name="Google Shape;375;g3cb20f13e01_0_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d1a00d9b9a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g3d1a00d9b9a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d484a96bb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g3d484a96bb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поймем, почему МО появилось</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этого сравним его с традиционным программированием</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400"/>
              <a:buFont typeface="Arial"/>
              <a:buNone/>
            </a:pPr>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Обычно мы пишем код слебущим путем:</a:t>
            </a:r>
            <a:endParaRPr sz="1100">
              <a:latin typeface="Arial"/>
              <a:ea typeface="Arial"/>
              <a:cs typeface="Arial"/>
              <a:sym typeface="Arial"/>
            </a:endParaRPr>
          </a:p>
          <a:p>
            <a:pPr marL="457200" lvl="0" indent="-298450" algn="l" rtl="0">
              <a:lnSpc>
                <a:spcPct val="100000"/>
              </a:lnSpc>
              <a:spcBef>
                <a:spcPts val="0"/>
              </a:spcBef>
              <a:spcAft>
                <a:spcPts val="0"/>
              </a:spcAft>
              <a:buClr>
                <a:schemeClr val="dk1"/>
              </a:buClr>
              <a:buSzPts val="1100"/>
              <a:buAutoNum type="arabicPeriod"/>
            </a:pPr>
            <a:r>
              <a:rPr lang="ru-RU" sz="1100">
                <a:latin typeface="Arial"/>
                <a:ea typeface="Arial"/>
                <a:cs typeface="Arial"/>
                <a:sym typeface="Arial"/>
              </a:rPr>
              <a:t>Анализируем проблему, для которой нужен код</a:t>
            </a:r>
            <a:endParaRPr sz="1100">
              <a:latin typeface="Arial"/>
              <a:ea typeface="Arial"/>
              <a:cs typeface="Arial"/>
              <a:sym typeface="Arial"/>
            </a:endParaRPr>
          </a:p>
          <a:p>
            <a:pPr marL="457200" lvl="0" indent="-298450" algn="l" rtl="0">
              <a:lnSpc>
                <a:spcPct val="100000"/>
              </a:lnSpc>
              <a:spcBef>
                <a:spcPts val="0"/>
              </a:spcBef>
              <a:spcAft>
                <a:spcPts val="0"/>
              </a:spcAft>
              <a:buClr>
                <a:schemeClr val="dk1"/>
              </a:buClr>
              <a:buSzPts val="1100"/>
              <a:buAutoNum type="arabicPeriod"/>
            </a:pPr>
            <a:r>
              <a:rPr lang="ru-RU" sz="1100">
                <a:latin typeface="Arial"/>
                <a:ea typeface="Arial"/>
                <a:cs typeface="Arial"/>
                <a:sym typeface="Arial"/>
              </a:rPr>
              <a:t>Строим план решения и кодируете его</a:t>
            </a:r>
            <a:endParaRPr sz="1100">
              <a:latin typeface="Arial"/>
              <a:ea typeface="Arial"/>
              <a:cs typeface="Arial"/>
              <a:sym typeface="Arial"/>
            </a:endParaRPr>
          </a:p>
          <a:p>
            <a:pPr marL="457200" lvl="0" indent="-298450" algn="l" rtl="0">
              <a:lnSpc>
                <a:spcPct val="100000"/>
              </a:lnSpc>
              <a:spcBef>
                <a:spcPts val="0"/>
              </a:spcBef>
              <a:spcAft>
                <a:spcPts val="0"/>
              </a:spcAft>
              <a:buClr>
                <a:schemeClr val="dk1"/>
              </a:buClr>
              <a:buSzPts val="1100"/>
              <a:buAutoNum type="arabicPeriod"/>
            </a:pPr>
            <a:r>
              <a:rPr lang="ru-RU" sz="1100">
                <a:latin typeface="Arial"/>
                <a:ea typeface="Arial"/>
                <a:cs typeface="Arial"/>
                <a:sym typeface="Arial"/>
              </a:rPr>
              <a:t>Отправляете данные в программу.</a:t>
            </a:r>
            <a:endParaRPr sz="1100">
              <a:latin typeface="Arial"/>
              <a:ea typeface="Arial"/>
              <a:cs typeface="Arial"/>
              <a:sym typeface="Arial"/>
            </a:endParaRPr>
          </a:p>
          <a:p>
            <a:pPr marL="457200" lvl="0" indent="-298450" algn="l" rtl="0">
              <a:lnSpc>
                <a:spcPct val="100000"/>
              </a:lnSpc>
              <a:spcBef>
                <a:spcPts val="0"/>
              </a:spcBef>
              <a:spcAft>
                <a:spcPts val="0"/>
              </a:spcAft>
              <a:buClr>
                <a:schemeClr val="dk1"/>
              </a:buClr>
              <a:buSzPts val="1100"/>
              <a:buAutoNum type="arabicPeriod"/>
            </a:pPr>
            <a:r>
              <a:rPr lang="ru-RU" sz="1100">
                <a:latin typeface="Arial"/>
                <a:ea typeface="Arial"/>
                <a:cs typeface="Arial"/>
                <a:sym typeface="Arial"/>
              </a:rPr>
              <a:t>Получите желаемый результат на основе жестко закодированной логики.</a:t>
            </a:r>
            <a:endParaRPr sz="1100">
              <a:latin typeface="Arial"/>
              <a:ea typeface="Arial"/>
              <a:cs typeface="Arial"/>
              <a:sym typeface="Arial"/>
            </a:endParaRPr>
          </a:p>
          <a:p>
            <a:pPr marL="457200" lvl="0" indent="-22860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например</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432" name="Google Shape;43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cb20f13e01_0_3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например, сложение</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449" name="Google Shape;449;g3cb20f13e01_0_3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cb20f13e01_0_3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или если вернуться к примеру с DEEP blue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Этот подход работает очень хорошо до тех пор, пока в игру не вступает определенный тип проблем.</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471" name="Google Shape;471;g3cb20f13e01_0_3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Бывают задачи, которые для людей особенного труда не составляют, но которые почему-то крайне трудно запрограммировать, например:</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457200" lvl="0" indent="-298450" algn="l" rtl="0">
              <a:lnSpc>
                <a:spcPct val="100000"/>
              </a:lnSpc>
              <a:spcBef>
                <a:spcPts val="0"/>
              </a:spcBef>
              <a:spcAft>
                <a:spcPts val="0"/>
              </a:spcAft>
              <a:buClr>
                <a:schemeClr val="dk1"/>
              </a:buClr>
              <a:buSzPts val="1100"/>
              <a:buChar char="●"/>
            </a:pPr>
            <a:r>
              <a:rPr lang="ru-RU" sz="1100">
                <a:latin typeface="Arial"/>
                <a:ea typeface="Arial"/>
                <a:cs typeface="Arial"/>
                <a:sym typeface="Arial"/>
              </a:rPr>
              <a:t>перевести текст с одного языка на другой;</a:t>
            </a:r>
            <a:endParaRPr sz="1100">
              <a:latin typeface="Arial"/>
              <a:ea typeface="Arial"/>
              <a:cs typeface="Arial"/>
              <a:sym typeface="Arial"/>
            </a:endParaRPr>
          </a:p>
          <a:p>
            <a:pPr marL="457200" lvl="0" indent="-298450" algn="l" rtl="0">
              <a:lnSpc>
                <a:spcPct val="100000"/>
              </a:lnSpc>
              <a:spcBef>
                <a:spcPts val="0"/>
              </a:spcBef>
              <a:spcAft>
                <a:spcPts val="0"/>
              </a:spcAft>
              <a:buClr>
                <a:schemeClr val="dk1"/>
              </a:buClr>
              <a:buSzPts val="1100"/>
              <a:buChar char="●"/>
            </a:pPr>
            <a:r>
              <a:rPr lang="ru-RU" sz="1100">
                <a:latin typeface="Arial"/>
                <a:ea typeface="Arial"/>
                <a:cs typeface="Arial"/>
                <a:sym typeface="Arial"/>
              </a:rPr>
              <a:t>диагностировать болезнь по симптомам;</a:t>
            </a:r>
            <a:endParaRPr sz="1100">
              <a:latin typeface="Arial"/>
              <a:ea typeface="Arial"/>
              <a:cs typeface="Arial"/>
              <a:sym typeface="Arial"/>
            </a:endParaRPr>
          </a:p>
          <a:p>
            <a:pPr marL="457200" lvl="0" indent="-298450" algn="l" rtl="0">
              <a:lnSpc>
                <a:spcPct val="100000"/>
              </a:lnSpc>
              <a:spcBef>
                <a:spcPts val="0"/>
              </a:spcBef>
              <a:spcAft>
                <a:spcPts val="0"/>
              </a:spcAft>
              <a:buClr>
                <a:schemeClr val="dk1"/>
              </a:buClr>
              <a:buSzPts val="1100"/>
              <a:buChar char="●"/>
            </a:pPr>
            <a:r>
              <a:rPr lang="ru-RU" sz="1100">
                <a:latin typeface="Arial"/>
                <a:ea typeface="Arial"/>
                <a:cs typeface="Arial"/>
                <a:sym typeface="Arial"/>
              </a:rPr>
              <a:t>И другой бесчисленный список задач</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493" name="Google Shape;4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Чтобы написать компьютерную программу, решающую проблемы, которые мы не можем описать, пришлось изменить подход</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Теперь, мы не формируем аналитически правила нахождения ответа, а формируем правила основываясь на данных и ответе</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Итак, обычно процесс машинного обучения выглядит следующим образом:</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Сбор данных о проблеме и определение правильных ответов . То есть - (накопление опыта)</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Отправка данных и ответов в систему</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Получить правила, решающие задачу с определенным уровнем точности. </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515" name="Google Shape;5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cb20f13e01_0_4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Итак, мы перешли от написания логической структуры программы к тому, чтобы заставить компьютер написать программу за нас, потому что она слишком сложна для нас, чтобы описать и написать ее.</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534" name="Google Shape;534;g3cb20f13e01_0_4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3cb20f13e01_0_5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Если бы писали калькулятор</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559" name="Google Shape;559;g3cb20f13e01_0_5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cb20f13e01_0_5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Теперь перейдем к основным терминам</a:t>
            </a:r>
            <a:endParaRPr sz="1100">
              <a:latin typeface="Arial"/>
              <a:ea typeface="Arial"/>
              <a:cs typeface="Arial"/>
              <a:sym typeface="Arial"/>
            </a:endParaRPr>
          </a:p>
          <a:p>
            <a:pPr marL="457200" lvl="0" indent="-22860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457200" lvl="0" indent="-298450" algn="l" rtl="0">
              <a:lnSpc>
                <a:spcPct val="100000"/>
              </a:lnSpc>
              <a:spcBef>
                <a:spcPts val="0"/>
              </a:spcBef>
              <a:spcAft>
                <a:spcPts val="0"/>
              </a:spcAft>
              <a:buClr>
                <a:schemeClr val="dk1"/>
              </a:buClr>
              <a:buSzPts val="1100"/>
              <a:buChar char="●"/>
            </a:pPr>
            <a:r>
              <a:rPr lang="ru-RU" sz="1100">
                <a:latin typeface="Arial"/>
                <a:ea typeface="Arial"/>
                <a:cs typeface="Arial"/>
                <a:sym typeface="Arial"/>
              </a:rPr>
              <a:t>В примере с дождем правила выводили вы</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583" name="Google Shape;583;g3cb20f13e01_0_5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3cb20f13e01_0_6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Однако в машинном обучении правила определяет модель машиного обучения</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603" name="Google Shape;603;g3cb20f13e01_0_6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cb20f13e01_0_6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Процесс определения правил называется обучением</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625" name="Google Shape;625;g3cb20f13e01_0_6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cb20f13e01_0_6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А правила называют - </a:t>
            </a:r>
            <a:r>
              <a:rPr lang="ru-RU"/>
              <a:t>истинной зависимостью</a:t>
            </a: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ru-RU"/>
              <a:t>то естьзависимость между данными и ответом</a:t>
            </a:r>
            <a:endParaRPr/>
          </a:p>
        </p:txBody>
      </p:sp>
      <p:sp>
        <p:nvSpPr>
          <p:cNvPr id="649" name="Google Shape;649;g3cb20f13e01_0_6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3cb20f13e01_0_6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Данные называют обучающей выборкой. Они обычно имеют табличный вид, где все колонки с данными называются признаками (features), а ответ – целевая переменная (target) или же X и y.</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2500"/>
              <a:buFont typeface="Arial"/>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674" name="Google Shape;674;g3cb20f13e01_0_6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3cb20f13e01_0_1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Каждая отдельная взятая строка называется Обьектом или </a:t>
            </a: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наблюдением</a:t>
            </a: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object, sample.</a:t>
            </a:r>
            <a:endParaRPr/>
          </a:p>
        </p:txBody>
      </p:sp>
      <p:sp>
        <p:nvSpPr>
          <p:cNvPr id="698" name="Google Shape;698;g3cb20f13e01_0_1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3d3e78d848d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a:p>
        </p:txBody>
      </p:sp>
      <p:sp>
        <p:nvSpPr>
          <p:cNvPr id="724" name="Google Shape;724;g3d3e78d848d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3d3e78d848d_0_1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740" name="Google Shape;740;g3d3e78d848d_0_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3d3e78d848d_0_1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760" name="Google Shape;760;g3d3e78d848d_0_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3d3e78d848d_0_1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784" name="Google Shape;784;g3d3e78d848d_0_1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3d3e78d848d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a:p>
        </p:txBody>
      </p:sp>
      <p:sp>
        <p:nvSpPr>
          <p:cNvPr id="812" name="Google Shape;812;g3d3e78d848d_0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Вернемся к примеру с шахматами. Предположим, мы решили сделать ИИ для игры в шахматы с помощью Машинного обучения</a:t>
            </a: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этого нам необходимо собрать и подготовить данные.</a:t>
            </a: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Берем огромное кол-во партий гроссмейстеров и формируем на них данные</a:t>
            </a: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Из каждой партии формируем следующие признаки, например, состояние поля (какие фигуры где стоят) и предыдущий ход сопреника. </a:t>
            </a: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Целевая переменная – какой ход гроссмейстер сделал следующим.</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840" name="Google Shape;84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3cb20f13e01_0_7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Далее обучаем нашу модель. Мы подаем обучающую выборку в модель машинного обучения для определения зависимостей.</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862" name="Google Shape;862;g3cb20f13e01_0_7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3cb20f13e01_0_8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После того, как модель обучена, мы можем подавать в нее новые данные и получать для них ответ с некоторой точностью. </a:t>
            </a: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Этот процесс называется предсказание.</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881" name="Google Shape;881;g3cb20f13e01_0_8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сравним, в чем принципиальная разница на примере Deep Blue</a:t>
            </a: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Deep Blue принимает решение на основе алгоритма с правилами, определенными человеком аналитическим путем</a:t>
            </a: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15875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Модель машинного обучения принимает решение на основе правил, выведенных из накопленного опыта, то есть данных.</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901" name="Google Shape;90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3cb20f13e01_0_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Еще одна подоблать МЛ - </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 - это машинное обучение, где в качестве модели используются нейросети.</a:t>
            </a:r>
            <a:endParaRPr/>
          </a:p>
          <a:p>
            <a:pPr marL="0" lvl="0" indent="0" algn="l" rtl="0">
              <a:lnSpc>
                <a:spcPct val="100000"/>
              </a:lnSpc>
              <a:spcBef>
                <a:spcPts val="0"/>
              </a:spcBef>
              <a:spcAft>
                <a:spcPts val="0"/>
              </a:spcAft>
              <a:buSzPts val="1400"/>
              <a:buNone/>
            </a:pPr>
            <a:endParaRPr/>
          </a:p>
        </p:txBody>
      </p:sp>
      <p:sp>
        <p:nvSpPr>
          <p:cNvPr id="919" name="Google Shape;919;g3cb20f13e01_0_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3cb20f13e01_0_8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3cb20f13e01_0_8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3d3e78d848d_0_2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4" name="Google Shape;954;g3d3e78d848d_0_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3cb20f13e01_0_8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3cb20f13e01_0_8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3cb20f13e01_0_8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3cb20f13e01_0_8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3d3e78d848d_0_2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3d3e78d848d_0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3cb20f13e01_0_9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3cb20f13e01_0_9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 данном слайде представлена визуализация разных областей машинного оубчения. пройдемся по самым распространенным из них</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056" name="Google Shape;105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Все приведенные ранее в этом курме примеры являются обучением с учителем (supervised learning), так как правильные ответы для каждого объекта обучающей выборки заранее известны. Важно понять: под учителем подразумевается именно набор ответов. Никакого реального учителя с указкой нет.</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Задачи обучения с учителем делятся на разные виды в зависимости от того, каким может быть множество всех возможных ответов Y</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067" name="Google Shape;106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solidFill>
                  <a:srgbClr val="15110E"/>
                </a:solidFill>
                <a:latin typeface="Nunito"/>
                <a:ea typeface="Nunito"/>
                <a:cs typeface="Nunito"/>
                <a:sym typeface="Nunito"/>
              </a:rPr>
              <a:t>Первый вид задач обучения с учителем - регрессия. в данном случае - ответ - любое действительное число, или набор действительных чисел</a:t>
            </a: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SzPts val="1400"/>
              <a:buNone/>
            </a:pP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Примерами задач регрессии является предсказание продолжительности поездки на каршеринге, спрос на конкретный товар в конкретный день или погода в вашем городе на завтра</a:t>
            </a: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SzPts val="1400"/>
              <a:buNone/>
            </a:pPr>
            <a:endParaRPr/>
          </a:p>
        </p:txBody>
      </p:sp>
      <p:sp>
        <p:nvSpPr>
          <p:cNvPr id="1080" name="Google Shape;10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3cb20f13e01_0_9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следующий вид - классификация</a:t>
            </a:r>
            <a:endParaRPr/>
          </a:p>
          <a:p>
            <a:pPr marL="0" lvl="0" indent="0" algn="l" rtl="0">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здесь ответом может быть ответ из заранее определенного набора.</a:t>
            </a: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Например, определение предметной области для научной статьи (математика, биология, психология и т. д.).</a:t>
            </a:r>
            <a:endParaRPr sz="1350" b="1">
              <a:highlight>
                <a:schemeClr val="lt1"/>
              </a:highlight>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097" name="Google Shape;1097;g3cb20f13e01_0_9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3cb20f13e01_0_9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бинарная классф, где набор ответов состоит из 0 и 1. мы можем предсказывать, кликнет ли пользователь по рекламному объявлению, случится ли определённое заболевание у пациента, есть ли на картинке банан.</a:t>
            </a:r>
            <a:endParaRPr sz="1350" b="1">
              <a:highlight>
                <a:schemeClr val="lt1"/>
              </a:highlight>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111" name="Google Shape;1111;g3cb20f13e01_0_9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3cb20f13e01_0_9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solidFill>
                  <a:srgbClr val="15110E"/>
                </a:solidFill>
                <a:latin typeface="Nunito"/>
                <a:ea typeface="Nunito"/>
                <a:cs typeface="Nunito"/>
                <a:sym typeface="Nunito"/>
              </a:rPr>
              <a:t>многоклассовая классификация с пересекающимися классами (multilabel classification). </a:t>
            </a: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SzPts val="1400"/>
              <a:buNone/>
            </a:pPr>
            <a:r>
              <a:rPr lang="ru-RU">
                <a:solidFill>
                  <a:srgbClr val="15110E"/>
                </a:solidFill>
                <a:latin typeface="Nunito"/>
                <a:ea typeface="Nunito"/>
                <a:cs typeface="Nunito"/>
                <a:sym typeface="Nunito"/>
              </a:rPr>
              <a:t>здесь ответ - несколько классов </a:t>
            </a: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SzPts val="1400"/>
              <a:buNone/>
            </a:pP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Например, задача автоматического проставления тегов для ресторанов (логично, что ресторан может одновременно иметь несколько тегов).</a:t>
            </a: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Clr>
                <a:schemeClr val="dk1"/>
              </a:buClr>
              <a:buSzPts val="1100"/>
              <a:buFont typeface="Arial"/>
              <a:buNone/>
            </a:pP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SzPts val="1400"/>
              <a:buNone/>
            </a:pPr>
            <a:endParaRPr/>
          </a:p>
        </p:txBody>
      </p:sp>
      <p:sp>
        <p:nvSpPr>
          <p:cNvPr id="1125" name="Google Shape;1125;g3cb20f13e01_0_9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3d3e78d848d_0_2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0" name="Google Shape;1140;g3d3e78d848d_0_2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3d3e78d848d_0_2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5" name="Google Shape;1155;g3d3e78d848d_0_2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g3cb20f13e01_0_10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Есть класс задач, относящихся к обучению без учителя (unsupervised learning), — это задачи, для которых нам известны только данные, а ответы неизвестны или вообще не существуют. Более того, часто поиск "правильных" ответов не является самоцелью. </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169" name="Google Shape;1169;g3cb20f13e01_0_10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Классическим примером обучения без учителя является кластеризация — задача разделения объектов на группы, обладающие некоторыми неизвестными нам, но, как мы в глубине души надеемся, интерпретируемыми свойствами. Примером может служить кластеризация документов из электронной библиотеки по темам или кластеризация новостей с целью выделения крупных сюжетов.</a:t>
            </a:r>
            <a:endParaRPr>
              <a:solidFill>
                <a:srgbClr val="15110E"/>
              </a:solidFill>
              <a:latin typeface="Nunito"/>
              <a:ea typeface="Nunito"/>
              <a:cs typeface="Nunito"/>
              <a:sym typeface="Nunito"/>
            </a:endParaRPr>
          </a:p>
          <a:p>
            <a:pPr marL="0" lvl="0" indent="0" algn="l" rtl="0">
              <a:lnSpc>
                <a:spcPct val="100000"/>
              </a:lnSpc>
              <a:spcBef>
                <a:spcPts val="0"/>
              </a:spcBef>
              <a:spcAft>
                <a:spcPts val="0"/>
              </a:spcAft>
              <a:buSzPts val="1400"/>
              <a:buNone/>
            </a:pPr>
            <a:endParaRPr/>
          </a:p>
        </p:txBody>
      </p:sp>
      <p:sp>
        <p:nvSpPr>
          <p:cNvPr id="1182" name="Google Shape;118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еще класс задач. обучение с подкреплением.</a:t>
            </a:r>
            <a:r>
              <a:rPr lang="ru-RU" sz="1100">
                <a:latin typeface="Arial"/>
                <a:ea typeface="Arial"/>
                <a:cs typeface="Arial"/>
                <a:sym typeface="Arial"/>
              </a:rPr>
              <a:t> основан па том, что алгоритм за каждое свое действие получает награду или наказание.</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Здесь предсказание модели - следующее действие.Желательно самое выгодное :)</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AlphaGo сыграл сам с собой миллионы партий.</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196" name="Google Shape;119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3cb20f13e01_0_10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Однако, помимо рассмотренных задач, есть еще задачи, где ответ гораздо сложнее</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Так, в задаче сегментации изображения требуется для каждого пикселя предсказать, к какому объекту или типу объектов он относится,</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210" name="Google Shape;1210;g3cb20f13e01_0_10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3cb20f13e01_0_10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 а в задаче машинного перевода мы должны сгенерировать предложение (или целый текст), являющееся переводом исходного. </a:t>
            </a:r>
            <a:endParaRPr/>
          </a:p>
        </p:txBody>
      </p:sp>
      <p:sp>
        <p:nvSpPr>
          <p:cNvPr id="1223" name="Google Shape;1223;g3cb20f13e01_0_10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Интерес представляют и задачи порождения новых объектов, то есть генерации правдоподобных объектов, из ничего или на основе уже существующих. С помощью такой модели также можно научиться увеличивать разрешение изображения и применять любимые всеми маски в соцсетях.</a:t>
            </a:r>
            <a:endParaRPr/>
          </a:p>
          <a:p>
            <a:pPr marL="0" lvl="0" indent="0" algn="l" rtl="0">
              <a:lnSpc>
                <a:spcPct val="100000"/>
              </a:lnSpc>
              <a:spcBef>
                <a:spcPts val="0"/>
              </a:spcBef>
              <a:spcAft>
                <a:spcPts val="0"/>
              </a:spcAft>
              <a:buSzPts val="1400"/>
              <a:buNone/>
            </a:pPr>
            <a:endParaRPr/>
          </a:p>
        </p:txBody>
      </p:sp>
      <p:sp>
        <p:nvSpPr>
          <p:cNvPr id="1236" name="Google Shape;12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3cb20f13e01_0_9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3cb20f13e01_0_9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12240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cb20f13e01_0_9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ru-RU"/>
              <a:t>Вспомним - Классификация — это задача определения того, к какому из множества классов (категорий) относится тот или иной обьект.</a:t>
            </a:r>
            <a:endParaRPr/>
          </a:p>
          <a:p>
            <a:pPr marL="0" lvl="0" indent="0" algn="l" rtl="0">
              <a:spcBef>
                <a:spcPts val="0"/>
              </a:spcBef>
              <a:spcAft>
                <a:spcPts val="0"/>
              </a:spcAft>
              <a:buSzPts val="1100"/>
              <a:buNone/>
            </a:pPr>
            <a:endParaRPr/>
          </a:p>
        </p:txBody>
      </p:sp>
      <p:sp>
        <p:nvSpPr>
          <p:cNvPr id="122" name="Google Shape;122;g3cb20f13e01_0_9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cd43cf902c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ru-RU" sz="1100">
                <a:latin typeface="Arial"/>
                <a:ea typeface="Arial"/>
                <a:cs typeface="Arial"/>
                <a:sym typeface="Arial"/>
              </a:rPr>
              <a:t>Давайте разберем ее на примере. Даны признаки - кол-во лепестков и длина лепестка.</a:t>
            </a:r>
            <a:endParaRPr sz="1100">
              <a:latin typeface="Arial"/>
              <a:ea typeface="Arial"/>
              <a:cs typeface="Arial"/>
              <a:sym typeface="Arial"/>
            </a:endParaRPr>
          </a:p>
          <a:p>
            <a:pPr marL="0" lvl="0" indent="0" algn="l" rtl="0">
              <a:spcBef>
                <a:spcPts val="0"/>
              </a:spcBef>
              <a:spcAft>
                <a:spcPts val="0"/>
              </a:spcAft>
              <a:buSzPts val="1100"/>
              <a:buNone/>
            </a:pPr>
            <a:r>
              <a:rPr lang="ru-RU" sz="1100">
                <a:latin typeface="Arial"/>
                <a:ea typeface="Arial"/>
                <a:cs typeface="Arial"/>
                <a:sym typeface="Arial"/>
              </a:rPr>
              <a:t>Цель - определить тип цветка.</a:t>
            </a:r>
            <a:endParaRPr sz="1100">
              <a:latin typeface="Arial"/>
              <a:ea typeface="Arial"/>
              <a:cs typeface="Arial"/>
              <a:sym typeface="Arial"/>
            </a:endParaRPr>
          </a:p>
          <a:p>
            <a:pPr marL="0" lvl="0" indent="0" algn="l" rtl="0">
              <a:spcBef>
                <a:spcPts val="0"/>
              </a:spcBef>
              <a:spcAft>
                <a:spcPts val="0"/>
              </a:spcAft>
              <a:buSzPts val="1100"/>
              <a:buNone/>
            </a:pPr>
            <a:endParaRPr sz="1100">
              <a:latin typeface="Arial"/>
              <a:ea typeface="Arial"/>
              <a:cs typeface="Arial"/>
              <a:sym typeface="Arial"/>
            </a:endParaRPr>
          </a:p>
          <a:p>
            <a:pPr marL="0" lvl="0" indent="0" algn="l" rtl="0">
              <a:spcBef>
                <a:spcPts val="0"/>
              </a:spcBef>
              <a:spcAft>
                <a:spcPts val="0"/>
              </a:spcAft>
              <a:buSzPts val="1100"/>
              <a:buNone/>
            </a:pPr>
            <a:r>
              <a:rPr lang="ru-RU" sz="1100">
                <a:latin typeface="Arial"/>
                <a:ea typeface="Arial"/>
                <a:cs typeface="Arial"/>
                <a:sym typeface="Arial"/>
              </a:rPr>
              <a:t>У нас есть обучающая выборка. необходимо определить истинную зависимость, как признаки соотносятся с типом цветка.</a:t>
            </a:r>
            <a:endParaRPr sz="1100">
              <a:latin typeface="Arial"/>
              <a:ea typeface="Arial"/>
              <a:cs typeface="Arial"/>
              <a:sym typeface="Arial"/>
            </a:endParaRPr>
          </a:p>
          <a:p>
            <a:pPr marL="0" lvl="0" indent="0" algn="l" rtl="0">
              <a:spcBef>
                <a:spcPts val="0"/>
              </a:spcBef>
              <a:spcAft>
                <a:spcPts val="0"/>
              </a:spcAft>
              <a:buSzPts val="1100"/>
              <a:buNone/>
            </a:pPr>
            <a:r>
              <a:rPr lang="ru-RU" sz="1100">
                <a:latin typeface="Arial"/>
                <a:ea typeface="Arial"/>
                <a:cs typeface="Arial"/>
                <a:sym typeface="Arial"/>
              </a:rPr>
              <a:t>Для этого надо обучить модель машинного обучения.</a:t>
            </a:r>
            <a:endParaRPr sz="1100">
              <a:latin typeface="Arial"/>
              <a:ea typeface="Arial"/>
              <a:cs typeface="Arial"/>
              <a:sym typeface="Arial"/>
            </a:endParaRPr>
          </a:p>
        </p:txBody>
      </p:sp>
      <p:sp>
        <p:nvSpPr>
          <p:cNvPr id="136" name="Google Shape;136;g3cd43cf902c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ru-RU" sz="1100" dirty="0">
                <a:latin typeface="Arial"/>
                <a:ea typeface="Arial"/>
                <a:cs typeface="Arial"/>
                <a:sym typeface="Arial"/>
              </a:rPr>
              <a:t>Один из простейших алгоритмов классификации - метод К ближайших соседей</a:t>
            </a:r>
            <a:endParaRPr sz="1100"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dirty="0">
                <a:latin typeface="Arial"/>
                <a:ea typeface="Arial"/>
                <a:cs typeface="Arial"/>
                <a:sym typeface="Arial"/>
              </a:rPr>
              <a:t>Основная идея алгоритма в том, что рядом с похожими объектами будут находиться похожие объекты. </a:t>
            </a:r>
            <a:endParaRPr sz="1100" dirty="0">
              <a:latin typeface="Arial"/>
              <a:ea typeface="Arial"/>
              <a:cs typeface="Arial"/>
              <a:sym typeface="Arial"/>
            </a:endParaRPr>
          </a:p>
          <a:p>
            <a:pPr marL="0" lvl="0" indent="0" algn="l" rtl="0">
              <a:spcBef>
                <a:spcPts val="0"/>
              </a:spcBef>
              <a:spcAft>
                <a:spcPts val="0"/>
              </a:spcAft>
              <a:buSzPts val="1100"/>
              <a:buNone/>
            </a:pPr>
            <a:endParaRPr sz="1100" dirty="0">
              <a:latin typeface="Arial"/>
              <a:ea typeface="Arial"/>
              <a:cs typeface="Arial"/>
              <a:sym typeface="Arial"/>
            </a:endParaRPr>
          </a:p>
          <a:p>
            <a:pPr marL="0" lvl="0" indent="0" algn="l" rtl="0">
              <a:spcBef>
                <a:spcPts val="0"/>
              </a:spcBef>
              <a:spcAft>
                <a:spcPts val="0"/>
              </a:spcAft>
              <a:buSzPts val="1100"/>
              <a:buNone/>
            </a:pPr>
            <a:r>
              <a:rPr lang="ru-RU" sz="1100" dirty="0">
                <a:latin typeface="Arial"/>
                <a:ea typeface="Arial"/>
                <a:cs typeface="Arial"/>
                <a:sym typeface="Arial"/>
              </a:rPr>
              <a:t>у метода нет фазы обучения, алгоритм просто запоминает всю обучающую выборку.</a:t>
            </a:r>
            <a:endParaRPr sz="1100"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dirty="0">
              <a:latin typeface="Arial"/>
              <a:ea typeface="Arial"/>
              <a:cs typeface="Arial"/>
              <a:sym typeface="Arial"/>
            </a:endParaRPr>
          </a:p>
          <a:p>
            <a:pPr marL="0" lvl="0" indent="0" algn="l" rtl="0">
              <a:spcBef>
                <a:spcPts val="0"/>
              </a:spcBef>
              <a:spcAft>
                <a:spcPts val="0"/>
              </a:spcAft>
              <a:buSzPts val="1100"/>
              <a:buNone/>
            </a:pPr>
            <a:r>
              <a:rPr lang="ru-RU" sz="1100" dirty="0">
                <a:latin typeface="Arial"/>
                <a:ea typeface="Arial"/>
                <a:cs typeface="Arial"/>
                <a:sym typeface="Arial"/>
              </a:rPr>
              <a:t>Предсказание выглядит следующим образом - для точки, которой необходимо предсказать класс, ищем некоторое количество К ближайших точек. </a:t>
            </a:r>
            <a:endParaRPr sz="1100" dirty="0">
              <a:latin typeface="Arial"/>
              <a:ea typeface="Arial"/>
              <a:cs typeface="Arial"/>
              <a:sym typeface="Arial"/>
            </a:endParaRPr>
          </a:p>
          <a:p>
            <a:pPr marL="0" lvl="0" indent="0" algn="l" rtl="0">
              <a:spcBef>
                <a:spcPts val="0"/>
              </a:spcBef>
              <a:spcAft>
                <a:spcPts val="0"/>
              </a:spcAft>
              <a:buSzPts val="1100"/>
              <a:buNone/>
            </a:pPr>
            <a:r>
              <a:rPr lang="ru-RU" sz="1100" dirty="0">
                <a:latin typeface="Arial"/>
                <a:ea typeface="Arial"/>
                <a:cs typeface="Arial"/>
                <a:sym typeface="Arial"/>
              </a:rPr>
              <a:t>Отнесем точку к тому классу, которых оказалось больше всего.</a:t>
            </a:r>
            <a:endParaRPr sz="1100" dirty="0">
              <a:latin typeface="Arial"/>
              <a:ea typeface="Arial"/>
              <a:cs typeface="Arial"/>
              <a:sym typeface="Arial"/>
            </a:endParaRPr>
          </a:p>
          <a:p>
            <a:pPr marL="0" lvl="0" indent="0" algn="l" rtl="0">
              <a:spcBef>
                <a:spcPts val="0"/>
              </a:spcBef>
              <a:spcAft>
                <a:spcPts val="0"/>
              </a:spcAft>
              <a:buSzPts val="1100"/>
              <a:buNone/>
            </a:pPr>
            <a:endParaRPr sz="1100" dirty="0">
              <a:latin typeface="Arial"/>
              <a:ea typeface="Arial"/>
              <a:cs typeface="Arial"/>
              <a:sym typeface="Arial"/>
            </a:endParaRPr>
          </a:p>
          <a:p>
            <a:pPr marL="0" lvl="0" indent="0" algn="l" rtl="0">
              <a:spcBef>
                <a:spcPts val="0"/>
              </a:spcBef>
              <a:spcAft>
                <a:spcPts val="0"/>
              </a:spcAft>
              <a:buSzPts val="1100"/>
              <a:buNone/>
            </a:pPr>
            <a:r>
              <a:rPr lang="ru-RU" sz="1100" dirty="0">
                <a:latin typeface="Arial"/>
                <a:ea typeface="Arial"/>
                <a:cs typeface="Arial"/>
                <a:sym typeface="Arial"/>
              </a:rPr>
              <a:t>Давайте посмотрим на картинку. разместим каждый объект обучающей выборки как точку в двумерном пространстве. В случае, если мы берем К=3 - 3 ближайших соседа- ответ был бы класс Васильков, зеленые.</a:t>
            </a:r>
            <a:endParaRPr sz="1100" dirty="0">
              <a:latin typeface="Arial"/>
              <a:ea typeface="Arial"/>
              <a:cs typeface="Arial"/>
              <a:sym typeface="Arial"/>
            </a:endParaRPr>
          </a:p>
          <a:p>
            <a:pPr marL="0" lvl="0" indent="0" algn="l" rtl="0">
              <a:spcBef>
                <a:spcPts val="0"/>
              </a:spcBef>
              <a:spcAft>
                <a:spcPts val="0"/>
              </a:spcAft>
              <a:buSzPts val="1100"/>
              <a:buNone/>
            </a:pPr>
            <a:endParaRPr sz="1100" dirty="0">
              <a:latin typeface="Arial"/>
              <a:ea typeface="Arial"/>
              <a:cs typeface="Arial"/>
              <a:sym typeface="Arial"/>
            </a:endParaRPr>
          </a:p>
          <a:p>
            <a:pPr marL="0" lvl="0" indent="0" algn="l" rtl="0">
              <a:spcBef>
                <a:spcPts val="0"/>
              </a:spcBef>
              <a:spcAft>
                <a:spcPts val="0"/>
              </a:spcAft>
              <a:buSzPts val="1100"/>
              <a:buNone/>
            </a:pPr>
            <a:r>
              <a:rPr lang="ru-RU" sz="1100" dirty="0">
                <a:latin typeface="Arial"/>
                <a:ea typeface="Arial"/>
                <a:cs typeface="Arial"/>
                <a:sym typeface="Arial"/>
              </a:rPr>
              <a:t>Мы ищем среди К ближайших соседей, поэтому число К необходимо </a:t>
            </a:r>
            <a:r>
              <a:rPr lang="ru-RU" sz="1100" dirty="0" err="1">
                <a:latin typeface="Arial"/>
                <a:ea typeface="Arial"/>
                <a:cs typeface="Arial"/>
                <a:sym typeface="Arial"/>
              </a:rPr>
              <a:t>определеить</a:t>
            </a:r>
            <a:r>
              <a:rPr lang="ru-RU" sz="1100" dirty="0">
                <a:latin typeface="Arial"/>
                <a:ea typeface="Arial"/>
                <a:cs typeface="Arial"/>
                <a:sym typeface="Arial"/>
              </a:rPr>
              <a:t> заранее. К - это </a:t>
            </a:r>
            <a:r>
              <a:rPr lang="ru-RU" sz="1100" dirty="0" err="1">
                <a:latin typeface="Arial"/>
                <a:ea typeface="Arial"/>
                <a:cs typeface="Arial"/>
                <a:sym typeface="Arial"/>
              </a:rPr>
              <a:t>гиперпараметр</a:t>
            </a:r>
            <a:r>
              <a:rPr lang="ru-RU" sz="1100" dirty="0">
                <a:latin typeface="Arial"/>
                <a:ea typeface="Arial"/>
                <a:cs typeface="Arial"/>
                <a:sym typeface="Arial"/>
              </a:rPr>
              <a:t> модели</a:t>
            </a:r>
            <a:endParaRPr sz="1100" dirty="0">
              <a:latin typeface="Arial"/>
              <a:ea typeface="Arial"/>
              <a:cs typeface="Arial"/>
              <a:sym typeface="Arial"/>
            </a:endParaRPr>
          </a:p>
        </p:txBody>
      </p:sp>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ru-RU" sz="1100" dirty="0">
                <a:latin typeface="Arial"/>
                <a:ea typeface="Arial"/>
                <a:cs typeface="Arial"/>
                <a:sym typeface="Arial"/>
              </a:rPr>
              <a:t>Давайте на его примере разберем проблемы, которые мешают машинному обучению быть волшебной палочкой</a:t>
            </a:r>
            <a:endParaRPr sz="1100" dirty="0">
              <a:latin typeface="Arial"/>
              <a:ea typeface="Arial"/>
              <a:cs typeface="Arial"/>
              <a:sym typeface="Arial"/>
            </a:endParaRPr>
          </a:p>
        </p:txBody>
      </p:sp>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35360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ru-RU" sz="1100" dirty="0">
                <a:latin typeface="Arial"/>
                <a:ea typeface="Arial"/>
                <a:cs typeface="Arial"/>
                <a:sym typeface="Arial"/>
              </a:rPr>
              <a:t>Давайте на его примере разберем проблемы, которые мешают машинному обучению быть волшебной палочкой</a:t>
            </a:r>
            <a:endParaRPr sz="1100" dirty="0">
              <a:latin typeface="Arial"/>
              <a:ea typeface="Arial"/>
              <a:cs typeface="Arial"/>
              <a:sym typeface="Arial"/>
            </a:endParaRPr>
          </a:p>
        </p:txBody>
      </p:sp>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1891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ccf7679e09_0_5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ru-RU" sz="1100">
                <a:latin typeface="Arial"/>
                <a:ea typeface="Arial"/>
                <a:cs typeface="Arial"/>
                <a:sym typeface="Arial"/>
              </a:rPr>
              <a:t>– Параметр, который задается до начала работы алгоритма -. </a:t>
            </a:r>
            <a:endParaRPr sz="1100">
              <a:latin typeface="Arial"/>
              <a:ea typeface="Arial"/>
              <a:cs typeface="Arial"/>
              <a:sym typeface="Arial"/>
            </a:endParaRPr>
          </a:p>
          <a:p>
            <a:pPr marL="0" lvl="0" indent="0" algn="l" rtl="0">
              <a:spcBef>
                <a:spcPts val="0"/>
              </a:spcBef>
              <a:spcAft>
                <a:spcPts val="0"/>
              </a:spcAft>
              <a:buSzPts val="1100"/>
              <a:buNone/>
            </a:pPr>
            <a:r>
              <a:rPr lang="ru-RU" sz="1100">
                <a:latin typeface="Arial"/>
                <a:ea typeface="Arial"/>
                <a:cs typeface="Arial"/>
                <a:sym typeface="Arial"/>
              </a:rPr>
              <a:t>От его значения очень зависит итоговое значение. </a:t>
            </a:r>
            <a:endParaRPr sz="1100">
              <a:latin typeface="Arial"/>
              <a:ea typeface="Arial"/>
              <a:cs typeface="Arial"/>
              <a:sym typeface="Arial"/>
            </a:endParaRPr>
          </a:p>
          <a:p>
            <a:pPr marL="0" lvl="0" indent="0" algn="l" rtl="0">
              <a:spcBef>
                <a:spcPts val="0"/>
              </a:spcBef>
              <a:spcAft>
                <a:spcPts val="0"/>
              </a:spcAft>
              <a:buSzPts val="1100"/>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169" name="Google Shape;169;g3ccf7679e09_0_5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cb20f13e01_0_8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Например, если мы берем 3 ближайших соседа будет предсказан Василек, А если К=6 то тогда мы берем еще 3 синих точки, и теперь объектов класса Лютик уже больше , соответсвенно, ответ будет Лютик</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Мы с вами увидели влияние гиперпараметра K на результат работы алгоритма. Подбирать гиперпараметры важная задача в машинном обучении</a:t>
            </a:r>
            <a:endParaRPr sz="1100">
              <a:latin typeface="Arial"/>
              <a:ea typeface="Arial"/>
              <a:cs typeface="Arial"/>
              <a:sym typeface="Arial"/>
            </a:endParaRPr>
          </a:p>
        </p:txBody>
      </p:sp>
      <p:sp>
        <p:nvSpPr>
          <p:cNvPr id="188" name="Google Shape;188;g3cb20f13e01_0_8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cd43cf902c_0_1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Основная проблема, с которой вы столкнетесь при неверном К - Переобучение — это ситуация, когда модель слишком точно подстраивается под обучающие данные, запоминая не только общие закономерности, но и случайный шум или незначительные детали. В результате на новых данных такая модель работает хуже, чем могла бы, потому что она «заучила» обучающую выборку наизусть, а не научилась обобщать.</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При мельнеьком значении К = 1 Модель ориентируется только на один самый близкий объект. Если в данных есть шум (например, ошибочно размеченная точка), то вокруг этой точки образуется «островок» её класса, граница становится очень извилистой и сложной. Посмотрите на изображение.</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Теперь при предсказании точка, попавшая в эту область будет отнесена к фиолетовому классу</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при Умеренном значении Модель усредняет влияние нескольких соседей, шум сглаживается, граница становится более плавной и лучше отражает истинные закономерности. </a:t>
            </a:r>
            <a:endParaRPr sz="1100">
              <a:latin typeface="Arial"/>
              <a:ea typeface="Arial"/>
              <a:cs typeface="Arial"/>
              <a:sym typeface="Arial"/>
            </a:endParaRPr>
          </a:p>
        </p:txBody>
      </p:sp>
      <p:sp>
        <p:nvSpPr>
          <p:cNvPr id="204" name="Google Shape;204;g3cd43cf902c_0_1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890a4b6faf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3890a4b6faf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Хорошо, вернемся к основной идее. </a:t>
            </a:r>
            <a:r>
              <a:rPr lang="ru" dirty="0">
                <a:solidFill>
                  <a:schemeClr val="dk1"/>
                </a:solidFill>
              </a:rPr>
              <a:t>Для N обьектов, которые более менее близки, должен быть более менее близкий ответ. Если точка в окружении синих, она синяя. Если точка в окружении 10, она тоже 10. Однако, это предположение нарушается при больших размерностях данных. Что такое размерность - это длина вектора признаков (кол-во признаков)</a:t>
            </a:r>
            <a:endParaRPr dirty="0">
              <a:solidFill>
                <a:schemeClr val="dk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ru-RU" dirty="0">
                <a:solidFill>
                  <a:schemeClr val="dk1"/>
                </a:solidFill>
              </a:rPr>
              <a:t>Например, мы определяем, какая котенок или собачка. У нас есть признак длина носа и количество усов. Размерность признаков два.</a:t>
            </a:r>
          </a:p>
          <a:p>
            <a:pPr marL="0" lvl="0" indent="0" algn="l" rtl="0">
              <a:spcBef>
                <a:spcPts val="0"/>
              </a:spcBef>
              <a:spcAft>
                <a:spcPts val="0"/>
              </a:spcAft>
              <a:buNone/>
            </a:pPr>
            <a:endParaRPr dirty="0">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890a4b6fa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3890a4b6fa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Однако с увеличением кол-ва признаков размерность пространства увеличивается и оказывается, что в окрестностях нашей точки не оказывается других точек. и 5 ближайших соседей очень далеко. </a:t>
            </a:r>
            <a:endParaRPr/>
          </a:p>
          <a:p>
            <a:pPr marL="0" lvl="0" indent="0" algn="l" rtl="0">
              <a:spcBef>
                <a:spcPts val="0"/>
              </a:spcBef>
              <a:spcAft>
                <a:spcPts val="0"/>
              </a:spcAft>
              <a:buNone/>
            </a:pPr>
            <a:endParaRPr/>
          </a:p>
          <a:p>
            <a:pPr marL="0" lvl="0" indent="0" algn="l" rtl="0">
              <a:spcBef>
                <a:spcPts val="0"/>
              </a:spcBef>
              <a:spcAft>
                <a:spcPts val="0"/>
              </a:spcAft>
              <a:buNone/>
            </a:pPr>
            <a:r>
              <a:rPr lang="ru"/>
              <a:t>На этой картинке: в двумерном пространстве в круг (окрестность искомой точки) попадает много точек. В 3 мерном пространстве в круг попадает гораздо меньше точек, хотя, их осталось столько же, в n-мерном пространстве может вообще ничего не попасть</a:t>
            </a:r>
            <a:endParaRPr/>
          </a:p>
          <a:p>
            <a:pPr marL="0" lvl="0" indent="0" algn="l" rtl="0">
              <a:spcBef>
                <a:spcPts val="0"/>
              </a:spcBef>
              <a:spcAft>
                <a:spcPts val="0"/>
              </a:spcAft>
              <a:buNone/>
            </a:pPr>
            <a:endParaRPr/>
          </a:p>
          <a:p>
            <a:pPr marL="0" lvl="0" indent="0" algn="l" rtl="0">
              <a:spcBef>
                <a:spcPts val="0"/>
              </a:spcBef>
              <a:spcAft>
                <a:spcPts val="0"/>
              </a:spcAft>
              <a:buNone/>
            </a:pPr>
            <a:r>
              <a:rPr lang="ru"/>
              <a:t>Это большая особенность алгоритмов машинного обучения.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cb20f13e01_0_8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Здесь обсудим еще одну проблему - Если взять для определения расстояния обычное евклидовое расстояние, возникает следущее. </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допустим мы определяем класса дома по признакам:</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Расстояние до метро в метрах</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Количество комнат</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Признаки на очень разных масштабах, </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расстояние до метро в метрах может быть просто огромное, </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а кол-во комнат обычно от 1 до 6, </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считая расстояние между точками основной вклад будет вносить расстояние до метро.</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 Однако, если расстояние на 5 метров больше, это не так весомо, как если бы в квартире было бы на 5 комант больше. Алгоритм не учтёт это.</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Количество комнат почти не будет влиять на предсказание</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ru-RU" sz="1100">
                <a:latin typeface="Arial"/>
                <a:ea typeface="Arial"/>
                <a:cs typeface="Arial"/>
                <a:sym typeface="Arial"/>
              </a:rPr>
              <a:t>С этим приходится что-то делать. Стандартно, вычесть среднее и поделить на стандартное отклонение. </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245" name="Google Shape;245;g3cb20f13e01_0_8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6"/>
        <p:cNvGrpSpPr/>
        <p:nvPr/>
      </p:nvGrpSpPr>
      <p:grpSpPr>
        <a:xfrm>
          <a:off x="0" y="0"/>
          <a:ext cx="0" cy="0"/>
          <a:chOff x="0" y="0"/>
          <a:chExt cx="0" cy="0"/>
        </a:xfrm>
      </p:grpSpPr>
      <p:sp>
        <p:nvSpPr>
          <p:cNvPr id="1247" name="Google Shape;1247;g3d1a00d9b9a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ru-RU" sz="1100">
                <a:latin typeface="Arial"/>
                <a:ea typeface="Arial"/>
                <a:cs typeface="Arial"/>
                <a:sym typeface="Arial"/>
              </a:rPr>
              <a:t>Теперь я расскажу вам о вашем первом серьезном проектном задании — </a:t>
            </a:r>
            <a:endParaRPr sz="1100">
              <a:latin typeface="Arial"/>
              <a:ea typeface="Arial"/>
              <a:cs typeface="Arial"/>
              <a:sym typeface="Arial"/>
            </a:endParaRPr>
          </a:p>
        </p:txBody>
      </p:sp>
      <p:sp>
        <p:nvSpPr>
          <p:cNvPr id="1248" name="Google Shape;1248;g3d1a00d9b9a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1"/>
        <p:cNvGrpSpPr/>
        <p:nvPr/>
      </p:nvGrpSpPr>
      <p:grpSpPr>
        <a:xfrm>
          <a:off x="0" y="0"/>
          <a:ext cx="0" cy="0"/>
          <a:chOff x="0" y="0"/>
          <a:chExt cx="0" cy="0"/>
        </a:xfrm>
      </p:grpSpPr>
      <p:sp>
        <p:nvSpPr>
          <p:cNvPr id="1262" name="Google Shape;126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 чем суть:</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Крушение «Титаника», произошедшее 15 апреля 1912 года, — одна из самых известных морских катастроф в истории. Во время своего первого плавания лайнер столкнулся с айсбергом и затонул, унеся жизни 1502 человек из 2224 находившихся на борту. Эта трагедия потрясла мировое сообщество и привела к ужесточению правил безопасности на море.</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Одной из ключевых причин столь высокой смертности стало катастрофическое отсутствие спасательных шлюпок. Однако анализ трагедии показывает, что выживание не было случайностью. Определенные группы пассажиров имели значительно более высокие шансы на спасение: женщины, дети и представители высшего класса.</a:t>
            </a:r>
            <a:endParaRPr sz="1100">
              <a:latin typeface="Arial"/>
              <a:ea typeface="Arial"/>
              <a:cs typeface="Arial"/>
              <a:sym typeface="Arial"/>
            </a:endParaRPr>
          </a:p>
        </p:txBody>
      </p:sp>
      <p:sp>
        <p:nvSpPr>
          <p:cNvPr id="1263" name="Google Shape;126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g3d4a20b5c44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Нам даны данные о пассажирах "Титаника": их возраст, пол, класс билета, порт посадки и так далее.</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Задача: На основе этих данных обучить алгоритм, который предскажет для каждого пассажира из тестовой выборки: выжил он (1) или нет (0)».</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SzPts val="1100"/>
              <a:buNone/>
            </a:pPr>
            <a:r>
              <a:rPr lang="ru-RU" sz="1100">
                <a:latin typeface="Arial"/>
                <a:ea typeface="Arial"/>
                <a:cs typeface="Arial"/>
                <a:sym typeface="Arial"/>
              </a:rPr>
              <a:t>Ваша цель — не просто написать код, а пройти полный путь инженера по данным: от исследования данных до создания модели, которая предскажет, кто выживет, а кто погибнет в этой известной катастрофе</a:t>
            </a:r>
            <a:endParaRPr sz="1100">
              <a:latin typeface="Arial"/>
              <a:ea typeface="Arial"/>
              <a:cs typeface="Arial"/>
              <a:sym typeface="Arial"/>
            </a:endParaRPr>
          </a:p>
        </p:txBody>
      </p:sp>
      <p:sp>
        <p:nvSpPr>
          <p:cNvPr id="1276" name="Google Shape;1276;g3d4a20b5c44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a:t>Работа над любым проектом в области машинного обучения — это не просто написание кода. Это сложный и итеративный процесс, который требует системного подхода. Чтобы проект был успешным, необходимо пройти несколько ключевых этапов. Рассмотрим их последовательно.</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ru-RU"/>
              <a:t>1. Определение проблемы (Problem Definition)</a:t>
            </a:r>
            <a:endParaRPr/>
          </a:p>
          <a:p>
            <a:pPr marL="0" lvl="0" indent="0" algn="l" rtl="0">
              <a:lnSpc>
                <a:spcPct val="100000"/>
              </a:lnSpc>
              <a:spcBef>
                <a:spcPts val="0"/>
              </a:spcBef>
              <a:spcAft>
                <a:spcPts val="0"/>
              </a:spcAft>
              <a:buClr>
                <a:schemeClr val="dk1"/>
              </a:buClr>
              <a:buSzPts val="1100"/>
              <a:buFont typeface="Arial"/>
              <a:buNone/>
            </a:pPr>
            <a:r>
              <a:rPr lang="ru-RU"/>
              <a:t>2. Сбор данных (Data Gathering)</a:t>
            </a:r>
            <a:endParaRPr/>
          </a:p>
          <a:p>
            <a:pPr marL="0" lvl="0" indent="0" algn="l" rtl="0">
              <a:lnSpc>
                <a:spcPct val="100000"/>
              </a:lnSpc>
              <a:spcBef>
                <a:spcPts val="0"/>
              </a:spcBef>
              <a:spcAft>
                <a:spcPts val="0"/>
              </a:spcAft>
              <a:buClr>
                <a:schemeClr val="dk1"/>
              </a:buClr>
              <a:buSzPts val="1100"/>
              <a:buFont typeface="Arial"/>
              <a:buNone/>
            </a:pPr>
            <a:r>
              <a:rPr lang="ru-RU"/>
              <a:t>3. Подготовка данных (Data Preparation / Wrangling)): "Чистим" данные. Заполняем пропуски, превращаем текстовые данные (например, пол) в числа, создаем новые признаки (например, длину имени или размер семьи).</a:t>
            </a:r>
            <a:endParaRPr/>
          </a:p>
          <a:p>
            <a:pPr marL="0" lvl="0" indent="0" algn="l" rtl="0">
              <a:lnSpc>
                <a:spcPct val="100000"/>
              </a:lnSpc>
              <a:spcBef>
                <a:spcPts val="0"/>
              </a:spcBef>
              <a:spcAft>
                <a:spcPts val="0"/>
              </a:spcAft>
              <a:buClr>
                <a:schemeClr val="dk1"/>
              </a:buClr>
              <a:buSzPts val="1100"/>
              <a:buFont typeface="Arial"/>
              <a:buNone/>
            </a:pPr>
            <a:r>
              <a:rPr lang="ru-RU"/>
              <a:t>4. Исследовательский анализ (Exploratory Analysis): Знакомимся с данными. Ищем пропуски, рисуем графики, смотрим, какие признаки влияют на выживаемость.</a:t>
            </a:r>
            <a:endParaRPr/>
          </a:p>
          <a:p>
            <a:pPr marL="0" lvl="0" indent="0" algn="l" rtl="0">
              <a:lnSpc>
                <a:spcPct val="100000"/>
              </a:lnSpc>
              <a:spcBef>
                <a:spcPts val="0"/>
              </a:spcBef>
              <a:spcAft>
                <a:spcPts val="0"/>
              </a:spcAft>
              <a:buSzPts val="1100"/>
              <a:buNone/>
            </a:pPr>
            <a:r>
              <a:rPr lang="ru-RU"/>
              <a:t>5. инженерия признаков </a:t>
            </a:r>
            <a:endParaRPr/>
          </a:p>
          <a:p>
            <a:pPr marL="0" lvl="0" indent="0" algn="l" rtl="0">
              <a:lnSpc>
                <a:spcPct val="100000"/>
              </a:lnSpc>
              <a:spcBef>
                <a:spcPts val="0"/>
              </a:spcBef>
              <a:spcAft>
                <a:spcPts val="0"/>
              </a:spcAft>
              <a:buClr>
                <a:schemeClr val="dk1"/>
              </a:buClr>
              <a:buSzPts val="1100"/>
              <a:buFont typeface="Arial"/>
              <a:buNone/>
            </a:pPr>
            <a:r>
              <a:rPr lang="ru-RU"/>
              <a:t>6. обучение модели: Выбираем алгоритм (Логистическая регрессия, Random Forest, или даже нейросеть), обучаем на тренировочных данных.</a:t>
            </a:r>
            <a:endParaRPr/>
          </a:p>
          <a:p>
            <a:pPr marL="0" lvl="0" indent="0" algn="l" rtl="0">
              <a:lnSpc>
                <a:spcPct val="100000"/>
              </a:lnSpc>
              <a:spcBef>
                <a:spcPts val="0"/>
              </a:spcBef>
              <a:spcAft>
                <a:spcPts val="0"/>
              </a:spcAft>
              <a:buClr>
                <a:schemeClr val="dk1"/>
              </a:buClr>
              <a:buSzPts val="1100"/>
              <a:buFont typeface="Arial"/>
              <a:buNone/>
            </a:pPr>
            <a:r>
              <a:rPr lang="ru-RU"/>
              <a:t>7. Валидация и внедрение модели (Validation &amp; Implementation)</a:t>
            </a:r>
            <a:endParaRPr/>
          </a:p>
          <a:p>
            <a:pPr marL="0" lvl="0" indent="0" algn="l" rtl="0">
              <a:lnSpc>
                <a:spcPct val="100000"/>
              </a:lnSpc>
              <a:spcBef>
                <a:spcPts val="0"/>
              </a:spcBef>
              <a:spcAft>
                <a:spcPts val="0"/>
              </a:spcAft>
              <a:buSzPts val="1100"/>
              <a:buNone/>
            </a:pPr>
            <a:r>
              <a:rPr lang="ru-RU"/>
              <a:t>8. Оптимизация и стратегия (Optimization &amp; Strategize)</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400"/>
              <a:buFont typeface="Arial"/>
              <a:buNone/>
            </a:pPr>
            <a:r>
              <a:rPr lang="ru-RU"/>
              <a:t>Работа с моделями состоит последовательно из этих этапов, однако бывают случаи, когда возможны исключения: мы можем комбинировать несколько этапов рабочего процесса; можем анализировать данные до и после обработки; выполнять этап несколько раз, например, этап EDA</a:t>
            </a:r>
            <a:endParaRPr/>
          </a:p>
          <a:p>
            <a:pPr marL="0" lvl="0" indent="0" algn="l" rtl="0">
              <a:lnSpc>
                <a:spcPct val="100000"/>
              </a:lnSpc>
              <a:spcBef>
                <a:spcPts val="0"/>
              </a:spcBef>
              <a:spcAft>
                <a:spcPts val="0"/>
              </a:spcAft>
              <a:buClr>
                <a:schemeClr val="dk1"/>
              </a:buClr>
              <a:buSzPts val="1400"/>
              <a:buFont typeface="Arial"/>
              <a:buNone/>
            </a:pPr>
            <a:endParaRPr/>
          </a:p>
          <a:p>
            <a:pPr marL="0" lvl="0" indent="0" algn="l" rtl="0">
              <a:lnSpc>
                <a:spcPct val="100000"/>
              </a:lnSpc>
              <a:spcBef>
                <a:spcPts val="0"/>
              </a:spcBef>
              <a:spcAft>
                <a:spcPts val="0"/>
              </a:spcAft>
              <a:buClr>
                <a:schemeClr val="dk1"/>
              </a:buClr>
              <a:buSzPts val="14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1289" name="Google Shape;128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9"/>
        <p:cNvGrpSpPr/>
        <p:nvPr/>
      </p:nvGrpSpPr>
      <p:grpSpPr>
        <a:xfrm>
          <a:off x="0" y="0"/>
          <a:ext cx="0" cy="0"/>
          <a:chOff x="0" y="0"/>
          <a:chExt cx="0" cy="0"/>
        </a:xfrm>
      </p:grpSpPr>
      <p:sp>
        <p:nvSpPr>
          <p:cNvPr id="1300" name="Google Shape;1300;g3d4a20b5c44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
        <p:nvSpPr>
          <p:cNvPr id="1301" name="Google Shape;1301;g3d4a20b5c44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2"/>
        <p:cNvGrpSpPr/>
        <p:nvPr/>
      </p:nvGrpSpPr>
      <p:grpSpPr>
        <a:xfrm>
          <a:off x="0" y="0"/>
          <a:ext cx="0" cy="0"/>
          <a:chOff x="0" y="0"/>
          <a:chExt cx="0" cy="0"/>
        </a:xfrm>
      </p:grpSpPr>
      <p:sp>
        <p:nvSpPr>
          <p:cNvPr id="1313" name="Google Shape;1313;g3d4a20b5c44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
        <p:nvSpPr>
          <p:cNvPr id="1314" name="Google Shape;1314;g3d4a20b5c44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3d4a20b5c44_0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
        <p:nvSpPr>
          <p:cNvPr id="1327" name="Google Shape;1327;g3d4a20b5c44_0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8"/>
        <p:cNvGrpSpPr/>
        <p:nvPr/>
      </p:nvGrpSpPr>
      <p:grpSpPr>
        <a:xfrm>
          <a:off x="0" y="0"/>
          <a:ext cx="0" cy="0"/>
          <a:chOff x="0" y="0"/>
          <a:chExt cx="0" cy="0"/>
        </a:xfrm>
      </p:grpSpPr>
      <p:sp>
        <p:nvSpPr>
          <p:cNvPr id="1339" name="Google Shape;1339;g3d4bbec988b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
        <p:nvSpPr>
          <p:cNvPr id="1340" name="Google Shape;1340;g3d4bbec988b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g3d4bbec988b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
        <p:nvSpPr>
          <p:cNvPr id="1353" name="Google Shape;1353;g3d4bbec988b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4"/>
        <p:cNvGrpSpPr/>
        <p:nvPr/>
      </p:nvGrpSpPr>
      <p:grpSpPr>
        <a:xfrm>
          <a:off x="0" y="0"/>
          <a:ext cx="0" cy="0"/>
          <a:chOff x="0" y="0"/>
          <a:chExt cx="0" cy="0"/>
        </a:xfrm>
      </p:grpSpPr>
      <p:sp>
        <p:nvSpPr>
          <p:cNvPr id="1365" name="Google Shape;1365;g3d4bbec988b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
        <p:nvSpPr>
          <p:cNvPr id="1366" name="Google Shape;1366;g3d4bbec988b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8"/>
        <p:cNvGrpSpPr/>
        <p:nvPr/>
      </p:nvGrpSpPr>
      <p:grpSpPr>
        <a:xfrm>
          <a:off x="0" y="0"/>
          <a:ext cx="0" cy="0"/>
          <a:chOff x="0" y="0"/>
          <a:chExt cx="0" cy="0"/>
        </a:xfrm>
      </p:grpSpPr>
      <p:sp>
        <p:nvSpPr>
          <p:cNvPr id="1379" name="Google Shape;1379;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
        <p:nvSpPr>
          <p:cNvPr id="1380" name="Google Shape;13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Google Shape;1392;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
        <p:nvSpPr>
          <p:cNvPr id="1393" name="Google Shape;139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Google Shape;140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
        <p:nvSpPr>
          <p:cNvPr id="1406" name="Google Shape;140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g3cb20f13e01_0_10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9" name="Google Shape;1419;g3cb20f13e01_0_10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0" name="Google Shape;1420;g3cb20f13e01_0_10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ru-RU"/>
              <a:t>93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13"/>
        <p:cNvGrpSpPr/>
        <p:nvPr/>
      </p:nvGrpSpPr>
      <p:grpSpPr>
        <a:xfrm>
          <a:off x="0" y="0"/>
          <a:ext cx="0" cy="0"/>
          <a:chOff x="0" y="0"/>
          <a:chExt cx="0" cy="0"/>
        </a:xfrm>
      </p:grpSpPr>
      <p:sp>
        <p:nvSpPr>
          <p:cNvPr id="14" name="Google Shape;14;g3d4bbec988b_0_9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g3d4bbec988b_0_9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 name="Google Shape;16;g3d4bbec988b_0_9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 name="Google Shape;17;g3d4bbec988b_0_9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 name="Google Shape;18;g3d4bbec988b_0_9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g3d4bbec988b_0_51"/>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21" name="Google Shape;21;g3d4bbec988b_0_51"/>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22" name="Google Shape;22;g3d4bbec988b_0_5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g3d4bbec988b_0_55"/>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5" name="Google Shape;25;g3d4bbec988b_0_55"/>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g3d4bbec988b_0_5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28" name="Google Shape;28;g3d4bbec988b_0_58"/>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29" name="Google Shape;29;g3d4bbec988b_0_5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g3d4bbec988b_0_62"/>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2" name="Google Shape;32;g3d4bbec988b_0_62"/>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3" name="Google Shape;33;g3d4bbec988b_0_62"/>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4" name="Google Shape;34;g3d4bbec988b_0_6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g3d4bbec988b_0_67"/>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7" name="Google Shape;37;g3d4bbec988b_0_6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g3d4bbec988b_0_70"/>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40" name="Google Shape;40;g3d4bbec988b_0_70"/>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41" name="Google Shape;41;g3d4bbec988b_0_7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g3d4bbec988b_0_77"/>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g3d4bbec988b_0_77"/>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48" name="Google Shape;48;g3d4bbec988b_0_77"/>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9" name="Google Shape;49;g3d4bbec988b_0_77"/>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50" name="Google Shape;50;g3d4bbec988b_0_7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g3d4bbec988b_0_83"/>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53" name="Google Shape;53;g3d4bbec988b_0_8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g3d4bbec988b_0_86"/>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6" name="Google Shape;56;g3d4bbec988b_0_86"/>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57" name="Google Shape;57;g3d4bbec988b_0_8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g3d4bbec988b_0_9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Без лектора">
  <p:cSld name="Без лектора">
    <p:spTree>
      <p:nvGrpSpPr>
        <p:cNvPr id="1" name="Shape 6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ackground">
    <p:bg>
      <p:bgPr>
        <a:solidFill>
          <a:schemeClr val="lt1"/>
        </a:solidFill>
        <a:effectLst/>
      </p:bgPr>
    </p:bg>
    <p:spTree>
      <p:nvGrpSpPr>
        <p:cNvPr id="1"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l="-6644" t="13471" r="27549" b="-35825"/>
          <a:stretch/>
        </p:blipFill>
        <p:spPr>
          <a:xfrm flipH="1">
            <a:off x="-14242" y="-3249"/>
            <a:ext cx="4428393" cy="6858000"/>
          </a:xfrm>
          <a:prstGeom prst="rect">
            <a:avLst/>
          </a:prstGeom>
          <a:noFill/>
          <a:ln>
            <a:noFill/>
          </a:ln>
        </p:spPr>
      </p:pic>
      <p:pic>
        <p:nvPicPr>
          <p:cNvPr id="176" name="Google Shape;176;p30"/>
          <p:cNvPicPr preferRelativeResize="0"/>
          <p:nvPr/>
        </p:nvPicPr>
        <p:blipFill rotWithShape="1">
          <a:blip r:embed="rId2">
            <a:alphaModFix/>
          </a:blip>
          <a:srcRect l="-235243" t="44962" r="44461" b="-108521"/>
          <a:stretch/>
        </p:blipFill>
        <p:spPr>
          <a:xfrm rot="10800000" flipH="1">
            <a:off x="-14240" y="-3249"/>
            <a:ext cx="12192107" cy="6864500"/>
          </a:xfrm>
          <a:prstGeom prst="rect">
            <a:avLst/>
          </a:prstGeom>
          <a:noFill/>
          <a:ln>
            <a:noFill/>
          </a:ln>
        </p:spPr>
      </p:pic>
    </p:spTree>
    <p:extLst>
      <p:ext uri="{BB962C8B-B14F-4D97-AF65-F5344CB8AC3E}">
        <p14:creationId xmlns:p14="http://schemas.microsoft.com/office/powerpoint/2010/main" val="3975994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lt1"/>
        </a:solidFill>
        <a:effectLst/>
      </p:bgPr>
    </p:bg>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l="-55210" t="50562" r="55210" b="-6812"/>
          <a:stretch/>
        </p:blipFill>
        <p:spPr>
          <a:xfrm>
            <a:off x="0" y="0"/>
            <a:ext cx="12192000" cy="6858000"/>
          </a:xfrm>
          <a:prstGeom prst="rect">
            <a:avLst/>
          </a:prstGeom>
          <a:noFill/>
          <a:ln>
            <a:noFill/>
          </a:ln>
        </p:spPr>
      </p:pic>
      <p:pic>
        <p:nvPicPr>
          <p:cNvPr id="179" name="Google Shape;179;p31"/>
          <p:cNvPicPr preferRelativeResize="0"/>
          <p:nvPr/>
        </p:nvPicPr>
        <p:blipFill rotWithShape="1">
          <a:blip r:embed="rId2">
            <a:alphaModFix/>
          </a:blip>
          <a:srcRect l="-55210" t="50562" r="55210" b="-6812"/>
          <a:stretch/>
        </p:blipFill>
        <p:spPr>
          <a:xfrm rot="10800000">
            <a:off x="0" y="0"/>
            <a:ext cx="12192000" cy="6858000"/>
          </a:xfrm>
          <a:prstGeom prst="rect">
            <a:avLst/>
          </a:prstGeom>
          <a:noFill/>
          <a:ln>
            <a:noFill/>
          </a:ln>
        </p:spPr>
      </p:pic>
    </p:spTree>
    <p:extLst>
      <p:ext uri="{BB962C8B-B14F-4D97-AF65-F5344CB8AC3E}">
        <p14:creationId xmlns:p14="http://schemas.microsoft.com/office/powerpoint/2010/main" val="2518017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g3d4bbec988b_0_47"/>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11" name="Google Shape;11;g3d4bbec988b_0_47"/>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12" name="Google Shape;12;g3d4bbec988b_0_4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 id="2147483662" r:id="rId13"/>
    <p:sldLayoutId id="214748366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9.jp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0.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3.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3.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png"/></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4.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40.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40.png"/><Relationship Id="rId4" Type="http://schemas.openxmlformats.org/officeDocument/2006/relationships/image" Target="../media/image24.pn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24.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7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7.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24.png"/></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png"/></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23.png"/></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6.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23.png"/></Relationships>
</file>

<file path=ppt/slides/_rels/slide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7.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23.png"/></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8.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23.png"/></Relationships>
</file>

<file path=ppt/slides/_rels/slide8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9.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9.png"/><Relationship Id="rId4" Type="http://schemas.openxmlformats.org/officeDocument/2006/relationships/image" Target="../media/image23.png"/></Relationships>
</file>

<file path=ppt/slides/_rels/slide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9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p:nvPr/>
        </p:nvSpPr>
        <p:spPr>
          <a:xfrm>
            <a:off x="1060850" y="2662300"/>
            <a:ext cx="6202500" cy="774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SzPts val="4800"/>
              <a:buFont typeface="Arial"/>
              <a:buNone/>
            </a:pPr>
            <a:r>
              <a:rPr lang="ru-RU" sz="4400" b="1" i="0" u="none" strike="noStrike" cap="none">
                <a:solidFill>
                  <a:schemeClr val="dk1"/>
                </a:solidFill>
                <a:latin typeface="IBM Plex Sans"/>
                <a:ea typeface="IBM Plex Sans"/>
                <a:cs typeface="IBM Plex Sans"/>
                <a:sym typeface="IBM Plex Sans"/>
              </a:rPr>
              <a:t>Вводная информация</a:t>
            </a:r>
            <a:endParaRPr sz="4400" b="1" i="0" u="none" strike="noStrike" cap="none">
              <a:solidFill>
                <a:schemeClr val="dk1"/>
              </a:solidFill>
              <a:latin typeface="IBM Plex Sans"/>
              <a:ea typeface="IBM Plex Sans"/>
              <a:cs typeface="IBM Plex Sans"/>
              <a:sym typeface="IBM Plex Sans"/>
            </a:endParaRPr>
          </a:p>
        </p:txBody>
      </p:sp>
      <p:sp>
        <p:nvSpPr>
          <p:cNvPr id="66" name="Google Shape;66;p2"/>
          <p:cNvSpPr txBox="1"/>
          <p:nvPr/>
        </p:nvSpPr>
        <p:spPr>
          <a:xfrm>
            <a:off x="1060857" y="6033838"/>
            <a:ext cx="3771900" cy="235500"/>
          </a:xfrm>
          <a:prstGeom prst="rect">
            <a:avLst/>
          </a:prstGeom>
          <a:noFill/>
          <a:ln>
            <a:noFill/>
          </a:ln>
        </p:spPr>
        <p:txBody>
          <a:bodyPr spcFirstLastPara="1" wrap="square" lIns="0" tIns="19875" rIns="0" bIns="0" anchor="t" anchorCtr="0">
            <a:spAutoFit/>
          </a:bodyPr>
          <a:lstStyle/>
          <a:p>
            <a:pPr marL="20942" marR="8377" lvl="0" indent="0" algn="l" rtl="0">
              <a:lnSpc>
                <a:spcPct val="12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ularionova@mail.tsu.ru</a:t>
            </a:r>
            <a:endParaRPr sz="1400" b="0" i="0" u="none" strike="noStrike" cap="none">
              <a:solidFill>
                <a:schemeClr val="dk1"/>
              </a:solidFill>
              <a:latin typeface="IBM Plex Sans"/>
              <a:ea typeface="IBM Plex Sans"/>
              <a:cs typeface="IBM Plex Sans"/>
              <a:sym typeface="IBM Plex Sans"/>
            </a:endParaRPr>
          </a:p>
        </p:txBody>
      </p:sp>
      <p:sp>
        <p:nvSpPr>
          <p:cNvPr id="67" name="Google Shape;67;p2"/>
          <p:cNvSpPr txBox="1"/>
          <p:nvPr/>
        </p:nvSpPr>
        <p:spPr>
          <a:xfrm>
            <a:off x="1060857" y="5282291"/>
            <a:ext cx="4032300" cy="561900"/>
          </a:xfrm>
          <a:prstGeom prst="rect">
            <a:avLst/>
          </a:prstGeom>
          <a:noFill/>
          <a:ln>
            <a:noFill/>
          </a:ln>
        </p:spPr>
        <p:txBody>
          <a:bodyPr spcFirstLastPara="1" wrap="square" lIns="0" tIns="19875" rIns="0" bIns="0" anchor="t" anchorCtr="0">
            <a:spAutoFit/>
          </a:bodyPr>
          <a:lstStyle/>
          <a:p>
            <a:pPr marL="20942" marR="8377"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Ларионова Ульяна</a:t>
            </a:r>
            <a:endParaRPr sz="1400" b="0" i="0" u="none" strike="noStrike" cap="none">
              <a:solidFill>
                <a:srgbClr val="000000"/>
              </a:solidFill>
              <a:latin typeface="Arial"/>
              <a:ea typeface="Arial"/>
              <a:cs typeface="Arial"/>
              <a:sym typeface="Arial"/>
            </a:endParaRPr>
          </a:p>
          <a:p>
            <a:pPr marL="20942" marR="8377"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Преподаватель</a:t>
            </a:r>
            <a:endParaRPr sz="1600" b="0" i="0" u="none" strike="noStrike" cap="none">
              <a:solidFill>
                <a:schemeClr val="dk1"/>
              </a:solidFill>
              <a:latin typeface="IBM Plex Sans"/>
              <a:ea typeface="IBM Plex Sans"/>
              <a:cs typeface="IBM Plex Sans"/>
              <a:sym typeface="IBM Plex Sans"/>
            </a:endParaRPr>
          </a:p>
        </p:txBody>
      </p:sp>
      <p:pic>
        <p:nvPicPr>
          <p:cNvPr id="68" name="Google Shape;68;p2"/>
          <p:cNvPicPr preferRelativeResize="0"/>
          <p:nvPr/>
        </p:nvPicPr>
        <p:blipFill rotWithShape="1">
          <a:blip r:embed="rId3">
            <a:alphaModFix/>
          </a:blip>
          <a:srcRect/>
          <a:stretch/>
        </p:blipFill>
        <p:spPr>
          <a:xfrm>
            <a:off x="1055688" y="285516"/>
            <a:ext cx="677246" cy="774960"/>
          </a:xfrm>
          <a:prstGeom prst="rect">
            <a:avLst/>
          </a:prstGeom>
          <a:noFill/>
          <a:ln>
            <a:noFill/>
          </a:ln>
        </p:spPr>
      </p:pic>
      <p:grpSp>
        <p:nvGrpSpPr>
          <p:cNvPr id="69" name="Google Shape;69;p2"/>
          <p:cNvGrpSpPr/>
          <p:nvPr/>
        </p:nvGrpSpPr>
        <p:grpSpPr>
          <a:xfrm>
            <a:off x="9353973" y="-1553420"/>
            <a:ext cx="2854020" cy="13716631"/>
            <a:chOff x="9353973" y="-1553420"/>
            <a:chExt cx="2854020" cy="13716631"/>
          </a:xfrm>
        </p:grpSpPr>
        <p:grpSp>
          <p:nvGrpSpPr>
            <p:cNvPr id="70" name="Google Shape;70;p2"/>
            <p:cNvGrpSpPr/>
            <p:nvPr/>
          </p:nvGrpSpPr>
          <p:grpSpPr>
            <a:xfrm>
              <a:off x="9353973" y="-1553420"/>
              <a:ext cx="2838027" cy="13716631"/>
              <a:chOff x="9353973" y="-6079700"/>
              <a:chExt cx="2838027" cy="13716631"/>
            </a:xfrm>
          </p:grpSpPr>
          <p:pic>
            <p:nvPicPr>
              <p:cNvPr id="71" name="Google Shape;71;p2"/>
              <p:cNvPicPr preferRelativeResize="0"/>
              <p:nvPr/>
            </p:nvPicPr>
            <p:blipFill rotWithShape="1">
              <a:blip r:embed="rId4">
                <a:alphaModFix/>
              </a:blip>
              <a:srcRect l="1283"/>
              <a:stretch/>
            </p:blipFill>
            <p:spPr>
              <a:xfrm>
                <a:off x="9353973" y="778933"/>
                <a:ext cx="2838027" cy="6857998"/>
              </a:xfrm>
              <a:prstGeom prst="rect">
                <a:avLst/>
              </a:prstGeom>
              <a:noFill/>
              <a:ln>
                <a:noFill/>
              </a:ln>
            </p:spPr>
          </p:pic>
          <p:pic>
            <p:nvPicPr>
              <p:cNvPr id="72" name="Google Shape;72;p2"/>
              <p:cNvPicPr preferRelativeResize="0"/>
              <p:nvPr/>
            </p:nvPicPr>
            <p:blipFill rotWithShape="1">
              <a:blip r:embed="rId4">
                <a:alphaModFix/>
              </a:blip>
              <a:srcRect l="1283"/>
              <a:stretch/>
            </p:blipFill>
            <p:spPr>
              <a:xfrm>
                <a:off x="9353973" y="-6079700"/>
                <a:ext cx="2838027" cy="6857998"/>
              </a:xfrm>
              <a:prstGeom prst="rect">
                <a:avLst/>
              </a:prstGeom>
              <a:noFill/>
              <a:ln>
                <a:noFill/>
              </a:ln>
            </p:spPr>
          </p:pic>
        </p:grpSp>
        <p:sp>
          <p:nvSpPr>
            <p:cNvPr id="73" name="Google Shape;73;p2"/>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 name="Google Shape;74;p2"/>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4"/>
          <p:cNvSpPr/>
          <p:nvPr/>
        </p:nvSpPr>
        <p:spPr>
          <a:xfrm>
            <a:off x="3261437" y="1042205"/>
            <a:ext cx="2850000" cy="1368400"/>
          </a:xfrm>
          <a:prstGeom prst="chevron">
            <a:avLst>
              <a:gd name="adj" fmla="val 23025"/>
            </a:avLst>
          </a:prstGeom>
          <a:solidFill>
            <a:srgbClr val="E4F9FD"/>
          </a:solidFill>
          <a:ln>
            <a:noFill/>
          </a:ln>
        </p:spPr>
        <p:txBody>
          <a:bodyPr spcFirstLastPara="1" wrap="square" lIns="135400" tIns="135400" rIns="135400" bIns="135400" anchor="ctr" anchorCtr="0">
            <a:noAutofit/>
          </a:bodyPr>
          <a:lstStyle/>
          <a:p>
            <a:pPr algn="ctr"/>
            <a:r>
              <a:rPr lang="ru" sz="2073" dirty="0">
                <a:latin typeface="Montserrat SemiBold"/>
                <a:ea typeface="Montserrat SemiBold"/>
                <a:cs typeface="Montserrat SemiBold"/>
                <a:sym typeface="Montserrat SemiBold"/>
              </a:rPr>
              <a:t>Введение в машинное обучение</a:t>
            </a:r>
            <a:endParaRPr sz="2073" dirty="0">
              <a:latin typeface="Montserrat SemiBold"/>
              <a:ea typeface="Montserrat SemiBold"/>
              <a:cs typeface="Montserrat SemiBold"/>
              <a:sym typeface="Montserrat SemiBold"/>
            </a:endParaRPr>
          </a:p>
        </p:txBody>
      </p:sp>
      <p:sp>
        <p:nvSpPr>
          <p:cNvPr id="197" name="Google Shape;197;p34"/>
          <p:cNvSpPr/>
          <p:nvPr/>
        </p:nvSpPr>
        <p:spPr>
          <a:xfrm>
            <a:off x="6111093" y="1042205"/>
            <a:ext cx="2850000" cy="1368400"/>
          </a:xfrm>
          <a:prstGeom prst="chevron">
            <a:avLst>
              <a:gd name="adj" fmla="val 23025"/>
            </a:avLst>
          </a:prstGeom>
          <a:solidFill>
            <a:srgbClr val="CBD0EC"/>
          </a:solidFill>
          <a:ln>
            <a:noFill/>
          </a:ln>
        </p:spPr>
        <p:txBody>
          <a:bodyPr spcFirstLastPara="1" wrap="square" lIns="135400" tIns="135400" rIns="135400" bIns="135400" anchor="ctr" anchorCtr="0">
            <a:noAutofit/>
          </a:bodyPr>
          <a:lstStyle/>
          <a:p>
            <a:pPr algn="ctr"/>
            <a:r>
              <a:rPr lang="ru" sz="2073">
                <a:latin typeface="Montserrat SemiBold"/>
                <a:ea typeface="Montserrat SemiBold"/>
                <a:cs typeface="Montserrat SemiBold"/>
                <a:sym typeface="Montserrat SemiBold"/>
              </a:rPr>
              <a:t>Нейронные сети</a:t>
            </a:r>
            <a:endParaRPr sz="2073">
              <a:latin typeface="Montserrat SemiBold"/>
              <a:ea typeface="Montserrat SemiBold"/>
              <a:cs typeface="Montserrat SemiBold"/>
              <a:sym typeface="Montserrat SemiBold"/>
            </a:endParaRPr>
          </a:p>
        </p:txBody>
      </p:sp>
      <p:sp>
        <p:nvSpPr>
          <p:cNvPr id="198" name="Google Shape;198;p34"/>
          <p:cNvSpPr/>
          <p:nvPr/>
        </p:nvSpPr>
        <p:spPr>
          <a:xfrm>
            <a:off x="8960748" y="1042205"/>
            <a:ext cx="2850000" cy="1368400"/>
          </a:xfrm>
          <a:prstGeom prst="chevron">
            <a:avLst>
              <a:gd name="adj" fmla="val 23025"/>
            </a:avLst>
          </a:prstGeom>
          <a:solidFill>
            <a:srgbClr val="DFC6D3"/>
          </a:solidFill>
          <a:ln>
            <a:noFill/>
          </a:ln>
        </p:spPr>
        <p:txBody>
          <a:bodyPr spcFirstLastPara="1" wrap="square" lIns="135400" tIns="135400" rIns="135400" bIns="135400" anchor="ctr" anchorCtr="0">
            <a:noAutofit/>
          </a:bodyPr>
          <a:lstStyle/>
          <a:p>
            <a:pPr algn="ctr"/>
            <a:r>
              <a:rPr lang="ru" sz="2073">
                <a:latin typeface="Montserrat SemiBold"/>
                <a:ea typeface="Montserrat SemiBold"/>
                <a:cs typeface="Montserrat SemiBold"/>
                <a:sym typeface="Montserrat SemiBold"/>
              </a:rPr>
              <a:t>Глубокое обучение</a:t>
            </a:r>
            <a:endParaRPr sz="2073">
              <a:latin typeface="Montserrat SemiBold"/>
              <a:ea typeface="Montserrat SemiBold"/>
              <a:cs typeface="Montserrat SemiBold"/>
              <a:sym typeface="Montserrat SemiBold"/>
            </a:endParaRPr>
          </a:p>
        </p:txBody>
      </p:sp>
      <p:sp>
        <p:nvSpPr>
          <p:cNvPr id="199" name="Google Shape;199;p34"/>
          <p:cNvSpPr/>
          <p:nvPr/>
        </p:nvSpPr>
        <p:spPr>
          <a:xfrm>
            <a:off x="5451826" y="2045640"/>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dirty="0">
                <a:latin typeface="Montserrat SemiBold"/>
                <a:ea typeface="Montserrat SemiBold"/>
                <a:cs typeface="Montserrat SemiBold"/>
                <a:sym typeface="Montserrat SemiBold"/>
              </a:rPr>
              <a:t>1</a:t>
            </a:r>
            <a:endParaRPr sz="2073" dirty="0">
              <a:latin typeface="Montserrat SemiBold"/>
              <a:ea typeface="Montserrat SemiBold"/>
              <a:cs typeface="Montserrat SemiBold"/>
              <a:sym typeface="Montserrat SemiBold"/>
            </a:endParaRPr>
          </a:p>
        </p:txBody>
      </p:sp>
      <p:sp>
        <p:nvSpPr>
          <p:cNvPr id="200" name="Google Shape;200;p34"/>
          <p:cNvSpPr/>
          <p:nvPr/>
        </p:nvSpPr>
        <p:spPr>
          <a:xfrm>
            <a:off x="8322974" y="2045640"/>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a:latin typeface="Montserrat SemiBold"/>
                <a:ea typeface="Montserrat SemiBold"/>
                <a:cs typeface="Montserrat SemiBold"/>
                <a:sym typeface="Montserrat SemiBold"/>
              </a:rPr>
              <a:t>2</a:t>
            </a:r>
            <a:endParaRPr sz="2073">
              <a:latin typeface="Montserrat SemiBold"/>
              <a:ea typeface="Montserrat SemiBold"/>
              <a:cs typeface="Montserrat SemiBold"/>
              <a:sym typeface="Montserrat SemiBold"/>
            </a:endParaRPr>
          </a:p>
        </p:txBody>
      </p:sp>
      <p:sp>
        <p:nvSpPr>
          <p:cNvPr id="201" name="Google Shape;201;p34"/>
          <p:cNvSpPr/>
          <p:nvPr/>
        </p:nvSpPr>
        <p:spPr>
          <a:xfrm>
            <a:off x="11194177" y="2045640"/>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a:latin typeface="Montserrat SemiBold"/>
                <a:ea typeface="Montserrat SemiBold"/>
                <a:cs typeface="Montserrat SemiBold"/>
                <a:sym typeface="Montserrat SemiBold"/>
              </a:rPr>
              <a:t>3</a:t>
            </a:r>
            <a:endParaRPr sz="2073">
              <a:latin typeface="Montserrat SemiBold"/>
              <a:ea typeface="Montserrat SemiBold"/>
              <a:cs typeface="Montserrat SemiBold"/>
              <a:sym typeface="Montserrat SemiBold"/>
            </a:endParaRPr>
          </a:p>
        </p:txBody>
      </p:sp>
      <p:sp>
        <p:nvSpPr>
          <p:cNvPr id="202" name="Google Shape;202;p34"/>
          <p:cNvSpPr/>
          <p:nvPr/>
        </p:nvSpPr>
        <p:spPr>
          <a:xfrm>
            <a:off x="246183" y="4761535"/>
            <a:ext cx="1790400" cy="1790400"/>
          </a:xfrm>
          <a:prstGeom prst="ellipse">
            <a:avLst/>
          </a:prstGeom>
          <a:solidFill>
            <a:srgbClr val="FFFFFF"/>
          </a:solidFill>
          <a:ln w="21150" cap="flat" cmpd="sng">
            <a:solidFill>
              <a:srgbClr val="7E7473"/>
            </a:solidFill>
            <a:prstDash val="solid"/>
            <a:round/>
            <a:headEnd type="none" w="sm" len="sm"/>
            <a:tailEnd type="none" w="sm" len="sm"/>
          </a:ln>
        </p:spPr>
        <p:txBody>
          <a:bodyPr spcFirstLastPara="1" wrap="square" lIns="0" tIns="0" rIns="0" bIns="0" anchor="ctr" anchorCtr="0">
            <a:noAutofit/>
          </a:bodyPr>
          <a:lstStyle/>
          <a:p>
            <a:pPr algn="ctr"/>
            <a:r>
              <a:rPr lang="ru" sz="1836">
                <a:latin typeface="Montserrat SemiBold"/>
                <a:ea typeface="Montserrat SemiBold"/>
                <a:cs typeface="Montserrat SemiBold"/>
                <a:sym typeface="Montserrat SemiBold"/>
              </a:rPr>
              <a:t>1 семестр</a:t>
            </a:r>
            <a:endParaRPr sz="1836">
              <a:latin typeface="Montserrat SemiBold"/>
              <a:ea typeface="Montserrat SemiBold"/>
              <a:cs typeface="Montserrat SemiBold"/>
              <a:sym typeface="Montserrat SemiBold"/>
            </a:endParaRPr>
          </a:p>
        </p:txBody>
      </p:sp>
      <p:sp>
        <p:nvSpPr>
          <p:cNvPr id="203" name="Google Shape;203;p34"/>
          <p:cNvSpPr txBox="1"/>
          <p:nvPr/>
        </p:nvSpPr>
        <p:spPr>
          <a:xfrm>
            <a:off x="1081917" y="5852156"/>
            <a:ext cx="2890000" cy="562800"/>
          </a:xfrm>
          <a:prstGeom prst="rect">
            <a:avLst/>
          </a:prstGeom>
          <a:solidFill>
            <a:srgbClr val="99E0F7"/>
          </a:solidFill>
          <a:ln>
            <a:noFill/>
          </a:ln>
        </p:spPr>
        <p:txBody>
          <a:bodyPr spcFirstLastPara="1" wrap="square" lIns="135400" tIns="135400" rIns="135400" bIns="135400" anchor="ctr" anchorCtr="0">
            <a:noAutofit/>
          </a:bodyPr>
          <a:lstStyle/>
          <a:p>
            <a:pPr algn="ctr"/>
            <a:r>
              <a:rPr lang="ru" sz="2369" dirty="0">
                <a:latin typeface="Montserrat SemiBold"/>
                <a:ea typeface="Montserrat SemiBold"/>
                <a:cs typeface="Montserrat SemiBold"/>
                <a:sym typeface="Montserrat SemiBold"/>
              </a:rPr>
              <a:t>Содержание</a:t>
            </a:r>
            <a:endParaRPr sz="2369" dirty="0">
              <a:latin typeface="Montserrat SemiBold"/>
              <a:ea typeface="Montserrat SemiBold"/>
              <a:cs typeface="Montserrat SemiBold"/>
              <a:sym typeface="Montserrat SemiBold"/>
            </a:endParaRPr>
          </a:p>
        </p:txBody>
      </p:sp>
      <p:sp>
        <p:nvSpPr>
          <p:cNvPr id="204" name="Google Shape;204;p34"/>
          <p:cNvSpPr txBox="1"/>
          <p:nvPr/>
        </p:nvSpPr>
        <p:spPr>
          <a:xfrm>
            <a:off x="3261437" y="2877117"/>
            <a:ext cx="2514800" cy="562800"/>
          </a:xfrm>
          <a:prstGeom prst="rect">
            <a:avLst/>
          </a:prstGeom>
          <a:noFill/>
          <a:ln>
            <a:noFill/>
          </a:ln>
        </p:spPr>
        <p:txBody>
          <a:bodyPr spcFirstLastPara="1" wrap="square" lIns="135400" tIns="135400" rIns="135400" bIns="135400" anchor="b" anchorCtr="0">
            <a:noAutofit/>
          </a:bodyPr>
          <a:lstStyle/>
          <a:p>
            <a:endParaRPr sz="2369">
              <a:latin typeface="Montserrat SemiBold"/>
              <a:ea typeface="Montserrat SemiBold"/>
              <a:cs typeface="Montserrat SemiBold"/>
              <a:sym typeface="Montserrat SemiBold"/>
            </a:endParaRPr>
          </a:p>
        </p:txBody>
      </p:sp>
      <p:sp>
        <p:nvSpPr>
          <p:cNvPr id="205" name="Google Shape;205;p34"/>
          <p:cNvSpPr txBox="1"/>
          <p:nvPr/>
        </p:nvSpPr>
        <p:spPr>
          <a:xfrm>
            <a:off x="3037305" y="2877167"/>
            <a:ext cx="2850000" cy="3160800"/>
          </a:xfrm>
          <a:prstGeom prst="rect">
            <a:avLst/>
          </a:prstGeom>
          <a:noFill/>
          <a:ln>
            <a:noFill/>
          </a:ln>
        </p:spPr>
        <p:txBody>
          <a:bodyPr spcFirstLastPara="1" wrap="square" lIns="135400" tIns="135400" rIns="135400" bIns="135400" anchor="t" anchorCtr="0">
            <a:noAutofit/>
          </a:bodyPr>
          <a:lstStyle/>
          <a:p>
            <a:pPr marL="677074" indent="-451382">
              <a:buSzPts val="1333"/>
              <a:buFont typeface="Montserrat Medium"/>
              <a:buChar char="●"/>
            </a:pPr>
            <a:r>
              <a:rPr lang="ru" sz="1777" dirty="0">
                <a:latin typeface="Montserrat Medium"/>
                <a:ea typeface="Montserrat Medium"/>
                <a:cs typeface="Montserrat Medium"/>
                <a:sym typeface="Montserrat Medium"/>
              </a:rPr>
              <a:t>Основные понятия ML</a:t>
            </a:r>
            <a:endParaRPr sz="1777" dirty="0">
              <a:latin typeface="Montserrat Medium"/>
              <a:ea typeface="Montserrat Medium"/>
              <a:cs typeface="Montserrat Medium"/>
              <a:sym typeface="Montserrat Medium"/>
            </a:endParaRPr>
          </a:p>
          <a:p>
            <a:pPr marL="677074" indent="-451382">
              <a:buSzPts val="1333"/>
              <a:buFont typeface="Montserrat Medium"/>
              <a:buChar char="●"/>
            </a:pPr>
            <a:r>
              <a:rPr lang="ru" sz="1777" dirty="0">
                <a:latin typeface="Montserrat Medium"/>
                <a:ea typeface="Montserrat Medium"/>
                <a:cs typeface="Montserrat Medium"/>
                <a:sym typeface="Montserrat Medium"/>
              </a:rPr>
              <a:t>Классические модели и алгоритмы</a:t>
            </a:r>
            <a:endParaRPr sz="1777" dirty="0">
              <a:latin typeface="Montserrat Medium"/>
              <a:ea typeface="Montserrat Medium"/>
              <a:cs typeface="Montserrat Medium"/>
              <a:sym typeface="Montserrat Medium"/>
            </a:endParaRPr>
          </a:p>
        </p:txBody>
      </p:sp>
      <p:sp>
        <p:nvSpPr>
          <p:cNvPr id="206" name="Google Shape;206;p34"/>
          <p:cNvSpPr txBox="1"/>
          <p:nvPr/>
        </p:nvSpPr>
        <p:spPr>
          <a:xfrm>
            <a:off x="5886938" y="2877133"/>
            <a:ext cx="2511600" cy="3160800"/>
          </a:xfrm>
          <a:prstGeom prst="rect">
            <a:avLst/>
          </a:prstGeom>
          <a:noFill/>
          <a:ln>
            <a:noFill/>
          </a:ln>
        </p:spPr>
        <p:txBody>
          <a:bodyPr spcFirstLastPara="1" wrap="square" lIns="135400" tIns="135400" rIns="135400" bIns="135400" anchor="t" anchorCtr="0">
            <a:noAutofit/>
          </a:bodyPr>
          <a:lstStyle/>
          <a:p>
            <a:pPr marL="677074" indent="-451382">
              <a:buSzPts val="1333"/>
              <a:buFont typeface="Montserrat Medium"/>
              <a:buChar char="●"/>
            </a:pPr>
            <a:r>
              <a:rPr lang="ru" sz="1777" dirty="0">
                <a:latin typeface="Montserrat Medium"/>
                <a:ea typeface="Montserrat Medium"/>
                <a:cs typeface="Montserrat Medium"/>
                <a:sym typeface="Montserrat Medium"/>
              </a:rPr>
              <a:t>Earth is the third planet from the Sun</a:t>
            </a:r>
            <a:endParaRPr sz="1777" dirty="0">
              <a:latin typeface="Montserrat Medium"/>
              <a:ea typeface="Montserrat Medium"/>
              <a:cs typeface="Montserrat Medium"/>
              <a:sym typeface="Montserrat Medium"/>
            </a:endParaRPr>
          </a:p>
          <a:p>
            <a:pPr marL="677074" indent="-451382">
              <a:spcBef>
                <a:spcPts val="1481"/>
              </a:spcBef>
              <a:buSzPts val="1333"/>
              <a:buFont typeface="Montserrat Medium"/>
              <a:buChar char="●"/>
            </a:pPr>
            <a:r>
              <a:rPr lang="ru" sz="1777" dirty="0">
                <a:latin typeface="Montserrat Medium"/>
                <a:ea typeface="Montserrat Medium"/>
                <a:cs typeface="Montserrat Medium"/>
                <a:sym typeface="Montserrat Medium"/>
              </a:rPr>
              <a:t>Earth is also known as the Blue Planet</a:t>
            </a:r>
            <a:endParaRPr sz="1777" dirty="0">
              <a:latin typeface="Montserrat Medium"/>
              <a:ea typeface="Montserrat Medium"/>
              <a:cs typeface="Montserrat Medium"/>
              <a:sym typeface="Montserrat Medium"/>
            </a:endParaRPr>
          </a:p>
          <a:p>
            <a:pPr marL="677074" indent="-451382">
              <a:spcBef>
                <a:spcPts val="1481"/>
              </a:spcBef>
              <a:spcAft>
                <a:spcPts val="1481"/>
              </a:spcAft>
              <a:buSzPts val="1333"/>
              <a:buFont typeface="Montserrat Medium"/>
              <a:buChar char="●"/>
            </a:pPr>
            <a:r>
              <a:rPr lang="ru" sz="1777" dirty="0">
                <a:latin typeface="Montserrat Medium"/>
                <a:ea typeface="Montserrat Medium"/>
                <a:cs typeface="Montserrat Medium"/>
                <a:sym typeface="Montserrat Medium"/>
              </a:rPr>
              <a:t>Earth has life</a:t>
            </a:r>
            <a:endParaRPr sz="1777" dirty="0">
              <a:latin typeface="Montserrat Medium"/>
              <a:ea typeface="Montserrat Medium"/>
              <a:cs typeface="Montserrat Medium"/>
              <a:sym typeface="Montserrat Medium"/>
            </a:endParaRPr>
          </a:p>
        </p:txBody>
      </p:sp>
      <p:sp>
        <p:nvSpPr>
          <p:cNvPr id="207" name="Google Shape;207;p34"/>
          <p:cNvSpPr txBox="1"/>
          <p:nvPr/>
        </p:nvSpPr>
        <p:spPr>
          <a:xfrm>
            <a:off x="8736602" y="2877133"/>
            <a:ext cx="2511600" cy="3160800"/>
          </a:xfrm>
          <a:prstGeom prst="rect">
            <a:avLst/>
          </a:prstGeom>
          <a:noFill/>
          <a:ln>
            <a:noFill/>
          </a:ln>
        </p:spPr>
        <p:txBody>
          <a:bodyPr spcFirstLastPara="1" wrap="square" lIns="135400" tIns="135400" rIns="135400" bIns="135400" anchor="t" anchorCtr="0">
            <a:noAutofit/>
          </a:bodyPr>
          <a:lstStyle/>
          <a:p>
            <a:pPr marL="677074" indent="-451382">
              <a:buSzPts val="1333"/>
              <a:buFont typeface="Montserrat Medium"/>
              <a:buChar char="●"/>
            </a:pPr>
            <a:r>
              <a:rPr lang="ru" sz="1777">
                <a:latin typeface="Montserrat Medium"/>
                <a:ea typeface="Montserrat Medium"/>
                <a:cs typeface="Montserrat Medium"/>
                <a:sym typeface="Montserrat Medium"/>
              </a:rPr>
              <a:t>Jupiter is the biggest planet of them all</a:t>
            </a:r>
            <a:endParaRPr sz="1777">
              <a:latin typeface="Montserrat Medium"/>
              <a:ea typeface="Montserrat Medium"/>
              <a:cs typeface="Montserrat Medium"/>
              <a:sym typeface="Montserrat Medium"/>
            </a:endParaRPr>
          </a:p>
          <a:p>
            <a:pPr marL="677074" indent="-451382">
              <a:spcBef>
                <a:spcPts val="1481"/>
              </a:spcBef>
              <a:buSzPts val="1333"/>
              <a:buFont typeface="Montserrat Medium"/>
              <a:buChar char="●"/>
            </a:pPr>
            <a:r>
              <a:rPr lang="ru" sz="1777">
                <a:latin typeface="Montserrat Medium"/>
                <a:ea typeface="Montserrat Medium"/>
                <a:cs typeface="Montserrat Medium"/>
                <a:sym typeface="Montserrat Medium"/>
              </a:rPr>
              <a:t>Jupiter is a gas giant</a:t>
            </a:r>
            <a:endParaRPr sz="1777">
              <a:latin typeface="Montserrat Medium"/>
              <a:ea typeface="Montserrat Medium"/>
              <a:cs typeface="Montserrat Medium"/>
              <a:sym typeface="Montserrat Medium"/>
            </a:endParaRPr>
          </a:p>
          <a:p>
            <a:pPr marL="677074" indent="-451382">
              <a:spcBef>
                <a:spcPts val="1481"/>
              </a:spcBef>
              <a:buSzPts val="1333"/>
              <a:buFont typeface="Montserrat Medium"/>
              <a:buChar char="●"/>
            </a:pPr>
            <a:r>
              <a:rPr lang="ru" sz="1777">
                <a:latin typeface="Montserrat Medium"/>
                <a:ea typeface="Montserrat Medium"/>
                <a:cs typeface="Montserrat Medium"/>
                <a:sym typeface="Montserrat Medium"/>
              </a:rPr>
              <a:t>Jupiter is big</a:t>
            </a:r>
            <a:endParaRPr sz="1777">
              <a:latin typeface="Montserrat Medium"/>
              <a:ea typeface="Montserrat Medium"/>
              <a:cs typeface="Montserrat Medium"/>
              <a:sym typeface="Montserrat Medium"/>
            </a:endParaRPr>
          </a:p>
        </p:txBody>
      </p:sp>
      <p:cxnSp>
        <p:nvCxnSpPr>
          <p:cNvPr id="209" name="Google Shape;209;p34"/>
          <p:cNvCxnSpPr>
            <a:stCxn id="196" idx="3"/>
            <a:endCxn id="197" idx="1"/>
          </p:cNvCxnSpPr>
          <p:nvPr/>
        </p:nvCxnSpPr>
        <p:spPr>
          <a:xfrm>
            <a:off x="6111437" y="1726405"/>
            <a:ext cx="314800" cy="0"/>
          </a:xfrm>
          <a:prstGeom prst="straightConnector1">
            <a:avLst/>
          </a:prstGeom>
          <a:noFill/>
          <a:ln w="10600" cap="flat" cmpd="sng">
            <a:solidFill>
              <a:srgbClr val="000000"/>
            </a:solidFill>
            <a:prstDash val="solid"/>
            <a:round/>
            <a:headEnd type="none" w="med" len="med"/>
            <a:tailEnd type="none" w="med" len="med"/>
          </a:ln>
        </p:spPr>
      </p:cxnSp>
      <p:cxnSp>
        <p:nvCxnSpPr>
          <p:cNvPr id="210" name="Google Shape;210;p34"/>
          <p:cNvCxnSpPr>
            <a:stCxn id="197" idx="3"/>
            <a:endCxn id="198" idx="1"/>
          </p:cNvCxnSpPr>
          <p:nvPr/>
        </p:nvCxnSpPr>
        <p:spPr>
          <a:xfrm>
            <a:off x="8961093" y="1726405"/>
            <a:ext cx="314800" cy="0"/>
          </a:xfrm>
          <a:prstGeom prst="straightConnector1">
            <a:avLst/>
          </a:prstGeom>
          <a:noFill/>
          <a:ln w="10600" cap="flat" cmpd="sng">
            <a:solidFill>
              <a:srgbClr val="000000"/>
            </a:solidFill>
            <a:prstDash val="solid"/>
            <a:round/>
            <a:headEnd type="none" w="med" len="med"/>
            <a:tailEnd type="none" w="med" len="med"/>
          </a:ln>
        </p:spPr>
      </p:cxnSp>
      <p:cxnSp>
        <p:nvCxnSpPr>
          <p:cNvPr id="211" name="Google Shape;211;p34"/>
          <p:cNvCxnSpPr>
            <a:cxnSpLocks/>
            <a:stCxn id="196" idx="2"/>
            <a:endCxn id="204" idx="0"/>
          </p:cNvCxnSpPr>
          <p:nvPr/>
        </p:nvCxnSpPr>
        <p:spPr>
          <a:xfrm flipH="1">
            <a:off x="4518901" y="2410605"/>
            <a:ext cx="10000" cy="466400"/>
          </a:xfrm>
          <a:prstGeom prst="straightConnector1">
            <a:avLst/>
          </a:prstGeom>
          <a:noFill/>
          <a:ln w="10600" cap="flat" cmpd="sng">
            <a:solidFill>
              <a:srgbClr val="000000"/>
            </a:solidFill>
            <a:prstDash val="dash"/>
            <a:round/>
            <a:headEnd type="none" w="med" len="med"/>
            <a:tailEnd type="none" w="med" len="med"/>
          </a:ln>
        </p:spPr>
      </p:cxnSp>
      <p:cxnSp>
        <p:nvCxnSpPr>
          <p:cNvPr id="212" name="Google Shape;212;p34"/>
          <p:cNvCxnSpPr>
            <a:cxnSpLocks/>
            <a:stCxn id="197" idx="2"/>
          </p:cNvCxnSpPr>
          <p:nvPr/>
        </p:nvCxnSpPr>
        <p:spPr>
          <a:xfrm flipH="1">
            <a:off x="7368556" y="2410605"/>
            <a:ext cx="10000" cy="466400"/>
          </a:xfrm>
          <a:prstGeom prst="straightConnector1">
            <a:avLst/>
          </a:prstGeom>
          <a:noFill/>
          <a:ln w="10600" cap="flat" cmpd="sng">
            <a:solidFill>
              <a:srgbClr val="000000"/>
            </a:solidFill>
            <a:prstDash val="dash"/>
            <a:round/>
            <a:headEnd type="none" w="med" len="med"/>
            <a:tailEnd type="none" w="med" len="med"/>
          </a:ln>
        </p:spPr>
      </p:cxnSp>
      <p:cxnSp>
        <p:nvCxnSpPr>
          <p:cNvPr id="214" name="Google Shape;214;p34"/>
          <p:cNvCxnSpPr>
            <a:cxnSpLocks/>
            <a:stCxn id="198" idx="2"/>
          </p:cNvCxnSpPr>
          <p:nvPr/>
        </p:nvCxnSpPr>
        <p:spPr>
          <a:xfrm flipH="1">
            <a:off x="10218210" y="2410605"/>
            <a:ext cx="10000" cy="466400"/>
          </a:xfrm>
          <a:prstGeom prst="straightConnector1">
            <a:avLst/>
          </a:prstGeom>
          <a:noFill/>
          <a:ln w="10600" cap="flat" cmpd="sng">
            <a:solidFill>
              <a:srgbClr val="000000"/>
            </a:solidFill>
            <a:prstDash val="dash"/>
            <a:round/>
            <a:headEnd type="none" w="med" len="med"/>
            <a:tailEnd type="none" w="med" len="med"/>
          </a:ln>
        </p:spPr>
      </p:cxnSp>
      <p:sp>
        <p:nvSpPr>
          <p:cNvPr id="42" name="Google Shape;198;p34">
            <a:extLst>
              <a:ext uri="{FF2B5EF4-FFF2-40B4-BE49-F238E27FC236}">
                <a16:creationId xmlns:a16="http://schemas.microsoft.com/office/drawing/2014/main" id="{2BF971AF-063C-4F97-BE9B-8AD7E7214983}"/>
              </a:ext>
            </a:extLst>
          </p:cNvPr>
          <p:cNvSpPr/>
          <p:nvPr/>
        </p:nvSpPr>
        <p:spPr>
          <a:xfrm>
            <a:off x="380840" y="1042205"/>
            <a:ext cx="2850000" cy="1368400"/>
          </a:xfrm>
          <a:prstGeom prst="chevron">
            <a:avLst>
              <a:gd name="adj" fmla="val 23025"/>
            </a:avLst>
          </a:prstGeom>
          <a:solidFill>
            <a:srgbClr val="DFC6D3"/>
          </a:solidFill>
          <a:ln>
            <a:noFill/>
          </a:ln>
        </p:spPr>
        <p:txBody>
          <a:bodyPr spcFirstLastPara="1" wrap="square" lIns="135400" tIns="135400" rIns="135400" bIns="135400" anchor="ctr" anchorCtr="0">
            <a:noAutofit/>
          </a:bodyPr>
          <a:lstStyle/>
          <a:p>
            <a:pPr algn="ctr"/>
            <a:r>
              <a:rPr lang="ru-RU" sz="2073" dirty="0">
                <a:latin typeface="Montserrat SemiBold"/>
                <a:ea typeface="Montserrat SemiBold"/>
                <a:cs typeface="Montserrat SemiBold"/>
                <a:sym typeface="Montserrat SemiBold"/>
              </a:rPr>
              <a:t>Введение в машинное обучение</a:t>
            </a:r>
          </a:p>
        </p:txBody>
      </p:sp>
      <p:sp>
        <p:nvSpPr>
          <p:cNvPr id="43" name="Google Shape;199;p34">
            <a:extLst>
              <a:ext uri="{FF2B5EF4-FFF2-40B4-BE49-F238E27FC236}">
                <a16:creationId xmlns:a16="http://schemas.microsoft.com/office/drawing/2014/main" id="{1F2876DE-957F-46A9-A5A7-EC90C652E092}"/>
              </a:ext>
            </a:extLst>
          </p:cNvPr>
          <p:cNvSpPr/>
          <p:nvPr/>
        </p:nvSpPr>
        <p:spPr>
          <a:xfrm>
            <a:off x="5448993" y="2045640"/>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dirty="0">
                <a:latin typeface="Montserrat SemiBold"/>
                <a:ea typeface="Montserrat SemiBold"/>
                <a:cs typeface="Montserrat SemiBold"/>
                <a:sym typeface="Montserrat SemiBold"/>
              </a:rPr>
              <a:t>1</a:t>
            </a:r>
            <a:endParaRPr sz="2073" dirty="0">
              <a:latin typeface="Montserrat SemiBold"/>
              <a:ea typeface="Montserrat SemiBold"/>
              <a:cs typeface="Montserrat SemiBold"/>
              <a:sym typeface="Montserrat SemiBold"/>
            </a:endParaRPr>
          </a:p>
        </p:txBody>
      </p:sp>
      <p:sp>
        <p:nvSpPr>
          <p:cNvPr id="44" name="Google Shape;199;p34">
            <a:extLst>
              <a:ext uri="{FF2B5EF4-FFF2-40B4-BE49-F238E27FC236}">
                <a16:creationId xmlns:a16="http://schemas.microsoft.com/office/drawing/2014/main" id="{41236402-F08D-4612-B56E-F130FAC8C8AE}"/>
              </a:ext>
            </a:extLst>
          </p:cNvPr>
          <p:cNvSpPr/>
          <p:nvPr/>
        </p:nvSpPr>
        <p:spPr>
          <a:xfrm>
            <a:off x="2599338" y="2170219"/>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dirty="0">
                <a:latin typeface="Montserrat SemiBold"/>
                <a:ea typeface="Montserrat SemiBold"/>
                <a:cs typeface="Montserrat SemiBold"/>
                <a:sym typeface="Montserrat SemiBold"/>
              </a:rPr>
              <a:t>1</a:t>
            </a:r>
            <a:endParaRPr sz="2073" dirty="0">
              <a:latin typeface="Montserrat SemiBold"/>
              <a:ea typeface="Montserrat SemiBold"/>
              <a:cs typeface="Montserrat SemiBold"/>
              <a:sym typeface="Montserrat SemiBold"/>
            </a:endParaRPr>
          </a:p>
        </p:txBody>
      </p:sp>
      <p:sp>
        <p:nvSpPr>
          <p:cNvPr id="45" name="Google Shape;205;p34">
            <a:extLst>
              <a:ext uri="{FF2B5EF4-FFF2-40B4-BE49-F238E27FC236}">
                <a16:creationId xmlns:a16="http://schemas.microsoft.com/office/drawing/2014/main" id="{9F5EEA83-2281-4E0D-B715-6AA0979476A0}"/>
              </a:ext>
            </a:extLst>
          </p:cNvPr>
          <p:cNvSpPr txBox="1"/>
          <p:nvPr/>
        </p:nvSpPr>
        <p:spPr>
          <a:xfrm>
            <a:off x="229920" y="2877133"/>
            <a:ext cx="2850000" cy="3160800"/>
          </a:xfrm>
          <a:prstGeom prst="rect">
            <a:avLst/>
          </a:prstGeom>
          <a:noFill/>
          <a:ln>
            <a:noFill/>
          </a:ln>
        </p:spPr>
        <p:txBody>
          <a:bodyPr spcFirstLastPara="1" wrap="square" lIns="135400" tIns="135400" rIns="135400" bIns="135400" anchor="t" anchorCtr="0">
            <a:noAutofit/>
          </a:bodyPr>
          <a:lstStyle/>
          <a:p>
            <a:pPr marL="677074" indent="-451382">
              <a:buSzPts val="1333"/>
              <a:buFont typeface="Montserrat Medium"/>
              <a:buChar char="●"/>
            </a:pPr>
            <a:r>
              <a:rPr lang="ru" sz="1777" dirty="0">
                <a:latin typeface="Montserrat Medium"/>
                <a:ea typeface="Montserrat Medium"/>
                <a:cs typeface="Montserrat Medium"/>
                <a:sym typeface="Montserrat Medium"/>
              </a:rPr>
              <a:t>Основные понятия ML</a:t>
            </a:r>
            <a:endParaRPr sz="1777" dirty="0">
              <a:latin typeface="Montserrat Medium"/>
              <a:ea typeface="Montserrat Medium"/>
              <a:cs typeface="Montserrat Medium"/>
              <a:sym typeface="Montserrat Medium"/>
            </a:endParaRPr>
          </a:p>
          <a:p>
            <a:pPr marL="677074" indent="-451382">
              <a:buSzPts val="1333"/>
              <a:buFont typeface="Montserrat Medium"/>
              <a:buChar char="●"/>
            </a:pPr>
            <a:r>
              <a:rPr lang="ru-RU" sz="1777" dirty="0">
                <a:latin typeface="Montserrat Medium"/>
                <a:ea typeface="Montserrat Medium"/>
                <a:cs typeface="Montserrat Medium"/>
                <a:sym typeface="Montserrat Medium"/>
              </a:rPr>
              <a:t>Процесс </a:t>
            </a:r>
            <a:r>
              <a:rPr lang="en-US" sz="1777" dirty="0">
                <a:latin typeface="Montserrat Medium"/>
                <a:ea typeface="Montserrat Medium"/>
                <a:cs typeface="Montserrat Medium"/>
                <a:sym typeface="Montserrat Medium"/>
              </a:rPr>
              <a:t>ML </a:t>
            </a:r>
            <a:r>
              <a:rPr lang="ru-RU" sz="1777" dirty="0">
                <a:latin typeface="Montserrat Medium"/>
                <a:ea typeface="Montserrat Medium"/>
                <a:cs typeface="Montserrat Medium"/>
                <a:sym typeface="Montserrat Medium"/>
              </a:rPr>
              <a:t>проекта</a:t>
            </a:r>
            <a:endParaRPr sz="1777" dirty="0">
              <a:latin typeface="Montserrat Medium"/>
              <a:ea typeface="Montserrat Medium"/>
              <a:cs typeface="Montserrat Medium"/>
              <a:sym typeface="Montserrat Medium"/>
            </a:endParaRPr>
          </a:p>
        </p:txBody>
      </p:sp>
      <p:cxnSp>
        <p:nvCxnSpPr>
          <p:cNvPr id="46" name="Google Shape;211;p34">
            <a:extLst>
              <a:ext uri="{FF2B5EF4-FFF2-40B4-BE49-F238E27FC236}">
                <a16:creationId xmlns:a16="http://schemas.microsoft.com/office/drawing/2014/main" id="{B9DDBA3E-A759-4AC1-B937-4DE44B0EA6FB}"/>
              </a:ext>
            </a:extLst>
          </p:cNvPr>
          <p:cNvCxnSpPr>
            <a:cxnSpLocks/>
          </p:cNvCxnSpPr>
          <p:nvPr/>
        </p:nvCxnSpPr>
        <p:spPr>
          <a:xfrm flipH="1">
            <a:off x="1711516" y="2410571"/>
            <a:ext cx="10000" cy="466400"/>
          </a:xfrm>
          <a:prstGeom prst="straightConnector1">
            <a:avLst/>
          </a:prstGeom>
          <a:noFill/>
          <a:ln w="10600" cap="flat" cmpd="sng">
            <a:solidFill>
              <a:srgbClr val="000000"/>
            </a:solidFill>
            <a:prstDash val="dash"/>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4"/>
          <p:cNvSpPr/>
          <p:nvPr/>
        </p:nvSpPr>
        <p:spPr>
          <a:xfrm>
            <a:off x="3261437" y="1042205"/>
            <a:ext cx="2850000" cy="1368400"/>
          </a:xfrm>
          <a:prstGeom prst="chevron">
            <a:avLst>
              <a:gd name="adj" fmla="val 23025"/>
            </a:avLst>
          </a:prstGeom>
          <a:solidFill>
            <a:srgbClr val="E4F9FD"/>
          </a:solidFill>
          <a:ln>
            <a:noFill/>
          </a:ln>
        </p:spPr>
        <p:txBody>
          <a:bodyPr spcFirstLastPara="1" wrap="square" lIns="135400" tIns="135400" rIns="135400" bIns="135400" anchor="ctr" anchorCtr="0">
            <a:noAutofit/>
          </a:bodyPr>
          <a:lstStyle/>
          <a:p>
            <a:pPr algn="ctr"/>
            <a:r>
              <a:rPr lang="ru" sz="2073" dirty="0">
                <a:latin typeface="Montserrat SemiBold"/>
                <a:ea typeface="Montserrat SemiBold"/>
                <a:cs typeface="Montserrat SemiBold"/>
                <a:sym typeface="Montserrat SemiBold"/>
              </a:rPr>
              <a:t>Введение в машинное обучение</a:t>
            </a:r>
            <a:endParaRPr sz="2073" dirty="0">
              <a:latin typeface="Montserrat SemiBold"/>
              <a:ea typeface="Montserrat SemiBold"/>
              <a:cs typeface="Montserrat SemiBold"/>
              <a:sym typeface="Montserrat SemiBold"/>
            </a:endParaRPr>
          </a:p>
        </p:txBody>
      </p:sp>
      <p:sp>
        <p:nvSpPr>
          <p:cNvPr id="197" name="Google Shape;197;p34"/>
          <p:cNvSpPr/>
          <p:nvPr/>
        </p:nvSpPr>
        <p:spPr>
          <a:xfrm>
            <a:off x="6111093" y="1042205"/>
            <a:ext cx="2850000" cy="1368400"/>
          </a:xfrm>
          <a:prstGeom prst="chevron">
            <a:avLst>
              <a:gd name="adj" fmla="val 23025"/>
            </a:avLst>
          </a:prstGeom>
          <a:solidFill>
            <a:srgbClr val="CBD0EC"/>
          </a:solidFill>
          <a:ln>
            <a:noFill/>
          </a:ln>
        </p:spPr>
        <p:txBody>
          <a:bodyPr spcFirstLastPara="1" wrap="square" lIns="135400" tIns="135400" rIns="135400" bIns="135400" anchor="ctr" anchorCtr="0">
            <a:noAutofit/>
          </a:bodyPr>
          <a:lstStyle/>
          <a:p>
            <a:pPr algn="ctr"/>
            <a:r>
              <a:rPr lang="ru" sz="2073">
                <a:latin typeface="Montserrat SemiBold"/>
                <a:ea typeface="Montserrat SemiBold"/>
                <a:cs typeface="Montserrat SemiBold"/>
                <a:sym typeface="Montserrat SemiBold"/>
              </a:rPr>
              <a:t>Нейронные сети</a:t>
            </a:r>
            <a:endParaRPr sz="2073">
              <a:latin typeface="Montserrat SemiBold"/>
              <a:ea typeface="Montserrat SemiBold"/>
              <a:cs typeface="Montserrat SemiBold"/>
              <a:sym typeface="Montserrat SemiBold"/>
            </a:endParaRPr>
          </a:p>
        </p:txBody>
      </p:sp>
      <p:sp>
        <p:nvSpPr>
          <p:cNvPr id="198" name="Google Shape;198;p34"/>
          <p:cNvSpPr/>
          <p:nvPr/>
        </p:nvSpPr>
        <p:spPr>
          <a:xfrm>
            <a:off x="8960748" y="1042205"/>
            <a:ext cx="2850000" cy="1368400"/>
          </a:xfrm>
          <a:prstGeom prst="chevron">
            <a:avLst>
              <a:gd name="adj" fmla="val 23025"/>
            </a:avLst>
          </a:prstGeom>
          <a:solidFill>
            <a:srgbClr val="DFC6D3"/>
          </a:solidFill>
          <a:ln>
            <a:noFill/>
          </a:ln>
        </p:spPr>
        <p:txBody>
          <a:bodyPr spcFirstLastPara="1" wrap="square" lIns="135400" tIns="135400" rIns="135400" bIns="135400" anchor="ctr" anchorCtr="0">
            <a:noAutofit/>
          </a:bodyPr>
          <a:lstStyle/>
          <a:p>
            <a:pPr algn="ctr"/>
            <a:r>
              <a:rPr lang="ru" sz="2073">
                <a:latin typeface="Montserrat SemiBold"/>
                <a:ea typeface="Montserrat SemiBold"/>
                <a:cs typeface="Montserrat SemiBold"/>
                <a:sym typeface="Montserrat SemiBold"/>
              </a:rPr>
              <a:t>Глубокое обучение</a:t>
            </a:r>
            <a:endParaRPr sz="2073">
              <a:latin typeface="Montserrat SemiBold"/>
              <a:ea typeface="Montserrat SemiBold"/>
              <a:cs typeface="Montserrat SemiBold"/>
              <a:sym typeface="Montserrat SemiBold"/>
            </a:endParaRPr>
          </a:p>
        </p:txBody>
      </p:sp>
      <p:sp>
        <p:nvSpPr>
          <p:cNvPr id="199" name="Google Shape;199;p34"/>
          <p:cNvSpPr/>
          <p:nvPr/>
        </p:nvSpPr>
        <p:spPr>
          <a:xfrm>
            <a:off x="5451826" y="2045640"/>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dirty="0">
                <a:latin typeface="Montserrat SemiBold"/>
                <a:ea typeface="Montserrat SemiBold"/>
                <a:cs typeface="Montserrat SemiBold"/>
                <a:sym typeface="Montserrat SemiBold"/>
              </a:rPr>
              <a:t>1</a:t>
            </a:r>
            <a:endParaRPr sz="2073" dirty="0">
              <a:latin typeface="Montserrat SemiBold"/>
              <a:ea typeface="Montserrat SemiBold"/>
              <a:cs typeface="Montserrat SemiBold"/>
              <a:sym typeface="Montserrat SemiBold"/>
            </a:endParaRPr>
          </a:p>
        </p:txBody>
      </p:sp>
      <p:sp>
        <p:nvSpPr>
          <p:cNvPr id="200" name="Google Shape;200;p34"/>
          <p:cNvSpPr/>
          <p:nvPr/>
        </p:nvSpPr>
        <p:spPr>
          <a:xfrm>
            <a:off x="8322974" y="2045640"/>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a:latin typeface="Montserrat SemiBold"/>
                <a:ea typeface="Montserrat SemiBold"/>
                <a:cs typeface="Montserrat SemiBold"/>
                <a:sym typeface="Montserrat SemiBold"/>
              </a:rPr>
              <a:t>2</a:t>
            </a:r>
            <a:endParaRPr sz="2073">
              <a:latin typeface="Montserrat SemiBold"/>
              <a:ea typeface="Montserrat SemiBold"/>
              <a:cs typeface="Montserrat SemiBold"/>
              <a:sym typeface="Montserrat SemiBold"/>
            </a:endParaRPr>
          </a:p>
        </p:txBody>
      </p:sp>
      <p:sp>
        <p:nvSpPr>
          <p:cNvPr id="201" name="Google Shape;201;p34"/>
          <p:cNvSpPr/>
          <p:nvPr/>
        </p:nvSpPr>
        <p:spPr>
          <a:xfrm>
            <a:off x="11194177" y="2045640"/>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a:latin typeface="Montserrat SemiBold"/>
                <a:ea typeface="Montserrat SemiBold"/>
                <a:cs typeface="Montserrat SemiBold"/>
                <a:sym typeface="Montserrat SemiBold"/>
              </a:rPr>
              <a:t>3</a:t>
            </a:r>
            <a:endParaRPr sz="2073">
              <a:latin typeface="Montserrat SemiBold"/>
              <a:ea typeface="Montserrat SemiBold"/>
              <a:cs typeface="Montserrat SemiBold"/>
              <a:sym typeface="Montserrat SemiBold"/>
            </a:endParaRPr>
          </a:p>
        </p:txBody>
      </p:sp>
      <p:sp>
        <p:nvSpPr>
          <p:cNvPr id="202" name="Google Shape;202;p34"/>
          <p:cNvSpPr/>
          <p:nvPr/>
        </p:nvSpPr>
        <p:spPr>
          <a:xfrm>
            <a:off x="246183" y="4761535"/>
            <a:ext cx="1790400" cy="1790400"/>
          </a:xfrm>
          <a:prstGeom prst="ellipse">
            <a:avLst/>
          </a:prstGeom>
          <a:solidFill>
            <a:srgbClr val="FFFFFF"/>
          </a:solidFill>
          <a:ln w="21150" cap="flat" cmpd="sng">
            <a:solidFill>
              <a:srgbClr val="7E7473"/>
            </a:solidFill>
            <a:prstDash val="solid"/>
            <a:round/>
            <a:headEnd type="none" w="sm" len="sm"/>
            <a:tailEnd type="none" w="sm" len="sm"/>
          </a:ln>
        </p:spPr>
        <p:txBody>
          <a:bodyPr spcFirstLastPara="1" wrap="square" lIns="0" tIns="0" rIns="0" bIns="0" anchor="ctr" anchorCtr="0">
            <a:noAutofit/>
          </a:bodyPr>
          <a:lstStyle/>
          <a:p>
            <a:pPr algn="ctr"/>
            <a:r>
              <a:rPr lang="ru" sz="1836" dirty="0">
                <a:latin typeface="Montserrat SemiBold"/>
                <a:ea typeface="Montserrat SemiBold"/>
                <a:cs typeface="Montserrat SemiBold"/>
                <a:sym typeface="Montserrat SemiBold"/>
              </a:rPr>
              <a:t>2 семестр</a:t>
            </a:r>
            <a:endParaRPr sz="1836" dirty="0">
              <a:latin typeface="Montserrat SemiBold"/>
              <a:ea typeface="Montserrat SemiBold"/>
              <a:cs typeface="Montserrat SemiBold"/>
              <a:sym typeface="Montserrat SemiBold"/>
            </a:endParaRPr>
          </a:p>
        </p:txBody>
      </p:sp>
      <p:sp>
        <p:nvSpPr>
          <p:cNvPr id="203" name="Google Shape;203;p34"/>
          <p:cNvSpPr txBox="1"/>
          <p:nvPr/>
        </p:nvSpPr>
        <p:spPr>
          <a:xfrm>
            <a:off x="1081917" y="5852156"/>
            <a:ext cx="2890000" cy="562800"/>
          </a:xfrm>
          <a:prstGeom prst="rect">
            <a:avLst/>
          </a:prstGeom>
          <a:solidFill>
            <a:srgbClr val="99E0F7"/>
          </a:solidFill>
          <a:ln>
            <a:noFill/>
          </a:ln>
        </p:spPr>
        <p:txBody>
          <a:bodyPr spcFirstLastPara="1" wrap="square" lIns="135400" tIns="135400" rIns="135400" bIns="135400" anchor="ctr" anchorCtr="0">
            <a:noAutofit/>
          </a:bodyPr>
          <a:lstStyle/>
          <a:p>
            <a:pPr algn="ctr"/>
            <a:r>
              <a:rPr lang="ru" sz="2369" dirty="0">
                <a:latin typeface="Montserrat SemiBold"/>
                <a:ea typeface="Montserrat SemiBold"/>
                <a:cs typeface="Montserrat SemiBold"/>
                <a:sym typeface="Montserrat SemiBold"/>
              </a:rPr>
              <a:t>Содержание</a:t>
            </a:r>
            <a:endParaRPr sz="2369" dirty="0">
              <a:latin typeface="Montserrat SemiBold"/>
              <a:ea typeface="Montserrat SemiBold"/>
              <a:cs typeface="Montserrat SemiBold"/>
              <a:sym typeface="Montserrat SemiBold"/>
            </a:endParaRPr>
          </a:p>
        </p:txBody>
      </p:sp>
      <p:sp>
        <p:nvSpPr>
          <p:cNvPr id="204" name="Google Shape;204;p34"/>
          <p:cNvSpPr txBox="1"/>
          <p:nvPr/>
        </p:nvSpPr>
        <p:spPr>
          <a:xfrm>
            <a:off x="3261437" y="2877117"/>
            <a:ext cx="2514800" cy="562800"/>
          </a:xfrm>
          <a:prstGeom prst="rect">
            <a:avLst/>
          </a:prstGeom>
          <a:noFill/>
          <a:ln>
            <a:noFill/>
          </a:ln>
        </p:spPr>
        <p:txBody>
          <a:bodyPr spcFirstLastPara="1" wrap="square" lIns="135400" tIns="135400" rIns="135400" bIns="135400" anchor="b" anchorCtr="0">
            <a:noAutofit/>
          </a:bodyPr>
          <a:lstStyle/>
          <a:p>
            <a:endParaRPr sz="2369">
              <a:latin typeface="Montserrat SemiBold"/>
              <a:ea typeface="Montserrat SemiBold"/>
              <a:cs typeface="Montserrat SemiBold"/>
              <a:sym typeface="Montserrat SemiBold"/>
            </a:endParaRPr>
          </a:p>
        </p:txBody>
      </p:sp>
      <p:sp>
        <p:nvSpPr>
          <p:cNvPr id="205" name="Google Shape;205;p34"/>
          <p:cNvSpPr txBox="1"/>
          <p:nvPr/>
        </p:nvSpPr>
        <p:spPr>
          <a:xfrm>
            <a:off x="3037305" y="2877167"/>
            <a:ext cx="2850000" cy="3160800"/>
          </a:xfrm>
          <a:prstGeom prst="rect">
            <a:avLst/>
          </a:prstGeom>
          <a:noFill/>
          <a:ln>
            <a:noFill/>
          </a:ln>
        </p:spPr>
        <p:txBody>
          <a:bodyPr spcFirstLastPara="1" wrap="square" lIns="135400" tIns="135400" rIns="135400" bIns="135400" anchor="t" anchorCtr="0">
            <a:noAutofit/>
          </a:bodyPr>
          <a:lstStyle/>
          <a:p>
            <a:pPr marL="677074" indent="-451382">
              <a:buSzPts val="1333"/>
              <a:buFont typeface="Montserrat Medium"/>
              <a:buChar char="●"/>
            </a:pPr>
            <a:r>
              <a:rPr lang="ru" sz="1777" dirty="0">
                <a:latin typeface="Montserrat Medium"/>
                <a:ea typeface="Montserrat Medium"/>
                <a:cs typeface="Montserrat Medium"/>
                <a:sym typeface="Montserrat Medium"/>
              </a:rPr>
              <a:t>Основные понятия ML</a:t>
            </a:r>
            <a:endParaRPr sz="1777" dirty="0">
              <a:latin typeface="Montserrat Medium"/>
              <a:ea typeface="Montserrat Medium"/>
              <a:cs typeface="Montserrat Medium"/>
              <a:sym typeface="Montserrat Medium"/>
            </a:endParaRPr>
          </a:p>
          <a:p>
            <a:pPr marL="677074" indent="-451382">
              <a:buSzPts val="1333"/>
              <a:buFont typeface="Montserrat Medium"/>
              <a:buChar char="●"/>
            </a:pPr>
            <a:r>
              <a:rPr lang="ru" sz="1777" dirty="0">
                <a:latin typeface="Montserrat Medium"/>
                <a:ea typeface="Montserrat Medium"/>
                <a:cs typeface="Montserrat Medium"/>
                <a:sym typeface="Montserrat Medium"/>
              </a:rPr>
              <a:t>Классические модели и алгоритмы</a:t>
            </a:r>
            <a:endParaRPr sz="1777" dirty="0">
              <a:latin typeface="Montserrat Medium"/>
              <a:ea typeface="Montserrat Medium"/>
              <a:cs typeface="Montserrat Medium"/>
              <a:sym typeface="Montserrat Medium"/>
            </a:endParaRPr>
          </a:p>
        </p:txBody>
      </p:sp>
      <p:sp>
        <p:nvSpPr>
          <p:cNvPr id="206" name="Google Shape;206;p34"/>
          <p:cNvSpPr txBox="1"/>
          <p:nvPr/>
        </p:nvSpPr>
        <p:spPr>
          <a:xfrm>
            <a:off x="5886938" y="2877133"/>
            <a:ext cx="2511600" cy="3160800"/>
          </a:xfrm>
          <a:prstGeom prst="rect">
            <a:avLst/>
          </a:prstGeom>
          <a:noFill/>
          <a:ln>
            <a:noFill/>
          </a:ln>
        </p:spPr>
        <p:txBody>
          <a:bodyPr spcFirstLastPara="1" wrap="square" lIns="135400" tIns="135400" rIns="135400" bIns="135400" anchor="t" anchorCtr="0">
            <a:noAutofit/>
          </a:bodyPr>
          <a:lstStyle/>
          <a:p>
            <a:pPr marL="677074" indent="-451382">
              <a:buSzPts val="1333"/>
              <a:buFont typeface="Montserrat Medium"/>
              <a:buChar char="●"/>
            </a:pPr>
            <a:r>
              <a:rPr lang="ru" sz="1777" dirty="0">
                <a:latin typeface="Montserrat Medium"/>
                <a:ea typeface="Montserrat Medium"/>
                <a:cs typeface="Montserrat Medium"/>
                <a:sym typeface="Montserrat Medium"/>
              </a:rPr>
              <a:t>Earth is the third planet from the Sun</a:t>
            </a:r>
            <a:endParaRPr sz="1777" dirty="0">
              <a:latin typeface="Montserrat Medium"/>
              <a:ea typeface="Montserrat Medium"/>
              <a:cs typeface="Montserrat Medium"/>
              <a:sym typeface="Montserrat Medium"/>
            </a:endParaRPr>
          </a:p>
          <a:p>
            <a:pPr marL="677074" indent="-451382">
              <a:spcBef>
                <a:spcPts val="1481"/>
              </a:spcBef>
              <a:buSzPts val="1333"/>
              <a:buFont typeface="Montserrat Medium"/>
              <a:buChar char="●"/>
            </a:pPr>
            <a:r>
              <a:rPr lang="ru" sz="1777" dirty="0">
                <a:latin typeface="Montserrat Medium"/>
                <a:ea typeface="Montserrat Medium"/>
                <a:cs typeface="Montserrat Medium"/>
                <a:sym typeface="Montserrat Medium"/>
              </a:rPr>
              <a:t>Earth is also known as the Blue Planet</a:t>
            </a:r>
            <a:endParaRPr sz="1777" dirty="0">
              <a:latin typeface="Montserrat Medium"/>
              <a:ea typeface="Montserrat Medium"/>
              <a:cs typeface="Montserrat Medium"/>
              <a:sym typeface="Montserrat Medium"/>
            </a:endParaRPr>
          </a:p>
          <a:p>
            <a:pPr marL="677074" indent="-451382">
              <a:spcBef>
                <a:spcPts val="1481"/>
              </a:spcBef>
              <a:spcAft>
                <a:spcPts val="1481"/>
              </a:spcAft>
              <a:buSzPts val="1333"/>
              <a:buFont typeface="Montserrat Medium"/>
              <a:buChar char="●"/>
            </a:pPr>
            <a:r>
              <a:rPr lang="ru" sz="1777" dirty="0">
                <a:latin typeface="Montserrat Medium"/>
                <a:ea typeface="Montserrat Medium"/>
                <a:cs typeface="Montserrat Medium"/>
                <a:sym typeface="Montserrat Medium"/>
              </a:rPr>
              <a:t>Earth has life</a:t>
            </a:r>
            <a:endParaRPr sz="1777" dirty="0">
              <a:latin typeface="Montserrat Medium"/>
              <a:ea typeface="Montserrat Medium"/>
              <a:cs typeface="Montserrat Medium"/>
              <a:sym typeface="Montserrat Medium"/>
            </a:endParaRPr>
          </a:p>
        </p:txBody>
      </p:sp>
      <p:sp>
        <p:nvSpPr>
          <p:cNvPr id="207" name="Google Shape;207;p34"/>
          <p:cNvSpPr txBox="1"/>
          <p:nvPr/>
        </p:nvSpPr>
        <p:spPr>
          <a:xfrm>
            <a:off x="8736602" y="2877133"/>
            <a:ext cx="2511600" cy="3160800"/>
          </a:xfrm>
          <a:prstGeom prst="rect">
            <a:avLst/>
          </a:prstGeom>
          <a:noFill/>
          <a:ln>
            <a:noFill/>
          </a:ln>
        </p:spPr>
        <p:txBody>
          <a:bodyPr spcFirstLastPara="1" wrap="square" lIns="135400" tIns="135400" rIns="135400" bIns="135400" anchor="t" anchorCtr="0">
            <a:noAutofit/>
          </a:bodyPr>
          <a:lstStyle/>
          <a:p>
            <a:pPr marL="677074" indent="-451382">
              <a:buSzPts val="1333"/>
              <a:buFont typeface="Montserrat Medium"/>
              <a:buChar char="●"/>
            </a:pPr>
            <a:r>
              <a:rPr lang="ru" sz="1777">
                <a:latin typeface="Montserrat Medium"/>
                <a:ea typeface="Montserrat Medium"/>
                <a:cs typeface="Montserrat Medium"/>
                <a:sym typeface="Montserrat Medium"/>
              </a:rPr>
              <a:t>Jupiter is the biggest planet of them all</a:t>
            </a:r>
            <a:endParaRPr sz="1777">
              <a:latin typeface="Montserrat Medium"/>
              <a:ea typeface="Montserrat Medium"/>
              <a:cs typeface="Montserrat Medium"/>
              <a:sym typeface="Montserrat Medium"/>
            </a:endParaRPr>
          </a:p>
          <a:p>
            <a:pPr marL="677074" indent="-451382">
              <a:spcBef>
                <a:spcPts val="1481"/>
              </a:spcBef>
              <a:buSzPts val="1333"/>
              <a:buFont typeface="Montserrat Medium"/>
              <a:buChar char="●"/>
            </a:pPr>
            <a:r>
              <a:rPr lang="ru" sz="1777">
                <a:latin typeface="Montserrat Medium"/>
                <a:ea typeface="Montserrat Medium"/>
                <a:cs typeface="Montserrat Medium"/>
                <a:sym typeface="Montserrat Medium"/>
              </a:rPr>
              <a:t>Jupiter is a gas giant</a:t>
            </a:r>
            <a:endParaRPr sz="1777">
              <a:latin typeface="Montserrat Medium"/>
              <a:ea typeface="Montserrat Medium"/>
              <a:cs typeface="Montserrat Medium"/>
              <a:sym typeface="Montserrat Medium"/>
            </a:endParaRPr>
          </a:p>
          <a:p>
            <a:pPr marL="677074" indent="-451382">
              <a:spcBef>
                <a:spcPts val="1481"/>
              </a:spcBef>
              <a:buSzPts val="1333"/>
              <a:buFont typeface="Montserrat Medium"/>
              <a:buChar char="●"/>
            </a:pPr>
            <a:r>
              <a:rPr lang="ru" sz="1777">
                <a:latin typeface="Montserrat Medium"/>
                <a:ea typeface="Montserrat Medium"/>
                <a:cs typeface="Montserrat Medium"/>
                <a:sym typeface="Montserrat Medium"/>
              </a:rPr>
              <a:t>Jupiter is big</a:t>
            </a:r>
            <a:endParaRPr sz="1777">
              <a:latin typeface="Montserrat Medium"/>
              <a:ea typeface="Montserrat Medium"/>
              <a:cs typeface="Montserrat Medium"/>
              <a:sym typeface="Montserrat Medium"/>
            </a:endParaRPr>
          </a:p>
        </p:txBody>
      </p:sp>
      <p:cxnSp>
        <p:nvCxnSpPr>
          <p:cNvPr id="209" name="Google Shape;209;p34"/>
          <p:cNvCxnSpPr>
            <a:stCxn id="196" idx="3"/>
            <a:endCxn id="197" idx="1"/>
          </p:cNvCxnSpPr>
          <p:nvPr/>
        </p:nvCxnSpPr>
        <p:spPr>
          <a:xfrm>
            <a:off x="6111437" y="1726405"/>
            <a:ext cx="314800" cy="0"/>
          </a:xfrm>
          <a:prstGeom prst="straightConnector1">
            <a:avLst/>
          </a:prstGeom>
          <a:noFill/>
          <a:ln w="10600" cap="flat" cmpd="sng">
            <a:solidFill>
              <a:srgbClr val="000000"/>
            </a:solidFill>
            <a:prstDash val="solid"/>
            <a:round/>
            <a:headEnd type="none" w="med" len="med"/>
            <a:tailEnd type="none" w="med" len="med"/>
          </a:ln>
        </p:spPr>
      </p:cxnSp>
      <p:cxnSp>
        <p:nvCxnSpPr>
          <p:cNvPr id="210" name="Google Shape;210;p34"/>
          <p:cNvCxnSpPr>
            <a:stCxn id="197" idx="3"/>
            <a:endCxn id="198" idx="1"/>
          </p:cNvCxnSpPr>
          <p:nvPr/>
        </p:nvCxnSpPr>
        <p:spPr>
          <a:xfrm>
            <a:off x="8961093" y="1726405"/>
            <a:ext cx="314800" cy="0"/>
          </a:xfrm>
          <a:prstGeom prst="straightConnector1">
            <a:avLst/>
          </a:prstGeom>
          <a:noFill/>
          <a:ln w="10600" cap="flat" cmpd="sng">
            <a:solidFill>
              <a:srgbClr val="000000"/>
            </a:solidFill>
            <a:prstDash val="solid"/>
            <a:round/>
            <a:headEnd type="none" w="med" len="med"/>
            <a:tailEnd type="none" w="med" len="med"/>
          </a:ln>
        </p:spPr>
      </p:cxnSp>
      <p:cxnSp>
        <p:nvCxnSpPr>
          <p:cNvPr id="211" name="Google Shape;211;p34"/>
          <p:cNvCxnSpPr>
            <a:cxnSpLocks/>
            <a:stCxn id="196" idx="2"/>
            <a:endCxn id="204" idx="0"/>
          </p:cNvCxnSpPr>
          <p:nvPr/>
        </p:nvCxnSpPr>
        <p:spPr>
          <a:xfrm flipH="1">
            <a:off x="4518901" y="2410605"/>
            <a:ext cx="10000" cy="466400"/>
          </a:xfrm>
          <a:prstGeom prst="straightConnector1">
            <a:avLst/>
          </a:prstGeom>
          <a:noFill/>
          <a:ln w="10600" cap="flat" cmpd="sng">
            <a:solidFill>
              <a:srgbClr val="000000"/>
            </a:solidFill>
            <a:prstDash val="dash"/>
            <a:round/>
            <a:headEnd type="none" w="med" len="med"/>
            <a:tailEnd type="none" w="med" len="med"/>
          </a:ln>
        </p:spPr>
      </p:cxnSp>
      <p:cxnSp>
        <p:nvCxnSpPr>
          <p:cNvPr id="212" name="Google Shape;212;p34"/>
          <p:cNvCxnSpPr>
            <a:cxnSpLocks/>
            <a:stCxn id="197" idx="2"/>
          </p:cNvCxnSpPr>
          <p:nvPr/>
        </p:nvCxnSpPr>
        <p:spPr>
          <a:xfrm flipH="1">
            <a:off x="7368556" y="2410605"/>
            <a:ext cx="10000" cy="466400"/>
          </a:xfrm>
          <a:prstGeom prst="straightConnector1">
            <a:avLst/>
          </a:prstGeom>
          <a:noFill/>
          <a:ln w="10600" cap="flat" cmpd="sng">
            <a:solidFill>
              <a:srgbClr val="000000"/>
            </a:solidFill>
            <a:prstDash val="dash"/>
            <a:round/>
            <a:headEnd type="none" w="med" len="med"/>
            <a:tailEnd type="none" w="med" len="med"/>
          </a:ln>
        </p:spPr>
      </p:cxnSp>
      <p:cxnSp>
        <p:nvCxnSpPr>
          <p:cNvPr id="214" name="Google Shape;214;p34"/>
          <p:cNvCxnSpPr>
            <a:cxnSpLocks/>
            <a:stCxn id="198" idx="2"/>
          </p:cNvCxnSpPr>
          <p:nvPr/>
        </p:nvCxnSpPr>
        <p:spPr>
          <a:xfrm flipH="1">
            <a:off x="10218210" y="2410605"/>
            <a:ext cx="10000" cy="466400"/>
          </a:xfrm>
          <a:prstGeom prst="straightConnector1">
            <a:avLst/>
          </a:prstGeom>
          <a:noFill/>
          <a:ln w="10600" cap="flat" cmpd="sng">
            <a:solidFill>
              <a:srgbClr val="000000"/>
            </a:solidFill>
            <a:prstDash val="dash"/>
            <a:round/>
            <a:headEnd type="none" w="med" len="med"/>
            <a:tailEnd type="none" w="med" len="med"/>
          </a:ln>
        </p:spPr>
      </p:cxnSp>
      <p:sp>
        <p:nvSpPr>
          <p:cNvPr id="42" name="Google Shape;198;p34">
            <a:extLst>
              <a:ext uri="{FF2B5EF4-FFF2-40B4-BE49-F238E27FC236}">
                <a16:creationId xmlns:a16="http://schemas.microsoft.com/office/drawing/2014/main" id="{2BF971AF-063C-4F97-BE9B-8AD7E7214983}"/>
              </a:ext>
            </a:extLst>
          </p:cNvPr>
          <p:cNvSpPr/>
          <p:nvPr/>
        </p:nvSpPr>
        <p:spPr>
          <a:xfrm>
            <a:off x="380840" y="1042205"/>
            <a:ext cx="2850000" cy="1368400"/>
          </a:xfrm>
          <a:prstGeom prst="chevron">
            <a:avLst>
              <a:gd name="adj" fmla="val 23025"/>
            </a:avLst>
          </a:prstGeom>
          <a:solidFill>
            <a:srgbClr val="DFC6D3"/>
          </a:solidFill>
          <a:ln>
            <a:noFill/>
          </a:ln>
        </p:spPr>
        <p:txBody>
          <a:bodyPr spcFirstLastPara="1" wrap="square" lIns="135400" tIns="135400" rIns="135400" bIns="135400" anchor="ctr" anchorCtr="0">
            <a:noAutofit/>
          </a:bodyPr>
          <a:lstStyle/>
          <a:p>
            <a:pPr algn="ctr"/>
            <a:r>
              <a:rPr lang="ru-RU" sz="2073" dirty="0">
                <a:latin typeface="Montserrat SemiBold"/>
                <a:ea typeface="Montserrat SemiBold"/>
                <a:cs typeface="Montserrat SemiBold"/>
                <a:sym typeface="Montserrat SemiBold"/>
              </a:rPr>
              <a:t>Введение в машинное обучение</a:t>
            </a:r>
          </a:p>
        </p:txBody>
      </p:sp>
      <p:sp>
        <p:nvSpPr>
          <p:cNvPr id="43" name="Google Shape;199;p34">
            <a:extLst>
              <a:ext uri="{FF2B5EF4-FFF2-40B4-BE49-F238E27FC236}">
                <a16:creationId xmlns:a16="http://schemas.microsoft.com/office/drawing/2014/main" id="{1F2876DE-957F-46A9-A5A7-EC90C652E092}"/>
              </a:ext>
            </a:extLst>
          </p:cNvPr>
          <p:cNvSpPr/>
          <p:nvPr/>
        </p:nvSpPr>
        <p:spPr>
          <a:xfrm>
            <a:off x="5448993" y="2045640"/>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dirty="0">
                <a:latin typeface="Montserrat SemiBold"/>
                <a:ea typeface="Montserrat SemiBold"/>
                <a:cs typeface="Montserrat SemiBold"/>
                <a:sym typeface="Montserrat SemiBold"/>
              </a:rPr>
              <a:t>1</a:t>
            </a:r>
            <a:endParaRPr sz="2073" dirty="0">
              <a:latin typeface="Montserrat SemiBold"/>
              <a:ea typeface="Montserrat SemiBold"/>
              <a:cs typeface="Montserrat SemiBold"/>
              <a:sym typeface="Montserrat SemiBold"/>
            </a:endParaRPr>
          </a:p>
        </p:txBody>
      </p:sp>
      <p:sp>
        <p:nvSpPr>
          <p:cNvPr id="44" name="Google Shape;199;p34">
            <a:extLst>
              <a:ext uri="{FF2B5EF4-FFF2-40B4-BE49-F238E27FC236}">
                <a16:creationId xmlns:a16="http://schemas.microsoft.com/office/drawing/2014/main" id="{41236402-F08D-4612-B56E-F130FAC8C8AE}"/>
              </a:ext>
            </a:extLst>
          </p:cNvPr>
          <p:cNvSpPr/>
          <p:nvPr/>
        </p:nvSpPr>
        <p:spPr>
          <a:xfrm>
            <a:off x="2599338" y="2170219"/>
            <a:ext cx="562800" cy="562800"/>
          </a:xfrm>
          <a:prstGeom prst="ellipse">
            <a:avLst/>
          </a:prstGeom>
          <a:solidFill>
            <a:srgbClr val="99E0F7"/>
          </a:solidFill>
          <a:ln>
            <a:noFill/>
          </a:ln>
        </p:spPr>
        <p:txBody>
          <a:bodyPr spcFirstLastPara="1" wrap="square" lIns="0" tIns="0" rIns="0" bIns="0" anchor="ctr" anchorCtr="0">
            <a:noAutofit/>
          </a:bodyPr>
          <a:lstStyle/>
          <a:p>
            <a:pPr algn="ctr"/>
            <a:r>
              <a:rPr lang="ru" sz="2073" dirty="0">
                <a:latin typeface="Montserrat SemiBold"/>
                <a:ea typeface="Montserrat SemiBold"/>
                <a:cs typeface="Montserrat SemiBold"/>
                <a:sym typeface="Montserrat SemiBold"/>
              </a:rPr>
              <a:t>1</a:t>
            </a:r>
            <a:endParaRPr sz="2073" dirty="0">
              <a:latin typeface="Montserrat SemiBold"/>
              <a:ea typeface="Montserrat SemiBold"/>
              <a:cs typeface="Montserrat SemiBold"/>
              <a:sym typeface="Montserrat SemiBold"/>
            </a:endParaRPr>
          </a:p>
        </p:txBody>
      </p:sp>
      <p:sp>
        <p:nvSpPr>
          <p:cNvPr id="45" name="Google Shape;205;p34">
            <a:extLst>
              <a:ext uri="{FF2B5EF4-FFF2-40B4-BE49-F238E27FC236}">
                <a16:creationId xmlns:a16="http://schemas.microsoft.com/office/drawing/2014/main" id="{9F5EEA83-2281-4E0D-B715-6AA0979476A0}"/>
              </a:ext>
            </a:extLst>
          </p:cNvPr>
          <p:cNvSpPr txBox="1"/>
          <p:nvPr/>
        </p:nvSpPr>
        <p:spPr>
          <a:xfrm>
            <a:off x="229920" y="2877133"/>
            <a:ext cx="2850000" cy="3160800"/>
          </a:xfrm>
          <a:prstGeom prst="rect">
            <a:avLst/>
          </a:prstGeom>
          <a:noFill/>
          <a:ln>
            <a:noFill/>
          </a:ln>
        </p:spPr>
        <p:txBody>
          <a:bodyPr spcFirstLastPara="1" wrap="square" lIns="135400" tIns="135400" rIns="135400" bIns="135400" anchor="t" anchorCtr="0">
            <a:noAutofit/>
          </a:bodyPr>
          <a:lstStyle/>
          <a:p>
            <a:pPr marL="677074" indent="-451382">
              <a:buSzPts val="1333"/>
              <a:buFont typeface="Montserrat Medium"/>
              <a:buChar char="●"/>
            </a:pPr>
            <a:r>
              <a:rPr lang="ru" sz="1777" dirty="0">
                <a:latin typeface="Montserrat Medium"/>
                <a:ea typeface="Montserrat Medium"/>
                <a:cs typeface="Montserrat Medium"/>
                <a:sym typeface="Montserrat Medium"/>
              </a:rPr>
              <a:t>Основные понятия ML</a:t>
            </a:r>
            <a:endParaRPr sz="1777" dirty="0">
              <a:latin typeface="Montserrat Medium"/>
              <a:ea typeface="Montserrat Medium"/>
              <a:cs typeface="Montserrat Medium"/>
              <a:sym typeface="Montserrat Medium"/>
            </a:endParaRPr>
          </a:p>
          <a:p>
            <a:pPr marL="677074" indent="-451382">
              <a:buSzPts val="1333"/>
              <a:buFont typeface="Montserrat Medium"/>
              <a:buChar char="●"/>
            </a:pPr>
            <a:r>
              <a:rPr lang="ru-RU" sz="1777" dirty="0">
                <a:latin typeface="Montserrat Medium"/>
                <a:ea typeface="Montserrat Medium"/>
                <a:cs typeface="Montserrat Medium"/>
                <a:sym typeface="Montserrat Medium"/>
              </a:rPr>
              <a:t>Процесс </a:t>
            </a:r>
            <a:r>
              <a:rPr lang="en-US" sz="1777" dirty="0">
                <a:latin typeface="Montserrat Medium"/>
                <a:ea typeface="Montserrat Medium"/>
                <a:cs typeface="Montserrat Medium"/>
                <a:sym typeface="Montserrat Medium"/>
              </a:rPr>
              <a:t>ML </a:t>
            </a:r>
            <a:r>
              <a:rPr lang="ru-RU" sz="1777" dirty="0">
                <a:latin typeface="Montserrat Medium"/>
                <a:ea typeface="Montserrat Medium"/>
                <a:cs typeface="Montserrat Medium"/>
                <a:sym typeface="Montserrat Medium"/>
              </a:rPr>
              <a:t>проекта</a:t>
            </a:r>
            <a:endParaRPr sz="1777" dirty="0">
              <a:latin typeface="Montserrat Medium"/>
              <a:ea typeface="Montserrat Medium"/>
              <a:cs typeface="Montserrat Medium"/>
              <a:sym typeface="Montserrat Medium"/>
            </a:endParaRPr>
          </a:p>
        </p:txBody>
      </p:sp>
      <p:cxnSp>
        <p:nvCxnSpPr>
          <p:cNvPr id="46" name="Google Shape;211;p34">
            <a:extLst>
              <a:ext uri="{FF2B5EF4-FFF2-40B4-BE49-F238E27FC236}">
                <a16:creationId xmlns:a16="http://schemas.microsoft.com/office/drawing/2014/main" id="{B9DDBA3E-A759-4AC1-B937-4DE44B0EA6FB}"/>
              </a:ext>
            </a:extLst>
          </p:cNvPr>
          <p:cNvCxnSpPr>
            <a:cxnSpLocks/>
          </p:cNvCxnSpPr>
          <p:nvPr/>
        </p:nvCxnSpPr>
        <p:spPr>
          <a:xfrm flipH="1">
            <a:off x="1711516" y="2410571"/>
            <a:ext cx="10000" cy="466400"/>
          </a:xfrm>
          <a:prstGeom prst="straightConnector1">
            <a:avLst/>
          </a:prstGeom>
          <a:noFill/>
          <a:ln w="10600" cap="flat" cmpd="sng">
            <a:solidFill>
              <a:srgbClr val="000000"/>
            </a:solidFill>
            <a:prstDash val="dash"/>
            <a:round/>
            <a:headEnd type="none" w="med" len="med"/>
            <a:tailEnd type="none" w="med" len="med"/>
          </a:ln>
        </p:spPr>
      </p:cxnSp>
    </p:spTree>
    <p:extLst>
      <p:ext uri="{BB962C8B-B14F-4D97-AF65-F5344CB8AC3E}">
        <p14:creationId xmlns:p14="http://schemas.microsoft.com/office/powerpoint/2010/main" val="100258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g3cb2c61a5be_0_15"/>
          <p:cNvSpPr txBox="1"/>
          <p:nvPr/>
        </p:nvSpPr>
        <p:spPr>
          <a:xfrm>
            <a:off x="1055700" y="987175"/>
            <a:ext cx="5579016" cy="32010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100"/>
              <a:buFont typeface="Wingdings" panose="05000000000000000000" pitchFamily="2" charset="2"/>
              <a:buChar char="Ø"/>
            </a:pPr>
            <a:r>
              <a:rPr lang="ru-RU" sz="1900" b="0" i="0" u="none" strike="noStrike" cap="none" dirty="0">
                <a:solidFill>
                  <a:schemeClr val="dk1"/>
                </a:solidFill>
                <a:latin typeface="IBM Plex Sans"/>
                <a:ea typeface="IBM Plex Sans"/>
                <a:cs typeface="IBM Plex Sans"/>
                <a:sym typeface="IBM Plex Sans"/>
              </a:rPr>
              <a:t>После курса можно пробовать себя в роли </a:t>
            </a:r>
            <a:r>
              <a:rPr lang="ru-RU" sz="1900" b="0" i="0" u="none" strike="noStrike" cap="none" dirty="0" err="1">
                <a:solidFill>
                  <a:schemeClr val="dk1"/>
                </a:solidFill>
                <a:latin typeface="IBM Plex Sans"/>
                <a:ea typeface="IBM Plex Sans"/>
                <a:cs typeface="IBM Plex Sans"/>
                <a:sym typeface="IBM Plex Sans"/>
              </a:rPr>
              <a:t>Junior</a:t>
            </a:r>
            <a:r>
              <a:rPr lang="ru-RU" sz="1900" b="0" i="0" u="none" strike="noStrike" cap="none" dirty="0">
                <a:solidFill>
                  <a:schemeClr val="dk1"/>
                </a:solidFill>
                <a:latin typeface="IBM Plex Sans"/>
                <a:ea typeface="IBM Plex Sans"/>
                <a:cs typeface="IBM Plex Sans"/>
                <a:sym typeface="IBM Plex Sans"/>
              </a:rPr>
              <a:t> </a:t>
            </a:r>
            <a:r>
              <a:rPr lang="ru-RU" sz="1900" b="0" i="0" u="none" strike="noStrike" cap="none" dirty="0" err="1">
                <a:solidFill>
                  <a:schemeClr val="dk1"/>
                </a:solidFill>
                <a:latin typeface="IBM Plex Sans"/>
                <a:ea typeface="IBM Plex Sans"/>
                <a:cs typeface="IBM Plex Sans"/>
                <a:sym typeface="IBM Plex Sans"/>
              </a:rPr>
              <a:t>Machine</a:t>
            </a:r>
            <a:r>
              <a:rPr lang="ru-RU" sz="1900" b="0" i="0" u="none" strike="noStrike" cap="none" dirty="0">
                <a:solidFill>
                  <a:schemeClr val="dk1"/>
                </a:solidFill>
                <a:latin typeface="IBM Plex Sans"/>
                <a:ea typeface="IBM Plex Sans"/>
                <a:cs typeface="IBM Plex Sans"/>
                <a:sym typeface="IBM Plex Sans"/>
              </a:rPr>
              <a:t> </a:t>
            </a:r>
            <a:r>
              <a:rPr lang="ru-RU" sz="1900" b="0" i="0" u="none" strike="noStrike" cap="none" dirty="0" err="1">
                <a:solidFill>
                  <a:schemeClr val="dk1"/>
                </a:solidFill>
                <a:latin typeface="IBM Plex Sans"/>
                <a:ea typeface="IBM Plex Sans"/>
                <a:cs typeface="IBM Plex Sans"/>
                <a:sym typeface="IBM Plex Sans"/>
              </a:rPr>
              <a:t>Learning</a:t>
            </a:r>
            <a:r>
              <a:rPr lang="ru-RU" sz="1900" b="0" i="0" u="none" strike="noStrike" cap="none" dirty="0">
                <a:solidFill>
                  <a:schemeClr val="dk1"/>
                </a:solidFill>
                <a:latin typeface="IBM Plex Sans"/>
                <a:ea typeface="IBM Plex Sans"/>
                <a:cs typeface="IBM Plex Sans"/>
                <a:sym typeface="IBM Plex Sans"/>
              </a:rPr>
              <a:t> </a:t>
            </a:r>
            <a:r>
              <a:rPr lang="ru-RU" sz="1900" b="0" i="0" u="none" strike="noStrike" cap="none" dirty="0" err="1">
                <a:solidFill>
                  <a:schemeClr val="dk1"/>
                </a:solidFill>
                <a:latin typeface="IBM Plex Sans"/>
                <a:ea typeface="IBM Plex Sans"/>
                <a:cs typeface="IBM Plex Sans"/>
                <a:sym typeface="IBM Plex Sans"/>
              </a:rPr>
              <a:t>Engineer</a:t>
            </a:r>
            <a:r>
              <a:rPr lang="ru-RU" sz="1900" b="0" i="0" u="none" strike="noStrike" cap="none" dirty="0">
                <a:solidFill>
                  <a:schemeClr val="dk1"/>
                </a:solidFill>
                <a:latin typeface="IBM Plex Sans"/>
                <a:ea typeface="IBM Plex Sans"/>
                <a:cs typeface="IBM Plex Sans"/>
                <a:sym typeface="IBM Plex Sans"/>
              </a:rPr>
              <a:t> или </a:t>
            </a:r>
            <a:r>
              <a:rPr lang="ru-RU" sz="1900" b="0" i="0" u="none" strike="noStrike" cap="none" dirty="0" err="1">
                <a:solidFill>
                  <a:schemeClr val="dk1"/>
                </a:solidFill>
                <a:latin typeface="IBM Plex Sans"/>
                <a:ea typeface="IBM Plex Sans"/>
                <a:cs typeface="IBM Plex Sans"/>
                <a:sym typeface="IBM Plex Sans"/>
              </a:rPr>
              <a:t>Junior</a:t>
            </a:r>
            <a:r>
              <a:rPr lang="ru-RU" sz="1900" b="0" i="0" u="none" strike="noStrike" cap="none" dirty="0">
                <a:solidFill>
                  <a:schemeClr val="dk1"/>
                </a:solidFill>
                <a:latin typeface="IBM Plex Sans"/>
                <a:ea typeface="IBM Plex Sans"/>
                <a:cs typeface="IBM Plex Sans"/>
                <a:sym typeface="IBM Plex Sans"/>
              </a:rPr>
              <a:t> </a:t>
            </a:r>
            <a:r>
              <a:rPr lang="ru-RU" sz="1900" b="0" i="0" u="none" strike="noStrike" cap="none" dirty="0" err="1">
                <a:solidFill>
                  <a:schemeClr val="dk1"/>
                </a:solidFill>
                <a:latin typeface="IBM Plex Sans"/>
                <a:ea typeface="IBM Plex Sans"/>
                <a:cs typeface="IBM Plex Sans"/>
                <a:sym typeface="IBM Plex Sans"/>
              </a:rPr>
              <a:t>Data</a:t>
            </a:r>
            <a:r>
              <a:rPr lang="ru-RU" sz="1900" b="0" i="0" u="none" strike="noStrike" cap="none" dirty="0">
                <a:solidFill>
                  <a:schemeClr val="dk1"/>
                </a:solidFill>
                <a:latin typeface="IBM Plex Sans"/>
                <a:ea typeface="IBM Plex Sans"/>
                <a:cs typeface="IBM Plex Sans"/>
                <a:sym typeface="IBM Plex Sans"/>
              </a:rPr>
              <a:t> </a:t>
            </a:r>
            <a:r>
              <a:rPr lang="ru-RU" sz="1900" b="0" i="0" u="none" strike="noStrike" cap="none" dirty="0" err="1">
                <a:solidFill>
                  <a:schemeClr val="dk1"/>
                </a:solidFill>
                <a:latin typeface="IBM Plex Sans"/>
                <a:ea typeface="IBM Plex Sans"/>
                <a:cs typeface="IBM Plex Sans"/>
                <a:sym typeface="IBM Plex Sans"/>
              </a:rPr>
              <a:t>Scientist</a:t>
            </a:r>
            <a:endParaRPr lang="ru-RU" sz="1900" b="0" i="0" u="none" strike="noStrike" cap="none" dirty="0">
              <a:solidFill>
                <a:schemeClr val="dk1"/>
              </a:solidFill>
              <a:latin typeface="IBM Plex Sans"/>
              <a:ea typeface="IBM Plex Sans"/>
              <a:cs typeface="IBM Plex Sans"/>
              <a:sym typeface="IBM Plex Sans"/>
            </a:endParaRPr>
          </a:p>
          <a:p>
            <a:pPr marL="342900" marR="0" lvl="0" indent="-342900" algn="l" rtl="0">
              <a:spcBef>
                <a:spcPts val="0"/>
              </a:spcBef>
              <a:spcAft>
                <a:spcPts val="0"/>
              </a:spcAft>
              <a:buClr>
                <a:schemeClr val="dk1"/>
              </a:buClr>
              <a:buSzPts val="1100"/>
              <a:buFont typeface="Wingdings" panose="05000000000000000000" pitchFamily="2" charset="2"/>
              <a:buChar char="Ø"/>
            </a:pPr>
            <a:endParaRPr lang="ru-RU" sz="1900" b="0" i="0" u="none" strike="noStrike" cap="none" dirty="0">
              <a:solidFill>
                <a:schemeClr val="dk1"/>
              </a:solidFill>
              <a:latin typeface="IBM Plex Sans"/>
              <a:ea typeface="IBM Plex Sans"/>
              <a:cs typeface="IBM Plex Sans"/>
              <a:sym typeface="IBM Plex Sans"/>
            </a:endParaRPr>
          </a:p>
          <a:p>
            <a:pPr marL="342900" marR="0" lvl="0" indent="-342900" algn="l" rtl="0">
              <a:spcBef>
                <a:spcPts val="0"/>
              </a:spcBef>
              <a:spcAft>
                <a:spcPts val="0"/>
              </a:spcAft>
              <a:buClr>
                <a:schemeClr val="dk1"/>
              </a:buClr>
              <a:buSzPts val="1100"/>
              <a:buFont typeface="Wingdings" panose="05000000000000000000" pitchFamily="2" charset="2"/>
              <a:buChar char="Ø"/>
            </a:pPr>
            <a:r>
              <a:rPr lang="ru-RU" sz="1900" b="0" i="0" u="none" strike="noStrike" cap="none" dirty="0">
                <a:solidFill>
                  <a:schemeClr val="dk1"/>
                </a:solidFill>
                <a:latin typeface="IBM Plex Sans"/>
                <a:ea typeface="IBM Plex Sans"/>
                <a:cs typeface="IBM Plex Sans"/>
                <a:sym typeface="IBM Plex Sans"/>
              </a:rPr>
              <a:t>Применить на практике знания мат. анализа, мат. </a:t>
            </a:r>
            <a:r>
              <a:rPr lang="ru-RU" sz="1900" b="0" i="0" u="none" strike="noStrike" cap="none" dirty="0" err="1">
                <a:solidFill>
                  <a:schemeClr val="dk1"/>
                </a:solidFill>
                <a:latin typeface="IBM Plex Sans"/>
                <a:ea typeface="IBM Plex Sans"/>
                <a:cs typeface="IBM Plex Sans"/>
                <a:sym typeface="IBM Plex Sans"/>
              </a:rPr>
              <a:t>стата</a:t>
            </a:r>
            <a:r>
              <a:rPr lang="ru-RU" sz="1900" b="0" i="0" u="none" strike="noStrike" cap="none" dirty="0">
                <a:solidFill>
                  <a:schemeClr val="dk1"/>
                </a:solidFill>
                <a:latin typeface="IBM Plex Sans"/>
                <a:ea typeface="IBM Plex Sans"/>
                <a:cs typeface="IBM Plex Sans"/>
                <a:sym typeface="IBM Plex Sans"/>
              </a:rPr>
              <a:t>, линейки</a:t>
            </a:r>
          </a:p>
          <a:p>
            <a:pPr marL="342900" marR="0" lvl="0" indent="-342900" algn="l" rtl="0">
              <a:spcBef>
                <a:spcPts val="0"/>
              </a:spcBef>
              <a:spcAft>
                <a:spcPts val="0"/>
              </a:spcAft>
              <a:buClr>
                <a:schemeClr val="dk1"/>
              </a:buClr>
              <a:buSzPts val="1100"/>
              <a:buFont typeface="Wingdings" panose="05000000000000000000" pitchFamily="2" charset="2"/>
              <a:buChar char="Ø"/>
            </a:pPr>
            <a:endParaRPr lang="ru-RU" sz="1900" b="0" i="0" u="none" strike="noStrike" cap="none" dirty="0">
              <a:solidFill>
                <a:schemeClr val="dk1"/>
              </a:solidFill>
              <a:latin typeface="IBM Plex Sans"/>
              <a:ea typeface="IBM Plex Sans"/>
              <a:cs typeface="IBM Plex Sans"/>
              <a:sym typeface="IBM Plex Sans"/>
            </a:endParaRPr>
          </a:p>
          <a:p>
            <a:pPr marL="342900" marR="0" lvl="0" indent="-342900" algn="l" rtl="0">
              <a:spcBef>
                <a:spcPts val="0"/>
              </a:spcBef>
              <a:spcAft>
                <a:spcPts val="0"/>
              </a:spcAft>
              <a:buClr>
                <a:schemeClr val="dk1"/>
              </a:buClr>
              <a:buSzPts val="1100"/>
              <a:buFont typeface="Wingdings" panose="05000000000000000000" pitchFamily="2" charset="2"/>
              <a:buChar char="Ø"/>
            </a:pPr>
            <a:r>
              <a:rPr lang="ru-RU" sz="1900" b="0" i="0" u="none" strike="noStrike" cap="none" dirty="0">
                <a:solidFill>
                  <a:schemeClr val="dk1"/>
                </a:solidFill>
                <a:latin typeface="IBM Plex Sans"/>
                <a:ea typeface="IBM Plex Sans"/>
                <a:cs typeface="IBM Plex Sans"/>
                <a:sym typeface="IBM Plex Sans"/>
              </a:rPr>
              <a:t>Получить аппарат для решения задач в ваших областях (3 курс)</a:t>
            </a:r>
          </a:p>
        </p:txBody>
      </p:sp>
      <p:sp>
        <p:nvSpPr>
          <p:cNvPr id="80" name="Google Shape;80;g3cb2c61a5be_0_15"/>
          <p:cNvSpPr txBox="1"/>
          <p:nvPr/>
        </p:nvSpPr>
        <p:spPr>
          <a:xfrm>
            <a:off x="1055700" y="4188175"/>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8000" b="1" i="0" u="none" strike="noStrike" cap="none" dirty="0">
                <a:solidFill>
                  <a:schemeClr val="dk1"/>
                </a:solidFill>
                <a:latin typeface="IBM Plex Sans"/>
                <a:ea typeface="IBM Plex Sans"/>
                <a:cs typeface="IBM Plex Sans"/>
                <a:sym typeface="IBM Plex Sans"/>
              </a:rPr>
              <a:t>Зачем вам этот курс?</a:t>
            </a:r>
          </a:p>
        </p:txBody>
      </p:sp>
      <p:grpSp>
        <p:nvGrpSpPr>
          <p:cNvPr id="82" name="Google Shape;82;g3cb2c61a5be_0_15"/>
          <p:cNvGrpSpPr/>
          <p:nvPr/>
        </p:nvGrpSpPr>
        <p:grpSpPr>
          <a:xfrm>
            <a:off x="9353973" y="-1553420"/>
            <a:ext cx="2854020" cy="13716631"/>
            <a:chOff x="9353973" y="-1553420"/>
            <a:chExt cx="2854020" cy="13716631"/>
          </a:xfrm>
        </p:grpSpPr>
        <p:grpSp>
          <p:nvGrpSpPr>
            <p:cNvPr id="83" name="Google Shape;83;g3cb2c61a5be_0_15"/>
            <p:cNvGrpSpPr/>
            <p:nvPr/>
          </p:nvGrpSpPr>
          <p:grpSpPr>
            <a:xfrm>
              <a:off x="9353973" y="-1553420"/>
              <a:ext cx="2838027" cy="13716631"/>
              <a:chOff x="9353973" y="-6079700"/>
              <a:chExt cx="2838027" cy="13716631"/>
            </a:xfrm>
          </p:grpSpPr>
          <p:pic>
            <p:nvPicPr>
              <p:cNvPr id="84" name="Google Shape;84;g3cb2c61a5be_0_15"/>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85" name="Google Shape;85;g3cb2c61a5be_0_15"/>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86" name="Google Shape;86;g3cb2c61a5be_0_15"/>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g3cb2c61a5be_0_15"/>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g3cb2c61a5be_0_15"/>
          <p:cNvSpPr txBox="1"/>
          <p:nvPr/>
        </p:nvSpPr>
        <p:spPr>
          <a:xfrm>
            <a:off x="1055700" y="2366907"/>
            <a:ext cx="5365800" cy="32010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chemeClr val="dk1"/>
              </a:buClr>
              <a:buSzPts val="1100"/>
              <a:buFont typeface="Arial"/>
              <a:buNone/>
            </a:pPr>
            <a:endParaRPr sz="1900" b="0" i="0" u="none" strike="noStrike" cap="none" dirty="0">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900" b="1" i="0" u="none" strike="noStrike" cap="none" dirty="0">
                <a:solidFill>
                  <a:schemeClr val="dk1"/>
                </a:solidFill>
                <a:latin typeface="IBM Plex Sans"/>
                <a:ea typeface="IBM Plex Sans"/>
                <a:cs typeface="IBM Plex Sans"/>
                <a:sym typeface="IBM Plex Sans"/>
              </a:rPr>
              <a:t>Организация работы</a:t>
            </a:r>
            <a:endParaRPr sz="1900" b="0" i="0" u="none" strike="noStrike" cap="none" dirty="0">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900" b="0" i="0" u="none" strike="noStrike" cap="none" dirty="0">
                <a:solidFill>
                  <a:schemeClr val="dk1"/>
                </a:solidFill>
                <a:latin typeface="IBM Plex Sans"/>
                <a:ea typeface="IBM Plex Sans"/>
                <a:cs typeface="IBM Plex Sans"/>
                <a:sym typeface="IBM Plex Sans"/>
              </a:rPr>
              <a:t>Формат: Проектная деятельность.</a:t>
            </a:r>
            <a:endParaRPr sz="1900" b="0" i="0" u="none" strike="noStrike" cap="none" dirty="0">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900" b="0" i="0" u="none" strike="noStrike" cap="none" dirty="0">
                <a:solidFill>
                  <a:schemeClr val="dk1"/>
                </a:solidFill>
                <a:latin typeface="IBM Plex Sans"/>
                <a:ea typeface="IBM Plex Sans"/>
                <a:cs typeface="IBM Plex Sans"/>
                <a:sym typeface="IBM Plex Sans"/>
              </a:rPr>
              <a:t>Команды: Группы по 3–4 человека.</a:t>
            </a:r>
            <a:endParaRPr sz="1900" b="0" i="0" u="none" strike="noStrike" cap="none" dirty="0">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900" b="0" i="0" u="none" strike="noStrike" cap="none" dirty="0">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900" b="0" i="0" u="none" strike="noStrike" cap="none" dirty="0">
                <a:solidFill>
                  <a:schemeClr val="dk1"/>
                </a:solidFill>
                <a:latin typeface="IBM Plex Sans"/>
                <a:ea typeface="IBM Plex Sans"/>
                <a:cs typeface="IBM Plex Sans"/>
                <a:sym typeface="IBM Plex Sans"/>
              </a:rPr>
              <a:t>Структура и расписание:</a:t>
            </a:r>
            <a:endParaRPr sz="1900" b="0" i="0" u="none" strike="noStrike" cap="none" dirty="0">
              <a:solidFill>
                <a:schemeClr val="dk1"/>
              </a:solidFill>
              <a:latin typeface="IBM Plex Sans"/>
              <a:ea typeface="IBM Plex Sans"/>
              <a:cs typeface="IBM Plex Sans"/>
              <a:sym typeface="IBM Plex Sans"/>
            </a:endParaRPr>
          </a:p>
          <a:p>
            <a:pPr marL="457200" marR="0" lvl="0" indent="-349250" algn="l" rtl="0">
              <a:lnSpc>
                <a:spcPct val="70000"/>
              </a:lnSpc>
              <a:spcBef>
                <a:spcPts val="0"/>
              </a:spcBef>
              <a:spcAft>
                <a:spcPts val="0"/>
              </a:spcAft>
              <a:buClr>
                <a:schemeClr val="dk1"/>
              </a:buClr>
              <a:buSzPts val="1900"/>
              <a:buFont typeface="IBM Plex Sans"/>
              <a:buChar char="●"/>
            </a:pPr>
            <a:r>
              <a:rPr lang="ru-RU" sz="1900" b="0" i="0" u="none" strike="noStrike" cap="none" dirty="0">
                <a:solidFill>
                  <a:schemeClr val="dk1"/>
                </a:solidFill>
                <a:latin typeface="IBM Plex Sans"/>
                <a:ea typeface="IBM Plex Sans"/>
                <a:cs typeface="IBM Plex Sans"/>
                <a:sym typeface="IBM Plex Sans"/>
              </a:rPr>
              <a:t>установочная лекция (сегодня).</a:t>
            </a:r>
            <a:endParaRPr sz="1900" b="0" i="0" u="none" strike="noStrike" cap="none" dirty="0">
              <a:solidFill>
                <a:schemeClr val="dk1"/>
              </a:solidFill>
              <a:latin typeface="IBM Plex Sans"/>
              <a:ea typeface="IBM Plex Sans"/>
              <a:cs typeface="IBM Plex Sans"/>
              <a:sym typeface="IBM Plex Sans"/>
            </a:endParaRPr>
          </a:p>
          <a:p>
            <a:pPr marL="457200" marR="0" lvl="0" indent="-349250" algn="l" rtl="0">
              <a:lnSpc>
                <a:spcPct val="70000"/>
              </a:lnSpc>
              <a:spcBef>
                <a:spcPts val="0"/>
              </a:spcBef>
              <a:spcAft>
                <a:spcPts val="0"/>
              </a:spcAft>
              <a:buClr>
                <a:schemeClr val="dk1"/>
              </a:buClr>
              <a:buSzPts val="1900"/>
              <a:buFont typeface="IBM Plex Sans"/>
              <a:buChar char="●"/>
            </a:pPr>
            <a:r>
              <a:rPr lang="ru-RU" sz="1900" b="0" i="0" u="none" strike="noStrike" cap="none" dirty="0">
                <a:solidFill>
                  <a:schemeClr val="dk1"/>
                </a:solidFill>
                <a:latin typeface="IBM Plex Sans"/>
                <a:ea typeface="IBM Plex Sans"/>
                <a:cs typeface="IBM Plex Sans"/>
                <a:sym typeface="IBM Plex Sans"/>
              </a:rPr>
              <a:t>Практики: командная работа над проектом.</a:t>
            </a:r>
            <a:endParaRPr sz="1900" b="0" i="0" u="none" strike="noStrike" cap="none" dirty="0">
              <a:solidFill>
                <a:schemeClr val="dk1"/>
              </a:solidFill>
              <a:latin typeface="IBM Plex Sans"/>
              <a:ea typeface="IBM Plex Sans"/>
              <a:cs typeface="IBM Plex Sans"/>
              <a:sym typeface="IBM Plex Sans"/>
            </a:endParaRPr>
          </a:p>
          <a:p>
            <a:pPr marL="457200" marR="0" lvl="0" indent="-349250" algn="l" rtl="0">
              <a:lnSpc>
                <a:spcPct val="70000"/>
              </a:lnSpc>
              <a:spcBef>
                <a:spcPts val="0"/>
              </a:spcBef>
              <a:spcAft>
                <a:spcPts val="0"/>
              </a:spcAft>
              <a:buClr>
                <a:schemeClr val="dk1"/>
              </a:buClr>
              <a:buSzPts val="1900"/>
              <a:buFont typeface="IBM Plex Sans"/>
              <a:buChar char="●"/>
            </a:pPr>
            <a:r>
              <a:rPr lang="ru-RU" sz="1900" b="0" i="0" u="none" strike="noStrike" cap="none" dirty="0">
                <a:solidFill>
                  <a:schemeClr val="dk1"/>
                </a:solidFill>
                <a:latin typeface="IBM Plex Sans"/>
                <a:ea typeface="IBM Plex Sans"/>
                <a:cs typeface="IBM Plex Sans"/>
                <a:sym typeface="IBM Plex Sans"/>
              </a:rPr>
              <a:t>Итоговая сдача проекта</a:t>
            </a:r>
            <a:endParaRPr sz="1900" b="0" i="0" u="none" strike="noStrike" cap="none" dirty="0">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900" b="0" i="0" u="none" strike="noStrike" cap="none" dirty="0">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1900" b="0" i="0" u="none" strike="noStrike" cap="none" dirty="0">
              <a:solidFill>
                <a:schemeClr val="dk1"/>
              </a:solidFill>
              <a:latin typeface="IBM Plex Sans"/>
              <a:ea typeface="IBM Plex Sans"/>
              <a:cs typeface="IBM Plex Sans"/>
              <a:sym typeface="IBM Plex Sans"/>
            </a:endParaRPr>
          </a:p>
        </p:txBody>
      </p:sp>
      <p:sp>
        <p:nvSpPr>
          <p:cNvPr id="80" name="Google Shape;80;g3cb2c61a5be_0_15"/>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Про курс</a:t>
            </a:r>
            <a:endParaRPr sz="3600" b="1" i="0" u="none" strike="noStrike" cap="none">
              <a:solidFill>
                <a:schemeClr val="dk1"/>
              </a:solidFill>
              <a:latin typeface="IBM Plex Sans"/>
              <a:ea typeface="IBM Plex Sans"/>
              <a:cs typeface="IBM Plex Sans"/>
              <a:sym typeface="IBM Plex Sans"/>
            </a:endParaRPr>
          </a:p>
        </p:txBody>
      </p:sp>
      <p:sp>
        <p:nvSpPr>
          <p:cNvPr id="81" name="Google Shape;81;g3cb2c61a5be_0_15"/>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grpSp>
        <p:nvGrpSpPr>
          <p:cNvPr id="82" name="Google Shape;82;g3cb2c61a5be_0_15"/>
          <p:cNvGrpSpPr/>
          <p:nvPr/>
        </p:nvGrpSpPr>
        <p:grpSpPr>
          <a:xfrm>
            <a:off x="9353973" y="-1553420"/>
            <a:ext cx="2854020" cy="13716631"/>
            <a:chOff x="9353973" y="-1553420"/>
            <a:chExt cx="2854020" cy="13716631"/>
          </a:xfrm>
        </p:grpSpPr>
        <p:grpSp>
          <p:nvGrpSpPr>
            <p:cNvPr id="83" name="Google Shape;83;g3cb2c61a5be_0_15"/>
            <p:cNvGrpSpPr/>
            <p:nvPr/>
          </p:nvGrpSpPr>
          <p:grpSpPr>
            <a:xfrm>
              <a:off x="9353973" y="-1553420"/>
              <a:ext cx="2838027" cy="13716631"/>
              <a:chOff x="9353973" y="-6079700"/>
              <a:chExt cx="2838027" cy="13716631"/>
            </a:xfrm>
          </p:grpSpPr>
          <p:pic>
            <p:nvPicPr>
              <p:cNvPr id="84" name="Google Shape;84;g3cb2c61a5be_0_15"/>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85" name="Google Shape;85;g3cb2c61a5be_0_15"/>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86" name="Google Shape;86;g3cb2c61a5be_0_15"/>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g3cb2c61a5be_0_15"/>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88" name="Google Shape;88;g3cb2c61a5be_0_15"/>
          <p:cNvPicPr preferRelativeResize="0"/>
          <p:nvPr/>
        </p:nvPicPr>
        <p:blipFill rotWithShape="1">
          <a:blip r:embed="rId4">
            <a:alphaModFix/>
          </a:blip>
          <a:srcRect t="35338"/>
          <a:stretch/>
        </p:blipFill>
        <p:spPr>
          <a:xfrm>
            <a:off x="7088000" y="531175"/>
            <a:ext cx="2678448" cy="2627674"/>
          </a:xfrm>
          <a:prstGeom prst="rect">
            <a:avLst/>
          </a:prstGeom>
          <a:noFill/>
          <a:ln>
            <a:noFill/>
          </a:ln>
        </p:spPr>
      </p:pic>
      <p:pic>
        <p:nvPicPr>
          <p:cNvPr id="89" name="Google Shape;89;g3cb2c61a5be_0_15"/>
          <p:cNvPicPr preferRelativeResize="0"/>
          <p:nvPr/>
        </p:nvPicPr>
        <p:blipFill rotWithShape="1">
          <a:blip r:embed="rId5">
            <a:alphaModFix/>
          </a:blip>
          <a:srcRect/>
          <a:stretch/>
        </p:blipFill>
        <p:spPr>
          <a:xfrm>
            <a:off x="7113388" y="3457600"/>
            <a:ext cx="2627673" cy="2627673"/>
          </a:xfrm>
          <a:prstGeom prst="rect">
            <a:avLst/>
          </a:prstGeom>
          <a:noFill/>
          <a:ln>
            <a:noFill/>
          </a:ln>
        </p:spPr>
      </p:pic>
    </p:spTree>
    <p:extLst>
      <p:ext uri="{BB962C8B-B14F-4D97-AF65-F5344CB8AC3E}">
        <p14:creationId xmlns:p14="http://schemas.microsoft.com/office/powerpoint/2010/main" val="628037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g3d1a00d9b9a_0_9"/>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Система оценивания</a:t>
            </a:r>
            <a:endParaRPr sz="3600" b="1" i="0" u="none" strike="noStrike" cap="none">
              <a:solidFill>
                <a:schemeClr val="dk1"/>
              </a:solidFill>
              <a:latin typeface="IBM Plex Sans"/>
              <a:ea typeface="IBM Plex Sans"/>
              <a:cs typeface="IBM Plex Sans"/>
              <a:sym typeface="IBM Plex Sans"/>
            </a:endParaRPr>
          </a:p>
        </p:txBody>
      </p:sp>
      <p:sp>
        <p:nvSpPr>
          <p:cNvPr id="95" name="Google Shape;95;g3d1a00d9b9a_0_9"/>
          <p:cNvSpPr txBox="1"/>
          <p:nvPr/>
        </p:nvSpPr>
        <p:spPr>
          <a:xfrm>
            <a:off x="1055688" y="2366937"/>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Максимум за проект: 100 баллов</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Порог для зачета:  60 баллов</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1" i="0" u="none" strike="noStrike" cap="none">
                <a:solidFill>
                  <a:schemeClr val="dk1"/>
                </a:solidFill>
                <a:latin typeface="IBM Plex Sans"/>
                <a:ea typeface="IBM Plex Sans"/>
                <a:cs typeface="IBM Plex Sans"/>
                <a:sym typeface="IBM Plex Sans"/>
              </a:rPr>
              <a:t>Структура оценки:</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Качество модели — максимум 50 баллов</a:t>
            </a:r>
            <a:endParaRPr sz="1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За проект — максимум 50 баллов</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1" i="0" u="none" strike="noStrike" cap="none">
                <a:solidFill>
                  <a:schemeClr val="dk1"/>
                </a:solidFill>
                <a:latin typeface="IBM Plex Sans"/>
                <a:ea typeface="IBM Plex Sans"/>
                <a:cs typeface="IBM Plex Sans"/>
                <a:sym typeface="IBM Plex Sans"/>
              </a:rPr>
              <a:t>Итоговая сдача:</a:t>
            </a:r>
            <a:endParaRPr sz="1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Командная защита проекта. </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1" i="0" u="none" strike="noStrike" cap="none">
                <a:solidFill>
                  <a:schemeClr val="dk1"/>
                </a:solidFill>
                <a:latin typeface="IBM Plex Sans"/>
                <a:ea typeface="IBM Plex Sans"/>
                <a:cs typeface="IBM Plex Sans"/>
                <a:sym typeface="IBM Plex Sans"/>
              </a:rPr>
              <a:t>Контроль прогресса:</a:t>
            </a:r>
            <a:endParaRPr sz="1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Необходимо 2 показа прогресса до итоговой сдачи:</a:t>
            </a:r>
            <a:endParaRPr sz="1600" b="0" i="0" u="none" strike="noStrike" cap="none">
              <a:solidFill>
                <a:schemeClr val="dk1"/>
              </a:solidFill>
              <a:latin typeface="IBM Plex Sans"/>
              <a:ea typeface="IBM Plex Sans"/>
              <a:cs typeface="IBM Plex Sans"/>
              <a:sym typeface="IBM Plex Sans"/>
            </a:endParaRPr>
          </a:p>
          <a:p>
            <a:pPr marL="457200" marR="0" lvl="0" indent="-330200" algn="l" rtl="0">
              <a:lnSpc>
                <a:spcPct val="70000"/>
              </a:lnSpc>
              <a:spcBef>
                <a:spcPts val="0"/>
              </a:spcBef>
              <a:spcAft>
                <a:spcPts val="0"/>
              </a:spcAft>
              <a:buClr>
                <a:schemeClr val="dk1"/>
              </a:buClr>
              <a:buSzPts val="1600"/>
              <a:buFont typeface="IBM Plex Sans"/>
              <a:buChar char="●"/>
            </a:pPr>
            <a:r>
              <a:rPr lang="ru-RU" sz="1600" b="0" i="0" u="none" strike="noStrike" cap="none">
                <a:solidFill>
                  <a:schemeClr val="dk1"/>
                </a:solidFill>
                <a:latin typeface="IBM Plex Sans"/>
                <a:ea typeface="IBM Plex Sans"/>
                <a:cs typeface="IBM Plex Sans"/>
                <a:sym typeface="IBM Plex Sans"/>
              </a:rPr>
              <a:t>1-й показ — в первой половине курса</a:t>
            </a:r>
            <a:endParaRPr sz="1600" b="0" i="0" u="none" strike="noStrike" cap="none">
              <a:solidFill>
                <a:schemeClr val="dk1"/>
              </a:solidFill>
              <a:latin typeface="IBM Plex Sans"/>
              <a:ea typeface="IBM Plex Sans"/>
              <a:cs typeface="IBM Plex Sans"/>
              <a:sym typeface="IBM Plex Sans"/>
            </a:endParaRPr>
          </a:p>
          <a:p>
            <a:pPr marL="457200" marR="0" lvl="0" indent="-330200" algn="l" rtl="0">
              <a:lnSpc>
                <a:spcPct val="70000"/>
              </a:lnSpc>
              <a:spcBef>
                <a:spcPts val="0"/>
              </a:spcBef>
              <a:spcAft>
                <a:spcPts val="0"/>
              </a:spcAft>
              <a:buClr>
                <a:schemeClr val="dk1"/>
              </a:buClr>
              <a:buSzPts val="1600"/>
              <a:buFont typeface="IBM Plex Sans"/>
              <a:buChar char="●"/>
            </a:pPr>
            <a:r>
              <a:rPr lang="ru-RU" sz="1600" b="0" i="0" u="none" strike="noStrike" cap="none">
                <a:solidFill>
                  <a:schemeClr val="dk1"/>
                </a:solidFill>
                <a:latin typeface="IBM Plex Sans"/>
                <a:ea typeface="IBM Plex Sans"/>
                <a:cs typeface="IBM Plex Sans"/>
                <a:sym typeface="IBM Plex Sans"/>
              </a:rPr>
              <a:t>2-й показ — во второй половине курса</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Штраф: за отсутствие показа прогресса –20 баллов к итоговой оценке.</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p:txBody>
      </p:sp>
      <p:sp>
        <p:nvSpPr>
          <p:cNvPr id="96" name="Google Shape;96;g3d1a00d9b9a_0_9"/>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pic>
        <p:nvPicPr>
          <p:cNvPr id="97" name="Google Shape;97;g3d1a00d9b9a_0_9"/>
          <p:cNvPicPr preferRelativeResize="0"/>
          <p:nvPr/>
        </p:nvPicPr>
        <p:blipFill rotWithShape="1">
          <a:blip r:embed="rId3">
            <a:alphaModFix/>
          </a:blip>
          <a:srcRect/>
          <a:stretch/>
        </p:blipFill>
        <p:spPr>
          <a:xfrm>
            <a:off x="8826215" y="354856"/>
            <a:ext cx="2867441" cy="2867441"/>
          </a:xfrm>
          <a:prstGeom prst="rect">
            <a:avLst/>
          </a:prstGeom>
          <a:noFill/>
          <a:ln>
            <a:noFill/>
          </a:ln>
        </p:spPr>
      </p:pic>
      <p:grpSp>
        <p:nvGrpSpPr>
          <p:cNvPr id="98" name="Google Shape;98;g3d1a00d9b9a_0_9"/>
          <p:cNvGrpSpPr/>
          <p:nvPr/>
        </p:nvGrpSpPr>
        <p:grpSpPr>
          <a:xfrm>
            <a:off x="9353973" y="-1553420"/>
            <a:ext cx="2854020" cy="13716631"/>
            <a:chOff x="9353973" y="-1553420"/>
            <a:chExt cx="2854020" cy="13716631"/>
          </a:xfrm>
        </p:grpSpPr>
        <p:grpSp>
          <p:nvGrpSpPr>
            <p:cNvPr id="99" name="Google Shape;99;g3d1a00d9b9a_0_9"/>
            <p:cNvGrpSpPr/>
            <p:nvPr/>
          </p:nvGrpSpPr>
          <p:grpSpPr>
            <a:xfrm>
              <a:off x="9353973" y="-1553420"/>
              <a:ext cx="2838027" cy="13716631"/>
              <a:chOff x="9353973" y="-6079700"/>
              <a:chExt cx="2838027" cy="13716631"/>
            </a:xfrm>
          </p:grpSpPr>
          <p:pic>
            <p:nvPicPr>
              <p:cNvPr id="100" name="Google Shape;100;g3d1a00d9b9a_0_9"/>
              <p:cNvPicPr preferRelativeResize="0"/>
              <p:nvPr/>
            </p:nvPicPr>
            <p:blipFill rotWithShape="1">
              <a:blip r:embed="rId4">
                <a:alphaModFix/>
              </a:blip>
              <a:srcRect l="1283"/>
              <a:stretch/>
            </p:blipFill>
            <p:spPr>
              <a:xfrm>
                <a:off x="9353973" y="778933"/>
                <a:ext cx="2838027" cy="6857998"/>
              </a:xfrm>
              <a:prstGeom prst="rect">
                <a:avLst/>
              </a:prstGeom>
              <a:noFill/>
              <a:ln>
                <a:noFill/>
              </a:ln>
            </p:spPr>
          </p:pic>
          <p:pic>
            <p:nvPicPr>
              <p:cNvPr id="101" name="Google Shape;101;g3d1a00d9b9a_0_9"/>
              <p:cNvPicPr preferRelativeResize="0"/>
              <p:nvPr/>
            </p:nvPicPr>
            <p:blipFill rotWithShape="1">
              <a:blip r:embed="rId4">
                <a:alphaModFix/>
              </a:blip>
              <a:srcRect l="1283"/>
              <a:stretch/>
            </p:blipFill>
            <p:spPr>
              <a:xfrm>
                <a:off x="9353973" y="-6079700"/>
                <a:ext cx="2838027" cy="6857998"/>
              </a:xfrm>
              <a:prstGeom prst="rect">
                <a:avLst/>
              </a:prstGeom>
              <a:noFill/>
              <a:ln>
                <a:noFill/>
              </a:ln>
            </p:spPr>
          </p:pic>
        </p:grpSp>
        <p:sp>
          <p:nvSpPr>
            <p:cNvPr id="102" name="Google Shape;102;g3d1a00d9b9a_0_9"/>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 name="Google Shape;103;g3d1a00d9b9a_0_9"/>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4" name="Google Shape;104;g3d1a00d9b9a_0_9"/>
          <p:cNvPicPr preferRelativeResize="0"/>
          <p:nvPr/>
        </p:nvPicPr>
        <p:blipFill rotWithShape="1">
          <a:blip r:embed="rId5">
            <a:alphaModFix/>
          </a:blip>
          <a:srcRect t="35338"/>
          <a:stretch/>
        </p:blipFill>
        <p:spPr>
          <a:xfrm>
            <a:off x="7088000" y="531175"/>
            <a:ext cx="2678448" cy="2627674"/>
          </a:xfrm>
          <a:prstGeom prst="rect">
            <a:avLst/>
          </a:prstGeom>
          <a:noFill/>
          <a:ln>
            <a:noFill/>
          </a:ln>
        </p:spPr>
      </p:pic>
      <p:pic>
        <p:nvPicPr>
          <p:cNvPr id="105" name="Google Shape;105;g3d1a00d9b9a_0_9"/>
          <p:cNvPicPr preferRelativeResize="0"/>
          <p:nvPr/>
        </p:nvPicPr>
        <p:blipFill rotWithShape="1">
          <a:blip r:embed="rId6">
            <a:alphaModFix/>
          </a:blip>
          <a:srcRect/>
          <a:stretch/>
        </p:blipFill>
        <p:spPr>
          <a:xfrm>
            <a:off x="7113388" y="3457600"/>
            <a:ext cx="2627673" cy="26276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3cb2c61a5be_0_38"/>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Правила использования чужого кода</a:t>
            </a:r>
            <a:endParaRPr sz="3600" b="1" i="0" u="none" strike="noStrike" cap="none">
              <a:solidFill>
                <a:schemeClr val="dk1"/>
              </a:solidFill>
              <a:latin typeface="IBM Plex Sans"/>
              <a:ea typeface="IBM Plex Sans"/>
              <a:cs typeface="IBM Plex Sans"/>
              <a:sym typeface="IBM Plex Sans"/>
            </a:endParaRPr>
          </a:p>
        </p:txBody>
      </p:sp>
      <p:sp>
        <p:nvSpPr>
          <p:cNvPr id="111" name="Google Shape;111;g3cb2c61a5be_0_38"/>
          <p:cNvSpPr txBox="1"/>
          <p:nvPr/>
        </p:nvSpPr>
        <p:spPr>
          <a:xfrm>
            <a:off x="1055700" y="2366913"/>
            <a:ext cx="5365800" cy="3550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Можно пользоваться любыми источниками.</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Условие 1: Предупредить заранее или явно указать источник в работе.</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Условие 2: Продемонстрировать понимание заимствованного кода.</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Санкции за нарушение</a:t>
            </a:r>
            <a:endParaRPr sz="1600" b="0" i="0" u="none" strike="noStrike" cap="none">
              <a:solidFill>
                <a:schemeClr val="dk1"/>
              </a:solidFill>
              <a:latin typeface="IBM Plex Sans"/>
              <a:ea typeface="IBM Plex Sans"/>
              <a:cs typeface="IBM Plex Sans"/>
              <a:sym typeface="IBM Plex Sans"/>
            </a:endParaRPr>
          </a:p>
          <a:p>
            <a:pPr marL="457200" marR="0" lvl="0" indent="-330200" algn="l" rtl="0">
              <a:lnSpc>
                <a:spcPct val="70000"/>
              </a:lnSpc>
              <a:spcBef>
                <a:spcPts val="0"/>
              </a:spcBef>
              <a:spcAft>
                <a:spcPts val="0"/>
              </a:spcAft>
              <a:buClr>
                <a:schemeClr val="dk1"/>
              </a:buClr>
              <a:buSzPts val="1600"/>
              <a:buFont typeface="IBM Plex Sans"/>
              <a:buChar char="-"/>
            </a:pPr>
            <a:r>
              <a:rPr lang="ru-RU" sz="1600" b="0" i="0" u="none" strike="noStrike" cap="none">
                <a:solidFill>
                  <a:schemeClr val="dk1"/>
                </a:solidFill>
                <a:latin typeface="IBM Plex Sans"/>
                <a:ea typeface="IBM Plex Sans"/>
                <a:cs typeface="IBM Plex Sans"/>
                <a:sym typeface="IBM Plex Sans"/>
              </a:rPr>
              <a:t>злоупотребление (большая часть задания выполнена не вами)</a:t>
            </a:r>
            <a:endParaRPr sz="1600" b="0" i="0" u="none" strike="noStrike" cap="none">
              <a:solidFill>
                <a:schemeClr val="dk1"/>
              </a:solidFill>
              <a:latin typeface="IBM Plex Sans"/>
              <a:ea typeface="IBM Plex Sans"/>
              <a:cs typeface="IBM Plex Sans"/>
              <a:sym typeface="IBM Plex Sans"/>
            </a:endParaRPr>
          </a:p>
          <a:p>
            <a:pPr marL="457200" marR="0" lvl="0" indent="-330200" algn="l" rtl="0">
              <a:lnSpc>
                <a:spcPct val="70000"/>
              </a:lnSpc>
              <a:spcBef>
                <a:spcPts val="0"/>
              </a:spcBef>
              <a:spcAft>
                <a:spcPts val="0"/>
              </a:spcAft>
              <a:buClr>
                <a:schemeClr val="dk1"/>
              </a:buClr>
              <a:buSzPts val="1600"/>
              <a:buFont typeface="IBM Plex Sans"/>
              <a:buChar char="-"/>
            </a:pPr>
            <a:r>
              <a:rPr lang="ru-RU" sz="1600" b="0" i="0" u="none" strike="noStrike" cap="none">
                <a:solidFill>
                  <a:schemeClr val="dk1"/>
                </a:solidFill>
                <a:latin typeface="IBM Plex Sans"/>
                <a:ea typeface="IBM Plex Sans"/>
                <a:cs typeface="IBM Plex Sans"/>
                <a:sym typeface="IBM Plex Sans"/>
              </a:rPr>
              <a:t>выдача за свой код(копирование без указания)</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 → работа оценивается в 0 баллов.</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r>
              <a:rPr lang="ru-RU" sz="1600" b="0" i="0" u="none" strike="noStrike" cap="none">
                <a:solidFill>
                  <a:schemeClr val="dk1"/>
                </a:solidFill>
                <a:latin typeface="IBM Plex Sans"/>
                <a:ea typeface="IBM Plex Sans"/>
                <a:cs typeface="IBM Plex Sans"/>
                <a:sym typeface="IBM Plex Sans"/>
              </a:rPr>
              <a:t>Команда теряет право на сдачу этой работы.</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1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1600" b="0" i="0" u="none" strike="noStrike" cap="none">
              <a:solidFill>
                <a:schemeClr val="dk1"/>
              </a:solidFill>
              <a:latin typeface="IBM Plex Sans"/>
              <a:ea typeface="IBM Plex Sans"/>
              <a:cs typeface="IBM Plex Sans"/>
              <a:sym typeface="IBM Plex Sans"/>
            </a:endParaRPr>
          </a:p>
        </p:txBody>
      </p:sp>
      <p:sp>
        <p:nvSpPr>
          <p:cNvPr id="112" name="Google Shape;112;g3cb2c61a5be_0_38"/>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grpSp>
        <p:nvGrpSpPr>
          <p:cNvPr id="113" name="Google Shape;113;g3cb2c61a5be_0_38"/>
          <p:cNvGrpSpPr/>
          <p:nvPr/>
        </p:nvGrpSpPr>
        <p:grpSpPr>
          <a:xfrm>
            <a:off x="9353973" y="-1553420"/>
            <a:ext cx="2854020" cy="13716631"/>
            <a:chOff x="9353973" y="-1553420"/>
            <a:chExt cx="2854020" cy="13716631"/>
          </a:xfrm>
        </p:grpSpPr>
        <p:grpSp>
          <p:nvGrpSpPr>
            <p:cNvPr id="114" name="Google Shape;114;g3cb2c61a5be_0_38"/>
            <p:cNvGrpSpPr/>
            <p:nvPr/>
          </p:nvGrpSpPr>
          <p:grpSpPr>
            <a:xfrm>
              <a:off x="9353973" y="-1553420"/>
              <a:ext cx="2838027" cy="13716631"/>
              <a:chOff x="9353973" y="-6079700"/>
              <a:chExt cx="2838027" cy="13716631"/>
            </a:xfrm>
          </p:grpSpPr>
          <p:pic>
            <p:nvPicPr>
              <p:cNvPr id="115" name="Google Shape;115;g3cb2c61a5be_0_38"/>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16" name="Google Shape;116;g3cb2c61a5be_0_38"/>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17" name="Google Shape;117;g3cb2c61a5be_0_38"/>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8" name="Google Shape;118;g3cb2c61a5be_0_38"/>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19" name="Google Shape;119;g3cb2c61a5be_0_38"/>
          <p:cNvPicPr preferRelativeResize="0"/>
          <p:nvPr/>
        </p:nvPicPr>
        <p:blipFill rotWithShape="1">
          <a:blip r:embed="rId4">
            <a:alphaModFix/>
          </a:blip>
          <a:srcRect/>
          <a:stretch/>
        </p:blipFill>
        <p:spPr>
          <a:xfrm>
            <a:off x="8826215" y="354856"/>
            <a:ext cx="2867441" cy="2867441"/>
          </a:xfrm>
          <a:prstGeom prst="rect">
            <a:avLst/>
          </a:prstGeom>
          <a:noFill/>
          <a:ln>
            <a:noFill/>
          </a:ln>
        </p:spPr>
      </p:pic>
      <p:pic>
        <p:nvPicPr>
          <p:cNvPr id="120" name="Google Shape;120;g3cb2c61a5be_0_38"/>
          <p:cNvPicPr preferRelativeResize="0"/>
          <p:nvPr/>
        </p:nvPicPr>
        <p:blipFill rotWithShape="1">
          <a:blip r:embed="rId5">
            <a:alphaModFix/>
          </a:blip>
          <a:srcRect t="35338"/>
          <a:stretch/>
        </p:blipFill>
        <p:spPr>
          <a:xfrm>
            <a:off x="7088000" y="531175"/>
            <a:ext cx="2678448" cy="2627674"/>
          </a:xfrm>
          <a:prstGeom prst="rect">
            <a:avLst/>
          </a:prstGeom>
          <a:noFill/>
          <a:ln>
            <a:noFill/>
          </a:ln>
        </p:spPr>
      </p:pic>
      <p:pic>
        <p:nvPicPr>
          <p:cNvPr id="121" name="Google Shape;121;g3cb2c61a5be_0_38"/>
          <p:cNvPicPr preferRelativeResize="0"/>
          <p:nvPr/>
        </p:nvPicPr>
        <p:blipFill rotWithShape="1">
          <a:blip r:embed="rId6">
            <a:alphaModFix/>
          </a:blip>
          <a:srcRect/>
          <a:stretch/>
        </p:blipFill>
        <p:spPr>
          <a:xfrm>
            <a:off x="7113388" y="3457600"/>
            <a:ext cx="2627673" cy="262767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3d3e78d848d_1_0"/>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Работа с LLM</a:t>
            </a:r>
            <a:endParaRPr sz="3600" b="1" i="0" u="none" strike="noStrike" cap="none">
              <a:solidFill>
                <a:schemeClr val="dk1"/>
              </a:solidFill>
              <a:latin typeface="IBM Plex Sans"/>
              <a:ea typeface="IBM Plex Sans"/>
              <a:cs typeface="IBM Plex Sans"/>
              <a:sym typeface="IBM Plex Sans"/>
            </a:endParaRPr>
          </a:p>
        </p:txBody>
      </p:sp>
      <p:sp>
        <p:nvSpPr>
          <p:cNvPr id="127" name="Google Shape;127;g3d3e78d848d_1_0"/>
          <p:cNvSpPr txBox="1"/>
          <p:nvPr/>
        </p:nvSpPr>
        <p:spPr>
          <a:xfrm>
            <a:off x="1055700" y="1897763"/>
            <a:ext cx="5365800" cy="355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1" i="0" u="none" strike="noStrike" cap="none">
                <a:solidFill>
                  <a:schemeClr val="dk1"/>
                </a:solidFill>
                <a:latin typeface="IBM Plex Sans"/>
                <a:ea typeface="IBM Plex Sans"/>
                <a:cs typeface="IBM Plex Sans"/>
                <a:sym typeface="IBM Plex Sans"/>
              </a:rPr>
              <a:t>Рекомендую:</a:t>
            </a:r>
            <a:endParaRPr sz="1600" b="1" i="0" u="none" strike="noStrike" cap="none">
              <a:solidFill>
                <a:schemeClr val="dk1"/>
              </a:solidFill>
              <a:latin typeface="IBM Plex Sans"/>
              <a:ea typeface="IBM Plex Sans"/>
              <a:cs typeface="IBM Plex Sans"/>
              <a:sym typeface="IBM Plex Sans"/>
            </a:endParaRPr>
          </a:p>
          <a:p>
            <a:pPr marL="457200" marR="0" lvl="0" indent="-317500" algn="l" rtl="0">
              <a:lnSpc>
                <a:spcPct val="115000"/>
              </a:lnSpc>
              <a:spcBef>
                <a:spcPts val="1200"/>
              </a:spcBef>
              <a:spcAft>
                <a:spcPts val="0"/>
              </a:spcAft>
              <a:buClr>
                <a:srgbClr val="0F1115"/>
              </a:buClr>
              <a:buSzPts val="1400"/>
              <a:buFont typeface="Roboto"/>
              <a:buChar char="-"/>
            </a:pPr>
            <a:r>
              <a:rPr lang="ru-RU" sz="1400" b="0" i="0" u="none" strike="noStrike" cap="none">
                <a:solidFill>
                  <a:srgbClr val="0F1115"/>
                </a:solidFill>
                <a:highlight>
                  <a:srgbClr val="FFFFFF"/>
                </a:highlight>
                <a:latin typeface="Roboto"/>
                <a:ea typeface="Roboto"/>
                <a:cs typeface="Roboto"/>
                <a:sym typeface="Roboto"/>
              </a:rPr>
              <a:t>Обьяснения </a:t>
            </a:r>
            <a:endParaRPr sz="1400" b="0" i="0" u="none" strike="noStrike" cap="none">
              <a:solidFill>
                <a:srgbClr val="0F1115"/>
              </a:solidFill>
              <a:highlight>
                <a:srgbClr val="FFFFFF"/>
              </a:highlight>
              <a:latin typeface="Roboto"/>
              <a:ea typeface="Roboto"/>
              <a:cs typeface="Roboto"/>
              <a:sym typeface="Roboto"/>
            </a:endParaRPr>
          </a:p>
          <a:p>
            <a:pPr marL="914400" marR="0" lvl="1" indent="-317500" algn="l" rtl="0">
              <a:lnSpc>
                <a:spcPct val="115000"/>
              </a:lnSpc>
              <a:spcBef>
                <a:spcPts val="0"/>
              </a:spcBef>
              <a:spcAft>
                <a:spcPts val="0"/>
              </a:spcAft>
              <a:buClr>
                <a:srgbClr val="0F1115"/>
              </a:buClr>
              <a:buSzPts val="1400"/>
              <a:buFont typeface="Roboto"/>
              <a:buChar char="-"/>
            </a:pPr>
            <a:r>
              <a:rPr lang="ru-RU" sz="1400" b="0" i="1" u="none" strike="noStrike" cap="none">
                <a:solidFill>
                  <a:srgbClr val="0F1115"/>
                </a:solidFill>
                <a:highlight>
                  <a:srgbClr val="FFFFFF"/>
                </a:highlight>
                <a:latin typeface="Roboto"/>
                <a:ea typeface="Roboto"/>
                <a:cs typeface="Roboto"/>
                <a:sym typeface="Roboto"/>
              </a:rPr>
              <a:t>“Объясни, как работает линейная регрессия простыми словами.”</a:t>
            </a:r>
            <a:endParaRPr sz="1400" b="0" i="0" u="none" strike="noStrike" cap="none">
              <a:solidFill>
                <a:srgbClr val="0F1115"/>
              </a:solidFill>
              <a:highlight>
                <a:srgbClr val="FFFFFF"/>
              </a:highlight>
              <a:latin typeface="Roboto"/>
              <a:ea typeface="Roboto"/>
              <a:cs typeface="Roboto"/>
              <a:sym typeface="Roboto"/>
            </a:endParaRPr>
          </a:p>
          <a:p>
            <a:pPr marL="914400" marR="0" lvl="1" indent="-317500" algn="l" rtl="0">
              <a:lnSpc>
                <a:spcPct val="115000"/>
              </a:lnSpc>
              <a:spcBef>
                <a:spcPts val="0"/>
              </a:spcBef>
              <a:spcAft>
                <a:spcPts val="0"/>
              </a:spcAft>
              <a:buClr>
                <a:srgbClr val="0F1115"/>
              </a:buClr>
              <a:buSzPts val="1400"/>
              <a:buFont typeface="Roboto"/>
              <a:buChar char="-"/>
            </a:pPr>
            <a:r>
              <a:rPr lang="ru-RU" sz="1400" b="0" i="1" u="none" strike="noStrike" cap="none">
                <a:solidFill>
                  <a:srgbClr val="0F1115"/>
                </a:solidFill>
                <a:highlight>
                  <a:srgbClr val="FFFFFF"/>
                </a:highlight>
                <a:latin typeface="Roboto"/>
                <a:ea typeface="Roboto"/>
                <a:cs typeface="Roboto"/>
                <a:sym typeface="Roboto"/>
              </a:rPr>
              <a:t>“Напиши комментарии для кода: [код]. Что в нем происходит?”</a:t>
            </a:r>
            <a:endParaRPr sz="1400" b="0" i="1" u="none" strike="noStrike" cap="none">
              <a:solidFill>
                <a:srgbClr val="0F1115"/>
              </a:solidFill>
              <a:highlight>
                <a:srgbClr val="FFFFFF"/>
              </a:highlight>
              <a:latin typeface="Roboto"/>
              <a:ea typeface="Roboto"/>
              <a:cs typeface="Roboto"/>
              <a:sym typeface="Roboto"/>
            </a:endParaRPr>
          </a:p>
          <a:p>
            <a:pPr marL="457200" marR="0" lvl="0" indent="-317500" algn="l" rtl="0">
              <a:lnSpc>
                <a:spcPct val="115000"/>
              </a:lnSpc>
              <a:spcBef>
                <a:spcPts val="0"/>
              </a:spcBef>
              <a:spcAft>
                <a:spcPts val="0"/>
              </a:spcAft>
              <a:buClr>
                <a:srgbClr val="0F1115"/>
              </a:buClr>
              <a:buSzPts val="1400"/>
              <a:buFont typeface="Roboto"/>
              <a:buChar char="-"/>
            </a:pPr>
            <a:r>
              <a:rPr lang="ru-RU" sz="1400" b="0" i="0" u="none" strike="noStrike" cap="none">
                <a:solidFill>
                  <a:srgbClr val="0F1115"/>
                </a:solidFill>
                <a:highlight>
                  <a:srgbClr val="FFFFFF"/>
                </a:highlight>
                <a:latin typeface="Roboto"/>
                <a:ea typeface="Roboto"/>
                <a:cs typeface="Roboto"/>
                <a:sym typeface="Roboto"/>
              </a:rPr>
              <a:t>Отладка кода (Debugging)</a:t>
            </a:r>
            <a:endParaRPr sz="1400" b="0" i="0" u="none" strike="noStrike" cap="none">
              <a:solidFill>
                <a:srgbClr val="0F1115"/>
              </a:solidFill>
              <a:highlight>
                <a:srgbClr val="FFFFFF"/>
              </a:highlight>
              <a:latin typeface="Roboto"/>
              <a:ea typeface="Roboto"/>
              <a:cs typeface="Roboto"/>
              <a:sym typeface="Roboto"/>
            </a:endParaRPr>
          </a:p>
          <a:p>
            <a:pPr marL="914400" marR="0" lvl="1" indent="-304800" algn="l" rtl="0">
              <a:lnSpc>
                <a:spcPct val="115000"/>
              </a:lnSpc>
              <a:spcBef>
                <a:spcPts val="0"/>
              </a:spcBef>
              <a:spcAft>
                <a:spcPts val="0"/>
              </a:spcAft>
              <a:buClr>
                <a:srgbClr val="0F1115"/>
              </a:buClr>
              <a:buSzPts val="1200"/>
              <a:buFont typeface="Roboto"/>
              <a:buChar char="-"/>
            </a:pPr>
            <a:r>
              <a:rPr lang="ru-RU" sz="1400" b="0" i="1" u="none" strike="noStrike" cap="none">
                <a:solidFill>
                  <a:srgbClr val="0F1115"/>
                </a:solidFill>
                <a:highlight>
                  <a:srgbClr val="FFFFFF"/>
                </a:highlight>
                <a:latin typeface="Roboto"/>
                <a:ea typeface="Roboto"/>
                <a:cs typeface="Roboto"/>
                <a:sym typeface="Roboto"/>
              </a:rPr>
              <a:t>“Почему не работает код? Ошибка: </a:t>
            </a:r>
            <a:r>
              <a:rPr lang="ru-RU" sz="1250" b="0" i="0" u="none" strike="noStrike" cap="none">
                <a:solidFill>
                  <a:srgbClr val="0F1115"/>
                </a:solidFill>
                <a:highlight>
                  <a:srgbClr val="EBEEF2"/>
                </a:highlight>
                <a:latin typeface="Roboto Mono"/>
                <a:ea typeface="Roboto Mono"/>
                <a:cs typeface="Roboto Mono"/>
                <a:sym typeface="Roboto Mono"/>
              </a:rPr>
              <a:t>[текст ошибки] в коде: [код]</a:t>
            </a:r>
            <a:r>
              <a:rPr lang="ru-RU" sz="1400" b="0" i="1" u="none" strike="noStrike" cap="none">
                <a:solidFill>
                  <a:srgbClr val="0F1115"/>
                </a:solidFill>
                <a:highlight>
                  <a:srgbClr val="FFFFFF"/>
                </a:highlight>
                <a:latin typeface="Roboto"/>
                <a:ea typeface="Roboto"/>
                <a:cs typeface="Roboto"/>
                <a:sym typeface="Roboto"/>
              </a:rPr>
              <a:t>”</a:t>
            </a:r>
            <a:r>
              <a:rPr lang="ru-RU" sz="1400" b="0" i="0" u="none" strike="noStrike" cap="none">
                <a:solidFill>
                  <a:srgbClr val="0F1115"/>
                </a:solidFill>
                <a:highlight>
                  <a:srgbClr val="FFFFFF"/>
                </a:highlight>
                <a:latin typeface="Roboto"/>
                <a:ea typeface="Roboto"/>
                <a:cs typeface="Roboto"/>
                <a:sym typeface="Roboto"/>
              </a:rPr>
              <a:t>.</a:t>
            </a:r>
            <a:endParaRPr sz="1400" b="0" i="0" u="none" strike="noStrike" cap="none">
              <a:solidFill>
                <a:srgbClr val="0F1115"/>
              </a:solidFill>
              <a:highlight>
                <a:srgbClr val="FFFFFF"/>
              </a:highlight>
              <a:latin typeface="Roboto"/>
              <a:ea typeface="Roboto"/>
              <a:cs typeface="Roboto"/>
              <a:sym typeface="Roboto"/>
            </a:endParaRPr>
          </a:p>
          <a:p>
            <a:pPr marL="457200" marR="0" lvl="0" indent="-317500" algn="l" rtl="0">
              <a:lnSpc>
                <a:spcPct val="115000"/>
              </a:lnSpc>
              <a:spcBef>
                <a:spcPts val="0"/>
              </a:spcBef>
              <a:spcAft>
                <a:spcPts val="0"/>
              </a:spcAft>
              <a:buClr>
                <a:srgbClr val="0F1115"/>
              </a:buClr>
              <a:buSzPts val="1400"/>
              <a:buFont typeface="Roboto"/>
              <a:buChar char="-"/>
            </a:pPr>
            <a:r>
              <a:rPr lang="ru-RU" sz="1400" b="0" i="0" u="none" strike="noStrike" cap="none">
                <a:solidFill>
                  <a:srgbClr val="0F1115"/>
                </a:solidFill>
                <a:highlight>
                  <a:srgbClr val="FFFFFF"/>
                </a:highlight>
                <a:latin typeface="Roboto"/>
                <a:ea typeface="Roboto"/>
                <a:cs typeface="Roboto"/>
                <a:sym typeface="Roboto"/>
              </a:rPr>
              <a:t>Справка по библиотекам</a:t>
            </a:r>
            <a:endParaRPr sz="1400" b="0" i="0" u="none" strike="noStrike" cap="none">
              <a:solidFill>
                <a:srgbClr val="0F1115"/>
              </a:solidFill>
              <a:highlight>
                <a:srgbClr val="FFFFFF"/>
              </a:highlight>
              <a:latin typeface="Roboto"/>
              <a:ea typeface="Roboto"/>
              <a:cs typeface="Roboto"/>
              <a:sym typeface="Roboto"/>
            </a:endParaRPr>
          </a:p>
          <a:p>
            <a:pPr marL="914400" marR="0" lvl="1" indent="-317500" algn="l" rtl="0">
              <a:lnSpc>
                <a:spcPct val="115000"/>
              </a:lnSpc>
              <a:spcBef>
                <a:spcPts val="0"/>
              </a:spcBef>
              <a:spcAft>
                <a:spcPts val="0"/>
              </a:spcAft>
              <a:buClr>
                <a:srgbClr val="0F1115"/>
              </a:buClr>
              <a:buSzPts val="1400"/>
              <a:buFont typeface="Roboto"/>
              <a:buChar char="-"/>
            </a:pPr>
            <a:r>
              <a:rPr lang="ru-RU" sz="1400" b="0" i="1" u="none" strike="noStrike" cap="none">
                <a:solidFill>
                  <a:srgbClr val="0F1115"/>
                </a:solidFill>
                <a:highlight>
                  <a:srgbClr val="FFFFFF"/>
                </a:highlight>
                <a:latin typeface="Roboto"/>
                <a:ea typeface="Roboto"/>
                <a:cs typeface="Roboto"/>
                <a:sym typeface="Roboto"/>
              </a:rPr>
              <a:t>“Как вывести описание всех колонок pandas DataFrame?”</a:t>
            </a:r>
            <a:endParaRPr sz="1400" b="0" i="1" u="none" strike="noStrike" cap="none">
              <a:solidFill>
                <a:srgbClr val="0F1115"/>
              </a:solidFill>
              <a:highlight>
                <a:srgbClr val="FFFFFF"/>
              </a:highlight>
              <a:latin typeface="Roboto"/>
              <a:ea typeface="Roboto"/>
              <a:cs typeface="Roboto"/>
              <a:sym typeface="Roboto"/>
            </a:endParaRPr>
          </a:p>
          <a:p>
            <a:pPr marL="0" marR="0" lvl="0" indent="0" algn="l" rtl="0">
              <a:lnSpc>
                <a:spcPct val="100000"/>
              </a:lnSpc>
              <a:spcBef>
                <a:spcPts val="1200"/>
              </a:spcBef>
              <a:spcAft>
                <a:spcPts val="0"/>
              </a:spcAft>
              <a:buClr>
                <a:srgbClr val="000000"/>
              </a:buClr>
              <a:buSzPts val="1600"/>
              <a:buFont typeface="Arial"/>
              <a:buNone/>
            </a:pPr>
            <a:r>
              <a:rPr lang="ru-RU" sz="1600" b="1" i="0" u="none" strike="noStrike" cap="none">
                <a:solidFill>
                  <a:schemeClr val="dk1"/>
                </a:solidFill>
                <a:latin typeface="IBM Plex Sans"/>
                <a:ea typeface="IBM Plex Sans"/>
                <a:cs typeface="IBM Plex Sans"/>
                <a:sym typeface="IBM Plex Sans"/>
              </a:rPr>
              <a:t>Не рекоменждую:</a:t>
            </a:r>
            <a:endParaRPr sz="1600" b="1"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IBM Plex Sans"/>
              <a:ea typeface="IBM Plex Sans"/>
              <a:cs typeface="IBM Plex Sans"/>
              <a:sym typeface="IBM Plex Sans"/>
            </a:endParaRPr>
          </a:p>
          <a:p>
            <a:pPr marL="457200" marR="0" lvl="0" indent="-323850" algn="l" rtl="0">
              <a:lnSpc>
                <a:spcPct val="100000"/>
              </a:lnSpc>
              <a:spcBef>
                <a:spcPts val="0"/>
              </a:spcBef>
              <a:spcAft>
                <a:spcPts val="0"/>
              </a:spcAft>
              <a:buClr>
                <a:schemeClr val="dk1"/>
              </a:buClr>
              <a:buSzPts val="1500"/>
              <a:buFont typeface="IBM Plex Sans"/>
              <a:buChar char="-"/>
            </a:pPr>
            <a:r>
              <a:rPr lang="ru-RU" sz="1500" b="0" i="0" u="none" strike="noStrike" cap="none">
                <a:solidFill>
                  <a:schemeClr val="dk1"/>
                </a:solidFill>
                <a:latin typeface="IBM Plex Sans"/>
                <a:ea typeface="IBM Plex Sans"/>
                <a:cs typeface="IBM Plex Sans"/>
                <a:sym typeface="IBM Plex Sans"/>
              </a:rPr>
              <a:t>Написание полноценного кода:</a:t>
            </a:r>
            <a:endParaRPr sz="1500" b="0" i="0" u="none" strike="noStrike" cap="none">
              <a:solidFill>
                <a:schemeClr val="dk1"/>
              </a:solidFill>
              <a:latin typeface="IBM Plex Sans"/>
              <a:ea typeface="IBM Plex Sans"/>
              <a:cs typeface="IBM Plex Sans"/>
              <a:sym typeface="IBM Plex Sans"/>
            </a:endParaRPr>
          </a:p>
          <a:p>
            <a:pPr marL="914400" marR="0" lvl="1" indent="-323850" algn="l" rtl="0">
              <a:lnSpc>
                <a:spcPct val="100000"/>
              </a:lnSpc>
              <a:spcBef>
                <a:spcPts val="0"/>
              </a:spcBef>
              <a:spcAft>
                <a:spcPts val="0"/>
              </a:spcAft>
              <a:buClr>
                <a:schemeClr val="dk1"/>
              </a:buClr>
              <a:buSzPts val="1500"/>
              <a:buFont typeface="IBM Plex Sans"/>
              <a:buChar char="-"/>
            </a:pPr>
            <a:r>
              <a:rPr lang="ru-RU" sz="1500" b="0" i="1" u="none" strike="noStrike" cap="none">
                <a:solidFill>
                  <a:schemeClr val="dk1"/>
                </a:solidFill>
                <a:latin typeface="IBM Plex Sans"/>
                <a:ea typeface="IBM Plex Sans"/>
                <a:cs typeface="IBM Plex Sans"/>
                <a:sym typeface="IBM Plex Sans"/>
              </a:rPr>
              <a:t>“Напиши код для предобработки данных”</a:t>
            </a:r>
            <a:endParaRPr sz="1500" b="0" i="1" u="none" strike="noStrike" cap="none">
              <a:solidFill>
                <a:schemeClr val="dk1"/>
              </a:solidFill>
              <a:latin typeface="IBM Plex Sans"/>
              <a:ea typeface="IBM Plex Sans"/>
              <a:cs typeface="IBM Plex Sans"/>
              <a:sym typeface="IBM Plex Sans"/>
            </a:endParaRPr>
          </a:p>
          <a:p>
            <a:pPr marL="914400" marR="0" lvl="1" indent="-323850" algn="l" rtl="0">
              <a:lnSpc>
                <a:spcPct val="100000"/>
              </a:lnSpc>
              <a:spcBef>
                <a:spcPts val="0"/>
              </a:spcBef>
              <a:spcAft>
                <a:spcPts val="0"/>
              </a:spcAft>
              <a:buClr>
                <a:schemeClr val="dk1"/>
              </a:buClr>
              <a:buSzPts val="1500"/>
              <a:buFont typeface="IBM Plex Sans"/>
              <a:buChar char="-"/>
            </a:pPr>
            <a:r>
              <a:rPr lang="ru-RU" sz="1500" b="0" i="1" u="none" strike="noStrike" cap="none">
                <a:solidFill>
                  <a:schemeClr val="dk1"/>
                </a:solidFill>
                <a:latin typeface="IBM Plex Sans"/>
                <a:ea typeface="IBM Plex Sans"/>
                <a:cs typeface="IBM Plex Sans"/>
                <a:sym typeface="IBM Plex Sans"/>
              </a:rPr>
              <a:t>“Напиши код для обучения нейронной сети”</a:t>
            </a:r>
            <a:endParaRPr sz="1500" b="0" i="1" u="none" strike="noStrike" cap="none">
              <a:solidFill>
                <a:schemeClr val="dk1"/>
              </a:solidFill>
              <a:latin typeface="IBM Plex Sans"/>
              <a:ea typeface="IBM Plex Sans"/>
              <a:cs typeface="IBM Plex Sans"/>
              <a:sym typeface="IBM Plex Sans"/>
            </a:endParaRPr>
          </a:p>
          <a:p>
            <a:pPr marL="0" marR="0" lvl="0" indent="0" algn="l" rtl="0">
              <a:lnSpc>
                <a:spcPct val="115000"/>
              </a:lnSpc>
              <a:spcBef>
                <a:spcPts val="1700"/>
              </a:spcBef>
              <a:spcAft>
                <a:spcPts val="1200"/>
              </a:spcAft>
              <a:buClr>
                <a:srgbClr val="000000"/>
              </a:buClr>
              <a:buSzPts val="1400"/>
              <a:buFont typeface="Arial"/>
              <a:buNone/>
            </a:pPr>
            <a:endParaRPr sz="1400" b="0" i="1" u="none" strike="noStrike" cap="none">
              <a:solidFill>
                <a:srgbClr val="0F1115"/>
              </a:solidFill>
              <a:highlight>
                <a:srgbClr val="FFFFFF"/>
              </a:highlight>
              <a:latin typeface="Roboto"/>
              <a:ea typeface="Roboto"/>
              <a:cs typeface="Roboto"/>
              <a:sym typeface="Roboto"/>
            </a:endParaRPr>
          </a:p>
        </p:txBody>
      </p:sp>
      <p:sp>
        <p:nvSpPr>
          <p:cNvPr id="128" name="Google Shape;128;g3d3e78d848d_1_0"/>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grpSp>
        <p:nvGrpSpPr>
          <p:cNvPr id="129" name="Google Shape;129;g3d3e78d848d_1_0"/>
          <p:cNvGrpSpPr/>
          <p:nvPr/>
        </p:nvGrpSpPr>
        <p:grpSpPr>
          <a:xfrm>
            <a:off x="9353973" y="-1553420"/>
            <a:ext cx="2854020" cy="13716631"/>
            <a:chOff x="9353973" y="-1553420"/>
            <a:chExt cx="2854020" cy="13716631"/>
          </a:xfrm>
        </p:grpSpPr>
        <p:grpSp>
          <p:nvGrpSpPr>
            <p:cNvPr id="130" name="Google Shape;130;g3d3e78d848d_1_0"/>
            <p:cNvGrpSpPr/>
            <p:nvPr/>
          </p:nvGrpSpPr>
          <p:grpSpPr>
            <a:xfrm>
              <a:off x="9353973" y="-1553420"/>
              <a:ext cx="2838027" cy="13716631"/>
              <a:chOff x="9353973" y="-6079700"/>
              <a:chExt cx="2838027" cy="13716631"/>
            </a:xfrm>
          </p:grpSpPr>
          <p:pic>
            <p:nvPicPr>
              <p:cNvPr id="131" name="Google Shape;131;g3d3e78d848d_1_0"/>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32" name="Google Shape;132;g3d3e78d848d_1_0"/>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33" name="Google Shape;133;g3d3e78d848d_1_0"/>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4" name="Google Shape;134;g3d3e78d848d_1_0"/>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35" name="Google Shape;135;g3d3e78d848d_1_0"/>
          <p:cNvPicPr preferRelativeResize="0"/>
          <p:nvPr/>
        </p:nvPicPr>
        <p:blipFill rotWithShape="1">
          <a:blip r:embed="rId4">
            <a:alphaModFix/>
          </a:blip>
          <a:srcRect/>
          <a:stretch/>
        </p:blipFill>
        <p:spPr>
          <a:xfrm>
            <a:off x="8826215" y="354856"/>
            <a:ext cx="2867441" cy="2867441"/>
          </a:xfrm>
          <a:prstGeom prst="rect">
            <a:avLst/>
          </a:prstGeom>
          <a:noFill/>
          <a:ln>
            <a:noFill/>
          </a:ln>
        </p:spPr>
      </p:pic>
      <p:pic>
        <p:nvPicPr>
          <p:cNvPr id="136" name="Google Shape;136;g3d3e78d848d_1_0"/>
          <p:cNvPicPr preferRelativeResize="0"/>
          <p:nvPr/>
        </p:nvPicPr>
        <p:blipFill rotWithShape="1">
          <a:blip r:embed="rId5">
            <a:alphaModFix/>
          </a:blip>
          <a:srcRect t="35338"/>
          <a:stretch/>
        </p:blipFill>
        <p:spPr>
          <a:xfrm>
            <a:off x="7088000" y="531175"/>
            <a:ext cx="2678448" cy="2627674"/>
          </a:xfrm>
          <a:prstGeom prst="rect">
            <a:avLst/>
          </a:prstGeom>
          <a:noFill/>
          <a:ln>
            <a:noFill/>
          </a:ln>
        </p:spPr>
      </p:pic>
      <p:pic>
        <p:nvPicPr>
          <p:cNvPr id="137" name="Google Shape;137;g3d3e78d848d_1_0"/>
          <p:cNvPicPr preferRelativeResize="0"/>
          <p:nvPr/>
        </p:nvPicPr>
        <p:blipFill rotWithShape="1">
          <a:blip r:embed="rId6">
            <a:alphaModFix/>
          </a:blip>
          <a:srcRect/>
          <a:stretch/>
        </p:blipFill>
        <p:spPr>
          <a:xfrm>
            <a:off x="7113388" y="3457600"/>
            <a:ext cx="2627673" cy="26276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3cb2c61a5be_0_0"/>
          <p:cNvSpPr txBox="1"/>
          <p:nvPr/>
        </p:nvSpPr>
        <p:spPr>
          <a:xfrm>
            <a:off x="1060850" y="2662300"/>
            <a:ext cx="6202500" cy="774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SzPts val="4800"/>
              <a:buFont typeface="Arial"/>
              <a:buNone/>
            </a:pPr>
            <a:r>
              <a:rPr lang="ru-RU" sz="4400" b="1" i="0" u="none" strike="noStrike" cap="none">
                <a:solidFill>
                  <a:schemeClr val="dk1"/>
                </a:solidFill>
                <a:latin typeface="IBM Plex Sans"/>
                <a:ea typeface="IBM Plex Sans"/>
                <a:cs typeface="IBM Plex Sans"/>
                <a:sym typeface="IBM Plex Sans"/>
              </a:rPr>
              <a:t>Основные понятия машинного обучения</a:t>
            </a:r>
            <a:endParaRPr sz="4400" b="1" i="0" u="none" strike="noStrike" cap="none">
              <a:solidFill>
                <a:schemeClr val="dk1"/>
              </a:solidFill>
              <a:latin typeface="IBM Plex Sans"/>
              <a:ea typeface="IBM Plex Sans"/>
              <a:cs typeface="IBM Plex Sans"/>
              <a:sym typeface="IBM Plex Sans"/>
            </a:endParaRPr>
          </a:p>
        </p:txBody>
      </p:sp>
      <p:sp>
        <p:nvSpPr>
          <p:cNvPr id="143" name="Google Shape;143;g3cb2c61a5be_0_0"/>
          <p:cNvSpPr txBox="1"/>
          <p:nvPr/>
        </p:nvSpPr>
        <p:spPr>
          <a:xfrm>
            <a:off x="1060850" y="3862804"/>
            <a:ext cx="6421800" cy="9429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2400"/>
              <a:buFont typeface="Arial"/>
              <a:buNone/>
            </a:pPr>
            <a:r>
              <a:rPr lang="ru-RU" sz="2400" b="0" i="0" u="none" strike="noStrike" cap="none">
                <a:solidFill>
                  <a:schemeClr val="dk1"/>
                </a:solidFill>
                <a:latin typeface="IBM Plex Sans"/>
                <a:ea typeface="IBM Plex Sans"/>
                <a:cs typeface="IBM Plex Sans"/>
                <a:sym typeface="IBM Plex Sans"/>
              </a:rPr>
              <a:t>Часть 1</a:t>
            </a:r>
            <a:endParaRPr sz="2400" b="0" i="0" u="none" strike="noStrike" cap="none">
              <a:solidFill>
                <a:schemeClr val="dk1"/>
              </a:solidFill>
              <a:latin typeface="IBM Plex Sans"/>
              <a:ea typeface="IBM Plex Sans"/>
              <a:cs typeface="IBM Plex Sans"/>
              <a:sym typeface="IBM Plex Sans"/>
            </a:endParaRPr>
          </a:p>
        </p:txBody>
      </p:sp>
      <p:sp>
        <p:nvSpPr>
          <p:cNvPr id="144" name="Google Shape;144;g3cb2c61a5be_0_0"/>
          <p:cNvSpPr txBox="1"/>
          <p:nvPr/>
        </p:nvSpPr>
        <p:spPr>
          <a:xfrm>
            <a:off x="1060857" y="6033838"/>
            <a:ext cx="3771900" cy="235500"/>
          </a:xfrm>
          <a:prstGeom prst="rect">
            <a:avLst/>
          </a:prstGeom>
          <a:noFill/>
          <a:ln>
            <a:noFill/>
          </a:ln>
        </p:spPr>
        <p:txBody>
          <a:bodyPr spcFirstLastPara="1" wrap="square" lIns="0" tIns="19875" rIns="0" bIns="0" anchor="t" anchorCtr="0">
            <a:spAutoFit/>
          </a:bodyPr>
          <a:lstStyle/>
          <a:p>
            <a:pPr marL="20942" marR="8377" lvl="0" indent="0" algn="l" rtl="0">
              <a:lnSpc>
                <a:spcPct val="12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ularionova@mail.tsu.ru</a:t>
            </a:r>
            <a:endParaRPr sz="1400" b="0" i="0" u="none" strike="noStrike" cap="none">
              <a:solidFill>
                <a:schemeClr val="dk1"/>
              </a:solidFill>
              <a:latin typeface="IBM Plex Sans"/>
              <a:ea typeface="IBM Plex Sans"/>
              <a:cs typeface="IBM Plex Sans"/>
              <a:sym typeface="IBM Plex Sans"/>
            </a:endParaRPr>
          </a:p>
        </p:txBody>
      </p:sp>
      <p:sp>
        <p:nvSpPr>
          <p:cNvPr id="145" name="Google Shape;145;g3cb2c61a5be_0_0"/>
          <p:cNvSpPr txBox="1"/>
          <p:nvPr/>
        </p:nvSpPr>
        <p:spPr>
          <a:xfrm>
            <a:off x="1060857" y="5282291"/>
            <a:ext cx="4032300" cy="561900"/>
          </a:xfrm>
          <a:prstGeom prst="rect">
            <a:avLst/>
          </a:prstGeom>
          <a:noFill/>
          <a:ln>
            <a:noFill/>
          </a:ln>
        </p:spPr>
        <p:txBody>
          <a:bodyPr spcFirstLastPara="1" wrap="square" lIns="0" tIns="19875" rIns="0" bIns="0" anchor="t" anchorCtr="0">
            <a:spAutoFit/>
          </a:bodyPr>
          <a:lstStyle/>
          <a:p>
            <a:pPr marL="20942" marR="8377"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Ларионова Ульяна</a:t>
            </a:r>
            <a:endParaRPr sz="1400" b="0" i="0" u="none" strike="noStrike" cap="none">
              <a:solidFill>
                <a:srgbClr val="000000"/>
              </a:solidFill>
              <a:latin typeface="Arial"/>
              <a:ea typeface="Arial"/>
              <a:cs typeface="Arial"/>
              <a:sym typeface="Arial"/>
            </a:endParaRPr>
          </a:p>
          <a:p>
            <a:pPr marL="20942" marR="8377"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Преподаватель</a:t>
            </a:r>
            <a:endParaRPr sz="1600" b="0" i="0" u="none" strike="noStrike" cap="none">
              <a:solidFill>
                <a:schemeClr val="dk1"/>
              </a:solidFill>
              <a:latin typeface="IBM Plex Sans"/>
              <a:ea typeface="IBM Plex Sans"/>
              <a:cs typeface="IBM Plex Sans"/>
              <a:sym typeface="IBM Plex Sans"/>
            </a:endParaRPr>
          </a:p>
        </p:txBody>
      </p:sp>
      <p:pic>
        <p:nvPicPr>
          <p:cNvPr id="146" name="Google Shape;146;g3cb2c61a5be_0_0"/>
          <p:cNvPicPr preferRelativeResize="0"/>
          <p:nvPr/>
        </p:nvPicPr>
        <p:blipFill rotWithShape="1">
          <a:blip r:embed="rId3">
            <a:alphaModFix/>
          </a:blip>
          <a:srcRect/>
          <a:stretch/>
        </p:blipFill>
        <p:spPr>
          <a:xfrm rot="10800000" flipH="1">
            <a:off x="8976462" y="3862790"/>
            <a:ext cx="2872246" cy="2884213"/>
          </a:xfrm>
          <a:prstGeom prst="rect">
            <a:avLst/>
          </a:prstGeom>
          <a:noFill/>
          <a:ln>
            <a:noFill/>
          </a:ln>
        </p:spPr>
      </p:pic>
      <p:grpSp>
        <p:nvGrpSpPr>
          <p:cNvPr id="147" name="Google Shape;147;g3cb2c61a5be_0_0"/>
          <p:cNvGrpSpPr/>
          <p:nvPr/>
        </p:nvGrpSpPr>
        <p:grpSpPr>
          <a:xfrm>
            <a:off x="9353973" y="-1553420"/>
            <a:ext cx="2854020" cy="13716631"/>
            <a:chOff x="9353973" y="-1553420"/>
            <a:chExt cx="2854020" cy="13716631"/>
          </a:xfrm>
        </p:grpSpPr>
        <p:grpSp>
          <p:nvGrpSpPr>
            <p:cNvPr id="148" name="Google Shape;148;g3cb2c61a5be_0_0"/>
            <p:cNvGrpSpPr/>
            <p:nvPr/>
          </p:nvGrpSpPr>
          <p:grpSpPr>
            <a:xfrm>
              <a:off x="9353973" y="-1553420"/>
              <a:ext cx="2838027" cy="13716631"/>
              <a:chOff x="9353973" y="-6079700"/>
              <a:chExt cx="2838027" cy="13716631"/>
            </a:xfrm>
          </p:grpSpPr>
          <p:pic>
            <p:nvPicPr>
              <p:cNvPr id="149" name="Google Shape;149;g3cb2c61a5be_0_0"/>
              <p:cNvPicPr preferRelativeResize="0"/>
              <p:nvPr/>
            </p:nvPicPr>
            <p:blipFill rotWithShape="1">
              <a:blip r:embed="rId4">
                <a:alphaModFix/>
              </a:blip>
              <a:srcRect l="1283"/>
              <a:stretch/>
            </p:blipFill>
            <p:spPr>
              <a:xfrm>
                <a:off x="9353973" y="778933"/>
                <a:ext cx="2838027" cy="6857998"/>
              </a:xfrm>
              <a:prstGeom prst="rect">
                <a:avLst/>
              </a:prstGeom>
              <a:noFill/>
              <a:ln>
                <a:noFill/>
              </a:ln>
            </p:spPr>
          </p:pic>
          <p:pic>
            <p:nvPicPr>
              <p:cNvPr id="150" name="Google Shape;150;g3cb2c61a5be_0_0"/>
              <p:cNvPicPr preferRelativeResize="0"/>
              <p:nvPr/>
            </p:nvPicPr>
            <p:blipFill rotWithShape="1">
              <a:blip r:embed="rId4">
                <a:alphaModFix/>
              </a:blip>
              <a:srcRect l="1283"/>
              <a:stretch/>
            </p:blipFill>
            <p:spPr>
              <a:xfrm>
                <a:off x="9353973" y="-6079700"/>
                <a:ext cx="2838027" cy="6857998"/>
              </a:xfrm>
              <a:prstGeom prst="rect">
                <a:avLst/>
              </a:prstGeom>
              <a:noFill/>
              <a:ln>
                <a:noFill/>
              </a:ln>
            </p:spPr>
          </p:pic>
        </p:grpSp>
        <p:sp>
          <p:nvSpPr>
            <p:cNvPr id="151" name="Google Shape;151;g3cb2c61a5be_0_0"/>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 name="Google Shape;152;g3cb2c61a5be_0_0"/>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53" name="Google Shape;153;g3cb2c61a5be_0_0"/>
          <p:cNvPicPr preferRelativeResize="0"/>
          <p:nvPr/>
        </p:nvPicPr>
        <p:blipFill rotWithShape="1">
          <a:blip r:embed="rId5">
            <a:alphaModFix/>
          </a:blip>
          <a:srcRect/>
          <a:stretch/>
        </p:blipFill>
        <p:spPr>
          <a:xfrm>
            <a:off x="1055688" y="285516"/>
            <a:ext cx="677246" cy="7749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
          <p:cNvSpPr/>
          <p:nvPr/>
        </p:nvSpPr>
        <p:spPr>
          <a:xfrm>
            <a:off x="5742275" y="3167079"/>
            <a:ext cx="3206100" cy="3174900"/>
          </a:xfrm>
          <a:prstGeom prst="ellipse">
            <a:avLst/>
          </a:prstGeom>
          <a:solidFill>
            <a:srgbClr val="8E39E2"/>
          </a:solidFill>
          <a:ln w="9525" cap="flat" cmpd="sng">
            <a:solidFill>
              <a:srgbClr val="8E39E2"/>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159" name="Google Shape;159;p3"/>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Artificial Intelligence</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Искусственный интеллект</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160" name="Google Shape;160;p3"/>
          <p:cNvSpPr txBox="1"/>
          <p:nvPr/>
        </p:nvSpPr>
        <p:spPr>
          <a:xfrm>
            <a:off x="1055688" y="2366937"/>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способная принимать решения на основе состояния мира</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sp>
        <p:nvSpPr>
          <p:cNvPr id="161" name="Google Shape;161;p3"/>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grpSp>
        <p:nvGrpSpPr>
          <p:cNvPr id="162" name="Google Shape;162;p3"/>
          <p:cNvGrpSpPr/>
          <p:nvPr/>
        </p:nvGrpSpPr>
        <p:grpSpPr>
          <a:xfrm>
            <a:off x="9353973" y="-1553420"/>
            <a:ext cx="2854020" cy="13716631"/>
            <a:chOff x="9353973" y="-1553420"/>
            <a:chExt cx="2854020" cy="13716631"/>
          </a:xfrm>
        </p:grpSpPr>
        <p:grpSp>
          <p:nvGrpSpPr>
            <p:cNvPr id="163" name="Google Shape;163;p3"/>
            <p:cNvGrpSpPr/>
            <p:nvPr/>
          </p:nvGrpSpPr>
          <p:grpSpPr>
            <a:xfrm>
              <a:off x="9353973" y="-1553420"/>
              <a:ext cx="2838027" cy="13716631"/>
              <a:chOff x="9353973" y="-6079700"/>
              <a:chExt cx="2838027" cy="13716631"/>
            </a:xfrm>
          </p:grpSpPr>
          <p:pic>
            <p:nvPicPr>
              <p:cNvPr id="164" name="Google Shape;164;p3"/>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65" name="Google Shape;165;p3"/>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66" name="Google Shape;166;p3"/>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7" name="Google Shape;167;p3"/>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68" name="Google Shape;168;p3"/>
          <p:cNvPicPr preferRelativeResize="0"/>
          <p:nvPr/>
        </p:nvPicPr>
        <p:blipFill rotWithShape="1">
          <a:blip r:embed="rId4">
            <a:alphaModFix/>
          </a:blip>
          <a:srcRect/>
          <a:stretch/>
        </p:blipFill>
        <p:spPr>
          <a:xfrm>
            <a:off x="8826215" y="354856"/>
            <a:ext cx="2867441" cy="286744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cb20f13e01_0_22"/>
          <p:cNvSpPr/>
          <p:nvPr/>
        </p:nvSpPr>
        <p:spPr>
          <a:xfrm>
            <a:off x="5742275" y="3167079"/>
            <a:ext cx="3206100" cy="3174900"/>
          </a:xfrm>
          <a:prstGeom prst="ellipse">
            <a:avLst/>
          </a:prstGeom>
          <a:solidFill>
            <a:srgbClr val="8E39E2"/>
          </a:solidFill>
          <a:ln w="9525" cap="flat" cmpd="sng">
            <a:solidFill>
              <a:srgbClr val="8E39E2"/>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174" name="Google Shape;174;g3cb20f13e01_0_22"/>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Artificial Intelligence</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Искусственный интеллект</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175" name="Google Shape;175;g3cb20f13e01_0_22"/>
          <p:cNvSpPr txBox="1"/>
          <p:nvPr/>
        </p:nvSpPr>
        <p:spPr>
          <a:xfrm>
            <a:off x="1055688" y="2366937"/>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chemeClr val="dk1"/>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способная принимать решения на основе состояния мира</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1600"/>
              <a:buFont typeface="Arial"/>
              <a:buNone/>
            </a:pP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1600" b="0" i="0" u="none" strike="noStrike" cap="none">
              <a:solidFill>
                <a:schemeClr val="dk1"/>
              </a:solidFill>
              <a:latin typeface="IBM Plex Sans"/>
              <a:ea typeface="IBM Plex Sans"/>
              <a:cs typeface="IBM Plex Sans"/>
              <a:sym typeface="IBM Plex Sans"/>
            </a:endParaRPr>
          </a:p>
        </p:txBody>
      </p:sp>
      <p:sp>
        <p:nvSpPr>
          <p:cNvPr id="176" name="Google Shape;176;g3cb20f13e01_0_22"/>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pic>
        <p:nvPicPr>
          <p:cNvPr id="177" name="Google Shape;177;g3cb20f13e01_0_22" descr="Picture background"/>
          <p:cNvPicPr preferRelativeResize="0"/>
          <p:nvPr/>
        </p:nvPicPr>
        <p:blipFill rotWithShape="1">
          <a:blip r:embed="rId3">
            <a:alphaModFix/>
          </a:blip>
          <a:srcRect/>
          <a:stretch/>
        </p:blipFill>
        <p:spPr>
          <a:xfrm>
            <a:off x="1055702" y="3514668"/>
            <a:ext cx="4838458" cy="2721632"/>
          </a:xfrm>
          <a:prstGeom prst="rect">
            <a:avLst/>
          </a:prstGeom>
          <a:noFill/>
          <a:ln>
            <a:noFill/>
          </a:ln>
        </p:spPr>
      </p:pic>
      <p:sp>
        <p:nvSpPr>
          <p:cNvPr id="178" name="Google Shape;178;g3cb20f13e01_0_22"/>
          <p:cNvSpPr txBox="1"/>
          <p:nvPr/>
        </p:nvSpPr>
        <p:spPr>
          <a:xfrm>
            <a:off x="1125263" y="31202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900"/>
              <a:buFont typeface="Arial"/>
              <a:buNone/>
            </a:pPr>
            <a:r>
              <a:rPr lang="ru-RU" sz="2100" b="1" i="0" u="none" strike="noStrike" cap="none">
                <a:solidFill>
                  <a:schemeClr val="dk1"/>
                </a:solidFill>
                <a:latin typeface="IBM Plex Sans"/>
                <a:ea typeface="IBM Plex Sans"/>
                <a:cs typeface="IBM Plex Sans"/>
                <a:sym typeface="IBM Plex Sans"/>
              </a:rPr>
              <a:t>Deep Blue</a:t>
            </a:r>
            <a:endParaRPr sz="2100" b="1" i="0" u="none" strike="noStrike" cap="none">
              <a:solidFill>
                <a:schemeClr val="dk1"/>
              </a:solidFill>
              <a:latin typeface="IBM Plex Sans"/>
              <a:ea typeface="IBM Plex Sans"/>
              <a:cs typeface="IBM Plex Sans"/>
              <a:sym typeface="IBM Plex Sans"/>
            </a:endParaRPr>
          </a:p>
        </p:txBody>
      </p:sp>
      <p:grpSp>
        <p:nvGrpSpPr>
          <p:cNvPr id="179" name="Google Shape;179;g3cb20f13e01_0_22"/>
          <p:cNvGrpSpPr/>
          <p:nvPr/>
        </p:nvGrpSpPr>
        <p:grpSpPr>
          <a:xfrm>
            <a:off x="9353973" y="-1553420"/>
            <a:ext cx="2854020" cy="13716631"/>
            <a:chOff x="9353973" y="-1553420"/>
            <a:chExt cx="2854020" cy="13716631"/>
          </a:xfrm>
        </p:grpSpPr>
        <p:grpSp>
          <p:nvGrpSpPr>
            <p:cNvPr id="180" name="Google Shape;180;g3cb20f13e01_0_22"/>
            <p:cNvGrpSpPr/>
            <p:nvPr/>
          </p:nvGrpSpPr>
          <p:grpSpPr>
            <a:xfrm>
              <a:off x="9353973" y="-1553420"/>
              <a:ext cx="2838027" cy="13716631"/>
              <a:chOff x="9353973" y="-6079700"/>
              <a:chExt cx="2838027" cy="13716631"/>
            </a:xfrm>
          </p:grpSpPr>
          <p:pic>
            <p:nvPicPr>
              <p:cNvPr id="181" name="Google Shape;181;g3cb20f13e01_0_22"/>
              <p:cNvPicPr preferRelativeResize="0"/>
              <p:nvPr/>
            </p:nvPicPr>
            <p:blipFill rotWithShape="1">
              <a:blip r:embed="rId4">
                <a:alphaModFix/>
              </a:blip>
              <a:srcRect l="1283"/>
              <a:stretch/>
            </p:blipFill>
            <p:spPr>
              <a:xfrm>
                <a:off x="9353973" y="778933"/>
                <a:ext cx="2838027" cy="6857998"/>
              </a:xfrm>
              <a:prstGeom prst="rect">
                <a:avLst/>
              </a:prstGeom>
              <a:noFill/>
              <a:ln>
                <a:noFill/>
              </a:ln>
            </p:spPr>
          </p:pic>
          <p:pic>
            <p:nvPicPr>
              <p:cNvPr id="182" name="Google Shape;182;g3cb20f13e01_0_22"/>
              <p:cNvPicPr preferRelativeResize="0"/>
              <p:nvPr/>
            </p:nvPicPr>
            <p:blipFill rotWithShape="1">
              <a:blip r:embed="rId4">
                <a:alphaModFix/>
              </a:blip>
              <a:srcRect l="1283"/>
              <a:stretch/>
            </p:blipFill>
            <p:spPr>
              <a:xfrm>
                <a:off x="9353973" y="-6079700"/>
                <a:ext cx="2838027" cy="6857998"/>
              </a:xfrm>
              <a:prstGeom prst="rect">
                <a:avLst/>
              </a:prstGeom>
              <a:noFill/>
              <a:ln>
                <a:noFill/>
              </a:ln>
            </p:spPr>
          </p:pic>
        </p:grpSp>
        <p:sp>
          <p:nvSpPr>
            <p:cNvPr id="183" name="Google Shape;183;g3cb20f13e01_0_22"/>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4" name="Google Shape;184;g3cb20f13e01_0_22"/>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85" name="Google Shape;185;g3cb20f13e01_0_22"/>
          <p:cNvPicPr preferRelativeResize="0"/>
          <p:nvPr/>
        </p:nvPicPr>
        <p:blipFill rotWithShape="1">
          <a:blip r:embed="rId5">
            <a:alphaModFix/>
          </a:blip>
          <a:srcRect/>
          <a:stretch/>
        </p:blipFill>
        <p:spPr>
          <a:xfrm>
            <a:off x="8826215" y="354856"/>
            <a:ext cx="2867441" cy="286744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cb20f13e01_0_38"/>
          <p:cNvSpPr/>
          <p:nvPr/>
        </p:nvSpPr>
        <p:spPr>
          <a:xfrm>
            <a:off x="5742275" y="3167079"/>
            <a:ext cx="3206100" cy="3174900"/>
          </a:xfrm>
          <a:prstGeom prst="ellipse">
            <a:avLst/>
          </a:prstGeom>
          <a:solidFill>
            <a:srgbClr val="8E39E2"/>
          </a:solidFill>
          <a:ln w="9525" cap="flat" cmpd="sng">
            <a:solidFill>
              <a:srgbClr val="8E39E2"/>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191" name="Google Shape;191;g3cb20f13e01_0_38"/>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Artificial Intelligence</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Искусственный интеллект</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192" name="Google Shape;192;g3cb20f13e01_0_38"/>
          <p:cNvSpPr txBox="1"/>
          <p:nvPr/>
        </p:nvSpPr>
        <p:spPr>
          <a:xfrm>
            <a:off x="1055688" y="2366937"/>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способная принимать решения на основе </a:t>
            </a:r>
            <a:r>
              <a:rPr lang="ru-RU" sz="2400" b="0" i="0" u="none" strike="noStrike" cap="none">
                <a:solidFill>
                  <a:schemeClr val="dk1"/>
                </a:solidFill>
                <a:highlight>
                  <a:srgbClr val="F8CEEE"/>
                </a:highlight>
                <a:latin typeface="IBM Plex Sans"/>
                <a:ea typeface="IBM Plex Sans"/>
                <a:cs typeface="IBM Plex Sans"/>
                <a:sym typeface="IBM Plex Sans"/>
              </a:rPr>
              <a:t>состояния мира</a:t>
            </a:r>
            <a:endParaRPr sz="2400" b="0" i="0" u="none" strike="noStrike" cap="none">
              <a:solidFill>
                <a:schemeClr val="dk1"/>
              </a:solidFill>
              <a:highlight>
                <a:srgbClr val="F8CEEE"/>
              </a:highlight>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pic>
        <p:nvPicPr>
          <p:cNvPr id="193" name="Google Shape;193;g3cb20f13e01_0_38" descr="Picture background"/>
          <p:cNvPicPr preferRelativeResize="0"/>
          <p:nvPr/>
        </p:nvPicPr>
        <p:blipFill rotWithShape="1">
          <a:blip r:embed="rId3">
            <a:alphaModFix/>
          </a:blip>
          <a:srcRect/>
          <a:stretch/>
        </p:blipFill>
        <p:spPr>
          <a:xfrm>
            <a:off x="1055702" y="3514668"/>
            <a:ext cx="4838458" cy="2721632"/>
          </a:xfrm>
          <a:prstGeom prst="rect">
            <a:avLst/>
          </a:prstGeom>
          <a:noFill/>
          <a:ln>
            <a:noFill/>
          </a:ln>
        </p:spPr>
      </p:pic>
      <p:sp>
        <p:nvSpPr>
          <p:cNvPr id="194" name="Google Shape;194;g3cb20f13e01_0_38"/>
          <p:cNvSpPr txBox="1"/>
          <p:nvPr/>
        </p:nvSpPr>
        <p:spPr>
          <a:xfrm>
            <a:off x="1125263" y="31202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900"/>
              <a:buFont typeface="Arial"/>
              <a:buNone/>
            </a:pPr>
            <a:r>
              <a:rPr lang="ru-RU" sz="1900" b="1" i="0" u="none" strike="noStrike" cap="none">
                <a:solidFill>
                  <a:schemeClr val="dk1"/>
                </a:solidFill>
                <a:latin typeface="IBM Plex Sans"/>
                <a:ea typeface="IBM Plex Sans"/>
                <a:cs typeface="IBM Plex Sans"/>
                <a:sym typeface="IBM Plex Sans"/>
              </a:rPr>
              <a:t>Deep Blue</a:t>
            </a:r>
            <a:endParaRPr sz="1900" b="1" i="0" u="none" strike="noStrike" cap="none">
              <a:solidFill>
                <a:schemeClr val="dk1"/>
              </a:solidFill>
              <a:latin typeface="IBM Plex Sans"/>
              <a:ea typeface="IBM Plex Sans"/>
              <a:cs typeface="IBM Plex Sans"/>
              <a:sym typeface="IBM Plex Sans"/>
            </a:endParaRPr>
          </a:p>
        </p:txBody>
      </p:sp>
      <p:sp>
        <p:nvSpPr>
          <p:cNvPr id="195" name="Google Shape;195;g3cb20f13e01_0_38"/>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grpSp>
        <p:nvGrpSpPr>
          <p:cNvPr id="196" name="Google Shape;196;g3cb20f13e01_0_38"/>
          <p:cNvGrpSpPr/>
          <p:nvPr/>
        </p:nvGrpSpPr>
        <p:grpSpPr>
          <a:xfrm>
            <a:off x="9353973" y="-1553420"/>
            <a:ext cx="2854020" cy="13716631"/>
            <a:chOff x="9353973" y="-1553420"/>
            <a:chExt cx="2854020" cy="13716631"/>
          </a:xfrm>
        </p:grpSpPr>
        <p:grpSp>
          <p:nvGrpSpPr>
            <p:cNvPr id="197" name="Google Shape;197;g3cb20f13e01_0_38"/>
            <p:cNvGrpSpPr/>
            <p:nvPr/>
          </p:nvGrpSpPr>
          <p:grpSpPr>
            <a:xfrm>
              <a:off x="9353973" y="-1553420"/>
              <a:ext cx="2838027" cy="13716631"/>
              <a:chOff x="9353973" y="-6079700"/>
              <a:chExt cx="2838027" cy="13716631"/>
            </a:xfrm>
          </p:grpSpPr>
          <p:pic>
            <p:nvPicPr>
              <p:cNvPr id="198" name="Google Shape;198;g3cb20f13e01_0_38"/>
              <p:cNvPicPr preferRelativeResize="0"/>
              <p:nvPr/>
            </p:nvPicPr>
            <p:blipFill rotWithShape="1">
              <a:blip r:embed="rId4">
                <a:alphaModFix/>
              </a:blip>
              <a:srcRect l="1283"/>
              <a:stretch/>
            </p:blipFill>
            <p:spPr>
              <a:xfrm>
                <a:off x="9353973" y="778933"/>
                <a:ext cx="2838027" cy="6857998"/>
              </a:xfrm>
              <a:prstGeom prst="rect">
                <a:avLst/>
              </a:prstGeom>
              <a:noFill/>
              <a:ln>
                <a:noFill/>
              </a:ln>
            </p:spPr>
          </p:pic>
          <p:pic>
            <p:nvPicPr>
              <p:cNvPr id="199" name="Google Shape;199;g3cb20f13e01_0_38"/>
              <p:cNvPicPr preferRelativeResize="0"/>
              <p:nvPr/>
            </p:nvPicPr>
            <p:blipFill rotWithShape="1">
              <a:blip r:embed="rId4">
                <a:alphaModFix/>
              </a:blip>
              <a:srcRect l="1283"/>
              <a:stretch/>
            </p:blipFill>
            <p:spPr>
              <a:xfrm>
                <a:off x="9353973" y="-6079700"/>
                <a:ext cx="2838027" cy="6857998"/>
              </a:xfrm>
              <a:prstGeom prst="rect">
                <a:avLst/>
              </a:prstGeom>
              <a:noFill/>
              <a:ln>
                <a:noFill/>
              </a:ln>
            </p:spPr>
          </p:pic>
        </p:grpSp>
        <p:sp>
          <p:nvSpPr>
            <p:cNvPr id="200" name="Google Shape;200;g3cb20f13e01_0_38"/>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 name="Google Shape;201;g3cb20f13e01_0_38"/>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02" name="Google Shape;202;g3cb20f13e01_0_38"/>
          <p:cNvPicPr preferRelativeResize="0"/>
          <p:nvPr/>
        </p:nvPicPr>
        <p:blipFill rotWithShape="1">
          <a:blip r:embed="rId5">
            <a:alphaModFix/>
          </a:blip>
          <a:srcRect/>
          <a:stretch/>
        </p:blipFill>
        <p:spPr>
          <a:xfrm>
            <a:off x="8826215" y="354856"/>
            <a:ext cx="2867441" cy="286744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cb20f13e01_0_54"/>
          <p:cNvSpPr/>
          <p:nvPr/>
        </p:nvSpPr>
        <p:spPr>
          <a:xfrm>
            <a:off x="5742275" y="3167079"/>
            <a:ext cx="3206100" cy="3174900"/>
          </a:xfrm>
          <a:prstGeom prst="ellipse">
            <a:avLst/>
          </a:prstGeom>
          <a:solidFill>
            <a:srgbClr val="8E39E2"/>
          </a:solidFill>
          <a:ln w="9525" cap="flat" cmpd="sng">
            <a:solidFill>
              <a:srgbClr val="8E39E2"/>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208" name="Google Shape;208;g3cb20f13e01_0_54"/>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Artificial Intelligence</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Искусственный интеллект</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209" name="Google Shape;209;g3cb20f13e01_0_54"/>
          <p:cNvSpPr txBox="1"/>
          <p:nvPr/>
        </p:nvSpPr>
        <p:spPr>
          <a:xfrm>
            <a:off x="1055688" y="2366937"/>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highlight>
                  <a:srgbClr val="F8CEEE"/>
                </a:highlight>
                <a:latin typeface="IBM Plex Sans"/>
                <a:ea typeface="IBM Plex Sans"/>
                <a:cs typeface="IBM Plex Sans"/>
                <a:sym typeface="IBM Plex Sans"/>
              </a:rPr>
              <a:t>Система</a:t>
            </a:r>
            <a:r>
              <a:rPr lang="ru-RU" sz="2400" b="0" i="0" u="none" strike="noStrike" cap="none">
                <a:solidFill>
                  <a:schemeClr val="dk1"/>
                </a:solidFill>
                <a:latin typeface="IBM Plex Sans"/>
                <a:ea typeface="IBM Plex Sans"/>
                <a:cs typeface="IBM Plex Sans"/>
                <a:sym typeface="IBM Plex Sans"/>
              </a:rPr>
              <a:t>, способная принимать решения на основе </a:t>
            </a:r>
            <a:r>
              <a:rPr lang="ru-RU" sz="2400" b="0" i="0" u="none" strike="noStrike" cap="none">
                <a:solidFill>
                  <a:schemeClr val="dk1"/>
                </a:solidFill>
                <a:highlight>
                  <a:srgbClr val="F8CEEE"/>
                </a:highlight>
                <a:latin typeface="IBM Plex Sans"/>
                <a:ea typeface="IBM Plex Sans"/>
                <a:cs typeface="IBM Plex Sans"/>
                <a:sym typeface="IBM Plex Sans"/>
              </a:rPr>
              <a:t>состояния мира</a:t>
            </a:r>
            <a:endParaRPr sz="2400" b="0" i="0" u="none" strike="noStrike" cap="none">
              <a:solidFill>
                <a:schemeClr val="dk1"/>
              </a:solidFill>
              <a:highlight>
                <a:srgbClr val="F8CEEE"/>
              </a:highlight>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sp>
        <p:nvSpPr>
          <p:cNvPr id="210" name="Google Shape;210;g3cb20f13e01_0_54"/>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pic>
        <p:nvPicPr>
          <p:cNvPr id="211" name="Google Shape;211;g3cb20f13e01_0_54" descr="Picture background"/>
          <p:cNvPicPr preferRelativeResize="0"/>
          <p:nvPr/>
        </p:nvPicPr>
        <p:blipFill rotWithShape="1">
          <a:blip r:embed="rId3">
            <a:alphaModFix/>
          </a:blip>
          <a:srcRect/>
          <a:stretch/>
        </p:blipFill>
        <p:spPr>
          <a:xfrm>
            <a:off x="1055702" y="3514668"/>
            <a:ext cx="4838458" cy="2721632"/>
          </a:xfrm>
          <a:prstGeom prst="rect">
            <a:avLst/>
          </a:prstGeom>
          <a:noFill/>
          <a:ln>
            <a:noFill/>
          </a:ln>
        </p:spPr>
      </p:pic>
      <p:sp>
        <p:nvSpPr>
          <p:cNvPr id="212" name="Google Shape;212;g3cb20f13e01_0_54"/>
          <p:cNvSpPr txBox="1"/>
          <p:nvPr/>
        </p:nvSpPr>
        <p:spPr>
          <a:xfrm>
            <a:off x="1125263" y="31202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900"/>
              <a:buFont typeface="Arial"/>
              <a:buNone/>
            </a:pPr>
            <a:r>
              <a:rPr lang="ru-RU" sz="1900" b="1" i="0" u="none" strike="noStrike" cap="none">
                <a:solidFill>
                  <a:schemeClr val="dk1"/>
                </a:solidFill>
                <a:latin typeface="IBM Plex Sans"/>
                <a:ea typeface="IBM Plex Sans"/>
                <a:cs typeface="IBM Plex Sans"/>
                <a:sym typeface="IBM Plex Sans"/>
              </a:rPr>
              <a:t>Deep Blue</a:t>
            </a:r>
            <a:endParaRPr sz="1900" b="1" i="0" u="none" strike="noStrike" cap="none">
              <a:solidFill>
                <a:schemeClr val="dk1"/>
              </a:solidFill>
              <a:latin typeface="IBM Plex Sans"/>
              <a:ea typeface="IBM Plex Sans"/>
              <a:cs typeface="IBM Plex Sans"/>
              <a:sym typeface="IBM Plex Sans"/>
            </a:endParaRPr>
          </a:p>
        </p:txBody>
      </p:sp>
      <p:grpSp>
        <p:nvGrpSpPr>
          <p:cNvPr id="213" name="Google Shape;213;g3cb20f13e01_0_54"/>
          <p:cNvGrpSpPr/>
          <p:nvPr/>
        </p:nvGrpSpPr>
        <p:grpSpPr>
          <a:xfrm>
            <a:off x="9353973" y="-1553420"/>
            <a:ext cx="2854020" cy="13716631"/>
            <a:chOff x="9353973" y="-1553420"/>
            <a:chExt cx="2854020" cy="13716631"/>
          </a:xfrm>
        </p:grpSpPr>
        <p:grpSp>
          <p:nvGrpSpPr>
            <p:cNvPr id="214" name="Google Shape;214;g3cb20f13e01_0_54"/>
            <p:cNvGrpSpPr/>
            <p:nvPr/>
          </p:nvGrpSpPr>
          <p:grpSpPr>
            <a:xfrm>
              <a:off x="9353973" y="-1553420"/>
              <a:ext cx="2838027" cy="13716631"/>
              <a:chOff x="9353973" y="-6079700"/>
              <a:chExt cx="2838027" cy="13716631"/>
            </a:xfrm>
          </p:grpSpPr>
          <p:pic>
            <p:nvPicPr>
              <p:cNvPr id="215" name="Google Shape;215;g3cb20f13e01_0_54"/>
              <p:cNvPicPr preferRelativeResize="0"/>
              <p:nvPr/>
            </p:nvPicPr>
            <p:blipFill rotWithShape="1">
              <a:blip r:embed="rId4">
                <a:alphaModFix/>
              </a:blip>
              <a:srcRect l="1283"/>
              <a:stretch/>
            </p:blipFill>
            <p:spPr>
              <a:xfrm>
                <a:off x="9353973" y="778933"/>
                <a:ext cx="2838027" cy="6857998"/>
              </a:xfrm>
              <a:prstGeom prst="rect">
                <a:avLst/>
              </a:prstGeom>
              <a:noFill/>
              <a:ln>
                <a:noFill/>
              </a:ln>
            </p:spPr>
          </p:pic>
          <p:pic>
            <p:nvPicPr>
              <p:cNvPr id="216" name="Google Shape;216;g3cb20f13e01_0_54"/>
              <p:cNvPicPr preferRelativeResize="0"/>
              <p:nvPr/>
            </p:nvPicPr>
            <p:blipFill rotWithShape="1">
              <a:blip r:embed="rId4">
                <a:alphaModFix/>
              </a:blip>
              <a:srcRect l="1283"/>
              <a:stretch/>
            </p:blipFill>
            <p:spPr>
              <a:xfrm>
                <a:off x="9353973" y="-6079700"/>
                <a:ext cx="2838027" cy="6857998"/>
              </a:xfrm>
              <a:prstGeom prst="rect">
                <a:avLst/>
              </a:prstGeom>
              <a:noFill/>
              <a:ln>
                <a:noFill/>
              </a:ln>
            </p:spPr>
          </p:pic>
        </p:grpSp>
        <p:sp>
          <p:nvSpPr>
            <p:cNvPr id="217" name="Google Shape;217;g3cb20f13e01_0_5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8" name="Google Shape;218;g3cb20f13e01_0_5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19" name="Google Shape;219;g3cb20f13e01_0_54"/>
          <p:cNvPicPr preferRelativeResize="0"/>
          <p:nvPr/>
        </p:nvPicPr>
        <p:blipFill rotWithShape="1">
          <a:blip r:embed="rId5">
            <a:alphaModFix/>
          </a:blip>
          <a:srcRect/>
          <a:stretch/>
        </p:blipFill>
        <p:spPr>
          <a:xfrm>
            <a:off x="8826215" y="354856"/>
            <a:ext cx="2867441" cy="286744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cb20f13e01_0_149"/>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Artificial Intelligence</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Искусственный интеллект</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225" name="Google Shape;225;g3cb20f13e01_0_149"/>
          <p:cNvSpPr txBox="1"/>
          <p:nvPr/>
        </p:nvSpPr>
        <p:spPr>
          <a:xfrm>
            <a:off x="1055688" y="2366937"/>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способная принимать решения </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на основе состояния мира</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sp>
        <p:nvSpPr>
          <p:cNvPr id="226" name="Google Shape;226;g3cb20f13e01_0_149"/>
          <p:cNvSpPr/>
          <p:nvPr/>
        </p:nvSpPr>
        <p:spPr>
          <a:xfrm>
            <a:off x="5742275" y="3167079"/>
            <a:ext cx="3206100" cy="3174900"/>
          </a:xfrm>
          <a:prstGeom prst="ellipse">
            <a:avLst/>
          </a:prstGeom>
          <a:solidFill>
            <a:srgbClr val="8E39E2"/>
          </a:solidFill>
          <a:ln w="9525" cap="flat" cmpd="sng">
            <a:solidFill>
              <a:srgbClr val="8E39E2"/>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227" name="Google Shape;227;g3cb20f13e01_0_149"/>
          <p:cNvSpPr/>
          <p:nvPr/>
        </p:nvSpPr>
        <p:spPr>
          <a:xfrm>
            <a:off x="6175481" y="4002618"/>
            <a:ext cx="2339700" cy="2251800"/>
          </a:xfrm>
          <a:prstGeom prst="ellipse">
            <a:avLst/>
          </a:prstGeom>
          <a:solidFill>
            <a:srgbClr val="F8CEEE"/>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228" name="Google Shape;228;g3cb20f13e01_0_149"/>
          <p:cNvSpPr txBox="1"/>
          <p:nvPr/>
        </p:nvSpPr>
        <p:spPr>
          <a:xfrm>
            <a:off x="7101050" y="406667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15110E"/>
                </a:solidFill>
                <a:latin typeface="IBM Plex Sans"/>
                <a:ea typeface="IBM Plex Sans"/>
                <a:cs typeface="IBM Plex Sans"/>
                <a:sym typeface="IBM Plex Sans"/>
              </a:rPr>
              <a:t>ML</a:t>
            </a:r>
            <a:endParaRPr sz="1500" b="0" i="0" u="none" strike="noStrike" cap="none">
              <a:solidFill>
                <a:srgbClr val="15110E"/>
              </a:solidFill>
              <a:latin typeface="IBM Plex Sans"/>
              <a:ea typeface="IBM Plex Sans"/>
              <a:cs typeface="IBM Plex Sans"/>
              <a:sym typeface="IBM Plex Sans"/>
            </a:endParaRPr>
          </a:p>
        </p:txBody>
      </p:sp>
      <p:sp>
        <p:nvSpPr>
          <p:cNvPr id="229" name="Google Shape;229;g3cb20f13e01_0_149"/>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grpSp>
        <p:nvGrpSpPr>
          <p:cNvPr id="230" name="Google Shape;230;g3cb20f13e01_0_149"/>
          <p:cNvGrpSpPr/>
          <p:nvPr/>
        </p:nvGrpSpPr>
        <p:grpSpPr>
          <a:xfrm>
            <a:off x="9353973" y="-1553420"/>
            <a:ext cx="2854020" cy="13716631"/>
            <a:chOff x="9353973" y="-1553420"/>
            <a:chExt cx="2854020" cy="13716631"/>
          </a:xfrm>
        </p:grpSpPr>
        <p:grpSp>
          <p:nvGrpSpPr>
            <p:cNvPr id="231" name="Google Shape;231;g3cb20f13e01_0_149"/>
            <p:cNvGrpSpPr/>
            <p:nvPr/>
          </p:nvGrpSpPr>
          <p:grpSpPr>
            <a:xfrm>
              <a:off x="9353973" y="-1553420"/>
              <a:ext cx="2838027" cy="13716631"/>
              <a:chOff x="9353973" y="-6079700"/>
              <a:chExt cx="2838027" cy="13716631"/>
            </a:xfrm>
          </p:grpSpPr>
          <p:pic>
            <p:nvPicPr>
              <p:cNvPr id="232" name="Google Shape;232;g3cb20f13e01_0_149"/>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233" name="Google Shape;233;g3cb20f13e01_0_149"/>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234" name="Google Shape;234;g3cb20f13e01_0_149"/>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5" name="Google Shape;235;g3cb20f13e01_0_149"/>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236" name="Google Shape;236;g3cb20f13e01_0_149"/>
          <p:cNvSpPr txBox="1"/>
          <p:nvPr/>
        </p:nvSpPr>
        <p:spPr>
          <a:xfrm>
            <a:off x="1055688" y="34327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pic>
        <p:nvPicPr>
          <p:cNvPr id="237" name="Google Shape;237;g3cb20f13e01_0_149"/>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238" name="Google Shape;238;g3cb20f13e01_0_149"/>
          <p:cNvSpPr txBox="1"/>
          <p:nvPr/>
        </p:nvSpPr>
        <p:spPr>
          <a:xfrm>
            <a:off x="1055698" y="4471950"/>
            <a:ext cx="45615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cb20f13e01_0_174"/>
          <p:cNvSpPr/>
          <p:nvPr/>
        </p:nvSpPr>
        <p:spPr>
          <a:xfrm>
            <a:off x="5742275" y="3167079"/>
            <a:ext cx="3206100" cy="3174900"/>
          </a:xfrm>
          <a:prstGeom prst="ellipse">
            <a:avLst/>
          </a:prstGeom>
          <a:solidFill>
            <a:srgbClr val="8E39E2"/>
          </a:solidFill>
          <a:ln w="9525" cap="flat" cmpd="sng">
            <a:solidFill>
              <a:srgbClr val="8E39E2"/>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244" name="Google Shape;244;g3cb20f13e01_0_174"/>
          <p:cNvSpPr/>
          <p:nvPr/>
        </p:nvSpPr>
        <p:spPr>
          <a:xfrm>
            <a:off x="6175481" y="4002618"/>
            <a:ext cx="2339700" cy="2251800"/>
          </a:xfrm>
          <a:prstGeom prst="ellipse">
            <a:avLst/>
          </a:prstGeom>
          <a:solidFill>
            <a:srgbClr val="F8CEEE"/>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245" name="Google Shape;245;g3cb20f13e01_0_174"/>
          <p:cNvSpPr txBox="1"/>
          <p:nvPr/>
        </p:nvSpPr>
        <p:spPr>
          <a:xfrm>
            <a:off x="7101050" y="406667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15110E"/>
                </a:solidFill>
                <a:latin typeface="IBM Plex Sans"/>
                <a:ea typeface="IBM Plex Sans"/>
                <a:cs typeface="IBM Plex Sans"/>
                <a:sym typeface="IBM Plex Sans"/>
              </a:rPr>
              <a:t>ML</a:t>
            </a:r>
            <a:endParaRPr sz="1500" b="0" i="0" u="none" strike="noStrike" cap="none">
              <a:solidFill>
                <a:srgbClr val="15110E"/>
              </a:solidFill>
              <a:latin typeface="IBM Plex Sans"/>
              <a:ea typeface="IBM Plex Sans"/>
              <a:cs typeface="IBM Plex Sans"/>
              <a:sym typeface="IBM Plex Sans"/>
            </a:endParaRPr>
          </a:p>
        </p:txBody>
      </p:sp>
      <p:sp>
        <p:nvSpPr>
          <p:cNvPr id="246" name="Google Shape;246;g3cb20f13e01_0_174"/>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sp>
        <p:nvSpPr>
          <p:cNvPr id="247" name="Google Shape;247;g3cb20f13e01_0_174"/>
          <p:cNvSpPr txBox="1"/>
          <p:nvPr/>
        </p:nvSpPr>
        <p:spPr>
          <a:xfrm>
            <a:off x="1055688" y="14515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248" name="Google Shape;248;g3cb20f13e01_0_174"/>
          <p:cNvGrpSpPr/>
          <p:nvPr/>
        </p:nvGrpSpPr>
        <p:grpSpPr>
          <a:xfrm>
            <a:off x="9353973" y="-1553420"/>
            <a:ext cx="2854020" cy="13716631"/>
            <a:chOff x="9353973" y="-1553420"/>
            <a:chExt cx="2854020" cy="13716631"/>
          </a:xfrm>
        </p:grpSpPr>
        <p:grpSp>
          <p:nvGrpSpPr>
            <p:cNvPr id="249" name="Google Shape;249;g3cb20f13e01_0_174"/>
            <p:cNvGrpSpPr/>
            <p:nvPr/>
          </p:nvGrpSpPr>
          <p:grpSpPr>
            <a:xfrm>
              <a:off x="9353973" y="-1553420"/>
              <a:ext cx="2838027" cy="13716631"/>
              <a:chOff x="9353973" y="-6079700"/>
              <a:chExt cx="2838027" cy="13716631"/>
            </a:xfrm>
          </p:grpSpPr>
          <p:pic>
            <p:nvPicPr>
              <p:cNvPr id="250" name="Google Shape;250;g3cb20f13e01_0_174"/>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251" name="Google Shape;251;g3cb20f13e01_0_174"/>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252" name="Google Shape;252;g3cb20f13e01_0_17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3" name="Google Shape;253;g3cb20f13e01_0_17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54" name="Google Shape;254;g3cb20f13e01_0_174"/>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255" name="Google Shape;255;g3cb20f13e01_0_174"/>
          <p:cNvSpPr txBox="1"/>
          <p:nvPr/>
        </p:nvSpPr>
        <p:spPr>
          <a:xfrm>
            <a:off x="1055688" y="249076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pic>
        <p:nvPicPr>
          <p:cNvPr id="256" name="Google Shape;256;g3cb20f13e01_0_174"/>
          <p:cNvPicPr preferRelativeResize="0"/>
          <p:nvPr/>
        </p:nvPicPr>
        <p:blipFill rotWithShape="1">
          <a:blip r:embed="rId5">
            <a:alphaModFix/>
          </a:blip>
          <a:srcRect/>
          <a:stretch/>
        </p:blipFill>
        <p:spPr>
          <a:xfrm>
            <a:off x="93417" y="4224627"/>
            <a:ext cx="1800312" cy="1807800"/>
          </a:xfrm>
          <a:prstGeom prst="rect">
            <a:avLst/>
          </a:prstGeom>
          <a:noFill/>
          <a:ln>
            <a:noFill/>
          </a:ln>
        </p:spPr>
      </p:pic>
      <p:pic>
        <p:nvPicPr>
          <p:cNvPr id="257" name="Google Shape;257;g3cb20f13e01_0_174"/>
          <p:cNvPicPr preferRelativeResize="0"/>
          <p:nvPr/>
        </p:nvPicPr>
        <p:blipFill rotWithShape="1">
          <a:blip r:embed="rId5">
            <a:alphaModFix/>
          </a:blip>
          <a:srcRect/>
          <a:stretch/>
        </p:blipFill>
        <p:spPr>
          <a:xfrm>
            <a:off x="1917792" y="4224627"/>
            <a:ext cx="1800312" cy="1807800"/>
          </a:xfrm>
          <a:prstGeom prst="rect">
            <a:avLst/>
          </a:prstGeom>
          <a:noFill/>
          <a:ln>
            <a:noFill/>
          </a:ln>
        </p:spPr>
      </p:pic>
      <p:pic>
        <p:nvPicPr>
          <p:cNvPr id="258" name="Google Shape;258;g3cb20f13e01_0_174"/>
          <p:cNvPicPr preferRelativeResize="0"/>
          <p:nvPr/>
        </p:nvPicPr>
        <p:blipFill rotWithShape="1">
          <a:blip r:embed="rId5">
            <a:alphaModFix/>
          </a:blip>
          <a:srcRect/>
          <a:stretch/>
        </p:blipFill>
        <p:spPr>
          <a:xfrm>
            <a:off x="3830029" y="4224627"/>
            <a:ext cx="1800312" cy="1807800"/>
          </a:xfrm>
          <a:prstGeom prst="rect">
            <a:avLst/>
          </a:prstGeom>
          <a:noFill/>
          <a:ln>
            <a:noFill/>
          </a:ln>
        </p:spPr>
      </p:pic>
      <p:sp>
        <p:nvSpPr>
          <p:cNvPr id="259" name="Google Shape;259;g3cb20f13e01_0_174"/>
          <p:cNvSpPr/>
          <p:nvPr/>
        </p:nvSpPr>
        <p:spPr>
          <a:xfrm>
            <a:off x="564225" y="3424462"/>
            <a:ext cx="14634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В хмурый день идет дождь</a:t>
            </a:r>
            <a:endParaRPr sz="1400" b="0" i="0" u="none" strike="noStrike" cap="none">
              <a:solidFill>
                <a:schemeClr val="dk1"/>
              </a:solidFill>
              <a:latin typeface="IBM Plex Sans"/>
              <a:ea typeface="IBM Plex Sans"/>
              <a:cs typeface="IBM Plex Sans"/>
              <a:sym typeface="IBM Plex Sans"/>
            </a:endParaRPr>
          </a:p>
        </p:txBody>
      </p:sp>
      <p:sp>
        <p:nvSpPr>
          <p:cNvPr id="260" name="Google Shape;260;g3cb20f13e01_0_174"/>
          <p:cNvSpPr/>
          <p:nvPr/>
        </p:nvSpPr>
        <p:spPr>
          <a:xfrm>
            <a:off x="2592435" y="3406003"/>
            <a:ext cx="12732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Сегодня тоже хмурое небо</a:t>
            </a:r>
            <a:endParaRPr sz="1400" b="0" i="0" u="none" strike="noStrike" cap="none">
              <a:solidFill>
                <a:schemeClr val="dk1"/>
              </a:solidFill>
              <a:latin typeface="IBM Plex Sans"/>
              <a:ea typeface="IBM Plex Sans"/>
              <a:cs typeface="IBM Plex Sans"/>
              <a:sym typeface="IBM Plex Sans"/>
            </a:endParaRPr>
          </a:p>
        </p:txBody>
      </p:sp>
      <p:sp>
        <p:nvSpPr>
          <p:cNvPr id="261" name="Google Shape;261;g3cb20f13e01_0_174"/>
          <p:cNvSpPr/>
          <p:nvPr/>
        </p:nvSpPr>
        <p:spPr>
          <a:xfrm>
            <a:off x="4564336" y="3406003"/>
            <a:ext cx="12732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Будет дождь</a:t>
            </a:r>
            <a:endParaRPr sz="1400" b="0" i="0" u="none" strike="noStrike" cap="none">
              <a:solidFill>
                <a:schemeClr val="dk1"/>
              </a:solidFill>
              <a:latin typeface="IBM Plex Sans"/>
              <a:ea typeface="IBM Plex Sans"/>
              <a:cs typeface="IBM Plex Sans"/>
              <a:sym typeface="IBM Plex Sans"/>
            </a:endParaRPr>
          </a:p>
        </p:txBody>
      </p:sp>
      <p:sp>
        <p:nvSpPr>
          <p:cNvPr id="262" name="Google Shape;262;g3cb20f13e01_0_174"/>
          <p:cNvSpPr txBox="1"/>
          <p:nvPr/>
        </p:nvSpPr>
        <p:spPr>
          <a:xfrm>
            <a:off x="-2131550" y="7043350"/>
            <a:ext cx="11687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cb20f13e01_0_86"/>
          <p:cNvSpPr/>
          <p:nvPr/>
        </p:nvSpPr>
        <p:spPr>
          <a:xfrm>
            <a:off x="5742275" y="3167079"/>
            <a:ext cx="3206100" cy="3174900"/>
          </a:xfrm>
          <a:prstGeom prst="ellipse">
            <a:avLst/>
          </a:prstGeom>
          <a:solidFill>
            <a:srgbClr val="8E39E2"/>
          </a:solidFill>
          <a:ln w="9525" cap="flat" cmpd="sng">
            <a:solidFill>
              <a:srgbClr val="8E39E2"/>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268" name="Google Shape;268;g3cb20f13e01_0_86"/>
          <p:cNvSpPr/>
          <p:nvPr/>
        </p:nvSpPr>
        <p:spPr>
          <a:xfrm>
            <a:off x="6175481" y="4002618"/>
            <a:ext cx="2339700" cy="2251800"/>
          </a:xfrm>
          <a:prstGeom prst="ellipse">
            <a:avLst/>
          </a:prstGeom>
          <a:solidFill>
            <a:srgbClr val="F8CEEE"/>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269" name="Google Shape;269;g3cb20f13e01_0_86"/>
          <p:cNvSpPr txBox="1"/>
          <p:nvPr/>
        </p:nvSpPr>
        <p:spPr>
          <a:xfrm>
            <a:off x="7101050" y="406667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15110E"/>
                </a:solidFill>
                <a:latin typeface="IBM Plex Sans"/>
                <a:ea typeface="IBM Plex Sans"/>
                <a:cs typeface="IBM Plex Sans"/>
                <a:sym typeface="IBM Plex Sans"/>
              </a:rPr>
              <a:t>ML</a:t>
            </a:r>
            <a:endParaRPr sz="1500" b="0" i="0" u="none" strike="noStrike" cap="none">
              <a:solidFill>
                <a:srgbClr val="15110E"/>
              </a:solidFill>
              <a:latin typeface="IBM Plex Sans"/>
              <a:ea typeface="IBM Plex Sans"/>
              <a:cs typeface="IBM Plex Sans"/>
              <a:sym typeface="IBM Plex Sans"/>
            </a:endParaRPr>
          </a:p>
        </p:txBody>
      </p:sp>
      <p:sp>
        <p:nvSpPr>
          <p:cNvPr id="270" name="Google Shape;270;g3cb20f13e01_0_86"/>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sp>
        <p:nvSpPr>
          <p:cNvPr id="271" name="Google Shape;271;g3cb20f13e01_0_86"/>
          <p:cNvSpPr txBox="1"/>
          <p:nvPr/>
        </p:nvSpPr>
        <p:spPr>
          <a:xfrm>
            <a:off x="1055688" y="14515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272" name="Google Shape;272;g3cb20f13e01_0_86"/>
          <p:cNvGrpSpPr/>
          <p:nvPr/>
        </p:nvGrpSpPr>
        <p:grpSpPr>
          <a:xfrm>
            <a:off x="9353973" y="-1553420"/>
            <a:ext cx="2854020" cy="13716631"/>
            <a:chOff x="9353973" y="-1553420"/>
            <a:chExt cx="2854020" cy="13716631"/>
          </a:xfrm>
        </p:grpSpPr>
        <p:grpSp>
          <p:nvGrpSpPr>
            <p:cNvPr id="273" name="Google Shape;273;g3cb20f13e01_0_86"/>
            <p:cNvGrpSpPr/>
            <p:nvPr/>
          </p:nvGrpSpPr>
          <p:grpSpPr>
            <a:xfrm>
              <a:off x="9353973" y="-1553420"/>
              <a:ext cx="2838027" cy="13716631"/>
              <a:chOff x="9353973" y="-6079700"/>
              <a:chExt cx="2838027" cy="13716631"/>
            </a:xfrm>
          </p:grpSpPr>
          <p:pic>
            <p:nvPicPr>
              <p:cNvPr id="274" name="Google Shape;274;g3cb20f13e01_0_8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275" name="Google Shape;275;g3cb20f13e01_0_8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276" name="Google Shape;276;g3cb20f13e01_0_8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7" name="Google Shape;277;g3cb20f13e01_0_8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78" name="Google Shape;278;g3cb20f13e01_0_86"/>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279" name="Google Shape;279;g3cb20f13e01_0_86"/>
          <p:cNvSpPr txBox="1"/>
          <p:nvPr/>
        </p:nvSpPr>
        <p:spPr>
          <a:xfrm>
            <a:off x="1055688" y="249076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принимающая решения на основе </a:t>
            </a:r>
            <a:r>
              <a:rPr lang="ru-RU" sz="2400" b="0" i="0" u="none" strike="noStrike" cap="none">
                <a:solidFill>
                  <a:schemeClr val="dk1"/>
                </a:solidFill>
                <a:highlight>
                  <a:srgbClr val="F8CEEE"/>
                </a:highlight>
                <a:latin typeface="IBM Plex Sans"/>
                <a:ea typeface="IBM Plex Sans"/>
                <a:cs typeface="IBM Plex Sans"/>
                <a:sym typeface="IBM Plex Sans"/>
              </a:rPr>
              <a:t>накопленного опыта</a:t>
            </a:r>
            <a:r>
              <a:rPr lang="ru-RU" sz="2400" b="0" i="0" u="none" strike="noStrike" cap="none">
                <a:solidFill>
                  <a:schemeClr val="dk1"/>
                </a:solidFill>
                <a:latin typeface="IBM Plex Sans"/>
                <a:ea typeface="IBM Plex Sans"/>
                <a:cs typeface="IBM Plex Sans"/>
                <a:sym typeface="IBM Plex Sans"/>
              </a:rPr>
              <a:t> и состояния мира</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pic>
        <p:nvPicPr>
          <p:cNvPr id="280" name="Google Shape;280;g3cb20f13e01_0_86"/>
          <p:cNvPicPr preferRelativeResize="0"/>
          <p:nvPr/>
        </p:nvPicPr>
        <p:blipFill rotWithShape="1">
          <a:blip r:embed="rId5">
            <a:alphaModFix/>
          </a:blip>
          <a:srcRect/>
          <a:stretch/>
        </p:blipFill>
        <p:spPr>
          <a:xfrm>
            <a:off x="93417" y="4224627"/>
            <a:ext cx="1800312" cy="1807800"/>
          </a:xfrm>
          <a:prstGeom prst="rect">
            <a:avLst/>
          </a:prstGeom>
          <a:noFill/>
          <a:ln>
            <a:noFill/>
          </a:ln>
        </p:spPr>
      </p:pic>
      <p:pic>
        <p:nvPicPr>
          <p:cNvPr id="281" name="Google Shape;281;g3cb20f13e01_0_86"/>
          <p:cNvPicPr preferRelativeResize="0"/>
          <p:nvPr/>
        </p:nvPicPr>
        <p:blipFill rotWithShape="1">
          <a:blip r:embed="rId5">
            <a:alphaModFix/>
          </a:blip>
          <a:srcRect/>
          <a:stretch/>
        </p:blipFill>
        <p:spPr>
          <a:xfrm>
            <a:off x="1917792" y="4224627"/>
            <a:ext cx="1800312" cy="1807800"/>
          </a:xfrm>
          <a:prstGeom prst="rect">
            <a:avLst/>
          </a:prstGeom>
          <a:noFill/>
          <a:ln>
            <a:noFill/>
          </a:ln>
        </p:spPr>
      </p:pic>
      <p:pic>
        <p:nvPicPr>
          <p:cNvPr id="282" name="Google Shape;282;g3cb20f13e01_0_86"/>
          <p:cNvPicPr preferRelativeResize="0"/>
          <p:nvPr/>
        </p:nvPicPr>
        <p:blipFill rotWithShape="1">
          <a:blip r:embed="rId5">
            <a:alphaModFix/>
          </a:blip>
          <a:srcRect/>
          <a:stretch/>
        </p:blipFill>
        <p:spPr>
          <a:xfrm>
            <a:off x="3830029" y="4224627"/>
            <a:ext cx="1800312" cy="1807800"/>
          </a:xfrm>
          <a:prstGeom prst="rect">
            <a:avLst/>
          </a:prstGeom>
          <a:noFill/>
          <a:ln>
            <a:noFill/>
          </a:ln>
        </p:spPr>
      </p:pic>
      <p:sp>
        <p:nvSpPr>
          <p:cNvPr id="283" name="Google Shape;283;g3cb20f13e01_0_86"/>
          <p:cNvSpPr/>
          <p:nvPr/>
        </p:nvSpPr>
        <p:spPr>
          <a:xfrm>
            <a:off x="564225" y="3424462"/>
            <a:ext cx="14634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В хмурый день идет дождь</a:t>
            </a:r>
            <a:endParaRPr sz="1400" b="0" i="0" u="none" strike="noStrike" cap="none">
              <a:solidFill>
                <a:schemeClr val="dk1"/>
              </a:solidFill>
              <a:latin typeface="IBM Plex Sans"/>
              <a:ea typeface="IBM Plex Sans"/>
              <a:cs typeface="IBM Plex Sans"/>
              <a:sym typeface="IBM Plex Sans"/>
            </a:endParaRPr>
          </a:p>
        </p:txBody>
      </p:sp>
      <p:sp>
        <p:nvSpPr>
          <p:cNvPr id="284" name="Google Shape;284;g3cb20f13e01_0_86"/>
          <p:cNvSpPr/>
          <p:nvPr/>
        </p:nvSpPr>
        <p:spPr>
          <a:xfrm>
            <a:off x="2592435" y="3406003"/>
            <a:ext cx="12732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Сегодня тоже хмурое небо</a:t>
            </a:r>
            <a:endParaRPr sz="1400" b="0" i="0" u="none" strike="noStrike" cap="none">
              <a:solidFill>
                <a:schemeClr val="dk1"/>
              </a:solidFill>
              <a:latin typeface="IBM Plex Sans"/>
              <a:ea typeface="IBM Plex Sans"/>
              <a:cs typeface="IBM Plex Sans"/>
              <a:sym typeface="IBM Plex Sans"/>
            </a:endParaRPr>
          </a:p>
        </p:txBody>
      </p:sp>
      <p:sp>
        <p:nvSpPr>
          <p:cNvPr id="285" name="Google Shape;285;g3cb20f13e01_0_86"/>
          <p:cNvSpPr/>
          <p:nvPr/>
        </p:nvSpPr>
        <p:spPr>
          <a:xfrm>
            <a:off x="4564336" y="3406003"/>
            <a:ext cx="12732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Будет дождь</a:t>
            </a:r>
            <a:endParaRPr sz="14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grpSp>
        <p:nvGrpSpPr>
          <p:cNvPr id="290" name="Google Shape;290;g3cb20f13e01_0_196"/>
          <p:cNvGrpSpPr/>
          <p:nvPr/>
        </p:nvGrpSpPr>
        <p:grpSpPr>
          <a:xfrm>
            <a:off x="9353973" y="-1553420"/>
            <a:ext cx="2854020" cy="13716631"/>
            <a:chOff x="9353973" y="-1553420"/>
            <a:chExt cx="2854020" cy="13716631"/>
          </a:xfrm>
        </p:grpSpPr>
        <p:grpSp>
          <p:nvGrpSpPr>
            <p:cNvPr id="291" name="Google Shape;291;g3cb20f13e01_0_196"/>
            <p:cNvGrpSpPr/>
            <p:nvPr/>
          </p:nvGrpSpPr>
          <p:grpSpPr>
            <a:xfrm>
              <a:off x="9353973" y="-1553420"/>
              <a:ext cx="2838027" cy="13716631"/>
              <a:chOff x="9353973" y="-6079700"/>
              <a:chExt cx="2838027" cy="13716631"/>
            </a:xfrm>
          </p:grpSpPr>
          <p:pic>
            <p:nvPicPr>
              <p:cNvPr id="292" name="Google Shape;292;g3cb20f13e01_0_19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293" name="Google Shape;293;g3cb20f13e01_0_19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294" name="Google Shape;294;g3cb20f13e01_0_19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 name="Google Shape;295;g3cb20f13e01_0_19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96" name="Google Shape;296;g3cb20f13e01_0_196"/>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297" name="Google Shape;297;g3cb20f13e01_0_196"/>
          <p:cNvSpPr/>
          <p:nvPr/>
        </p:nvSpPr>
        <p:spPr>
          <a:xfrm>
            <a:off x="5742275" y="3167079"/>
            <a:ext cx="3206100" cy="3174900"/>
          </a:xfrm>
          <a:prstGeom prst="ellipse">
            <a:avLst/>
          </a:prstGeom>
          <a:solidFill>
            <a:srgbClr val="8E39E2"/>
          </a:solidFill>
          <a:ln w="9525" cap="flat" cmpd="sng">
            <a:solidFill>
              <a:srgbClr val="8E39E2"/>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298" name="Google Shape;298;g3cb20f13e01_0_196"/>
          <p:cNvSpPr/>
          <p:nvPr/>
        </p:nvSpPr>
        <p:spPr>
          <a:xfrm>
            <a:off x="6175481" y="4002618"/>
            <a:ext cx="2339700" cy="2251800"/>
          </a:xfrm>
          <a:prstGeom prst="ellipse">
            <a:avLst/>
          </a:prstGeom>
          <a:solidFill>
            <a:srgbClr val="F8CEEE"/>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299" name="Google Shape;299;g3cb20f13e01_0_196"/>
          <p:cNvSpPr txBox="1"/>
          <p:nvPr/>
        </p:nvSpPr>
        <p:spPr>
          <a:xfrm>
            <a:off x="7101050" y="406667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15110E"/>
                </a:solidFill>
                <a:latin typeface="IBM Plex Sans"/>
                <a:ea typeface="IBM Plex Sans"/>
                <a:cs typeface="IBM Plex Sans"/>
                <a:sym typeface="IBM Plex Sans"/>
              </a:rPr>
              <a:t>ML</a:t>
            </a:r>
            <a:endParaRPr sz="1500" b="0" i="0" u="none" strike="noStrike" cap="none">
              <a:solidFill>
                <a:srgbClr val="15110E"/>
              </a:solidFill>
              <a:latin typeface="IBM Plex Sans"/>
              <a:ea typeface="IBM Plex Sans"/>
              <a:cs typeface="IBM Plex Sans"/>
              <a:sym typeface="IBM Plex Sans"/>
            </a:endParaRPr>
          </a:p>
        </p:txBody>
      </p:sp>
      <p:sp>
        <p:nvSpPr>
          <p:cNvPr id="300" name="Google Shape;300;g3cb20f13e01_0_196"/>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sp>
        <p:nvSpPr>
          <p:cNvPr id="301" name="Google Shape;301;g3cb20f13e01_0_196"/>
          <p:cNvSpPr txBox="1"/>
          <p:nvPr/>
        </p:nvSpPr>
        <p:spPr>
          <a:xfrm>
            <a:off x="1055688" y="14515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302" name="Google Shape;302;g3cb20f13e01_0_196"/>
          <p:cNvSpPr txBox="1"/>
          <p:nvPr/>
        </p:nvSpPr>
        <p:spPr>
          <a:xfrm>
            <a:off x="1055688" y="249076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принимающая решения на основе </a:t>
            </a:r>
            <a:r>
              <a:rPr lang="ru-RU" sz="2400" b="0" i="0" u="none" strike="noStrike" cap="none">
                <a:solidFill>
                  <a:schemeClr val="dk1"/>
                </a:solidFill>
                <a:highlight>
                  <a:srgbClr val="F8CEEE"/>
                </a:highlight>
                <a:latin typeface="IBM Plex Sans"/>
                <a:ea typeface="IBM Plex Sans"/>
                <a:cs typeface="IBM Plex Sans"/>
                <a:sym typeface="IBM Plex Sans"/>
              </a:rPr>
              <a:t>накопленного опыта</a:t>
            </a:r>
            <a:r>
              <a:rPr lang="ru-RU" sz="2400" b="0" i="0" u="none" strike="noStrike" cap="none">
                <a:solidFill>
                  <a:schemeClr val="dk1"/>
                </a:solidFill>
                <a:latin typeface="IBM Plex Sans"/>
                <a:ea typeface="IBM Plex Sans"/>
                <a:cs typeface="IBM Plex Sans"/>
                <a:sym typeface="IBM Plex Sans"/>
              </a:rPr>
              <a:t> и </a:t>
            </a:r>
            <a:r>
              <a:rPr lang="ru-RU" sz="2400" b="0" i="0" u="none" strike="noStrike" cap="none">
                <a:solidFill>
                  <a:schemeClr val="dk1"/>
                </a:solidFill>
                <a:highlight>
                  <a:srgbClr val="F8CEEE"/>
                </a:highlight>
                <a:latin typeface="IBM Plex Sans"/>
                <a:ea typeface="IBM Plex Sans"/>
                <a:cs typeface="IBM Plex Sans"/>
                <a:sym typeface="IBM Plex Sans"/>
              </a:rPr>
              <a:t>состояния мира</a:t>
            </a:r>
            <a:endParaRPr sz="2400" b="0" i="0" u="none" strike="noStrike" cap="none">
              <a:solidFill>
                <a:schemeClr val="dk1"/>
              </a:solidFill>
              <a:highlight>
                <a:srgbClr val="F8CEEE"/>
              </a:highlight>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pic>
        <p:nvPicPr>
          <p:cNvPr id="303" name="Google Shape;303;g3cb20f13e01_0_196"/>
          <p:cNvPicPr preferRelativeResize="0"/>
          <p:nvPr/>
        </p:nvPicPr>
        <p:blipFill rotWithShape="1">
          <a:blip r:embed="rId5">
            <a:alphaModFix/>
          </a:blip>
          <a:srcRect/>
          <a:stretch/>
        </p:blipFill>
        <p:spPr>
          <a:xfrm>
            <a:off x="93417" y="4224627"/>
            <a:ext cx="1800312" cy="1807800"/>
          </a:xfrm>
          <a:prstGeom prst="rect">
            <a:avLst/>
          </a:prstGeom>
          <a:noFill/>
          <a:ln>
            <a:noFill/>
          </a:ln>
        </p:spPr>
      </p:pic>
      <p:pic>
        <p:nvPicPr>
          <p:cNvPr id="304" name="Google Shape;304;g3cb20f13e01_0_196"/>
          <p:cNvPicPr preferRelativeResize="0"/>
          <p:nvPr/>
        </p:nvPicPr>
        <p:blipFill rotWithShape="1">
          <a:blip r:embed="rId5">
            <a:alphaModFix/>
          </a:blip>
          <a:srcRect/>
          <a:stretch/>
        </p:blipFill>
        <p:spPr>
          <a:xfrm>
            <a:off x="1917792" y="4224627"/>
            <a:ext cx="1800312" cy="1807800"/>
          </a:xfrm>
          <a:prstGeom prst="rect">
            <a:avLst/>
          </a:prstGeom>
          <a:noFill/>
          <a:ln>
            <a:noFill/>
          </a:ln>
        </p:spPr>
      </p:pic>
      <p:pic>
        <p:nvPicPr>
          <p:cNvPr id="305" name="Google Shape;305;g3cb20f13e01_0_196"/>
          <p:cNvPicPr preferRelativeResize="0"/>
          <p:nvPr/>
        </p:nvPicPr>
        <p:blipFill rotWithShape="1">
          <a:blip r:embed="rId5">
            <a:alphaModFix/>
          </a:blip>
          <a:srcRect/>
          <a:stretch/>
        </p:blipFill>
        <p:spPr>
          <a:xfrm>
            <a:off x="3830029" y="4224627"/>
            <a:ext cx="1800312" cy="1807800"/>
          </a:xfrm>
          <a:prstGeom prst="rect">
            <a:avLst/>
          </a:prstGeom>
          <a:noFill/>
          <a:ln>
            <a:noFill/>
          </a:ln>
        </p:spPr>
      </p:pic>
      <p:sp>
        <p:nvSpPr>
          <p:cNvPr id="306" name="Google Shape;306;g3cb20f13e01_0_196"/>
          <p:cNvSpPr/>
          <p:nvPr/>
        </p:nvSpPr>
        <p:spPr>
          <a:xfrm>
            <a:off x="564225" y="3424462"/>
            <a:ext cx="14634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В хмурый день идет дождь</a:t>
            </a:r>
            <a:endParaRPr sz="1400" b="0" i="0" u="none" strike="noStrike" cap="none">
              <a:solidFill>
                <a:schemeClr val="dk1"/>
              </a:solidFill>
              <a:latin typeface="IBM Plex Sans"/>
              <a:ea typeface="IBM Plex Sans"/>
              <a:cs typeface="IBM Plex Sans"/>
              <a:sym typeface="IBM Plex Sans"/>
            </a:endParaRPr>
          </a:p>
        </p:txBody>
      </p:sp>
      <p:sp>
        <p:nvSpPr>
          <p:cNvPr id="307" name="Google Shape;307;g3cb20f13e01_0_196"/>
          <p:cNvSpPr/>
          <p:nvPr/>
        </p:nvSpPr>
        <p:spPr>
          <a:xfrm>
            <a:off x="2592435" y="3406003"/>
            <a:ext cx="12732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Сегодня тоже хмурое небо</a:t>
            </a:r>
            <a:endParaRPr sz="1400" b="0" i="0" u="none" strike="noStrike" cap="none">
              <a:solidFill>
                <a:schemeClr val="dk1"/>
              </a:solidFill>
              <a:latin typeface="IBM Plex Sans"/>
              <a:ea typeface="IBM Plex Sans"/>
              <a:cs typeface="IBM Plex Sans"/>
              <a:sym typeface="IBM Plex Sans"/>
            </a:endParaRPr>
          </a:p>
        </p:txBody>
      </p:sp>
      <p:sp>
        <p:nvSpPr>
          <p:cNvPr id="308" name="Google Shape;308;g3cb20f13e01_0_196"/>
          <p:cNvSpPr/>
          <p:nvPr/>
        </p:nvSpPr>
        <p:spPr>
          <a:xfrm>
            <a:off x="4564336" y="3406003"/>
            <a:ext cx="12732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Будет дождь</a:t>
            </a:r>
            <a:endParaRPr sz="14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grpSp>
        <p:nvGrpSpPr>
          <p:cNvPr id="313" name="Google Shape;313;g3cb20f13e01_0_218"/>
          <p:cNvGrpSpPr/>
          <p:nvPr/>
        </p:nvGrpSpPr>
        <p:grpSpPr>
          <a:xfrm>
            <a:off x="9353973" y="-1553420"/>
            <a:ext cx="2854020" cy="13716631"/>
            <a:chOff x="9353973" y="-1553420"/>
            <a:chExt cx="2854020" cy="13716631"/>
          </a:xfrm>
        </p:grpSpPr>
        <p:grpSp>
          <p:nvGrpSpPr>
            <p:cNvPr id="314" name="Google Shape;314;g3cb20f13e01_0_218"/>
            <p:cNvGrpSpPr/>
            <p:nvPr/>
          </p:nvGrpSpPr>
          <p:grpSpPr>
            <a:xfrm>
              <a:off x="9353973" y="-1553420"/>
              <a:ext cx="2838027" cy="13716631"/>
              <a:chOff x="9353973" y="-6079700"/>
              <a:chExt cx="2838027" cy="13716631"/>
            </a:xfrm>
          </p:grpSpPr>
          <p:pic>
            <p:nvPicPr>
              <p:cNvPr id="315" name="Google Shape;315;g3cb20f13e01_0_218"/>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316" name="Google Shape;316;g3cb20f13e01_0_218"/>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317" name="Google Shape;317;g3cb20f13e01_0_218"/>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8" name="Google Shape;318;g3cb20f13e01_0_218"/>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19" name="Google Shape;319;g3cb20f13e01_0_218"/>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320" name="Google Shape;320;g3cb20f13e01_0_218"/>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sp>
        <p:nvSpPr>
          <p:cNvPr id="321" name="Google Shape;321;g3cb20f13e01_0_218"/>
          <p:cNvSpPr txBox="1"/>
          <p:nvPr/>
        </p:nvSpPr>
        <p:spPr>
          <a:xfrm>
            <a:off x="1055688" y="14515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322" name="Google Shape;322;g3cb20f13e01_0_218"/>
          <p:cNvSpPr txBox="1"/>
          <p:nvPr/>
        </p:nvSpPr>
        <p:spPr>
          <a:xfrm>
            <a:off x="1055688" y="249076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pic>
        <p:nvPicPr>
          <p:cNvPr id="323" name="Google Shape;323;g3cb20f13e01_0_218" descr="Picture background"/>
          <p:cNvPicPr preferRelativeResize="0"/>
          <p:nvPr/>
        </p:nvPicPr>
        <p:blipFill rotWithShape="1">
          <a:blip r:embed="rId5">
            <a:alphaModFix/>
          </a:blip>
          <a:srcRect l="7217" r="75719"/>
          <a:stretch/>
        </p:blipFill>
        <p:spPr>
          <a:xfrm>
            <a:off x="1485923" y="3323470"/>
            <a:ext cx="906778" cy="2075850"/>
          </a:xfrm>
          <a:prstGeom prst="rect">
            <a:avLst/>
          </a:prstGeom>
          <a:noFill/>
          <a:ln>
            <a:noFill/>
          </a:ln>
        </p:spPr>
      </p:pic>
      <p:pic>
        <p:nvPicPr>
          <p:cNvPr id="324" name="Google Shape;324;g3cb20f13e01_0_218" descr="Picture background"/>
          <p:cNvPicPr preferRelativeResize="0"/>
          <p:nvPr/>
        </p:nvPicPr>
        <p:blipFill rotWithShape="1">
          <a:blip r:embed="rId5">
            <a:alphaModFix/>
          </a:blip>
          <a:srcRect l="23994" t="1100" r="58942" b="-1099"/>
          <a:stretch/>
        </p:blipFill>
        <p:spPr>
          <a:xfrm>
            <a:off x="1638323" y="3475870"/>
            <a:ext cx="906778" cy="2075850"/>
          </a:xfrm>
          <a:prstGeom prst="rect">
            <a:avLst/>
          </a:prstGeom>
          <a:noFill/>
          <a:ln>
            <a:noFill/>
          </a:ln>
        </p:spPr>
      </p:pic>
      <p:pic>
        <p:nvPicPr>
          <p:cNvPr id="325" name="Google Shape;325;g3cb20f13e01_0_218" descr="Picture background"/>
          <p:cNvPicPr preferRelativeResize="0"/>
          <p:nvPr/>
        </p:nvPicPr>
        <p:blipFill rotWithShape="1">
          <a:blip r:embed="rId5">
            <a:alphaModFix/>
          </a:blip>
          <a:srcRect l="41200" t="1470" r="41736" b="-1469"/>
          <a:stretch/>
        </p:blipFill>
        <p:spPr>
          <a:xfrm>
            <a:off x="1790723" y="3628270"/>
            <a:ext cx="906778" cy="2075850"/>
          </a:xfrm>
          <a:prstGeom prst="rect">
            <a:avLst/>
          </a:prstGeom>
          <a:noFill/>
          <a:ln>
            <a:noFill/>
          </a:ln>
        </p:spPr>
      </p:pic>
      <p:pic>
        <p:nvPicPr>
          <p:cNvPr id="326" name="Google Shape;326;g3cb20f13e01_0_218" descr="Picture background"/>
          <p:cNvPicPr preferRelativeResize="0"/>
          <p:nvPr/>
        </p:nvPicPr>
        <p:blipFill rotWithShape="1">
          <a:blip r:embed="rId5">
            <a:alphaModFix/>
          </a:blip>
          <a:srcRect l="58349" t="1100" r="25133" b="-1099"/>
          <a:stretch/>
        </p:blipFill>
        <p:spPr>
          <a:xfrm>
            <a:off x="1940075" y="3780670"/>
            <a:ext cx="877824" cy="2075850"/>
          </a:xfrm>
          <a:prstGeom prst="rect">
            <a:avLst/>
          </a:prstGeom>
          <a:noFill/>
          <a:ln>
            <a:noFill/>
          </a:ln>
        </p:spPr>
      </p:pic>
      <p:pic>
        <p:nvPicPr>
          <p:cNvPr id="327" name="Google Shape;327;g3cb20f13e01_0_218" descr="Picture background"/>
          <p:cNvPicPr preferRelativeResize="0"/>
          <p:nvPr/>
        </p:nvPicPr>
        <p:blipFill rotWithShape="1">
          <a:blip r:embed="rId5">
            <a:alphaModFix/>
          </a:blip>
          <a:srcRect l="75470" t="-730" r="7466" b="730"/>
          <a:stretch/>
        </p:blipFill>
        <p:spPr>
          <a:xfrm>
            <a:off x="2095523" y="3933070"/>
            <a:ext cx="906778" cy="2075850"/>
          </a:xfrm>
          <a:prstGeom prst="rect">
            <a:avLst/>
          </a:prstGeom>
          <a:noFill/>
          <a:ln>
            <a:noFill/>
          </a:ln>
        </p:spPr>
      </p:pic>
      <p:pic>
        <p:nvPicPr>
          <p:cNvPr id="328" name="Google Shape;328;g3cb20f13e01_0_218" descr="Picture background"/>
          <p:cNvPicPr preferRelativeResize="0"/>
          <p:nvPr/>
        </p:nvPicPr>
        <p:blipFill rotWithShape="1">
          <a:blip r:embed="rId6">
            <a:alphaModFix/>
          </a:blip>
          <a:srcRect/>
          <a:stretch/>
        </p:blipFill>
        <p:spPr>
          <a:xfrm>
            <a:off x="2815799" y="3573910"/>
            <a:ext cx="1018123" cy="566609"/>
          </a:xfrm>
          <a:prstGeom prst="rect">
            <a:avLst/>
          </a:prstGeom>
          <a:noFill/>
          <a:ln>
            <a:noFill/>
          </a:ln>
        </p:spPr>
      </p:pic>
      <p:pic>
        <p:nvPicPr>
          <p:cNvPr id="329" name="Google Shape;329;g3cb20f13e01_0_218" descr="Picture background"/>
          <p:cNvPicPr preferRelativeResize="0"/>
          <p:nvPr/>
        </p:nvPicPr>
        <p:blipFill rotWithShape="1">
          <a:blip r:embed="rId6">
            <a:alphaModFix/>
          </a:blip>
          <a:srcRect/>
          <a:stretch/>
        </p:blipFill>
        <p:spPr>
          <a:xfrm>
            <a:off x="2833272" y="4140518"/>
            <a:ext cx="1018123" cy="566609"/>
          </a:xfrm>
          <a:prstGeom prst="rect">
            <a:avLst/>
          </a:prstGeom>
          <a:noFill/>
          <a:ln>
            <a:noFill/>
          </a:ln>
        </p:spPr>
      </p:pic>
      <p:pic>
        <p:nvPicPr>
          <p:cNvPr id="330" name="Google Shape;330;g3cb20f13e01_0_218" descr="Picture background"/>
          <p:cNvPicPr preferRelativeResize="0"/>
          <p:nvPr/>
        </p:nvPicPr>
        <p:blipFill rotWithShape="1">
          <a:blip r:embed="rId6">
            <a:alphaModFix/>
          </a:blip>
          <a:srcRect/>
          <a:stretch/>
        </p:blipFill>
        <p:spPr>
          <a:xfrm>
            <a:off x="2833271" y="4666172"/>
            <a:ext cx="1018123" cy="566609"/>
          </a:xfrm>
          <a:prstGeom prst="rect">
            <a:avLst/>
          </a:prstGeom>
          <a:noFill/>
          <a:ln>
            <a:noFill/>
          </a:ln>
        </p:spPr>
      </p:pic>
      <p:pic>
        <p:nvPicPr>
          <p:cNvPr id="331" name="Google Shape;331;g3cb20f13e01_0_218" descr="Picture background"/>
          <p:cNvPicPr preferRelativeResize="0"/>
          <p:nvPr/>
        </p:nvPicPr>
        <p:blipFill rotWithShape="1">
          <a:blip r:embed="rId6">
            <a:alphaModFix/>
          </a:blip>
          <a:srcRect/>
          <a:stretch/>
        </p:blipFill>
        <p:spPr>
          <a:xfrm>
            <a:off x="2835655" y="5191826"/>
            <a:ext cx="1018123" cy="566609"/>
          </a:xfrm>
          <a:prstGeom prst="rect">
            <a:avLst/>
          </a:prstGeom>
          <a:noFill/>
          <a:ln>
            <a:noFill/>
          </a:ln>
        </p:spPr>
      </p:pic>
      <p:sp>
        <p:nvSpPr>
          <p:cNvPr id="332" name="Google Shape;332;g3cb20f13e01_0_218"/>
          <p:cNvSpPr/>
          <p:nvPr/>
        </p:nvSpPr>
        <p:spPr>
          <a:xfrm>
            <a:off x="3368699" y="3958934"/>
            <a:ext cx="152400" cy="155700"/>
          </a:xfrm>
          <a:prstGeom prst="hear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AF6"/>
              </a:solidFill>
              <a:latin typeface="Arial"/>
              <a:ea typeface="Arial"/>
              <a:cs typeface="Arial"/>
              <a:sym typeface="Arial"/>
            </a:endParaRPr>
          </a:p>
        </p:txBody>
      </p:sp>
      <p:sp>
        <p:nvSpPr>
          <p:cNvPr id="333" name="Google Shape;333;g3cb20f13e01_0_218"/>
          <p:cNvSpPr/>
          <p:nvPr/>
        </p:nvSpPr>
        <p:spPr>
          <a:xfrm>
            <a:off x="3400270" y="4545467"/>
            <a:ext cx="152400" cy="155700"/>
          </a:xfrm>
          <a:prstGeom prst="hear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AF6"/>
              </a:solidFill>
              <a:latin typeface="Arial"/>
              <a:ea typeface="Arial"/>
              <a:cs typeface="Arial"/>
              <a:sym typeface="Arial"/>
            </a:endParaRPr>
          </a:p>
        </p:txBody>
      </p:sp>
      <p:sp>
        <p:nvSpPr>
          <p:cNvPr id="334" name="Google Shape;334;g3cb20f13e01_0_218"/>
          <p:cNvSpPr/>
          <p:nvPr/>
        </p:nvSpPr>
        <p:spPr>
          <a:xfrm>
            <a:off x="3400270" y="5106136"/>
            <a:ext cx="152400" cy="155700"/>
          </a:xfrm>
          <a:prstGeom prst="hear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AF6"/>
              </a:solidFill>
              <a:latin typeface="Arial"/>
              <a:ea typeface="Arial"/>
              <a:cs typeface="Arial"/>
              <a:sym typeface="Arial"/>
            </a:endParaRPr>
          </a:p>
        </p:txBody>
      </p:sp>
      <p:sp>
        <p:nvSpPr>
          <p:cNvPr id="335" name="Google Shape;335;g3cb20f13e01_0_218"/>
          <p:cNvSpPr/>
          <p:nvPr/>
        </p:nvSpPr>
        <p:spPr>
          <a:xfrm>
            <a:off x="3400270" y="5613890"/>
            <a:ext cx="152400" cy="155700"/>
          </a:xfrm>
          <a:prstGeom prst="hear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AF6"/>
              </a:solidFill>
              <a:latin typeface="Arial"/>
              <a:ea typeface="Arial"/>
              <a:cs typeface="Arial"/>
              <a:sym typeface="Arial"/>
            </a:endParaRPr>
          </a:p>
        </p:txBody>
      </p:sp>
      <p:sp>
        <p:nvSpPr>
          <p:cNvPr id="336" name="Google Shape;336;g3cb20f13e01_0_218"/>
          <p:cNvSpPr txBox="1"/>
          <p:nvPr/>
        </p:nvSpPr>
        <p:spPr>
          <a:xfrm>
            <a:off x="1686299" y="5856525"/>
            <a:ext cx="21675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2400" b="0" i="0" u="none" strike="noStrike" cap="none">
                <a:solidFill>
                  <a:srgbClr val="000000"/>
                </a:solidFill>
                <a:latin typeface="IBM Plex Sans"/>
                <a:ea typeface="IBM Plex Sans"/>
                <a:cs typeface="IBM Plex Sans"/>
                <a:sym typeface="IBM Plex Sans"/>
              </a:rPr>
              <a:t>Накопленный опыт</a:t>
            </a:r>
            <a:endParaRPr sz="2400" b="0" i="0" u="none" strike="noStrike" cap="none">
              <a:solidFill>
                <a:srgbClr val="000000"/>
              </a:solidFill>
              <a:latin typeface="IBM Plex Sans"/>
              <a:ea typeface="IBM Plex Sans"/>
              <a:cs typeface="IBM Plex Sans"/>
              <a:sym typeface="IBM Plex Sans"/>
            </a:endParaRPr>
          </a:p>
        </p:txBody>
      </p:sp>
      <p:pic>
        <p:nvPicPr>
          <p:cNvPr id="337" name="Google Shape;337;g3cb20f13e01_0_218" descr="Picture background"/>
          <p:cNvPicPr preferRelativeResize="0"/>
          <p:nvPr/>
        </p:nvPicPr>
        <p:blipFill rotWithShape="1">
          <a:blip r:embed="rId5">
            <a:alphaModFix/>
          </a:blip>
          <a:srcRect l="7217" r="75719"/>
          <a:stretch/>
        </p:blipFill>
        <p:spPr>
          <a:xfrm>
            <a:off x="4177910" y="3520834"/>
            <a:ext cx="906778" cy="2075850"/>
          </a:xfrm>
          <a:prstGeom prst="rect">
            <a:avLst/>
          </a:prstGeom>
          <a:noFill/>
          <a:ln>
            <a:noFill/>
          </a:ln>
        </p:spPr>
      </p:pic>
      <p:pic>
        <p:nvPicPr>
          <p:cNvPr id="338" name="Google Shape;338;g3cb20f13e01_0_218" descr="Picture background"/>
          <p:cNvPicPr preferRelativeResize="0"/>
          <p:nvPr/>
        </p:nvPicPr>
        <p:blipFill rotWithShape="1">
          <a:blip r:embed="rId5">
            <a:alphaModFix/>
          </a:blip>
          <a:srcRect l="23994" t="1100" r="58942" b="-1099"/>
          <a:stretch/>
        </p:blipFill>
        <p:spPr>
          <a:xfrm>
            <a:off x="4330310" y="3673234"/>
            <a:ext cx="906778" cy="2075850"/>
          </a:xfrm>
          <a:prstGeom prst="rect">
            <a:avLst/>
          </a:prstGeom>
          <a:noFill/>
          <a:ln>
            <a:noFill/>
          </a:ln>
        </p:spPr>
      </p:pic>
      <p:pic>
        <p:nvPicPr>
          <p:cNvPr id="339" name="Google Shape;339;g3cb20f13e01_0_218" descr="Picture background"/>
          <p:cNvPicPr preferRelativeResize="0"/>
          <p:nvPr/>
        </p:nvPicPr>
        <p:blipFill rotWithShape="1">
          <a:blip r:embed="rId5">
            <a:alphaModFix/>
          </a:blip>
          <a:srcRect l="41200" t="1470" r="41736" b="-1469"/>
          <a:stretch/>
        </p:blipFill>
        <p:spPr>
          <a:xfrm>
            <a:off x="4482710" y="3825634"/>
            <a:ext cx="906778" cy="2075850"/>
          </a:xfrm>
          <a:prstGeom prst="rect">
            <a:avLst/>
          </a:prstGeom>
          <a:noFill/>
          <a:ln>
            <a:noFill/>
          </a:ln>
        </p:spPr>
      </p:pic>
      <p:pic>
        <p:nvPicPr>
          <p:cNvPr id="340" name="Google Shape;340;g3cb20f13e01_0_218" descr="Picture background"/>
          <p:cNvPicPr preferRelativeResize="0"/>
          <p:nvPr/>
        </p:nvPicPr>
        <p:blipFill rotWithShape="1">
          <a:blip r:embed="rId6">
            <a:alphaModFix/>
          </a:blip>
          <a:srcRect/>
          <a:stretch/>
        </p:blipFill>
        <p:spPr>
          <a:xfrm>
            <a:off x="5290459" y="4522348"/>
            <a:ext cx="1018123" cy="566609"/>
          </a:xfrm>
          <a:prstGeom prst="rect">
            <a:avLst/>
          </a:prstGeom>
          <a:noFill/>
          <a:ln>
            <a:noFill/>
          </a:ln>
        </p:spPr>
      </p:pic>
      <p:sp>
        <p:nvSpPr>
          <p:cNvPr id="341" name="Google Shape;341;g3cb20f13e01_0_218"/>
          <p:cNvSpPr/>
          <p:nvPr/>
        </p:nvSpPr>
        <p:spPr>
          <a:xfrm>
            <a:off x="5843359" y="4907372"/>
            <a:ext cx="152400" cy="155700"/>
          </a:xfrm>
          <a:prstGeom prst="hear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AF6"/>
              </a:solidFill>
              <a:latin typeface="Arial"/>
              <a:ea typeface="Arial"/>
              <a:cs typeface="Arial"/>
              <a:sym typeface="Arial"/>
            </a:endParaRPr>
          </a:p>
        </p:txBody>
      </p:sp>
      <p:sp>
        <p:nvSpPr>
          <p:cNvPr id="342" name="Google Shape;342;g3cb20f13e01_0_218"/>
          <p:cNvSpPr txBox="1"/>
          <p:nvPr/>
        </p:nvSpPr>
        <p:spPr>
          <a:xfrm>
            <a:off x="4314584" y="5882384"/>
            <a:ext cx="19692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2400" b="0" i="0" u="none" strike="noStrike" cap="none">
                <a:solidFill>
                  <a:srgbClr val="000000"/>
                </a:solidFill>
                <a:latin typeface="IBM Plex Sans"/>
                <a:ea typeface="IBM Plex Sans"/>
                <a:cs typeface="IBM Plex Sans"/>
                <a:sym typeface="IBM Plex Sans"/>
              </a:rPr>
              <a:t>Состояние мира</a:t>
            </a:r>
            <a:endParaRPr sz="2400" b="0" i="0" u="none" strike="noStrike" cap="none">
              <a:solidFill>
                <a:srgbClr val="000000"/>
              </a:solidFill>
              <a:latin typeface="IBM Plex Sans"/>
              <a:ea typeface="IBM Plex Sans"/>
              <a:cs typeface="IBM Plex Sans"/>
              <a:sym typeface="IBM Plex Sans"/>
            </a:endParaRPr>
          </a:p>
        </p:txBody>
      </p:sp>
      <p:pic>
        <p:nvPicPr>
          <p:cNvPr id="343" name="Google Shape;343;g3cb20f13e01_0_218" descr="Picture background"/>
          <p:cNvPicPr preferRelativeResize="0"/>
          <p:nvPr/>
        </p:nvPicPr>
        <p:blipFill rotWithShape="1">
          <a:blip r:embed="rId5">
            <a:alphaModFix/>
          </a:blip>
          <a:srcRect l="75470" t="-730" r="7466" b="730"/>
          <a:stretch/>
        </p:blipFill>
        <p:spPr>
          <a:xfrm>
            <a:off x="2095725" y="3933070"/>
            <a:ext cx="906778" cy="2075850"/>
          </a:xfrm>
          <a:prstGeom prst="rect">
            <a:avLst/>
          </a:prstGeom>
          <a:noFill/>
          <a:ln>
            <a:noFill/>
          </a:ln>
        </p:spPr>
      </p:pic>
      <p:pic>
        <p:nvPicPr>
          <p:cNvPr id="344" name="Google Shape;344;g3cb20f13e01_0_218" descr="Picture background"/>
          <p:cNvPicPr preferRelativeResize="0"/>
          <p:nvPr/>
        </p:nvPicPr>
        <p:blipFill rotWithShape="1">
          <a:blip r:embed="rId5">
            <a:alphaModFix/>
          </a:blip>
          <a:srcRect l="75470" t="-730" r="7466" b="730"/>
          <a:stretch/>
        </p:blipFill>
        <p:spPr>
          <a:xfrm>
            <a:off x="6917184" y="3711214"/>
            <a:ext cx="906778" cy="2075850"/>
          </a:xfrm>
          <a:prstGeom prst="rect">
            <a:avLst/>
          </a:prstGeom>
          <a:noFill/>
          <a:ln>
            <a:noFill/>
          </a:ln>
        </p:spPr>
      </p:pic>
      <p:sp>
        <p:nvSpPr>
          <p:cNvPr id="345" name="Google Shape;345;g3cb20f13e01_0_218"/>
          <p:cNvSpPr txBox="1"/>
          <p:nvPr/>
        </p:nvSpPr>
        <p:spPr>
          <a:xfrm>
            <a:off x="6578017" y="5882384"/>
            <a:ext cx="19692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2400" b="0" i="0" u="none" strike="noStrike" cap="none">
                <a:solidFill>
                  <a:srgbClr val="000000"/>
                </a:solidFill>
                <a:latin typeface="IBM Plex Sans"/>
                <a:ea typeface="IBM Plex Sans"/>
                <a:cs typeface="IBM Plex Sans"/>
                <a:sym typeface="IBM Plex Sans"/>
              </a:rPr>
              <a:t>Принятое решение</a:t>
            </a:r>
            <a:endParaRPr sz="2400" b="0" i="0" u="none" strike="noStrike" cap="none">
              <a:solidFill>
                <a:srgbClr val="000000"/>
              </a:solidFill>
              <a:latin typeface="IBM Plex Sans"/>
              <a:ea typeface="IBM Plex Sans"/>
              <a:cs typeface="IBM Plex Sans"/>
              <a:sym typeface="IBM Plex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grpSp>
        <p:nvGrpSpPr>
          <p:cNvPr id="350" name="Google Shape;350;g3cb20f13e01_0_264"/>
          <p:cNvGrpSpPr/>
          <p:nvPr/>
        </p:nvGrpSpPr>
        <p:grpSpPr>
          <a:xfrm>
            <a:off x="9353973" y="-1553420"/>
            <a:ext cx="2854020" cy="13716631"/>
            <a:chOff x="9353973" y="-1553420"/>
            <a:chExt cx="2854020" cy="13716631"/>
          </a:xfrm>
        </p:grpSpPr>
        <p:grpSp>
          <p:nvGrpSpPr>
            <p:cNvPr id="351" name="Google Shape;351;g3cb20f13e01_0_264"/>
            <p:cNvGrpSpPr/>
            <p:nvPr/>
          </p:nvGrpSpPr>
          <p:grpSpPr>
            <a:xfrm>
              <a:off x="9353973" y="-1553420"/>
              <a:ext cx="2838027" cy="13716631"/>
              <a:chOff x="9353973" y="-6079700"/>
              <a:chExt cx="2838027" cy="13716631"/>
            </a:xfrm>
          </p:grpSpPr>
          <p:pic>
            <p:nvPicPr>
              <p:cNvPr id="352" name="Google Shape;352;g3cb20f13e01_0_264"/>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353" name="Google Shape;353;g3cb20f13e01_0_264"/>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354" name="Google Shape;354;g3cb20f13e01_0_26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 name="Google Shape;355;g3cb20f13e01_0_26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56" name="Google Shape;356;g3cb20f13e01_0_264"/>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357" name="Google Shape;357;g3cb20f13e01_0_264"/>
          <p:cNvSpPr txBox="1"/>
          <p:nvPr/>
        </p:nvSpPr>
        <p:spPr>
          <a:xfrm>
            <a:off x="7088000" y="3588600"/>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sp>
        <p:nvSpPr>
          <p:cNvPr id="358" name="Google Shape;358;g3cb20f13e01_0_264"/>
          <p:cNvSpPr txBox="1"/>
          <p:nvPr/>
        </p:nvSpPr>
        <p:spPr>
          <a:xfrm>
            <a:off x="1055688" y="14515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359" name="Google Shape;359;g3cb20f13e01_0_264"/>
          <p:cNvSpPr txBox="1"/>
          <p:nvPr/>
        </p:nvSpPr>
        <p:spPr>
          <a:xfrm>
            <a:off x="1055688" y="249076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sp>
        <p:nvSpPr>
          <p:cNvPr id="360" name="Google Shape;360;g3cb20f13e01_0_264"/>
          <p:cNvSpPr txBox="1"/>
          <p:nvPr/>
        </p:nvSpPr>
        <p:spPr>
          <a:xfrm>
            <a:off x="1574408" y="5375281"/>
            <a:ext cx="2232900" cy="843600"/>
          </a:xfrm>
          <a:prstGeom prst="rect">
            <a:avLst/>
          </a:prstGeom>
          <a:noFill/>
          <a:ln>
            <a:noFill/>
          </a:ln>
        </p:spPr>
        <p:txBody>
          <a:bodyPr spcFirstLastPara="1" wrap="square" lIns="103675" tIns="51825" rIns="103675" bIns="51825" anchor="t" anchorCtr="0">
            <a:spAutoFit/>
          </a:bodyPr>
          <a:lstStyle/>
          <a:p>
            <a:pPr marL="0" marR="0" lvl="0" indent="0" algn="l" rtl="0">
              <a:lnSpc>
                <a:spcPct val="100000"/>
              </a:lnSpc>
              <a:spcBef>
                <a:spcPts val="0"/>
              </a:spcBef>
              <a:spcAft>
                <a:spcPts val="0"/>
              </a:spcAft>
              <a:buClr>
                <a:srgbClr val="000000"/>
              </a:buClr>
              <a:buSzPts val="1587"/>
              <a:buFont typeface="Arial"/>
              <a:buNone/>
            </a:pPr>
            <a:r>
              <a:rPr lang="ru-RU" sz="2400" b="0" i="0" u="none" strike="noStrike" cap="none">
                <a:solidFill>
                  <a:srgbClr val="000000"/>
                </a:solidFill>
                <a:latin typeface="IBM Plex Sans"/>
                <a:ea typeface="IBM Plex Sans"/>
                <a:cs typeface="IBM Plex Sans"/>
                <a:sym typeface="IBM Plex Sans"/>
              </a:rPr>
              <a:t>Накопленный опыт</a:t>
            </a:r>
            <a:endParaRPr sz="2400" b="0" i="0" u="none" strike="noStrike" cap="none">
              <a:solidFill>
                <a:srgbClr val="000000"/>
              </a:solidFill>
              <a:latin typeface="IBM Plex Sans"/>
              <a:ea typeface="IBM Plex Sans"/>
              <a:cs typeface="IBM Plex Sans"/>
              <a:sym typeface="IBM Plex Sans"/>
            </a:endParaRPr>
          </a:p>
        </p:txBody>
      </p:sp>
      <p:sp>
        <p:nvSpPr>
          <p:cNvPr id="361" name="Google Shape;361;g3cb20f13e01_0_264"/>
          <p:cNvSpPr txBox="1"/>
          <p:nvPr/>
        </p:nvSpPr>
        <p:spPr>
          <a:xfrm>
            <a:off x="4554594" y="5404608"/>
            <a:ext cx="2232900" cy="843600"/>
          </a:xfrm>
          <a:prstGeom prst="rect">
            <a:avLst/>
          </a:prstGeom>
          <a:noFill/>
          <a:ln>
            <a:noFill/>
          </a:ln>
        </p:spPr>
        <p:txBody>
          <a:bodyPr spcFirstLastPara="1" wrap="square" lIns="103675" tIns="51825" rIns="103675" bIns="51825" anchor="t" anchorCtr="0">
            <a:spAutoFit/>
          </a:bodyPr>
          <a:lstStyle/>
          <a:p>
            <a:pPr marL="0" marR="0" lvl="0" indent="0" algn="l" rtl="0">
              <a:lnSpc>
                <a:spcPct val="100000"/>
              </a:lnSpc>
              <a:spcBef>
                <a:spcPts val="0"/>
              </a:spcBef>
              <a:spcAft>
                <a:spcPts val="0"/>
              </a:spcAft>
              <a:buClr>
                <a:srgbClr val="000000"/>
              </a:buClr>
              <a:buSzPts val="1587"/>
              <a:buFont typeface="Arial"/>
              <a:buNone/>
            </a:pPr>
            <a:r>
              <a:rPr lang="ru-RU" sz="2400" b="0" i="0" u="none" strike="noStrike" cap="none">
                <a:solidFill>
                  <a:srgbClr val="000000"/>
                </a:solidFill>
                <a:latin typeface="IBM Plex Sans"/>
                <a:ea typeface="IBM Plex Sans"/>
                <a:cs typeface="IBM Plex Sans"/>
                <a:sym typeface="IBM Plex Sans"/>
              </a:rPr>
              <a:t>Состояние мира</a:t>
            </a:r>
            <a:endParaRPr sz="2400" b="0" i="0" u="none" strike="noStrike" cap="none">
              <a:solidFill>
                <a:srgbClr val="000000"/>
              </a:solidFill>
              <a:latin typeface="IBM Plex Sans"/>
              <a:ea typeface="IBM Plex Sans"/>
              <a:cs typeface="IBM Plex Sans"/>
              <a:sym typeface="IBM Plex Sans"/>
            </a:endParaRPr>
          </a:p>
        </p:txBody>
      </p:sp>
      <p:sp>
        <p:nvSpPr>
          <p:cNvPr id="362" name="Google Shape;362;g3cb20f13e01_0_264"/>
          <p:cNvSpPr txBox="1"/>
          <p:nvPr/>
        </p:nvSpPr>
        <p:spPr>
          <a:xfrm>
            <a:off x="7121086" y="5404608"/>
            <a:ext cx="2232900" cy="843600"/>
          </a:xfrm>
          <a:prstGeom prst="rect">
            <a:avLst/>
          </a:prstGeom>
          <a:noFill/>
          <a:ln>
            <a:noFill/>
          </a:ln>
        </p:spPr>
        <p:txBody>
          <a:bodyPr spcFirstLastPara="1" wrap="square" lIns="103675" tIns="51825" rIns="103675" bIns="51825" anchor="t" anchorCtr="0">
            <a:spAutoFit/>
          </a:bodyPr>
          <a:lstStyle/>
          <a:p>
            <a:pPr marL="0" marR="0" lvl="0" indent="0" algn="l" rtl="0">
              <a:lnSpc>
                <a:spcPct val="100000"/>
              </a:lnSpc>
              <a:spcBef>
                <a:spcPts val="0"/>
              </a:spcBef>
              <a:spcAft>
                <a:spcPts val="0"/>
              </a:spcAft>
              <a:buClr>
                <a:srgbClr val="000000"/>
              </a:buClr>
              <a:buSzPts val="1587"/>
              <a:buFont typeface="Arial"/>
              <a:buNone/>
            </a:pPr>
            <a:r>
              <a:rPr lang="ru-RU" sz="2400" b="0" i="0" u="none" strike="noStrike" cap="none">
                <a:solidFill>
                  <a:srgbClr val="000000"/>
                </a:solidFill>
                <a:latin typeface="IBM Plex Sans"/>
                <a:ea typeface="IBM Plex Sans"/>
                <a:cs typeface="IBM Plex Sans"/>
                <a:sym typeface="IBM Plex Sans"/>
              </a:rPr>
              <a:t>Принятое решение</a:t>
            </a:r>
            <a:endParaRPr sz="2400" b="0" i="0" u="none" strike="noStrike" cap="none">
              <a:solidFill>
                <a:srgbClr val="000000"/>
              </a:solidFill>
              <a:latin typeface="IBM Plex Sans"/>
              <a:ea typeface="IBM Plex Sans"/>
              <a:cs typeface="IBM Plex Sans"/>
              <a:sym typeface="IBM Plex Sans"/>
            </a:endParaRPr>
          </a:p>
        </p:txBody>
      </p:sp>
      <p:pic>
        <p:nvPicPr>
          <p:cNvPr id="363" name="Google Shape;363;g3cb20f13e01_0_264"/>
          <p:cNvPicPr preferRelativeResize="0"/>
          <p:nvPr/>
        </p:nvPicPr>
        <p:blipFill rotWithShape="1">
          <a:blip r:embed="rId5">
            <a:alphaModFix/>
          </a:blip>
          <a:srcRect/>
          <a:stretch/>
        </p:blipFill>
        <p:spPr>
          <a:xfrm>
            <a:off x="728525" y="3863324"/>
            <a:ext cx="1867379" cy="616062"/>
          </a:xfrm>
          <a:prstGeom prst="rect">
            <a:avLst/>
          </a:prstGeom>
          <a:noFill/>
          <a:ln>
            <a:noFill/>
          </a:ln>
        </p:spPr>
      </p:pic>
      <p:sp>
        <p:nvSpPr>
          <p:cNvPr id="364" name="Google Shape;364;g3cb20f13e01_0_264"/>
          <p:cNvSpPr txBox="1"/>
          <p:nvPr/>
        </p:nvSpPr>
        <p:spPr>
          <a:xfrm>
            <a:off x="1374970" y="3947621"/>
            <a:ext cx="1750500" cy="348900"/>
          </a:xfrm>
          <a:prstGeom prst="rect">
            <a:avLst/>
          </a:prstGeom>
          <a:solidFill>
            <a:srgbClr val="FFFAF6"/>
          </a:solidFill>
          <a:ln w="28800" cap="flat" cmpd="sng">
            <a:solidFill>
              <a:srgbClr val="135669"/>
            </a:solidFill>
            <a:prstDash val="solid"/>
            <a:round/>
            <a:headEnd type="none" w="sm" len="sm"/>
            <a:tailEnd type="none" w="sm" len="sm"/>
          </a:ln>
        </p:spPr>
        <p:txBody>
          <a:bodyPr spcFirstLastPara="1" wrap="square" lIns="103675" tIns="51825" rIns="103675" bIns="51825" anchor="t" anchorCtr="0">
            <a:spAutoFit/>
          </a:bodyPr>
          <a:lstStyle/>
          <a:p>
            <a:pPr marL="0" marR="0" lvl="0" indent="0" algn="l" rtl="0">
              <a:lnSpc>
                <a:spcPct val="100000"/>
              </a:lnSpc>
              <a:spcBef>
                <a:spcPts val="0"/>
              </a:spcBef>
              <a:spcAft>
                <a:spcPts val="0"/>
              </a:spcAft>
              <a:buClr>
                <a:srgbClr val="000000"/>
              </a:buClr>
              <a:buSzPts val="1587"/>
              <a:buFont typeface="Arial"/>
              <a:buNone/>
            </a:pPr>
            <a:r>
              <a:rPr lang="ru-RU" sz="1587" b="0" i="0" u="none" strike="noStrike" cap="none">
                <a:solidFill>
                  <a:srgbClr val="15110E"/>
                </a:solidFill>
                <a:latin typeface="Arial"/>
                <a:ea typeface="Arial"/>
                <a:cs typeface="Arial"/>
                <a:sym typeface="Arial"/>
              </a:rPr>
              <a:t>Привет! Как т…</a:t>
            </a:r>
            <a:endParaRPr sz="1587" b="0" i="0" u="none" strike="noStrike" cap="none">
              <a:solidFill>
                <a:srgbClr val="15110E"/>
              </a:solidFill>
              <a:latin typeface="Arial"/>
              <a:ea typeface="Arial"/>
              <a:cs typeface="Arial"/>
              <a:sym typeface="Arial"/>
            </a:endParaRPr>
          </a:p>
        </p:txBody>
      </p:sp>
      <p:pic>
        <p:nvPicPr>
          <p:cNvPr id="365" name="Google Shape;365;g3cb20f13e01_0_264"/>
          <p:cNvPicPr preferRelativeResize="0"/>
          <p:nvPr/>
        </p:nvPicPr>
        <p:blipFill rotWithShape="1">
          <a:blip r:embed="rId5">
            <a:alphaModFix/>
          </a:blip>
          <a:srcRect/>
          <a:stretch/>
        </p:blipFill>
        <p:spPr>
          <a:xfrm>
            <a:off x="901330" y="4036130"/>
            <a:ext cx="1867379" cy="616062"/>
          </a:xfrm>
          <a:prstGeom prst="rect">
            <a:avLst/>
          </a:prstGeom>
          <a:noFill/>
          <a:ln>
            <a:noFill/>
          </a:ln>
        </p:spPr>
      </p:pic>
      <p:sp>
        <p:nvSpPr>
          <p:cNvPr id="366" name="Google Shape;366;g3cb20f13e01_0_264"/>
          <p:cNvSpPr txBox="1"/>
          <p:nvPr/>
        </p:nvSpPr>
        <p:spPr>
          <a:xfrm>
            <a:off x="1547776" y="4120427"/>
            <a:ext cx="1750500" cy="348900"/>
          </a:xfrm>
          <a:prstGeom prst="rect">
            <a:avLst/>
          </a:prstGeom>
          <a:solidFill>
            <a:srgbClr val="FFFAF6"/>
          </a:solidFill>
          <a:ln w="28800" cap="flat" cmpd="sng">
            <a:solidFill>
              <a:srgbClr val="135669"/>
            </a:solidFill>
            <a:prstDash val="solid"/>
            <a:round/>
            <a:headEnd type="none" w="sm" len="sm"/>
            <a:tailEnd type="none" w="sm" len="sm"/>
          </a:ln>
        </p:spPr>
        <p:txBody>
          <a:bodyPr spcFirstLastPara="1" wrap="square" lIns="103675" tIns="51825" rIns="103675" bIns="51825" anchor="t" anchorCtr="0">
            <a:spAutoFit/>
          </a:bodyPr>
          <a:lstStyle/>
          <a:p>
            <a:pPr marL="0" marR="0" lvl="0" indent="0" algn="l" rtl="0">
              <a:lnSpc>
                <a:spcPct val="100000"/>
              </a:lnSpc>
              <a:spcBef>
                <a:spcPts val="0"/>
              </a:spcBef>
              <a:spcAft>
                <a:spcPts val="0"/>
              </a:spcAft>
              <a:buClr>
                <a:srgbClr val="000000"/>
              </a:buClr>
              <a:buSzPts val="1587"/>
              <a:buFont typeface="Arial"/>
              <a:buNone/>
            </a:pPr>
            <a:r>
              <a:rPr lang="ru-RU" sz="1587" b="0" i="0" u="none" strike="noStrike" cap="none">
                <a:solidFill>
                  <a:srgbClr val="15110E"/>
                </a:solidFill>
                <a:latin typeface="Arial"/>
                <a:ea typeface="Arial"/>
                <a:cs typeface="Arial"/>
                <a:sym typeface="Arial"/>
              </a:rPr>
              <a:t>Щыовав. Выукп</a:t>
            </a:r>
            <a:endParaRPr sz="1587" b="0" i="0" u="none" strike="noStrike" cap="none">
              <a:solidFill>
                <a:srgbClr val="15110E"/>
              </a:solidFill>
              <a:latin typeface="Arial"/>
              <a:ea typeface="Arial"/>
              <a:cs typeface="Arial"/>
              <a:sym typeface="Arial"/>
            </a:endParaRPr>
          </a:p>
        </p:txBody>
      </p:sp>
      <p:pic>
        <p:nvPicPr>
          <p:cNvPr id="367" name="Google Shape;367;g3cb20f13e01_0_264"/>
          <p:cNvPicPr preferRelativeResize="0"/>
          <p:nvPr/>
        </p:nvPicPr>
        <p:blipFill rotWithShape="1">
          <a:blip r:embed="rId5">
            <a:alphaModFix/>
          </a:blip>
          <a:srcRect/>
          <a:stretch/>
        </p:blipFill>
        <p:spPr>
          <a:xfrm>
            <a:off x="1074136" y="4208937"/>
            <a:ext cx="1867379" cy="616062"/>
          </a:xfrm>
          <a:prstGeom prst="rect">
            <a:avLst/>
          </a:prstGeom>
          <a:noFill/>
          <a:ln>
            <a:noFill/>
          </a:ln>
        </p:spPr>
      </p:pic>
      <p:sp>
        <p:nvSpPr>
          <p:cNvPr id="368" name="Google Shape;368;g3cb20f13e01_0_264"/>
          <p:cNvSpPr txBox="1"/>
          <p:nvPr/>
        </p:nvSpPr>
        <p:spPr>
          <a:xfrm>
            <a:off x="1720581" y="4293233"/>
            <a:ext cx="1750500" cy="348900"/>
          </a:xfrm>
          <a:prstGeom prst="rect">
            <a:avLst/>
          </a:prstGeom>
          <a:solidFill>
            <a:srgbClr val="FFFAF6"/>
          </a:solidFill>
          <a:ln w="28800" cap="flat" cmpd="sng">
            <a:solidFill>
              <a:srgbClr val="135669"/>
            </a:solidFill>
            <a:prstDash val="solid"/>
            <a:round/>
            <a:headEnd type="none" w="sm" len="sm"/>
            <a:tailEnd type="none" w="sm" len="sm"/>
          </a:ln>
        </p:spPr>
        <p:txBody>
          <a:bodyPr spcFirstLastPara="1" wrap="square" lIns="103675" tIns="51825" rIns="103675" bIns="51825" anchor="t" anchorCtr="0">
            <a:spAutoFit/>
          </a:bodyPr>
          <a:lstStyle/>
          <a:p>
            <a:pPr marL="0" marR="0" lvl="0" indent="0" algn="l" rtl="0">
              <a:lnSpc>
                <a:spcPct val="100000"/>
              </a:lnSpc>
              <a:spcBef>
                <a:spcPts val="0"/>
              </a:spcBef>
              <a:spcAft>
                <a:spcPts val="0"/>
              </a:spcAft>
              <a:buClr>
                <a:srgbClr val="000000"/>
              </a:buClr>
              <a:buSzPts val="1587"/>
              <a:buFont typeface="Arial"/>
              <a:buNone/>
            </a:pPr>
            <a:r>
              <a:rPr lang="ru-RU" sz="1587" b="0" i="0" u="none" strike="noStrike" cap="none">
                <a:solidFill>
                  <a:srgbClr val="15110E"/>
                </a:solidFill>
                <a:latin typeface="Arial"/>
                <a:ea typeface="Arial"/>
                <a:cs typeface="Arial"/>
                <a:sym typeface="Arial"/>
              </a:rPr>
              <a:t>Лоаы. Ыо аввав</a:t>
            </a:r>
            <a:endParaRPr sz="1587" b="0" i="0" u="none" strike="noStrike" cap="none">
              <a:solidFill>
                <a:srgbClr val="15110E"/>
              </a:solidFill>
              <a:latin typeface="Arial"/>
              <a:ea typeface="Arial"/>
              <a:cs typeface="Arial"/>
              <a:sym typeface="Arial"/>
            </a:endParaRPr>
          </a:p>
        </p:txBody>
      </p:sp>
      <p:pic>
        <p:nvPicPr>
          <p:cNvPr id="369" name="Google Shape;369;g3cb20f13e01_0_264"/>
          <p:cNvPicPr preferRelativeResize="0"/>
          <p:nvPr/>
        </p:nvPicPr>
        <p:blipFill rotWithShape="1">
          <a:blip r:embed="rId5">
            <a:alphaModFix/>
          </a:blip>
          <a:srcRect/>
          <a:stretch/>
        </p:blipFill>
        <p:spPr>
          <a:xfrm>
            <a:off x="1246941" y="4381743"/>
            <a:ext cx="1867379" cy="616062"/>
          </a:xfrm>
          <a:prstGeom prst="rect">
            <a:avLst/>
          </a:prstGeom>
          <a:noFill/>
          <a:ln>
            <a:noFill/>
          </a:ln>
        </p:spPr>
      </p:pic>
      <p:sp>
        <p:nvSpPr>
          <p:cNvPr id="370" name="Google Shape;370;g3cb20f13e01_0_264"/>
          <p:cNvSpPr txBox="1"/>
          <p:nvPr/>
        </p:nvSpPr>
        <p:spPr>
          <a:xfrm>
            <a:off x="1893387" y="4466039"/>
            <a:ext cx="1750500" cy="348900"/>
          </a:xfrm>
          <a:prstGeom prst="rect">
            <a:avLst/>
          </a:prstGeom>
          <a:solidFill>
            <a:srgbClr val="FFFAF6"/>
          </a:solidFill>
          <a:ln w="28800" cap="flat" cmpd="sng">
            <a:solidFill>
              <a:srgbClr val="135669"/>
            </a:solidFill>
            <a:prstDash val="solid"/>
            <a:round/>
            <a:headEnd type="none" w="sm" len="sm"/>
            <a:tailEnd type="none" w="sm" len="sm"/>
          </a:ln>
        </p:spPr>
        <p:txBody>
          <a:bodyPr spcFirstLastPara="1" wrap="square" lIns="103675" tIns="51825" rIns="103675" bIns="51825" anchor="t" anchorCtr="0">
            <a:spAutoFit/>
          </a:bodyPr>
          <a:lstStyle/>
          <a:p>
            <a:pPr marL="0" marR="0" lvl="0" indent="0" algn="l" rtl="0">
              <a:lnSpc>
                <a:spcPct val="100000"/>
              </a:lnSpc>
              <a:spcBef>
                <a:spcPts val="0"/>
              </a:spcBef>
              <a:spcAft>
                <a:spcPts val="0"/>
              </a:spcAft>
              <a:buClr>
                <a:srgbClr val="000000"/>
              </a:buClr>
              <a:buSzPts val="1587"/>
              <a:buFont typeface="Arial"/>
              <a:buNone/>
            </a:pPr>
            <a:r>
              <a:rPr lang="ru-RU" sz="1587" b="0" i="0" u="none" strike="noStrike" cap="none">
                <a:solidFill>
                  <a:srgbClr val="15110E"/>
                </a:solidFill>
                <a:latin typeface="Arial"/>
                <a:ea typeface="Arial"/>
                <a:cs typeface="Arial"/>
                <a:sym typeface="Arial"/>
              </a:rPr>
              <a:t>Привет! Как т…</a:t>
            </a:r>
            <a:endParaRPr sz="1587" b="0" i="0" u="none" strike="noStrike" cap="none">
              <a:solidFill>
                <a:srgbClr val="15110E"/>
              </a:solidFill>
              <a:latin typeface="Arial"/>
              <a:ea typeface="Arial"/>
              <a:cs typeface="Arial"/>
              <a:sym typeface="Arial"/>
            </a:endParaRPr>
          </a:p>
        </p:txBody>
      </p:sp>
      <p:pic>
        <p:nvPicPr>
          <p:cNvPr id="371" name="Google Shape;371;g3cb20f13e01_0_264"/>
          <p:cNvPicPr preferRelativeResize="0"/>
          <p:nvPr/>
        </p:nvPicPr>
        <p:blipFill rotWithShape="1">
          <a:blip r:embed="rId5">
            <a:alphaModFix/>
          </a:blip>
          <a:srcRect/>
          <a:stretch/>
        </p:blipFill>
        <p:spPr>
          <a:xfrm>
            <a:off x="4392000" y="4208937"/>
            <a:ext cx="1867379" cy="616062"/>
          </a:xfrm>
          <a:prstGeom prst="rect">
            <a:avLst/>
          </a:prstGeom>
          <a:noFill/>
          <a:ln>
            <a:noFill/>
          </a:ln>
        </p:spPr>
      </p:pic>
      <p:sp>
        <p:nvSpPr>
          <p:cNvPr id="372" name="Google Shape;372;g3cb20f13e01_0_264"/>
          <p:cNvSpPr txBox="1"/>
          <p:nvPr/>
        </p:nvSpPr>
        <p:spPr>
          <a:xfrm>
            <a:off x="7180152" y="4282054"/>
            <a:ext cx="1750500" cy="348900"/>
          </a:xfrm>
          <a:prstGeom prst="rect">
            <a:avLst/>
          </a:prstGeom>
          <a:solidFill>
            <a:srgbClr val="FFFAF6"/>
          </a:solidFill>
          <a:ln w="28800" cap="flat" cmpd="sng">
            <a:solidFill>
              <a:srgbClr val="135669"/>
            </a:solidFill>
            <a:prstDash val="solid"/>
            <a:round/>
            <a:headEnd type="none" w="sm" len="sm"/>
            <a:tailEnd type="none" w="sm" len="sm"/>
          </a:ln>
        </p:spPr>
        <p:txBody>
          <a:bodyPr spcFirstLastPara="1" wrap="square" lIns="103675" tIns="51825" rIns="103675" bIns="51825" anchor="t" anchorCtr="0">
            <a:spAutoFit/>
          </a:bodyPr>
          <a:lstStyle/>
          <a:p>
            <a:pPr marL="0" marR="0" lvl="0" indent="0" algn="l" rtl="0">
              <a:lnSpc>
                <a:spcPct val="100000"/>
              </a:lnSpc>
              <a:spcBef>
                <a:spcPts val="0"/>
              </a:spcBef>
              <a:spcAft>
                <a:spcPts val="0"/>
              </a:spcAft>
              <a:buClr>
                <a:srgbClr val="000000"/>
              </a:buClr>
              <a:buSzPts val="1587"/>
              <a:buFont typeface="Arial"/>
              <a:buNone/>
            </a:pPr>
            <a:r>
              <a:rPr lang="ru-RU" sz="1587" b="0" i="0" u="none" strike="noStrike" cap="none">
                <a:solidFill>
                  <a:srgbClr val="15110E"/>
                </a:solidFill>
                <a:latin typeface="Arial"/>
                <a:ea typeface="Arial"/>
                <a:cs typeface="Arial"/>
                <a:sym typeface="Arial"/>
              </a:rPr>
              <a:t>Привет! Чего д..</a:t>
            </a:r>
            <a:endParaRPr sz="1587" b="0" i="0" u="none" strike="noStrike" cap="none">
              <a:solidFill>
                <a:srgbClr val="15110E"/>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pSp>
        <p:nvGrpSpPr>
          <p:cNvPr id="377" name="Google Shape;377;g3cb20f13e01_0_313"/>
          <p:cNvGrpSpPr/>
          <p:nvPr/>
        </p:nvGrpSpPr>
        <p:grpSpPr>
          <a:xfrm>
            <a:off x="9353973" y="-1553420"/>
            <a:ext cx="2854020" cy="13716631"/>
            <a:chOff x="9353973" y="-1553420"/>
            <a:chExt cx="2854020" cy="13716631"/>
          </a:xfrm>
        </p:grpSpPr>
        <p:grpSp>
          <p:nvGrpSpPr>
            <p:cNvPr id="378" name="Google Shape;378;g3cb20f13e01_0_313"/>
            <p:cNvGrpSpPr/>
            <p:nvPr/>
          </p:nvGrpSpPr>
          <p:grpSpPr>
            <a:xfrm>
              <a:off x="9353973" y="-1553420"/>
              <a:ext cx="2838027" cy="13716631"/>
              <a:chOff x="9353973" y="-6079700"/>
              <a:chExt cx="2838027" cy="13716631"/>
            </a:xfrm>
          </p:grpSpPr>
          <p:pic>
            <p:nvPicPr>
              <p:cNvPr id="379" name="Google Shape;379;g3cb20f13e01_0_313"/>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380" name="Google Shape;380;g3cb20f13e01_0_313"/>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381" name="Google Shape;381;g3cb20f13e01_0_313"/>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 name="Google Shape;382;g3cb20f13e01_0_313"/>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83" name="Google Shape;383;g3cb20f13e01_0_313"/>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384" name="Google Shape;384;g3cb20f13e01_0_313"/>
          <p:cNvSpPr txBox="1"/>
          <p:nvPr/>
        </p:nvSpPr>
        <p:spPr>
          <a:xfrm>
            <a:off x="1055688" y="14515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385" name="Google Shape;385;g3cb20f13e01_0_313"/>
          <p:cNvSpPr txBox="1"/>
          <p:nvPr/>
        </p:nvSpPr>
        <p:spPr>
          <a:xfrm>
            <a:off x="1055688" y="249076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400" b="0" i="0" u="none" strike="noStrike" cap="non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sz="24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400" b="0" i="0" u="none" strike="noStrike" cap="none">
              <a:solidFill>
                <a:schemeClr val="dk1"/>
              </a:solidFill>
              <a:latin typeface="IBM Plex Sans"/>
              <a:ea typeface="IBM Plex Sans"/>
              <a:cs typeface="IBM Plex Sans"/>
              <a:sym typeface="IBM Plex Sans"/>
            </a:endParaRPr>
          </a:p>
        </p:txBody>
      </p:sp>
      <p:sp>
        <p:nvSpPr>
          <p:cNvPr id="386" name="Google Shape;386;g3cb20f13e01_0_313"/>
          <p:cNvSpPr txBox="1"/>
          <p:nvPr/>
        </p:nvSpPr>
        <p:spPr>
          <a:xfrm>
            <a:off x="1883609" y="5623264"/>
            <a:ext cx="2204400" cy="842100"/>
          </a:xfrm>
          <a:prstGeom prst="rect">
            <a:avLst/>
          </a:prstGeom>
          <a:noFill/>
          <a:ln>
            <a:noFill/>
          </a:ln>
        </p:spPr>
        <p:txBody>
          <a:bodyPr spcFirstLastPara="1" wrap="square" lIns="102350" tIns="51150" rIns="102350" bIns="51150" anchor="t" anchorCtr="0">
            <a:spAutoFit/>
          </a:bodyPr>
          <a:lstStyle/>
          <a:p>
            <a:pPr marL="0" marR="0" lvl="0" indent="0" algn="l" rtl="0">
              <a:lnSpc>
                <a:spcPct val="100000"/>
              </a:lnSpc>
              <a:spcBef>
                <a:spcPts val="0"/>
              </a:spcBef>
              <a:spcAft>
                <a:spcPts val="0"/>
              </a:spcAft>
              <a:buClr>
                <a:srgbClr val="000000"/>
              </a:buClr>
              <a:buSzPts val="1567"/>
              <a:buFont typeface="Arial"/>
              <a:buNone/>
            </a:pPr>
            <a:r>
              <a:rPr lang="ru-RU" sz="2400" b="0" i="0" u="none" strike="noStrike" cap="none">
                <a:solidFill>
                  <a:srgbClr val="000000"/>
                </a:solidFill>
                <a:latin typeface="IBM Plex Sans"/>
                <a:ea typeface="IBM Plex Sans"/>
                <a:cs typeface="IBM Plex Sans"/>
                <a:sym typeface="IBM Plex Sans"/>
              </a:rPr>
              <a:t>Накопленный опыт</a:t>
            </a:r>
            <a:endParaRPr sz="2400" b="0" i="0" u="none" strike="noStrike" cap="none">
              <a:solidFill>
                <a:srgbClr val="000000"/>
              </a:solidFill>
              <a:latin typeface="IBM Plex Sans"/>
              <a:ea typeface="IBM Plex Sans"/>
              <a:cs typeface="IBM Plex Sans"/>
              <a:sym typeface="IBM Plex Sans"/>
            </a:endParaRPr>
          </a:p>
        </p:txBody>
      </p:sp>
      <p:sp>
        <p:nvSpPr>
          <p:cNvPr id="387" name="Google Shape;387;g3cb20f13e01_0_313"/>
          <p:cNvSpPr txBox="1"/>
          <p:nvPr/>
        </p:nvSpPr>
        <p:spPr>
          <a:xfrm>
            <a:off x="4825735" y="5652217"/>
            <a:ext cx="2204400" cy="842100"/>
          </a:xfrm>
          <a:prstGeom prst="rect">
            <a:avLst/>
          </a:prstGeom>
          <a:noFill/>
          <a:ln>
            <a:noFill/>
          </a:ln>
        </p:spPr>
        <p:txBody>
          <a:bodyPr spcFirstLastPara="1" wrap="square" lIns="102350" tIns="51150" rIns="102350" bIns="51150" anchor="t" anchorCtr="0">
            <a:spAutoFit/>
          </a:bodyPr>
          <a:lstStyle/>
          <a:p>
            <a:pPr marL="0" marR="0" lvl="0" indent="0" algn="l" rtl="0">
              <a:lnSpc>
                <a:spcPct val="100000"/>
              </a:lnSpc>
              <a:spcBef>
                <a:spcPts val="0"/>
              </a:spcBef>
              <a:spcAft>
                <a:spcPts val="0"/>
              </a:spcAft>
              <a:buClr>
                <a:srgbClr val="000000"/>
              </a:buClr>
              <a:buSzPts val="1567"/>
              <a:buFont typeface="Arial"/>
              <a:buNone/>
            </a:pPr>
            <a:r>
              <a:rPr lang="ru-RU" sz="2400" b="0" i="0" u="none" strike="noStrike" cap="none">
                <a:solidFill>
                  <a:srgbClr val="000000"/>
                </a:solidFill>
                <a:latin typeface="IBM Plex Sans"/>
                <a:ea typeface="IBM Plex Sans"/>
                <a:cs typeface="IBM Plex Sans"/>
                <a:sym typeface="IBM Plex Sans"/>
              </a:rPr>
              <a:t>Состояние мира</a:t>
            </a:r>
            <a:endParaRPr sz="2400" b="0" i="0" u="none" strike="noStrike" cap="none">
              <a:solidFill>
                <a:srgbClr val="000000"/>
              </a:solidFill>
              <a:latin typeface="IBM Plex Sans"/>
              <a:ea typeface="IBM Plex Sans"/>
              <a:cs typeface="IBM Plex Sans"/>
              <a:sym typeface="IBM Plex Sans"/>
            </a:endParaRPr>
          </a:p>
        </p:txBody>
      </p:sp>
      <p:sp>
        <p:nvSpPr>
          <p:cNvPr id="388" name="Google Shape;388;g3cb20f13e01_0_313"/>
          <p:cNvSpPr txBox="1"/>
          <p:nvPr/>
        </p:nvSpPr>
        <p:spPr>
          <a:xfrm>
            <a:off x="7359452" y="5652217"/>
            <a:ext cx="2204400" cy="842100"/>
          </a:xfrm>
          <a:prstGeom prst="rect">
            <a:avLst/>
          </a:prstGeom>
          <a:noFill/>
          <a:ln>
            <a:noFill/>
          </a:ln>
        </p:spPr>
        <p:txBody>
          <a:bodyPr spcFirstLastPara="1" wrap="square" lIns="102350" tIns="51150" rIns="102350" bIns="51150" anchor="t" anchorCtr="0">
            <a:spAutoFit/>
          </a:bodyPr>
          <a:lstStyle/>
          <a:p>
            <a:pPr marL="0" marR="0" lvl="0" indent="0" algn="l" rtl="0">
              <a:lnSpc>
                <a:spcPct val="100000"/>
              </a:lnSpc>
              <a:spcBef>
                <a:spcPts val="0"/>
              </a:spcBef>
              <a:spcAft>
                <a:spcPts val="0"/>
              </a:spcAft>
              <a:buClr>
                <a:srgbClr val="000000"/>
              </a:buClr>
              <a:buSzPts val="1567"/>
              <a:buFont typeface="Arial"/>
              <a:buNone/>
            </a:pPr>
            <a:r>
              <a:rPr lang="ru-RU" sz="2400" b="0" i="0" u="none" strike="noStrike" cap="none">
                <a:solidFill>
                  <a:srgbClr val="000000"/>
                </a:solidFill>
                <a:latin typeface="IBM Plex Sans"/>
                <a:ea typeface="IBM Plex Sans"/>
                <a:cs typeface="IBM Plex Sans"/>
                <a:sym typeface="IBM Plex Sans"/>
              </a:rPr>
              <a:t>Принятое решение</a:t>
            </a:r>
            <a:endParaRPr sz="2400" b="0" i="0" u="none" strike="noStrike" cap="none">
              <a:solidFill>
                <a:srgbClr val="000000"/>
              </a:solidFill>
              <a:latin typeface="IBM Plex Sans"/>
              <a:ea typeface="IBM Plex Sans"/>
              <a:cs typeface="IBM Plex Sans"/>
              <a:sym typeface="IBM Plex Sans"/>
            </a:endParaRPr>
          </a:p>
        </p:txBody>
      </p:sp>
      <p:pic>
        <p:nvPicPr>
          <p:cNvPr id="389" name="Google Shape;389;g3cb20f13e01_0_313" descr="Picture background"/>
          <p:cNvPicPr preferRelativeResize="0"/>
          <p:nvPr/>
        </p:nvPicPr>
        <p:blipFill rotWithShape="1">
          <a:blip r:embed="rId5">
            <a:alphaModFix/>
          </a:blip>
          <a:srcRect/>
          <a:stretch/>
        </p:blipFill>
        <p:spPr>
          <a:xfrm>
            <a:off x="943950" y="3011974"/>
            <a:ext cx="1618115" cy="2306908"/>
          </a:xfrm>
          <a:prstGeom prst="rect">
            <a:avLst/>
          </a:prstGeom>
          <a:noFill/>
          <a:ln>
            <a:noFill/>
          </a:ln>
        </p:spPr>
      </p:pic>
      <p:pic>
        <p:nvPicPr>
          <p:cNvPr id="390" name="Google Shape;390;g3cb20f13e01_0_313" descr="Picture background"/>
          <p:cNvPicPr preferRelativeResize="0"/>
          <p:nvPr/>
        </p:nvPicPr>
        <p:blipFill rotWithShape="1">
          <a:blip r:embed="rId6">
            <a:alphaModFix/>
          </a:blip>
          <a:srcRect/>
          <a:stretch/>
        </p:blipFill>
        <p:spPr>
          <a:xfrm>
            <a:off x="1114548" y="3182573"/>
            <a:ext cx="1618115" cy="2306908"/>
          </a:xfrm>
          <a:prstGeom prst="rect">
            <a:avLst/>
          </a:prstGeom>
          <a:noFill/>
          <a:ln>
            <a:noFill/>
          </a:ln>
        </p:spPr>
      </p:pic>
      <p:pic>
        <p:nvPicPr>
          <p:cNvPr id="391" name="Google Shape;391;g3cb20f13e01_0_313" descr="Picture background"/>
          <p:cNvPicPr preferRelativeResize="0"/>
          <p:nvPr/>
        </p:nvPicPr>
        <p:blipFill rotWithShape="1">
          <a:blip r:embed="rId7">
            <a:alphaModFix/>
          </a:blip>
          <a:srcRect/>
          <a:stretch/>
        </p:blipFill>
        <p:spPr>
          <a:xfrm>
            <a:off x="1285147" y="3353172"/>
            <a:ext cx="1618115" cy="2306908"/>
          </a:xfrm>
          <a:prstGeom prst="rect">
            <a:avLst/>
          </a:prstGeom>
          <a:noFill/>
          <a:ln>
            <a:noFill/>
          </a:ln>
        </p:spPr>
      </p:pic>
      <p:sp>
        <p:nvSpPr>
          <p:cNvPr id="392" name="Google Shape;392;g3cb20f13e01_0_313"/>
          <p:cNvSpPr/>
          <p:nvPr/>
        </p:nvSpPr>
        <p:spPr>
          <a:xfrm>
            <a:off x="2672462" y="3945870"/>
            <a:ext cx="894000" cy="3351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46000" y="135000"/>
                </a:lnTo>
              </a:path>
            </a:pathLst>
          </a:custGeom>
          <a:solidFill>
            <a:srgbClr val="8E39E2"/>
          </a:solidFill>
          <a:ln w="28425" cap="flat" cmpd="sng">
            <a:solidFill>
              <a:srgbClr val="FFFAF6"/>
            </a:solidFill>
            <a:prstDash val="solid"/>
            <a:round/>
            <a:headEnd type="none" w="sm" len="sm"/>
            <a:tailEnd type="none" w="sm" len="sm"/>
          </a:ln>
        </p:spPr>
        <p:txBody>
          <a:bodyPr spcFirstLastPara="1" wrap="square" lIns="102350" tIns="51150" rIns="102350" bIns="51150" anchor="ctr" anchorCtr="0">
            <a:noAutofit/>
          </a:bodyPr>
          <a:lstStyle/>
          <a:p>
            <a:pPr marL="0" marR="0" lvl="0" indent="0" algn="ctr" rtl="0">
              <a:lnSpc>
                <a:spcPct val="100000"/>
              </a:lnSpc>
              <a:spcBef>
                <a:spcPts val="0"/>
              </a:spcBef>
              <a:spcAft>
                <a:spcPts val="0"/>
              </a:spcAft>
              <a:buClr>
                <a:srgbClr val="000000"/>
              </a:buClr>
              <a:buSzPts val="1567"/>
              <a:buFont typeface="Arial"/>
              <a:buNone/>
            </a:pPr>
            <a:r>
              <a:rPr lang="ru-RU" sz="1567" b="0" i="0" u="none" strike="noStrike" cap="none">
                <a:solidFill>
                  <a:srgbClr val="FFFAF6"/>
                </a:solidFill>
                <a:latin typeface="IBM Plex Sans"/>
                <a:ea typeface="IBM Plex Sans"/>
                <a:cs typeface="IBM Plex Sans"/>
                <a:sym typeface="IBM Plex Sans"/>
              </a:rPr>
              <a:t>Состав</a:t>
            </a:r>
            <a:endParaRPr sz="1567" b="0" i="0" u="none" strike="noStrike" cap="none">
              <a:solidFill>
                <a:srgbClr val="FFFAF6"/>
              </a:solidFill>
              <a:latin typeface="IBM Plex Sans"/>
              <a:ea typeface="IBM Plex Sans"/>
              <a:cs typeface="IBM Plex Sans"/>
              <a:sym typeface="IBM Plex Sans"/>
            </a:endParaRPr>
          </a:p>
        </p:txBody>
      </p:sp>
      <p:sp>
        <p:nvSpPr>
          <p:cNvPr id="393" name="Google Shape;393;g3cb20f13e01_0_313"/>
          <p:cNvSpPr/>
          <p:nvPr/>
        </p:nvSpPr>
        <p:spPr>
          <a:xfrm>
            <a:off x="2707407" y="4472824"/>
            <a:ext cx="1146900" cy="453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40676" y="-1724"/>
                </a:lnTo>
              </a:path>
            </a:pathLst>
          </a:custGeom>
          <a:solidFill>
            <a:srgbClr val="135669"/>
          </a:solidFill>
          <a:ln w="28425" cap="flat" cmpd="sng">
            <a:solidFill>
              <a:srgbClr val="0D3E4C"/>
            </a:solidFill>
            <a:prstDash val="solid"/>
            <a:round/>
            <a:headEnd type="none" w="sm" len="sm"/>
            <a:tailEnd type="none" w="sm" len="sm"/>
          </a:ln>
        </p:spPr>
        <p:txBody>
          <a:bodyPr spcFirstLastPara="1" wrap="square" lIns="102350" tIns="51150" rIns="102350" bIns="51150" anchor="ctr" anchorCtr="0">
            <a:noAutofit/>
          </a:bodyPr>
          <a:lstStyle/>
          <a:p>
            <a:pPr marL="0" marR="0" lvl="0" indent="0" algn="ctr" rtl="0">
              <a:lnSpc>
                <a:spcPct val="100000"/>
              </a:lnSpc>
              <a:spcBef>
                <a:spcPts val="0"/>
              </a:spcBef>
              <a:spcAft>
                <a:spcPts val="0"/>
              </a:spcAft>
              <a:buClr>
                <a:srgbClr val="000000"/>
              </a:buClr>
              <a:buSzPts val="1119"/>
              <a:buFont typeface="Arial"/>
              <a:buNone/>
            </a:pPr>
            <a:r>
              <a:rPr lang="ru-RU" sz="1119" b="0" i="0" u="none" strike="noStrike" cap="none">
                <a:solidFill>
                  <a:srgbClr val="FFFAF6"/>
                </a:solidFill>
                <a:latin typeface="Arial"/>
                <a:ea typeface="Arial"/>
                <a:cs typeface="Arial"/>
                <a:sym typeface="Arial"/>
              </a:rPr>
              <a:t>Длительность горения</a:t>
            </a:r>
            <a:endParaRPr sz="1119" b="0" i="0" u="none" strike="noStrike" cap="none">
              <a:solidFill>
                <a:srgbClr val="FFFAF6"/>
              </a:solidFill>
              <a:latin typeface="Arial"/>
              <a:ea typeface="Arial"/>
              <a:cs typeface="Arial"/>
              <a:sym typeface="Arial"/>
            </a:endParaRPr>
          </a:p>
        </p:txBody>
      </p:sp>
      <p:pic>
        <p:nvPicPr>
          <p:cNvPr id="394" name="Google Shape;394;g3cb20f13e01_0_313" descr="Picture background"/>
          <p:cNvPicPr preferRelativeResize="0"/>
          <p:nvPr/>
        </p:nvPicPr>
        <p:blipFill rotWithShape="1">
          <a:blip r:embed="rId8">
            <a:alphaModFix/>
          </a:blip>
          <a:srcRect/>
          <a:stretch/>
        </p:blipFill>
        <p:spPr>
          <a:xfrm>
            <a:off x="4162495" y="3296394"/>
            <a:ext cx="1618115" cy="2306908"/>
          </a:xfrm>
          <a:prstGeom prst="rect">
            <a:avLst/>
          </a:prstGeom>
          <a:noFill/>
          <a:ln>
            <a:noFill/>
          </a:ln>
        </p:spPr>
      </p:pic>
      <p:sp>
        <p:nvSpPr>
          <p:cNvPr id="395" name="Google Shape;395;g3cb20f13e01_0_313"/>
          <p:cNvSpPr/>
          <p:nvPr/>
        </p:nvSpPr>
        <p:spPr>
          <a:xfrm>
            <a:off x="5568916" y="3911243"/>
            <a:ext cx="894000" cy="3351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46000" y="135000"/>
                </a:lnTo>
              </a:path>
            </a:pathLst>
          </a:custGeom>
          <a:solidFill>
            <a:srgbClr val="8E39E2"/>
          </a:solidFill>
          <a:ln w="28425" cap="flat" cmpd="sng">
            <a:solidFill>
              <a:srgbClr val="FFFAF6"/>
            </a:solidFill>
            <a:prstDash val="solid"/>
            <a:round/>
            <a:headEnd type="none" w="sm" len="sm"/>
            <a:tailEnd type="none" w="sm" len="sm"/>
          </a:ln>
        </p:spPr>
        <p:txBody>
          <a:bodyPr spcFirstLastPara="1" wrap="square" lIns="102350" tIns="51150" rIns="102350" bIns="51150" anchor="ctr" anchorCtr="0">
            <a:noAutofit/>
          </a:bodyPr>
          <a:lstStyle/>
          <a:p>
            <a:pPr marL="0" marR="0" lvl="0" indent="0" algn="ctr" rtl="0">
              <a:lnSpc>
                <a:spcPct val="100000"/>
              </a:lnSpc>
              <a:spcBef>
                <a:spcPts val="0"/>
              </a:spcBef>
              <a:spcAft>
                <a:spcPts val="0"/>
              </a:spcAft>
              <a:buClr>
                <a:srgbClr val="000000"/>
              </a:buClr>
              <a:buSzPts val="1567"/>
              <a:buFont typeface="Arial"/>
              <a:buNone/>
            </a:pPr>
            <a:r>
              <a:rPr lang="ru-RU" sz="1567" b="0" i="0" u="none" strike="noStrike" cap="none">
                <a:solidFill>
                  <a:srgbClr val="FFFAF6"/>
                </a:solidFill>
                <a:latin typeface="IBM Plex Sans"/>
                <a:ea typeface="IBM Plex Sans"/>
                <a:cs typeface="IBM Plex Sans"/>
                <a:sym typeface="IBM Plex Sans"/>
              </a:rPr>
              <a:t>Состав</a:t>
            </a:r>
            <a:endParaRPr sz="1567" b="0" i="0" u="none" strike="noStrike" cap="none">
              <a:solidFill>
                <a:srgbClr val="FFFAF6"/>
              </a:solidFill>
              <a:latin typeface="IBM Plex Sans"/>
              <a:ea typeface="IBM Plex Sans"/>
              <a:cs typeface="IBM Plex Sans"/>
              <a:sym typeface="IBM Plex Sans"/>
            </a:endParaRPr>
          </a:p>
        </p:txBody>
      </p:sp>
      <p:sp>
        <p:nvSpPr>
          <p:cNvPr id="396" name="Google Shape;396;g3cb20f13e01_0_313"/>
          <p:cNvSpPr/>
          <p:nvPr/>
        </p:nvSpPr>
        <p:spPr>
          <a:xfrm>
            <a:off x="2703575" y="4472823"/>
            <a:ext cx="1146900" cy="453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40676" y="-1724"/>
                </a:lnTo>
              </a:path>
            </a:pathLst>
          </a:custGeom>
          <a:solidFill>
            <a:srgbClr val="8E39E2"/>
          </a:solidFill>
          <a:ln w="28425" cap="flat" cmpd="sng">
            <a:solidFill>
              <a:srgbClr val="FFFAF6"/>
            </a:solidFill>
            <a:prstDash val="solid"/>
            <a:round/>
            <a:headEnd type="none" w="sm" len="sm"/>
            <a:tailEnd type="none" w="sm" len="sm"/>
          </a:ln>
        </p:spPr>
        <p:txBody>
          <a:bodyPr spcFirstLastPara="1" wrap="square" lIns="102350" tIns="51150" rIns="102350" bIns="51150" anchor="ctr" anchorCtr="0">
            <a:noAutofit/>
          </a:bodyPr>
          <a:lstStyle/>
          <a:p>
            <a:pPr marL="0" marR="0" lvl="0" indent="0" algn="ctr" rtl="0">
              <a:lnSpc>
                <a:spcPct val="100000"/>
              </a:lnSpc>
              <a:spcBef>
                <a:spcPts val="0"/>
              </a:spcBef>
              <a:spcAft>
                <a:spcPts val="0"/>
              </a:spcAft>
              <a:buClr>
                <a:srgbClr val="000000"/>
              </a:buClr>
              <a:buSzPts val="1119"/>
              <a:buFont typeface="Arial"/>
              <a:buNone/>
            </a:pPr>
            <a:r>
              <a:rPr lang="ru-RU" sz="1119" b="0" i="0" u="none" strike="noStrike" cap="none">
                <a:solidFill>
                  <a:srgbClr val="FFFAF6"/>
                </a:solidFill>
                <a:latin typeface="IBM Plex Sans"/>
                <a:ea typeface="IBM Plex Sans"/>
                <a:cs typeface="IBM Plex Sans"/>
                <a:sym typeface="IBM Plex Sans"/>
              </a:rPr>
              <a:t>Длительность горения</a:t>
            </a:r>
            <a:endParaRPr sz="1119" b="0" i="0" u="none" strike="noStrike" cap="none">
              <a:solidFill>
                <a:srgbClr val="FFFAF6"/>
              </a:solidFill>
              <a:latin typeface="IBM Plex Sans"/>
              <a:ea typeface="IBM Plex Sans"/>
              <a:cs typeface="IBM Plex Sans"/>
              <a:sym typeface="IBM Plex Sans"/>
            </a:endParaRPr>
          </a:p>
        </p:txBody>
      </p:sp>
      <p:sp>
        <p:nvSpPr>
          <p:cNvPr id="397" name="Google Shape;397;g3cb20f13e01_0_313"/>
          <p:cNvSpPr/>
          <p:nvPr/>
        </p:nvSpPr>
        <p:spPr>
          <a:xfrm>
            <a:off x="7685053" y="4514368"/>
            <a:ext cx="1146900" cy="453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3190" y="18617"/>
                </a:lnTo>
              </a:path>
            </a:pathLst>
          </a:custGeom>
          <a:solidFill>
            <a:srgbClr val="8E39E2"/>
          </a:solidFill>
          <a:ln w="28425" cap="flat" cmpd="sng">
            <a:solidFill>
              <a:srgbClr val="FFFAF6"/>
            </a:solidFill>
            <a:prstDash val="solid"/>
            <a:round/>
            <a:headEnd type="none" w="sm" len="sm"/>
            <a:tailEnd type="none" w="sm" len="sm"/>
          </a:ln>
        </p:spPr>
        <p:txBody>
          <a:bodyPr spcFirstLastPara="1" wrap="square" lIns="102350" tIns="51150" rIns="102350" bIns="51150" anchor="ctr" anchorCtr="0">
            <a:noAutofit/>
          </a:bodyPr>
          <a:lstStyle/>
          <a:p>
            <a:pPr marL="0" marR="0" lvl="0" indent="0" algn="ctr" rtl="0">
              <a:lnSpc>
                <a:spcPct val="100000"/>
              </a:lnSpc>
              <a:spcBef>
                <a:spcPts val="0"/>
              </a:spcBef>
              <a:spcAft>
                <a:spcPts val="0"/>
              </a:spcAft>
              <a:buClr>
                <a:srgbClr val="000000"/>
              </a:buClr>
              <a:buSzPts val="1119"/>
              <a:buFont typeface="Arial"/>
              <a:buNone/>
            </a:pPr>
            <a:r>
              <a:rPr lang="ru-RU" sz="1119" b="0" i="0" u="none" strike="noStrike" cap="none">
                <a:solidFill>
                  <a:srgbClr val="FFFAF6"/>
                </a:solidFill>
                <a:latin typeface="IBM Plex Sans"/>
                <a:ea typeface="IBM Plex Sans"/>
                <a:cs typeface="IBM Plex Sans"/>
                <a:sym typeface="IBM Plex Sans"/>
              </a:rPr>
              <a:t>Длительность горения</a:t>
            </a:r>
            <a:endParaRPr sz="1119" b="0" i="0" u="none" strike="noStrike" cap="none">
              <a:solidFill>
                <a:srgbClr val="FFFAF6"/>
              </a:solidFill>
              <a:latin typeface="IBM Plex Sans"/>
              <a:ea typeface="IBM Plex Sans"/>
              <a:cs typeface="IBM Plex Sans"/>
              <a:sym typeface="IBM Plex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pSp>
        <p:nvGrpSpPr>
          <p:cNvPr id="402" name="Google Shape;402;g3d1a00d9b9a_0_60"/>
          <p:cNvGrpSpPr/>
          <p:nvPr/>
        </p:nvGrpSpPr>
        <p:grpSpPr>
          <a:xfrm>
            <a:off x="9353973" y="-1553420"/>
            <a:ext cx="2854020" cy="13716631"/>
            <a:chOff x="9353973" y="-1553420"/>
            <a:chExt cx="2854020" cy="13716631"/>
          </a:xfrm>
        </p:grpSpPr>
        <p:grpSp>
          <p:nvGrpSpPr>
            <p:cNvPr id="403" name="Google Shape;403;g3d1a00d9b9a_0_60"/>
            <p:cNvGrpSpPr/>
            <p:nvPr/>
          </p:nvGrpSpPr>
          <p:grpSpPr>
            <a:xfrm>
              <a:off x="9353973" y="-1553420"/>
              <a:ext cx="2838027" cy="13716631"/>
              <a:chOff x="9353973" y="-6079700"/>
              <a:chExt cx="2838027" cy="13716631"/>
            </a:xfrm>
          </p:grpSpPr>
          <p:pic>
            <p:nvPicPr>
              <p:cNvPr id="404" name="Google Shape;404;g3d1a00d9b9a_0_60"/>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405" name="Google Shape;405;g3d1a00d9b9a_0_60"/>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406" name="Google Shape;406;g3d1a00d9b9a_0_60"/>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7" name="Google Shape;407;g3d1a00d9b9a_0_60"/>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08" name="Google Shape;408;g3d1a00d9b9a_0_60"/>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409" name="Google Shape;409;g3d1a00d9b9a_0_60"/>
          <p:cNvSpPr txBox="1"/>
          <p:nvPr/>
        </p:nvSpPr>
        <p:spPr>
          <a:xfrm>
            <a:off x="1055688" y="14515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410" name="Google Shape;410;g3d1a00d9b9a_0_60"/>
          <p:cNvSpPr txBox="1"/>
          <p:nvPr/>
        </p:nvSpPr>
        <p:spPr>
          <a:xfrm>
            <a:off x="1055688" y="249076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Медицинский центр хочет предсказывать вероятность развития диабета 2-го типа у пациента на основе его возраста, индекса массы тела, уровня глюкозы в крови, наследственности и образа жизни.</a:t>
            </a:r>
            <a:endParaRPr sz="2300" b="0" i="0" u="none" strike="noStrike" cap="none">
              <a:solidFill>
                <a:schemeClr val="dk1"/>
              </a:solidFill>
              <a:latin typeface="IBM Plex Sans"/>
              <a:ea typeface="IBM Plex Sans"/>
              <a:cs typeface="IBM Plex Sans"/>
              <a:sym typeface="IBM Plex Sans"/>
            </a:endParaRPr>
          </a:p>
        </p:txBody>
      </p:sp>
      <p:sp>
        <p:nvSpPr>
          <p:cNvPr id="411" name="Google Shape;411;g3d1a00d9b9a_0_60"/>
          <p:cNvSpPr txBox="1"/>
          <p:nvPr/>
        </p:nvSpPr>
        <p:spPr>
          <a:xfrm>
            <a:off x="1055709" y="4298539"/>
            <a:ext cx="2204400" cy="811500"/>
          </a:xfrm>
          <a:prstGeom prst="rect">
            <a:avLst/>
          </a:prstGeom>
          <a:noFill/>
          <a:ln>
            <a:noFill/>
          </a:ln>
        </p:spPr>
        <p:txBody>
          <a:bodyPr spcFirstLastPara="1" wrap="square" lIns="102350" tIns="51150" rIns="102350" bIns="51150" anchor="t" anchorCtr="0">
            <a:spAutoFit/>
          </a:bodyPr>
          <a:lstStyle/>
          <a:p>
            <a:pPr marL="0" marR="0" lvl="0" indent="0" algn="l" rtl="0">
              <a:lnSpc>
                <a:spcPct val="100000"/>
              </a:lnSpc>
              <a:spcBef>
                <a:spcPts val="0"/>
              </a:spcBef>
              <a:spcAft>
                <a:spcPts val="0"/>
              </a:spcAft>
              <a:buClr>
                <a:srgbClr val="000000"/>
              </a:buClr>
              <a:buSzPts val="1567"/>
              <a:buFont typeface="Arial"/>
              <a:buNone/>
            </a:pPr>
            <a:r>
              <a:rPr lang="ru-RU" sz="2300" b="0" i="0" u="none" strike="noStrike" cap="none">
                <a:solidFill>
                  <a:srgbClr val="000000"/>
                </a:solidFill>
                <a:latin typeface="IBM Plex Sans"/>
                <a:ea typeface="IBM Plex Sans"/>
                <a:cs typeface="IBM Plex Sans"/>
                <a:sym typeface="IBM Plex Sans"/>
              </a:rPr>
              <a:t>Накопленный опыт</a:t>
            </a:r>
            <a:endParaRPr sz="2300" b="0" i="0" u="none" strike="noStrike" cap="none">
              <a:solidFill>
                <a:srgbClr val="000000"/>
              </a:solidFill>
              <a:latin typeface="IBM Plex Sans"/>
              <a:ea typeface="IBM Plex Sans"/>
              <a:cs typeface="IBM Plex Sans"/>
              <a:sym typeface="IBM Plex Sans"/>
            </a:endParaRPr>
          </a:p>
        </p:txBody>
      </p:sp>
      <p:sp>
        <p:nvSpPr>
          <p:cNvPr id="412" name="Google Shape;412;g3d1a00d9b9a_0_60"/>
          <p:cNvSpPr txBox="1"/>
          <p:nvPr/>
        </p:nvSpPr>
        <p:spPr>
          <a:xfrm>
            <a:off x="3997835" y="4327492"/>
            <a:ext cx="2204400" cy="811500"/>
          </a:xfrm>
          <a:prstGeom prst="rect">
            <a:avLst/>
          </a:prstGeom>
          <a:noFill/>
          <a:ln>
            <a:noFill/>
          </a:ln>
        </p:spPr>
        <p:txBody>
          <a:bodyPr spcFirstLastPara="1" wrap="square" lIns="102350" tIns="51150" rIns="102350" bIns="51150" anchor="t" anchorCtr="0">
            <a:spAutoFit/>
          </a:bodyPr>
          <a:lstStyle/>
          <a:p>
            <a:pPr marL="0" marR="0" lvl="0" indent="0" algn="l" rtl="0">
              <a:lnSpc>
                <a:spcPct val="100000"/>
              </a:lnSpc>
              <a:spcBef>
                <a:spcPts val="0"/>
              </a:spcBef>
              <a:spcAft>
                <a:spcPts val="0"/>
              </a:spcAft>
              <a:buClr>
                <a:srgbClr val="000000"/>
              </a:buClr>
              <a:buSzPts val="1567"/>
              <a:buFont typeface="Arial"/>
              <a:buNone/>
            </a:pPr>
            <a:r>
              <a:rPr lang="ru-RU" sz="2300" b="0" i="0" u="none" strike="noStrike" cap="none">
                <a:solidFill>
                  <a:srgbClr val="000000"/>
                </a:solidFill>
                <a:latin typeface="IBM Plex Sans"/>
                <a:ea typeface="IBM Plex Sans"/>
                <a:cs typeface="IBM Plex Sans"/>
                <a:sym typeface="IBM Plex Sans"/>
              </a:rPr>
              <a:t>Состояние мира</a:t>
            </a:r>
            <a:endParaRPr sz="2300" b="0" i="0" u="none" strike="noStrike" cap="none">
              <a:solidFill>
                <a:srgbClr val="000000"/>
              </a:solidFill>
              <a:latin typeface="IBM Plex Sans"/>
              <a:ea typeface="IBM Plex Sans"/>
              <a:cs typeface="IBM Plex Sans"/>
              <a:sym typeface="IBM Plex Sans"/>
            </a:endParaRPr>
          </a:p>
        </p:txBody>
      </p:sp>
      <p:sp>
        <p:nvSpPr>
          <p:cNvPr id="413" name="Google Shape;413;g3d1a00d9b9a_0_60"/>
          <p:cNvSpPr txBox="1"/>
          <p:nvPr/>
        </p:nvSpPr>
        <p:spPr>
          <a:xfrm>
            <a:off x="6531552" y="4327492"/>
            <a:ext cx="2204400" cy="811500"/>
          </a:xfrm>
          <a:prstGeom prst="rect">
            <a:avLst/>
          </a:prstGeom>
          <a:noFill/>
          <a:ln>
            <a:noFill/>
          </a:ln>
        </p:spPr>
        <p:txBody>
          <a:bodyPr spcFirstLastPara="1" wrap="square" lIns="102350" tIns="51150" rIns="102350" bIns="51150" anchor="t" anchorCtr="0">
            <a:spAutoFit/>
          </a:bodyPr>
          <a:lstStyle/>
          <a:p>
            <a:pPr marL="0" marR="0" lvl="0" indent="0" algn="l" rtl="0">
              <a:lnSpc>
                <a:spcPct val="100000"/>
              </a:lnSpc>
              <a:spcBef>
                <a:spcPts val="0"/>
              </a:spcBef>
              <a:spcAft>
                <a:spcPts val="0"/>
              </a:spcAft>
              <a:buClr>
                <a:srgbClr val="000000"/>
              </a:buClr>
              <a:buSzPts val="1567"/>
              <a:buFont typeface="Arial"/>
              <a:buNone/>
            </a:pPr>
            <a:r>
              <a:rPr lang="ru-RU" sz="2300" b="0" i="0" u="none" strike="noStrike" cap="none">
                <a:solidFill>
                  <a:srgbClr val="000000"/>
                </a:solidFill>
                <a:latin typeface="IBM Plex Sans"/>
                <a:ea typeface="IBM Plex Sans"/>
                <a:cs typeface="IBM Plex Sans"/>
                <a:sym typeface="IBM Plex Sans"/>
              </a:rPr>
              <a:t>Принятое решение</a:t>
            </a:r>
            <a:endParaRPr sz="2300" b="0" i="0" u="none" strike="noStrike" cap="none">
              <a:solidFill>
                <a:srgbClr val="000000"/>
              </a:solidFill>
              <a:latin typeface="IBM Plex Sans"/>
              <a:ea typeface="IBM Plex Sans"/>
              <a:cs typeface="IBM Plex Sans"/>
              <a:sym typeface="IBM Plex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grpSp>
        <p:nvGrpSpPr>
          <p:cNvPr id="418" name="Google Shape;418;g3d484a96bb7_0_0"/>
          <p:cNvGrpSpPr/>
          <p:nvPr/>
        </p:nvGrpSpPr>
        <p:grpSpPr>
          <a:xfrm>
            <a:off x="9353973" y="-1553420"/>
            <a:ext cx="2854020" cy="13716631"/>
            <a:chOff x="9353973" y="-1553420"/>
            <a:chExt cx="2854020" cy="13716631"/>
          </a:xfrm>
        </p:grpSpPr>
        <p:grpSp>
          <p:nvGrpSpPr>
            <p:cNvPr id="419" name="Google Shape;419;g3d484a96bb7_0_0"/>
            <p:cNvGrpSpPr/>
            <p:nvPr/>
          </p:nvGrpSpPr>
          <p:grpSpPr>
            <a:xfrm>
              <a:off x="9353973" y="-1553420"/>
              <a:ext cx="2838027" cy="13716631"/>
              <a:chOff x="9353973" y="-6079700"/>
              <a:chExt cx="2838027" cy="13716631"/>
            </a:xfrm>
          </p:grpSpPr>
          <p:pic>
            <p:nvPicPr>
              <p:cNvPr id="420" name="Google Shape;420;g3d484a96bb7_0_0"/>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421" name="Google Shape;421;g3d484a96bb7_0_0"/>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422" name="Google Shape;422;g3d484a96bb7_0_0"/>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3" name="Google Shape;423;g3d484a96bb7_0_0"/>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24" name="Google Shape;424;g3d484a96bb7_0_0"/>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425" name="Google Shape;425;g3d484a96bb7_0_0"/>
          <p:cNvSpPr txBox="1"/>
          <p:nvPr/>
        </p:nvSpPr>
        <p:spPr>
          <a:xfrm>
            <a:off x="1055688" y="14515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426" name="Google Shape;426;g3d484a96bb7_0_0"/>
          <p:cNvSpPr txBox="1"/>
          <p:nvPr/>
        </p:nvSpPr>
        <p:spPr>
          <a:xfrm>
            <a:off x="1055688" y="249076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Агентство недвижимости хочет оценить рыночную стоимость квартиры на основе её характеристик (площадь, этаж, район, год постройки, материал стен).</a:t>
            </a:r>
            <a:endParaRPr sz="2300" b="0" i="0" u="none" strike="noStrike" cap="none">
              <a:solidFill>
                <a:schemeClr val="dk1"/>
              </a:solidFill>
              <a:latin typeface="IBM Plex Sans"/>
              <a:ea typeface="IBM Plex Sans"/>
              <a:cs typeface="IBM Plex Sans"/>
              <a:sym typeface="IBM Plex Sans"/>
            </a:endParaRPr>
          </a:p>
        </p:txBody>
      </p:sp>
      <p:sp>
        <p:nvSpPr>
          <p:cNvPr id="427" name="Google Shape;427;g3d484a96bb7_0_0"/>
          <p:cNvSpPr txBox="1"/>
          <p:nvPr/>
        </p:nvSpPr>
        <p:spPr>
          <a:xfrm>
            <a:off x="1055709" y="4298539"/>
            <a:ext cx="2204400" cy="811500"/>
          </a:xfrm>
          <a:prstGeom prst="rect">
            <a:avLst/>
          </a:prstGeom>
          <a:noFill/>
          <a:ln>
            <a:noFill/>
          </a:ln>
        </p:spPr>
        <p:txBody>
          <a:bodyPr spcFirstLastPara="1" wrap="square" lIns="102350" tIns="51150" rIns="102350" bIns="51150" anchor="t" anchorCtr="0">
            <a:spAutoFit/>
          </a:bodyPr>
          <a:lstStyle/>
          <a:p>
            <a:pPr marL="0" marR="0" lvl="0" indent="0" algn="l" rtl="0">
              <a:lnSpc>
                <a:spcPct val="100000"/>
              </a:lnSpc>
              <a:spcBef>
                <a:spcPts val="0"/>
              </a:spcBef>
              <a:spcAft>
                <a:spcPts val="0"/>
              </a:spcAft>
              <a:buClr>
                <a:srgbClr val="000000"/>
              </a:buClr>
              <a:buSzPts val="1567"/>
              <a:buFont typeface="Arial"/>
              <a:buNone/>
            </a:pPr>
            <a:r>
              <a:rPr lang="ru-RU" sz="2300" b="0" i="0" u="none" strike="noStrike" cap="none">
                <a:solidFill>
                  <a:srgbClr val="000000"/>
                </a:solidFill>
                <a:latin typeface="IBM Plex Sans"/>
                <a:ea typeface="IBM Plex Sans"/>
                <a:cs typeface="IBM Plex Sans"/>
                <a:sym typeface="IBM Plex Sans"/>
              </a:rPr>
              <a:t>Накопленный опыт</a:t>
            </a:r>
            <a:endParaRPr sz="2300" b="0" i="0" u="none" strike="noStrike" cap="none">
              <a:solidFill>
                <a:srgbClr val="000000"/>
              </a:solidFill>
              <a:latin typeface="IBM Plex Sans"/>
              <a:ea typeface="IBM Plex Sans"/>
              <a:cs typeface="IBM Plex Sans"/>
              <a:sym typeface="IBM Plex Sans"/>
            </a:endParaRPr>
          </a:p>
        </p:txBody>
      </p:sp>
      <p:sp>
        <p:nvSpPr>
          <p:cNvPr id="428" name="Google Shape;428;g3d484a96bb7_0_0"/>
          <p:cNvSpPr txBox="1"/>
          <p:nvPr/>
        </p:nvSpPr>
        <p:spPr>
          <a:xfrm>
            <a:off x="3997835" y="4327492"/>
            <a:ext cx="2204400" cy="811500"/>
          </a:xfrm>
          <a:prstGeom prst="rect">
            <a:avLst/>
          </a:prstGeom>
          <a:noFill/>
          <a:ln>
            <a:noFill/>
          </a:ln>
        </p:spPr>
        <p:txBody>
          <a:bodyPr spcFirstLastPara="1" wrap="square" lIns="102350" tIns="51150" rIns="102350" bIns="51150" anchor="t" anchorCtr="0">
            <a:spAutoFit/>
          </a:bodyPr>
          <a:lstStyle/>
          <a:p>
            <a:pPr marL="0" marR="0" lvl="0" indent="0" algn="l" rtl="0">
              <a:lnSpc>
                <a:spcPct val="100000"/>
              </a:lnSpc>
              <a:spcBef>
                <a:spcPts val="0"/>
              </a:spcBef>
              <a:spcAft>
                <a:spcPts val="0"/>
              </a:spcAft>
              <a:buClr>
                <a:srgbClr val="000000"/>
              </a:buClr>
              <a:buSzPts val="1567"/>
              <a:buFont typeface="Arial"/>
              <a:buNone/>
            </a:pPr>
            <a:r>
              <a:rPr lang="ru-RU" sz="2300" b="0" i="0" u="none" strike="noStrike" cap="none">
                <a:solidFill>
                  <a:srgbClr val="000000"/>
                </a:solidFill>
                <a:latin typeface="IBM Plex Sans"/>
                <a:ea typeface="IBM Plex Sans"/>
                <a:cs typeface="IBM Plex Sans"/>
                <a:sym typeface="IBM Plex Sans"/>
              </a:rPr>
              <a:t>Состояние мира</a:t>
            </a:r>
            <a:endParaRPr sz="2300" b="0" i="0" u="none" strike="noStrike" cap="none">
              <a:solidFill>
                <a:srgbClr val="000000"/>
              </a:solidFill>
              <a:latin typeface="IBM Plex Sans"/>
              <a:ea typeface="IBM Plex Sans"/>
              <a:cs typeface="IBM Plex Sans"/>
              <a:sym typeface="IBM Plex Sans"/>
            </a:endParaRPr>
          </a:p>
        </p:txBody>
      </p:sp>
      <p:sp>
        <p:nvSpPr>
          <p:cNvPr id="429" name="Google Shape;429;g3d484a96bb7_0_0"/>
          <p:cNvSpPr txBox="1"/>
          <p:nvPr/>
        </p:nvSpPr>
        <p:spPr>
          <a:xfrm>
            <a:off x="6531552" y="4327492"/>
            <a:ext cx="2204400" cy="811500"/>
          </a:xfrm>
          <a:prstGeom prst="rect">
            <a:avLst/>
          </a:prstGeom>
          <a:noFill/>
          <a:ln>
            <a:noFill/>
          </a:ln>
        </p:spPr>
        <p:txBody>
          <a:bodyPr spcFirstLastPara="1" wrap="square" lIns="102350" tIns="51150" rIns="102350" bIns="51150" anchor="t" anchorCtr="0">
            <a:spAutoFit/>
          </a:bodyPr>
          <a:lstStyle/>
          <a:p>
            <a:pPr marL="0" marR="0" lvl="0" indent="0" algn="l" rtl="0">
              <a:lnSpc>
                <a:spcPct val="100000"/>
              </a:lnSpc>
              <a:spcBef>
                <a:spcPts val="0"/>
              </a:spcBef>
              <a:spcAft>
                <a:spcPts val="0"/>
              </a:spcAft>
              <a:buClr>
                <a:srgbClr val="000000"/>
              </a:buClr>
              <a:buSzPts val="1567"/>
              <a:buFont typeface="Arial"/>
              <a:buNone/>
            </a:pPr>
            <a:r>
              <a:rPr lang="ru-RU" sz="2300" b="0" i="0" u="none" strike="noStrike" cap="none">
                <a:solidFill>
                  <a:srgbClr val="000000"/>
                </a:solidFill>
                <a:latin typeface="IBM Plex Sans"/>
                <a:ea typeface="IBM Plex Sans"/>
                <a:cs typeface="IBM Plex Sans"/>
                <a:sym typeface="IBM Plex Sans"/>
              </a:rPr>
              <a:t>Принятое решение</a:t>
            </a:r>
            <a:endParaRPr sz="2300" b="0" i="0" u="none" strike="noStrike" cap="none">
              <a:solidFill>
                <a:srgbClr val="000000"/>
              </a:solidFill>
              <a:latin typeface="IBM Plex Sans"/>
              <a:ea typeface="IBM Plex Sans"/>
              <a:cs typeface="IBM Plex Sans"/>
              <a:sym typeface="IBM Plex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Традиционное программирование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435" name="Google Shape;435;p4"/>
          <p:cNvGrpSpPr/>
          <p:nvPr/>
        </p:nvGrpSpPr>
        <p:grpSpPr>
          <a:xfrm>
            <a:off x="9353973" y="-1553420"/>
            <a:ext cx="2853949" cy="13716633"/>
            <a:chOff x="9353973" y="-1553420"/>
            <a:chExt cx="2853949" cy="13716633"/>
          </a:xfrm>
        </p:grpSpPr>
        <p:grpSp>
          <p:nvGrpSpPr>
            <p:cNvPr id="436" name="Google Shape;436;p4"/>
            <p:cNvGrpSpPr/>
            <p:nvPr/>
          </p:nvGrpSpPr>
          <p:grpSpPr>
            <a:xfrm>
              <a:off x="9353973" y="-1553420"/>
              <a:ext cx="2838027" cy="13716633"/>
              <a:chOff x="9353973" y="-6079700"/>
              <a:chExt cx="2838027" cy="13716633"/>
            </a:xfrm>
          </p:grpSpPr>
          <p:pic>
            <p:nvPicPr>
              <p:cNvPr id="437" name="Google Shape;437;p4"/>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438" name="Google Shape;438;p4"/>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439" name="Google Shape;439;p4"/>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 name="Google Shape;440;p4"/>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41" name="Google Shape;441;p4"/>
          <p:cNvPicPr preferRelativeResize="0"/>
          <p:nvPr/>
        </p:nvPicPr>
        <p:blipFill rotWithShape="1">
          <a:blip r:embed="rId4">
            <a:alphaModFix/>
          </a:blip>
          <a:srcRect/>
          <a:stretch/>
        </p:blipFill>
        <p:spPr>
          <a:xfrm>
            <a:off x="9353973" y="3808154"/>
            <a:ext cx="2216246" cy="2219325"/>
          </a:xfrm>
          <a:prstGeom prst="rect">
            <a:avLst/>
          </a:prstGeom>
          <a:noFill/>
          <a:ln>
            <a:noFill/>
          </a:ln>
        </p:spPr>
      </p:pic>
      <p:cxnSp>
        <p:nvCxnSpPr>
          <p:cNvPr id="442" name="Google Shape;442;p4"/>
          <p:cNvCxnSpPr>
            <a:stCxn id="443" idx="3"/>
            <a:endCxn id="444" idx="1"/>
          </p:cNvCxnSpPr>
          <p:nvPr/>
        </p:nvCxnSpPr>
        <p:spPr>
          <a:xfrm rot="10800000" flipH="1">
            <a:off x="2925487" y="3876635"/>
            <a:ext cx="781800" cy="6300"/>
          </a:xfrm>
          <a:prstGeom prst="bentConnector3">
            <a:avLst>
              <a:gd name="adj1" fmla="val 36401"/>
            </a:avLst>
          </a:prstGeom>
          <a:noFill/>
          <a:ln w="9525" cap="flat" cmpd="sng">
            <a:solidFill>
              <a:srgbClr val="000000"/>
            </a:solidFill>
            <a:prstDash val="solid"/>
            <a:round/>
            <a:headEnd type="none" w="sm" len="sm"/>
            <a:tailEnd type="stealth" w="med" len="med"/>
          </a:ln>
        </p:spPr>
      </p:cxnSp>
      <p:sp>
        <p:nvSpPr>
          <p:cNvPr id="443" name="Google Shape;443;p4"/>
          <p:cNvSpPr txBox="1"/>
          <p:nvPr/>
        </p:nvSpPr>
        <p:spPr>
          <a:xfrm>
            <a:off x="973087" y="3613085"/>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Данные</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445" name="Google Shape;445;p4"/>
          <p:cNvSpPr txBox="1"/>
          <p:nvPr/>
        </p:nvSpPr>
        <p:spPr>
          <a:xfrm>
            <a:off x="6745513" y="3602925"/>
            <a:ext cx="1952400" cy="5472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Ответ</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446" name="Google Shape;446;p4"/>
          <p:cNvCxnSpPr>
            <a:stCxn id="444" idx="3"/>
            <a:endCxn id="445" idx="1"/>
          </p:cNvCxnSpPr>
          <p:nvPr/>
        </p:nvCxnSpPr>
        <p:spPr>
          <a:xfrm>
            <a:off x="6176350" y="3876525"/>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444" name="Google Shape;444;p4"/>
          <p:cNvSpPr/>
          <p:nvPr/>
        </p:nvSpPr>
        <p:spPr>
          <a:xfrm>
            <a:off x="3494650" y="3414525"/>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Программа</a:t>
            </a:r>
            <a:endParaRPr sz="1500" b="0" i="0" u="none" strike="noStrike" cap="non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g3cb20f13e01_0_372"/>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Традиционное программирование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452" name="Google Shape;452;g3cb20f13e01_0_372"/>
          <p:cNvGrpSpPr/>
          <p:nvPr/>
        </p:nvGrpSpPr>
        <p:grpSpPr>
          <a:xfrm>
            <a:off x="9353973" y="-1553420"/>
            <a:ext cx="2854020" cy="13716631"/>
            <a:chOff x="9353973" y="-1553420"/>
            <a:chExt cx="2854020" cy="13716631"/>
          </a:xfrm>
        </p:grpSpPr>
        <p:grpSp>
          <p:nvGrpSpPr>
            <p:cNvPr id="453" name="Google Shape;453;g3cb20f13e01_0_372"/>
            <p:cNvGrpSpPr/>
            <p:nvPr/>
          </p:nvGrpSpPr>
          <p:grpSpPr>
            <a:xfrm>
              <a:off x="9353973" y="-1553420"/>
              <a:ext cx="2838027" cy="13716631"/>
              <a:chOff x="9353973" y="-6079700"/>
              <a:chExt cx="2838027" cy="13716631"/>
            </a:xfrm>
          </p:grpSpPr>
          <p:pic>
            <p:nvPicPr>
              <p:cNvPr id="454" name="Google Shape;454;g3cb20f13e01_0_372"/>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455" name="Google Shape;455;g3cb20f13e01_0_372"/>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456" name="Google Shape;456;g3cb20f13e01_0_372"/>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 name="Google Shape;457;g3cb20f13e01_0_372"/>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58" name="Google Shape;458;g3cb20f13e01_0_372"/>
          <p:cNvPicPr preferRelativeResize="0"/>
          <p:nvPr/>
        </p:nvPicPr>
        <p:blipFill rotWithShape="1">
          <a:blip r:embed="rId4">
            <a:alphaModFix/>
          </a:blip>
          <a:srcRect/>
          <a:stretch/>
        </p:blipFill>
        <p:spPr>
          <a:xfrm>
            <a:off x="9353973" y="3808154"/>
            <a:ext cx="2216246" cy="2219325"/>
          </a:xfrm>
          <a:prstGeom prst="rect">
            <a:avLst/>
          </a:prstGeom>
          <a:noFill/>
          <a:ln>
            <a:noFill/>
          </a:ln>
        </p:spPr>
      </p:pic>
      <p:cxnSp>
        <p:nvCxnSpPr>
          <p:cNvPr id="459" name="Google Shape;459;g3cb20f13e01_0_372"/>
          <p:cNvCxnSpPr>
            <a:stCxn id="460" idx="3"/>
            <a:endCxn id="461" idx="1"/>
          </p:cNvCxnSpPr>
          <p:nvPr/>
        </p:nvCxnSpPr>
        <p:spPr>
          <a:xfrm rot="10800000" flipH="1">
            <a:off x="2687350" y="4818835"/>
            <a:ext cx="781800" cy="6300"/>
          </a:xfrm>
          <a:prstGeom prst="bentConnector3">
            <a:avLst>
              <a:gd name="adj1" fmla="val 36401"/>
            </a:avLst>
          </a:prstGeom>
          <a:noFill/>
          <a:ln w="9525" cap="flat" cmpd="sng">
            <a:solidFill>
              <a:srgbClr val="000000"/>
            </a:solidFill>
            <a:prstDash val="solid"/>
            <a:round/>
            <a:headEnd type="none" w="sm" len="sm"/>
            <a:tailEnd type="stealth" w="med" len="med"/>
          </a:ln>
        </p:spPr>
      </p:cxnSp>
      <p:sp>
        <p:nvSpPr>
          <p:cNvPr id="460" name="Google Shape;460;g3cb20f13e01_0_372"/>
          <p:cNvSpPr txBox="1"/>
          <p:nvPr/>
        </p:nvSpPr>
        <p:spPr>
          <a:xfrm>
            <a:off x="734950" y="4555285"/>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2 и 2</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462" name="Google Shape;462;g3cb20f13e01_0_372"/>
          <p:cNvSpPr txBox="1"/>
          <p:nvPr/>
        </p:nvSpPr>
        <p:spPr>
          <a:xfrm>
            <a:off x="6507376" y="4545125"/>
            <a:ext cx="1952400" cy="5472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4</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463" name="Google Shape;463;g3cb20f13e01_0_372"/>
          <p:cNvCxnSpPr>
            <a:stCxn id="461" idx="3"/>
            <a:endCxn id="462" idx="1"/>
          </p:cNvCxnSpPr>
          <p:nvPr/>
        </p:nvCxnSpPr>
        <p:spPr>
          <a:xfrm>
            <a:off x="5938213" y="4818725"/>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461" name="Google Shape;461;g3cb20f13e01_0_372"/>
          <p:cNvSpPr/>
          <p:nvPr/>
        </p:nvSpPr>
        <p:spPr>
          <a:xfrm>
            <a:off x="3256513" y="4356725"/>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сложить</a:t>
            </a:r>
            <a:endParaRPr sz="1500" b="0" i="0" u="none" strike="noStrike" cap="none">
              <a:solidFill>
                <a:srgbClr val="000000"/>
              </a:solidFill>
              <a:latin typeface="Montserrat SemiBold"/>
              <a:ea typeface="Montserrat SemiBold"/>
              <a:cs typeface="Montserrat SemiBold"/>
              <a:sym typeface="Montserrat SemiBold"/>
            </a:endParaRPr>
          </a:p>
        </p:txBody>
      </p:sp>
      <p:cxnSp>
        <p:nvCxnSpPr>
          <p:cNvPr id="464" name="Google Shape;464;g3cb20f13e01_0_372"/>
          <p:cNvCxnSpPr>
            <a:stCxn id="465" idx="3"/>
            <a:endCxn id="466" idx="1"/>
          </p:cNvCxnSpPr>
          <p:nvPr/>
        </p:nvCxnSpPr>
        <p:spPr>
          <a:xfrm rot="10800000" flipH="1">
            <a:off x="2687350" y="3758035"/>
            <a:ext cx="781800" cy="6300"/>
          </a:xfrm>
          <a:prstGeom prst="bentConnector3">
            <a:avLst>
              <a:gd name="adj1" fmla="val 36401"/>
            </a:avLst>
          </a:prstGeom>
          <a:noFill/>
          <a:ln w="9525" cap="flat" cmpd="sng">
            <a:solidFill>
              <a:srgbClr val="000000"/>
            </a:solidFill>
            <a:prstDash val="solid"/>
            <a:round/>
            <a:headEnd type="none" w="sm" len="sm"/>
            <a:tailEnd type="stealth" w="med" len="med"/>
          </a:ln>
        </p:spPr>
      </p:cxnSp>
      <p:sp>
        <p:nvSpPr>
          <p:cNvPr id="465" name="Google Shape;465;g3cb20f13e01_0_372"/>
          <p:cNvSpPr txBox="1"/>
          <p:nvPr/>
        </p:nvSpPr>
        <p:spPr>
          <a:xfrm>
            <a:off x="734950" y="3494485"/>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Данные</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467" name="Google Shape;467;g3cb20f13e01_0_372"/>
          <p:cNvSpPr txBox="1"/>
          <p:nvPr/>
        </p:nvSpPr>
        <p:spPr>
          <a:xfrm>
            <a:off x="6507376" y="3484325"/>
            <a:ext cx="1952400" cy="5472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Ответ</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468" name="Google Shape;468;g3cb20f13e01_0_372"/>
          <p:cNvCxnSpPr>
            <a:stCxn id="466" idx="3"/>
            <a:endCxn id="467" idx="1"/>
          </p:cNvCxnSpPr>
          <p:nvPr/>
        </p:nvCxnSpPr>
        <p:spPr>
          <a:xfrm>
            <a:off x="5938213" y="3757925"/>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466" name="Google Shape;466;g3cb20f13e01_0_372"/>
          <p:cNvSpPr/>
          <p:nvPr/>
        </p:nvSpPr>
        <p:spPr>
          <a:xfrm>
            <a:off x="3256513" y="3295925"/>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Программа</a:t>
            </a:r>
            <a:endParaRPr sz="1500" b="0" i="0" u="none" strike="noStrike" cap="non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g3cb20f13e01_0_398"/>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Традиционное программирование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474" name="Google Shape;474;g3cb20f13e01_0_398"/>
          <p:cNvGrpSpPr/>
          <p:nvPr/>
        </p:nvGrpSpPr>
        <p:grpSpPr>
          <a:xfrm>
            <a:off x="9353973" y="-1553420"/>
            <a:ext cx="2854020" cy="13716631"/>
            <a:chOff x="9353973" y="-1553420"/>
            <a:chExt cx="2854020" cy="13716631"/>
          </a:xfrm>
        </p:grpSpPr>
        <p:grpSp>
          <p:nvGrpSpPr>
            <p:cNvPr id="475" name="Google Shape;475;g3cb20f13e01_0_398"/>
            <p:cNvGrpSpPr/>
            <p:nvPr/>
          </p:nvGrpSpPr>
          <p:grpSpPr>
            <a:xfrm>
              <a:off x="9353973" y="-1553420"/>
              <a:ext cx="2838027" cy="13716631"/>
              <a:chOff x="9353973" y="-6079700"/>
              <a:chExt cx="2838027" cy="13716631"/>
            </a:xfrm>
          </p:grpSpPr>
          <p:pic>
            <p:nvPicPr>
              <p:cNvPr id="476" name="Google Shape;476;g3cb20f13e01_0_398"/>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477" name="Google Shape;477;g3cb20f13e01_0_398"/>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478" name="Google Shape;478;g3cb20f13e01_0_398"/>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9" name="Google Shape;479;g3cb20f13e01_0_398"/>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80" name="Google Shape;480;g3cb20f13e01_0_398"/>
          <p:cNvPicPr preferRelativeResize="0"/>
          <p:nvPr/>
        </p:nvPicPr>
        <p:blipFill rotWithShape="1">
          <a:blip r:embed="rId4">
            <a:alphaModFix/>
          </a:blip>
          <a:srcRect/>
          <a:stretch/>
        </p:blipFill>
        <p:spPr>
          <a:xfrm>
            <a:off x="9353973" y="3808154"/>
            <a:ext cx="2216246" cy="2219325"/>
          </a:xfrm>
          <a:prstGeom prst="rect">
            <a:avLst/>
          </a:prstGeom>
          <a:noFill/>
          <a:ln>
            <a:noFill/>
          </a:ln>
        </p:spPr>
      </p:pic>
      <p:cxnSp>
        <p:nvCxnSpPr>
          <p:cNvPr id="481" name="Google Shape;481;g3cb20f13e01_0_398"/>
          <p:cNvCxnSpPr>
            <a:stCxn id="482" idx="3"/>
            <a:endCxn id="483" idx="1"/>
          </p:cNvCxnSpPr>
          <p:nvPr/>
        </p:nvCxnSpPr>
        <p:spPr>
          <a:xfrm rot="10800000" flipH="1">
            <a:off x="2727025" y="4779135"/>
            <a:ext cx="781800" cy="6300"/>
          </a:xfrm>
          <a:prstGeom prst="bentConnector3">
            <a:avLst>
              <a:gd name="adj1" fmla="val 36401"/>
            </a:avLst>
          </a:prstGeom>
          <a:noFill/>
          <a:ln w="9525" cap="flat" cmpd="sng">
            <a:solidFill>
              <a:srgbClr val="000000"/>
            </a:solidFill>
            <a:prstDash val="solid"/>
            <a:round/>
            <a:headEnd type="none" w="sm" len="sm"/>
            <a:tailEnd type="stealth" w="med" len="med"/>
          </a:ln>
        </p:spPr>
      </p:cxnSp>
      <p:sp>
        <p:nvSpPr>
          <p:cNvPr id="482" name="Google Shape;482;g3cb20f13e01_0_398"/>
          <p:cNvSpPr txBox="1"/>
          <p:nvPr/>
        </p:nvSpPr>
        <p:spPr>
          <a:xfrm>
            <a:off x="774625" y="4515585"/>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положение шахмат на поле</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484" name="Google Shape;484;g3cb20f13e01_0_398"/>
          <p:cNvSpPr txBox="1"/>
          <p:nvPr/>
        </p:nvSpPr>
        <p:spPr>
          <a:xfrm>
            <a:off x="6547051" y="4505425"/>
            <a:ext cx="1952400" cy="5472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следующий ход</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485" name="Google Shape;485;g3cb20f13e01_0_398"/>
          <p:cNvCxnSpPr>
            <a:stCxn id="483" idx="3"/>
            <a:endCxn id="484" idx="1"/>
          </p:cNvCxnSpPr>
          <p:nvPr/>
        </p:nvCxnSpPr>
        <p:spPr>
          <a:xfrm>
            <a:off x="5977888" y="4779025"/>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483" name="Google Shape;483;g3cb20f13e01_0_398"/>
          <p:cNvSpPr/>
          <p:nvPr/>
        </p:nvSpPr>
        <p:spPr>
          <a:xfrm>
            <a:off x="3296188" y="4317025"/>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определить оптимальный ход</a:t>
            </a:r>
            <a:endParaRPr sz="1500" b="0" i="0" u="none" strike="noStrike" cap="none">
              <a:solidFill>
                <a:srgbClr val="000000"/>
              </a:solidFill>
              <a:latin typeface="Montserrat SemiBold"/>
              <a:ea typeface="Montserrat SemiBold"/>
              <a:cs typeface="Montserrat SemiBold"/>
              <a:sym typeface="Montserrat SemiBold"/>
            </a:endParaRPr>
          </a:p>
        </p:txBody>
      </p:sp>
      <p:cxnSp>
        <p:nvCxnSpPr>
          <p:cNvPr id="486" name="Google Shape;486;g3cb20f13e01_0_398"/>
          <p:cNvCxnSpPr>
            <a:stCxn id="487" idx="3"/>
            <a:endCxn id="488" idx="1"/>
          </p:cNvCxnSpPr>
          <p:nvPr/>
        </p:nvCxnSpPr>
        <p:spPr>
          <a:xfrm rot="10800000" flipH="1">
            <a:off x="2727025" y="3718335"/>
            <a:ext cx="781800" cy="6300"/>
          </a:xfrm>
          <a:prstGeom prst="bentConnector3">
            <a:avLst>
              <a:gd name="adj1" fmla="val 36401"/>
            </a:avLst>
          </a:prstGeom>
          <a:noFill/>
          <a:ln w="9525" cap="flat" cmpd="sng">
            <a:solidFill>
              <a:srgbClr val="000000"/>
            </a:solidFill>
            <a:prstDash val="solid"/>
            <a:round/>
            <a:headEnd type="none" w="sm" len="sm"/>
            <a:tailEnd type="stealth" w="med" len="med"/>
          </a:ln>
        </p:spPr>
      </p:cxnSp>
      <p:sp>
        <p:nvSpPr>
          <p:cNvPr id="487" name="Google Shape;487;g3cb20f13e01_0_398"/>
          <p:cNvSpPr txBox="1"/>
          <p:nvPr/>
        </p:nvSpPr>
        <p:spPr>
          <a:xfrm>
            <a:off x="774625" y="3454785"/>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Данные</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489" name="Google Shape;489;g3cb20f13e01_0_398"/>
          <p:cNvSpPr txBox="1"/>
          <p:nvPr/>
        </p:nvSpPr>
        <p:spPr>
          <a:xfrm>
            <a:off x="6547051" y="3444625"/>
            <a:ext cx="1952400" cy="5472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Ответ</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490" name="Google Shape;490;g3cb20f13e01_0_398"/>
          <p:cNvCxnSpPr>
            <a:stCxn id="488" idx="3"/>
            <a:endCxn id="489" idx="1"/>
          </p:cNvCxnSpPr>
          <p:nvPr/>
        </p:nvCxnSpPr>
        <p:spPr>
          <a:xfrm>
            <a:off x="5977888" y="3718225"/>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488" name="Google Shape;488;g3cb20f13e01_0_398"/>
          <p:cNvSpPr/>
          <p:nvPr/>
        </p:nvSpPr>
        <p:spPr>
          <a:xfrm>
            <a:off x="3296188" y="3256225"/>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Программа</a:t>
            </a:r>
            <a:endParaRPr sz="1500" b="0" i="0" u="none" strike="noStrike" cap="non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5"/>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Примеры проблем</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496" name="Google Shape;496;p5"/>
          <p:cNvGrpSpPr/>
          <p:nvPr/>
        </p:nvGrpSpPr>
        <p:grpSpPr>
          <a:xfrm>
            <a:off x="9353973" y="-1553420"/>
            <a:ext cx="2853949" cy="13716633"/>
            <a:chOff x="9353973" y="-1553420"/>
            <a:chExt cx="2853949" cy="13716633"/>
          </a:xfrm>
        </p:grpSpPr>
        <p:grpSp>
          <p:nvGrpSpPr>
            <p:cNvPr id="497" name="Google Shape;497;p5"/>
            <p:cNvGrpSpPr/>
            <p:nvPr/>
          </p:nvGrpSpPr>
          <p:grpSpPr>
            <a:xfrm>
              <a:off x="9353973" y="-1553420"/>
              <a:ext cx="2838027" cy="13716633"/>
              <a:chOff x="9353973" y="-6079700"/>
              <a:chExt cx="2838027" cy="13716633"/>
            </a:xfrm>
          </p:grpSpPr>
          <p:pic>
            <p:nvPicPr>
              <p:cNvPr id="498" name="Google Shape;498;p5"/>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499" name="Google Shape;499;p5"/>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500" name="Google Shape;500;p5"/>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 name="Google Shape;501;p5"/>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2" name="Google Shape;502;p5"/>
          <p:cNvPicPr preferRelativeResize="0"/>
          <p:nvPr/>
        </p:nvPicPr>
        <p:blipFill rotWithShape="1">
          <a:blip r:embed="rId4">
            <a:alphaModFix/>
          </a:blip>
          <a:srcRect/>
          <a:stretch/>
        </p:blipFill>
        <p:spPr>
          <a:xfrm>
            <a:off x="8800730" y="3855493"/>
            <a:ext cx="3047977" cy="3052211"/>
          </a:xfrm>
          <a:prstGeom prst="rect">
            <a:avLst/>
          </a:prstGeom>
          <a:noFill/>
          <a:ln>
            <a:noFill/>
          </a:ln>
        </p:spPr>
      </p:pic>
      <p:sp>
        <p:nvSpPr>
          <p:cNvPr id="503" name="Google Shape;503;p5"/>
          <p:cNvSpPr txBox="1"/>
          <p:nvPr/>
        </p:nvSpPr>
        <p:spPr>
          <a:xfrm>
            <a:off x="1377552" y="2172625"/>
            <a:ext cx="4701000" cy="4104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1900" b="0" i="0" u="none" strike="noStrike" cap="none">
                <a:solidFill>
                  <a:schemeClr val="dk1"/>
                </a:solidFill>
                <a:latin typeface="IBM Plex Sans"/>
                <a:ea typeface="IBM Plex Sans"/>
                <a:cs typeface="IBM Plex Sans"/>
                <a:sym typeface="IBM Plex Sans"/>
              </a:rPr>
              <a:t>перевести текст с одного языка на другой</a:t>
            </a:r>
            <a:endParaRPr sz="3900" b="0" i="0" u="none" strike="noStrike" cap="none">
              <a:solidFill>
                <a:schemeClr val="dk1"/>
              </a:solidFill>
              <a:latin typeface="IBM Plex Sans"/>
              <a:ea typeface="IBM Plex Sans"/>
              <a:cs typeface="IBM Plex Sans"/>
              <a:sym typeface="IBM Plex Sans"/>
            </a:endParaRPr>
          </a:p>
        </p:txBody>
      </p:sp>
      <p:pic>
        <p:nvPicPr>
          <p:cNvPr id="504" name="Google Shape;504;p5"/>
          <p:cNvPicPr preferRelativeResize="0"/>
          <p:nvPr/>
        </p:nvPicPr>
        <p:blipFill rotWithShape="1">
          <a:blip r:embed="rId5">
            <a:alphaModFix/>
          </a:blip>
          <a:srcRect/>
          <a:stretch/>
        </p:blipFill>
        <p:spPr>
          <a:xfrm>
            <a:off x="1055688" y="2185847"/>
            <a:ext cx="235091" cy="235091"/>
          </a:xfrm>
          <a:prstGeom prst="rect">
            <a:avLst/>
          </a:prstGeom>
          <a:noFill/>
          <a:ln>
            <a:noFill/>
          </a:ln>
        </p:spPr>
      </p:pic>
      <p:sp>
        <p:nvSpPr>
          <p:cNvPr id="505" name="Google Shape;505;p5"/>
          <p:cNvSpPr txBox="1"/>
          <p:nvPr/>
        </p:nvSpPr>
        <p:spPr>
          <a:xfrm>
            <a:off x="1377552" y="2735375"/>
            <a:ext cx="4277700" cy="4104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1900" b="0" i="0" u="none" strike="noStrike" cap="none">
                <a:solidFill>
                  <a:schemeClr val="dk1"/>
                </a:solidFill>
                <a:latin typeface="IBM Plex Sans"/>
                <a:ea typeface="IBM Plex Sans"/>
                <a:cs typeface="IBM Plex Sans"/>
                <a:sym typeface="IBM Plex Sans"/>
              </a:rPr>
              <a:t>диагностировать болезнь по симптомам</a:t>
            </a:r>
            <a:endParaRPr sz="3900" b="0" i="0" u="none" strike="noStrike" cap="none">
              <a:solidFill>
                <a:schemeClr val="dk1"/>
              </a:solidFill>
              <a:latin typeface="IBM Plex Sans"/>
              <a:ea typeface="IBM Plex Sans"/>
              <a:cs typeface="IBM Plex Sans"/>
              <a:sym typeface="IBM Plex Sans"/>
            </a:endParaRPr>
          </a:p>
        </p:txBody>
      </p:sp>
      <p:pic>
        <p:nvPicPr>
          <p:cNvPr id="506" name="Google Shape;506;p5"/>
          <p:cNvPicPr preferRelativeResize="0"/>
          <p:nvPr/>
        </p:nvPicPr>
        <p:blipFill rotWithShape="1">
          <a:blip r:embed="rId5">
            <a:alphaModFix/>
          </a:blip>
          <a:srcRect/>
          <a:stretch/>
        </p:blipFill>
        <p:spPr>
          <a:xfrm>
            <a:off x="1055688" y="2748610"/>
            <a:ext cx="235091" cy="235091"/>
          </a:xfrm>
          <a:prstGeom prst="rect">
            <a:avLst/>
          </a:prstGeom>
          <a:noFill/>
          <a:ln>
            <a:noFill/>
          </a:ln>
        </p:spPr>
      </p:pic>
      <p:sp>
        <p:nvSpPr>
          <p:cNvPr id="507" name="Google Shape;507;p5"/>
          <p:cNvSpPr txBox="1"/>
          <p:nvPr/>
        </p:nvSpPr>
        <p:spPr>
          <a:xfrm>
            <a:off x="1377552" y="3289700"/>
            <a:ext cx="4701000" cy="4104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1900" b="0" i="0" u="none" strike="noStrike" cap="none">
                <a:solidFill>
                  <a:schemeClr val="dk1"/>
                </a:solidFill>
                <a:latin typeface="IBM Plex Sans"/>
                <a:ea typeface="IBM Plex Sans"/>
                <a:cs typeface="IBM Plex Sans"/>
                <a:sym typeface="IBM Plex Sans"/>
              </a:rPr>
              <a:t>сравнить, какой из двух документов в интернете лучше подходит под данный поисковый запрос</a:t>
            </a:r>
            <a:endParaRPr sz="19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1900" b="0" i="0" u="none" strike="noStrike" cap="none">
              <a:solidFill>
                <a:schemeClr val="dk1"/>
              </a:solidFill>
              <a:latin typeface="IBM Plex Sans"/>
              <a:ea typeface="IBM Plex Sans"/>
              <a:cs typeface="IBM Plex Sans"/>
              <a:sym typeface="IBM Plex Sans"/>
            </a:endParaRPr>
          </a:p>
        </p:txBody>
      </p:sp>
      <p:pic>
        <p:nvPicPr>
          <p:cNvPr id="508" name="Google Shape;508;p5"/>
          <p:cNvPicPr preferRelativeResize="0"/>
          <p:nvPr/>
        </p:nvPicPr>
        <p:blipFill rotWithShape="1">
          <a:blip r:embed="rId5">
            <a:alphaModFix/>
          </a:blip>
          <a:srcRect/>
          <a:stretch/>
        </p:blipFill>
        <p:spPr>
          <a:xfrm>
            <a:off x="1055688" y="3302924"/>
            <a:ext cx="235091" cy="235091"/>
          </a:xfrm>
          <a:prstGeom prst="rect">
            <a:avLst/>
          </a:prstGeom>
          <a:noFill/>
          <a:ln>
            <a:noFill/>
          </a:ln>
        </p:spPr>
      </p:pic>
      <p:sp>
        <p:nvSpPr>
          <p:cNvPr id="509" name="Google Shape;509;p5"/>
          <p:cNvSpPr txBox="1"/>
          <p:nvPr/>
        </p:nvSpPr>
        <p:spPr>
          <a:xfrm>
            <a:off x="1377552" y="4061829"/>
            <a:ext cx="4875000" cy="4104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1900" b="0" i="0" u="none" strike="noStrike" cap="none">
                <a:solidFill>
                  <a:schemeClr val="dk1"/>
                </a:solidFill>
                <a:latin typeface="IBM Plex Sans"/>
                <a:ea typeface="IBM Plex Sans"/>
                <a:cs typeface="IBM Plex Sans"/>
                <a:sym typeface="IBM Plex Sans"/>
              </a:rPr>
              <a:t>сказать, что изображено на картинке</a:t>
            </a:r>
            <a:endParaRPr sz="3900" b="0" i="0" u="none" strike="noStrike" cap="none">
              <a:solidFill>
                <a:schemeClr val="dk1"/>
              </a:solidFill>
              <a:latin typeface="IBM Plex Sans"/>
              <a:ea typeface="IBM Plex Sans"/>
              <a:cs typeface="IBM Plex Sans"/>
              <a:sym typeface="IBM Plex Sans"/>
            </a:endParaRPr>
          </a:p>
        </p:txBody>
      </p:sp>
      <p:pic>
        <p:nvPicPr>
          <p:cNvPr id="510" name="Google Shape;510;p5"/>
          <p:cNvPicPr preferRelativeResize="0"/>
          <p:nvPr/>
        </p:nvPicPr>
        <p:blipFill rotWithShape="1">
          <a:blip r:embed="rId5">
            <a:alphaModFix/>
          </a:blip>
          <a:srcRect/>
          <a:stretch/>
        </p:blipFill>
        <p:spPr>
          <a:xfrm>
            <a:off x="1055688" y="4075062"/>
            <a:ext cx="235091" cy="235091"/>
          </a:xfrm>
          <a:prstGeom prst="rect">
            <a:avLst/>
          </a:prstGeom>
          <a:noFill/>
          <a:ln>
            <a:noFill/>
          </a:ln>
        </p:spPr>
      </p:pic>
      <p:sp>
        <p:nvSpPr>
          <p:cNvPr id="511" name="Google Shape;511;p5"/>
          <p:cNvSpPr txBox="1"/>
          <p:nvPr/>
        </p:nvSpPr>
        <p:spPr>
          <a:xfrm>
            <a:off x="1377552" y="4478475"/>
            <a:ext cx="4599600" cy="4104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1900" b="0" i="0" u="none" strike="noStrike" cap="none">
                <a:solidFill>
                  <a:schemeClr val="dk1"/>
                </a:solidFill>
                <a:latin typeface="IBM Plex Sans"/>
                <a:ea typeface="IBM Plex Sans"/>
                <a:cs typeface="IBM Plex Sans"/>
                <a:sym typeface="IBM Plex Sans"/>
              </a:rPr>
              <a:t>оценить, по какой цене удастся продать квартиру</a:t>
            </a:r>
            <a:endParaRPr sz="3900" b="0" i="0" u="none" strike="noStrike" cap="none">
              <a:solidFill>
                <a:schemeClr val="dk1"/>
              </a:solidFill>
              <a:latin typeface="IBM Plex Sans"/>
              <a:ea typeface="IBM Plex Sans"/>
              <a:cs typeface="IBM Plex Sans"/>
              <a:sym typeface="IBM Plex Sans"/>
            </a:endParaRPr>
          </a:p>
        </p:txBody>
      </p:sp>
      <p:pic>
        <p:nvPicPr>
          <p:cNvPr id="512" name="Google Shape;512;p5"/>
          <p:cNvPicPr preferRelativeResize="0"/>
          <p:nvPr/>
        </p:nvPicPr>
        <p:blipFill rotWithShape="1">
          <a:blip r:embed="rId5">
            <a:alphaModFix/>
          </a:blip>
          <a:srcRect/>
          <a:stretch/>
        </p:blipFill>
        <p:spPr>
          <a:xfrm>
            <a:off x="1055688" y="4491705"/>
            <a:ext cx="235091" cy="23509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6"/>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p:txBody>
      </p:sp>
      <p:grpSp>
        <p:nvGrpSpPr>
          <p:cNvPr id="518" name="Google Shape;518;p6"/>
          <p:cNvGrpSpPr/>
          <p:nvPr/>
        </p:nvGrpSpPr>
        <p:grpSpPr>
          <a:xfrm>
            <a:off x="9353973" y="-1553420"/>
            <a:ext cx="2853949" cy="13716633"/>
            <a:chOff x="9353973" y="-1553420"/>
            <a:chExt cx="2853949" cy="13716633"/>
          </a:xfrm>
        </p:grpSpPr>
        <p:grpSp>
          <p:nvGrpSpPr>
            <p:cNvPr id="519" name="Google Shape;519;p6"/>
            <p:cNvGrpSpPr/>
            <p:nvPr/>
          </p:nvGrpSpPr>
          <p:grpSpPr>
            <a:xfrm>
              <a:off x="9353973" y="-1553420"/>
              <a:ext cx="2838027" cy="13716633"/>
              <a:chOff x="9353973" y="-6079700"/>
              <a:chExt cx="2838027" cy="13716633"/>
            </a:xfrm>
          </p:grpSpPr>
          <p:pic>
            <p:nvPicPr>
              <p:cNvPr id="520" name="Google Shape;520;p6"/>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521" name="Google Shape;521;p6"/>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522" name="Google Shape;522;p6"/>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 name="Google Shape;523;p6"/>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24" name="Google Shape;524;p6"/>
          <p:cNvPicPr preferRelativeResize="0"/>
          <p:nvPr/>
        </p:nvPicPr>
        <p:blipFill rotWithShape="1">
          <a:blip r:embed="rId4">
            <a:alphaModFix/>
          </a:blip>
          <a:srcRect/>
          <a:stretch/>
        </p:blipFill>
        <p:spPr>
          <a:xfrm rot="-3600000">
            <a:off x="8854340" y="3963089"/>
            <a:ext cx="3047977" cy="3052211"/>
          </a:xfrm>
          <a:prstGeom prst="rect">
            <a:avLst/>
          </a:prstGeom>
          <a:noFill/>
          <a:ln>
            <a:noFill/>
          </a:ln>
        </p:spPr>
      </p:pic>
      <p:cxnSp>
        <p:nvCxnSpPr>
          <p:cNvPr id="525" name="Google Shape;525;p6"/>
          <p:cNvCxnSpPr>
            <a:stCxn id="526" idx="3"/>
            <a:endCxn id="527" idx="1"/>
          </p:cNvCxnSpPr>
          <p:nvPr/>
        </p:nvCxnSpPr>
        <p:spPr>
          <a:xfrm>
            <a:off x="2875838" y="3676175"/>
            <a:ext cx="781800" cy="432600"/>
          </a:xfrm>
          <a:prstGeom prst="bentConnector3">
            <a:avLst>
              <a:gd name="adj1" fmla="val 36402"/>
            </a:avLst>
          </a:prstGeom>
          <a:noFill/>
          <a:ln w="9525" cap="flat" cmpd="sng">
            <a:solidFill>
              <a:srgbClr val="000000"/>
            </a:solidFill>
            <a:prstDash val="solid"/>
            <a:round/>
            <a:headEnd type="none" w="sm" len="sm"/>
            <a:tailEnd type="stealth" w="med" len="med"/>
          </a:ln>
        </p:spPr>
      </p:cxnSp>
      <p:cxnSp>
        <p:nvCxnSpPr>
          <p:cNvPr id="528" name="Google Shape;528;p6"/>
          <p:cNvCxnSpPr>
            <a:stCxn id="529" idx="3"/>
            <a:endCxn id="527" idx="1"/>
          </p:cNvCxnSpPr>
          <p:nvPr/>
        </p:nvCxnSpPr>
        <p:spPr>
          <a:xfrm rot="10800000" flipH="1">
            <a:off x="2875838" y="4108850"/>
            <a:ext cx="781800" cy="524100"/>
          </a:xfrm>
          <a:prstGeom prst="bentConnector3">
            <a:avLst>
              <a:gd name="adj1" fmla="val 36402"/>
            </a:avLst>
          </a:prstGeom>
          <a:noFill/>
          <a:ln w="9525" cap="flat" cmpd="sng">
            <a:solidFill>
              <a:srgbClr val="000000"/>
            </a:solidFill>
            <a:prstDash val="solid"/>
            <a:round/>
            <a:headEnd type="none" w="sm" len="sm"/>
            <a:tailEnd type="stealth" w="med" len="med"/>
          </a:ln>
        </p:spPr>
      </p:cxnSp>
      <p:sp>
        <p:nvSpPr>
          <p:cNvPr id="526" name="Google Shape;526;p6"/>
          <p:cNvSpPr txBox="1"/>
          <p:nvPr/>
        </p:nvSpPr>
        <p:spPr>
          <a:xfrm>
            <a:off x="923438" y="3406325"/>
            <a:ext cx="1952400" cy="5397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Ответ</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529" name="Google Shape;529;p6"/>
          <p:cNvSpPr txBox="1"/>
          <p:nvPr/>
        </p:nvSpPr>
        <p:spPr>
          <a:xfrm>
            <a:off x="923438" y="4363100"/>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Данные</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530" name="Google Shape;530;p6"/>
          <p:cNvSpPr txBox="1"/>
          <p:nvPr/>
        </p:nvSpPr>
        <p:spPr>
          <a:xfrm>
            <a:off x="6695888" y="3835275"/>
            <a:ext cx="1952400" cy="5472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Правила</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531" name="Google Shape;531;p6"/>
          <p:cNvCxnSpPr>
            <a:stCxn id="527" idx="3"/>
            <a:endCxn id="530" idx="1"/>
          </p:cNvCxnSpPr>
          <p:nvPr/>
        </p:nvCxnSpPr>
        <p:spPr>
          <a:xfrm>
            <a:off x="6126725" y="4108875"/>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527" name="Google Shape;527;p6"/>
          <p:cNvSpPr/>
          <p:nvPr/>
        </p:nvSpPr>
        <p:spPr>
          <a:xfrm>
            <a:off x="3445025" y="3646875"/>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Система</a:t>
            </a:r>
            <a:endParaRPr sz="1500" b="0" i="0" u="none" strike="noStrike" cap="non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grpSp>
        <p:nvGrpSpPr>
          <p:cNvPr id="536" name="Google Shape;536;g3cb20f13e01_0_474"/>
          <p:cNvGrpSpPr/>
          <p:nvPr/>
        </p:nvGrpSpPr>
        <p:grpSpPr>
          <a:xfrm>
            <a:off x="9353973" y="-1553420"/>
            <a:ext cx="2854020" cy="13716631"/>
            <a:chOff x="9353973" y="-1553420"/>
            <a:chExt cx="2854020" cy="13716631"/>
          </a:xfrm>
        </p:grpSpPr>
        <p:grpSp>
          <p:nvGrpSpPr>
            <p:cNvPr id="537" name="Google Shape;537;g3cb20f13e01_0_474"/>
            <p:cNvGrpSpPr/>
            <p:nvPr/>
          </p:nvGrpSpPr>
          <p:grpSpPr>
            <a:xfrm>
              <a:off x="9353973" y="-1553420"/>
              <a:ext cx="2838027" cy="13716631"/>
              <a:chOff x="9353973" y="-6079700"/>
              <a:chExt cx="2838027" cy="13716631"/>
            </a:xfrm>
          </p:grpSpPr>
          <p:pic>
            <p:nvPicPr>
              <p:cNvPr id="538" name="Google Shape;538;g3cb20f13e01_0_474"/>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539" name="Google Shape;539;g3cb20f13e01_0_474"/>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540" name="Google Shape;540;g3cb20f13e01_0_47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1" name="Google Shape;541;g3cb20f13e01_0_47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42" name="Google Shape;542;g3cb20f13e01_0_474"/>
          <p:cNvPicPr preferRelativeResize="0"/>
          <p:nvPr/>
        </p:nvPicPr>
        <p:blipFill rotWithShape="1">
          <a:blip r:embed="rId4">
            <a:alphaModFix/>
          </a:blip>
          <a:srcRect/>
          <a:stretch/>
        </p:blipFill>
        <p:spPr>
          <a:xfrm rot="-3600001">
            <a:off x="8854340" y="3963088"/>
            <a:ext cx="3047977" cy="3052211"/>
          </a:xfrm>
          <a:prstGeom prst="rect">
            <a:avLst/>
          </a:prstGeom>
          <a:noFill/>
          <a:ln>
            <a:noFill/>
          </a:ln>
        </p:spPr>
      </p:pic>
      <p:cxnSp>
        <p:nvCxnSpPr>
          <p:cNvPr id="543" name="Google Shape;543;g3cb20f13e01_0_474"/>
          <p:cNvCxnSpPr>
            <a:stCxn id="544" idx="3"/>
            <a:endCxn id="545" idx="1"/>
          </p:cNvCxnSpPr>
          <p:nvPr/>
        </p:nvCxnSpPr>
        <p:spPr>
          <a:xfrm>
            <a:off x="2741438" y="4792075"/>
            <a:ext cx="781800" cy="432600"/>
          </a:xfrm>
          <a:prstGeom prst="bentConnector3">
            <a:avLst>
              <a:gd name="adj1" fmla="val 36402"/>
            </a:avLst>
          </a:prstGeom>
          <a:noFill/>
          <a:ln w="9525" cap="flat" cmpd="sng">
            <a:solidFill>
              <a:srgbClr val="000000"/>
            </a:solidFill>
            <a:prstDash val="solid"/>
            <a:round/>
            <a:headEnd type="none" w="sm" len="sm"/>
            <a:tailEnd type="stealth" w="med" len="med"/>
          </a:ln>
        </p:spPr>
      </p:cxnSp>
      <p:cxnSp>
        <p:nvCxnSpPr>
          <p:cNvPr id="546" name="Google Shape;546;g3cb20f13e01_0_474"/>
          <p:cNvCxnSpPr>
            <a:stCxn id="547" idx="3"/>
            <a:endCxn id="545" idx="1"/>
          </p:cNvCxnSpPr>
          <p:nvPr/>
        </p:nvCxnSpPr>
        <p:spPr>
          <a:xfrm rot="10800000" flipH="1">
            <a:off x="2741438" y="5224750"/>
            <a:ext cx="781800" cy="524100"/>
          </a:xfrm>
          <a:prstGeom prst="bentConnector3">
            <a:avLst>
              <a:gd name="adj1" fmla="val 36402"/>
            </a:avLst>
          </a:prstGeom>
          <a:noFill/>
          <a:ln w="9525" cap="flat" cmpd="sng">
            <a:solidFill>
              <a:srgbClr val="000000"/>
            </a:solidFill>
            <a:prstDash val="solid"/>
            <a:round/>
            <a:headEnd type="none" w="sm" len="sm"/>
            <a:tailEnd type="stealth" w="med" len="med"/>
          </a:ln>
        </p:spPr>
      </p:cxnSp>
      <p:sp>
        <p:nvSpPr>
          <p:cNvPr id="544" name="Google Shape;544;g3cb20f13e01_0_474"/>
          <p:cNvSpPr txBox="1"/>
          <p:nvPr/>
        </p:nvSpPr>
        <p:spPr>
          <a:xfrm>
            <a:off x="789038" y="4522225"/>
            <a:ext cx="1952400" cy="5397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Ответ</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547" name="Google Shape;547;g3cb20f13e01_0_474"/>
          <p:cNvSpPr txBox="1"/>
          <p:nvPr/>
        </p:nvSpPr>
        <p:spPr>
          <a:xfrm>
            <a:off x="789038" y="5479000"/>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Данные</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548" name="Google Shape;548;g3cb20f13e01_0_474"/>
          <p:cNvSpPr txBox="1"/>
          <p:nvPr/>
        </p:nvSpPr>
        <p:spPr>
          <a:xfrm>
            <a:off x="6561488" y="4951175"/>
            <a:ext cx="1952400" cy="5472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Правила</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549" name="Google Shape;549;g3cb20f13e01_0_474"/>
          <p:cNvCxnSpPr>
            <a:stCxn id="545" idx="3"/>
            <a:endCxn id="548" idx="1"/>
          </p:cNvCxnSpPr>
          <p:nvPr/>
        </p:nvCxnSpPr>
        <p:spPr>
          <a:xfrm>
            <a:off x="5992325" y="5224775"/>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545" name="Google Shape;545;g3cb20f13e01_0_474"/>
          <p:cNvSpPr/>
          <p:nvPr/>
        </p:nvSpPr>
        <p:spPr>
          <a:xfrm>
            <a:off x="3310625" y="4762775"/>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Модель машинного обучения</a:t>
            </a:r>
            <a:endParaRPr sz="1500" b="0" i="0" u="none" strike="noStrike" cap="none">
              <a:solidFill>
                <a:srgbClr val="000000"/>
              </a:solidFill>
              <a:latin typeface="Montserrat SemiBold"/>
              <a:ea typeface="Montserrat SemiBold"/>
              <a:cs typeface="Montserrat SemiBold"/>
              <a:sym typeface="Montserrat SemiBold"/>
            </a:endParaRPr>
          </a:p>
        </p:txBody>
      </p:sp>
      <p:cxnSp>
        <p:nvCxnSpPr>
          <p:cNvPr id="550" name="Google Shape;550;g3cb20f13e01_0_474"/>
          <p:cNvCxnSpPr>
            <a:stCxn id="551" idx="3"/>
            <a:endCxn id="552" idx="1"/>
          </p:cNvCxnSpPr>
          <p:nvPr/>
        </p:nvCxnSpPr>
        <p:spPr>
          <a:xfrm rot="10800000" flipH="1">
            <a:off x="2741438" y="3440700"/>
            <a:ext cx="787500" cy="3600"/>
          </a:xfrm>
          <a:prstGeom prst="bentConnector3">
            <a:avLst>
              <a:gd name="adj1" fmla="val 36490"/>
            </a:avLst>
          </a:prstGeom>
          <a:noFill/>
          <a:ln w="9525" cap="flat" cmpd="sng">
            <a:solidFill>
              <a:srgbClr val="000000"/>
            </a:solidFill>
            <a:prstDash val="solid"/>
            <a:round/>
            <a:headEnd type="none" w="sm" len="sm"/>
            <a:tailEnd type="stealth" w="med" len="med"/>
          </a:ln>
        </p:spPr>
      </p:cxnSp>
      <p:sp>
        <p:nvSpPr>
          <p:cNvPr id="551" name="Google Shape;551;g3cb20f13e01_0_474"/>
          <p:cNvSpPr txBox="1"/>
          <p:nvPr/>
        </p:nvSpPr>
        <p:spPr>
          <a:xfrm>
            <a:off x="789038" y="3174450"/>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Данные</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553" name="Google Shape;553;g3cb20f13e01_0_474"/>
          <p:cNvSpPr txBox="1"/>
          <p:nvPr/>
        </p:nvSpPr>
        <p:spPr>
          <a:xfrm>
            <a:off x="6567013" y="3166950"/>
            <a:ext cx="1952400" cy="5472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Ответ</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554" name="Google Shape;554;g3cb20f13e01_0_474"/>
          <p:cNvCxnSpPr>
            <a:stCxn id="552" idx="3"/>
            <a:endCxn id="553" idx="1"/>
          </p:cNvCxnSpPr>
          <p:nvPr/>
        </p:nvCxnSpPr>
        <p:spPr>
          <a:xfrm>
            <a:off x="5997850" y="3440550"/>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552" name="Google Shape;552;g3cb20f13e01_0_474"/>
          <p:cNvSpPr/>
          <p:nvPr/>
        </p:nvSpPr>
        <p:spPr>
          <a:xfrm>
            <a:off x="3316150" y="2978550"/>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Программа</a:t>
            </a:r>
            <a:endParaRPr sz="1500" b="0" i="0" u="none" strike="noStrike" cap="none">
              <a:solidFill>
                <a:srgbClr val="000000"/>
              </a:solidFill>
              <a:latin typeface="Montserrat SemiBold"/>
              <a:ea typeface="Montserrat SemiBold"/>
              <a:cs typeface="Montserrat SemiBold"/>
              <a:sym typeface="Montserrat SemiBold"/>
            </a:endParaRPr>
          </a:p>
        </p:txBody>
      </p:sp>
      <p:sp>
        <p:nvSpPr>
          <p:cNvPr id="555" name="Google Shape;555;g3cb20f13e01_0_474"/>
          <p:cNvSpPr/>
          <p:nvPr/>
        </p:nvSpPr>
        <p:spPr>
          <a:xfrm>
            <a:off x="3316150" y="4762775"/>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Система</a:t>
            </a:r>
            <a:endParaRPr sz="1500" b="0" i="0" u="none" strike="noStrike" cap="none">
              <a:solidFill>
                <a:srgbClr val="000000"/>
              </a:solidFill>
              <a:latin typeface="Montserrat SemiBold"/>
              <a:ea typeface="Montserrat SemiBold"/>
              <a:cs typeface="Montserrat SemiBold"/>
              <a:sym typeface="Montserrat SemiBold"/>
            </a:endParaRPr>
          </a:p>
        </p:txBody>
      </p:sp>
      <p:sp>
        <p:nvSpPr>
          <p:cNvPr id="556" name="Google Shape;556;g3cb20f13e01_0_474"/>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Сравнение традиционного программирования и машинного обучения</a:t>
            </a:r>
            <a:endParaRPr sz="3600" b="1"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grpSp>
        <p:nvGrpSpPr>
          <p:cNvPr id="561" name="Google Shape;561;g3cb20f13e01_0_506"/>
          <p:cNvGrpSpPr/>
          <p:nvPr/>
        </p:nvGrpSpPr>
        <p:grpSpPr>
          <a:xfrm>
            <a:off x="9353973" y="-1553420"/>
            <a:ext cx="2854020" cy="13716631"/>
            <a:chOff x="9353973" y="-1553420"/>
            <a:chExt cx="2854020" cy="13716631"/>
          </a:xfrm>
        </p:grpSpPr>
        <p:grpSp>
          <p:nvGrpSpPr>
            <p:cNvPr id="562" name="Google Shape;562;g3cb20f13e01_0_506"/>
            <p:cNvGrpSpPr/>
            <p:nvPr/>
          </p:nvGrpSpPr>
          <p:grpSpPr>
            <a:xfrm>
              <a:off x="9353973" y="-1553420"/>
              <a:ext cx="2838027" cy="13716631"/>
              <a:chOff x="9353973" y="-6079700"/>
              <a:chExt cx="2838027" cy="13716631"/>
            </a:xfrm>
          </p:grpSpPr>
          <p:pic>
            <p:nvPicPr>
              <p:cNvPr id="563" name="Google Shape;563;g3cb20f13e01_0_50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564" name="Google Shape;564;g3cb20f13e01_0_50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565" name="Google Shape;565;g3cb20f13e01_0_50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6" name="Google Shape;566;g3cb20f13e01_0_50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67" name="Google Shape;567;g3cb20f13e01_0_506"/>
          <p:cNvPicPr preferRelativeResize="0"/>
          <p:nvPr/>
        </p:nvPicPr>
        <p:blipFill rotWithShape="1">
          <a:blip r:embed="rId4">
            <a:alphaModFix/>
          </a:blip>
          <a:srcRect/>
          <a:stretch/>
        </p:blipFill>
        <p:spPr>
          <a:xfrm rot="-3600001">
            <a:off x="8854340" y="3963088"/>
            <a:ext cx="3047977" cy="3052211"/>
          </a:xfrm>
          <a:prstGeom prst="rect">
            <a:avLst/>
          </a:prstGeom>
          <a:noFill/>
          <a:ln>
            <a:noFill/>
          </a:ln>
        </p:spPr>
      </p:pic>
      <p:sp>
        <p:nvSpPr>
          <p:cNvPr id="568" name="Google Shape;568;g3cb20f13e01_0_506"/>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Сравнение традиционного программирования и машинного обучения</a:t>
            </a:r>
            <a:endParaRPr sz="3600" b="1" i="0" u="none" strike="noStrike" cap="none">
              <a:solidFill>
                <a:schemeClr val="dk1"/>
              </a:solidFill>
              <a:latin typeface="IBM Plex Sans"/>
              <a:ea typeface="IBM Plex Sans"/>
              <a:cs typeface="IBM Plex Sans"/>
              <a:sym typeface="IBM Plex Sans"/>
            </a:endParaRPr>
          </a:p>
        </p:txBody>
      </p:sp>
      <p:cxnSp>
        <p:nvCxnSpPr>
          <p:cNvPr id="569" name="Google Shape;569;g3cb20f13e01_0_506"/>
          <p:cNvCxnSpPr>
            <a:stCxn id="570" idx="3"/>
            <a:endCxn id="571" idx="1"/>
          </p:cNvCxnSpPr>
          <p:nvPr/>
        </p:nvCxnSpPr>
        <p:spPr>
          <a:xfrm>
            <a:off x="2659213" y="4732625"/>
            <a:ext cx="781800" cy="432600"/>
          </a:xfrm>
          <a:prstGeom prst="bentConnector3">
            <a:avLst>
              <a:gd name="adj1" fmla="val 36402"/>
            </a:avLst>
          </a:prstGeom>
          <a:noFill/>
          <a:ln w="9525" cap="flat" cmpd="sng">
            <a:solidFill>
              <a:srgbClr val="000000"/>
            </a:solidFill>
            <a:prstDash val="solid"/>
            <a:round/>
            <a:headEnd type="none" w="sm" len="sm"/>
            <a:tailEnd type="stealth" w="med" len="med"/>
          </a:ln>
        </p:spPr>
      </p:cxnSp>
      <p:cxnSp>
        <p:nvCxnSpPr>
          <p:cNvPr id="572" name="Google Shape;572;g3cb20f13e01_0_506"/>
          <p:cNvCxnSpPr>
            <a:stCxn id="573" idx="3"/>
            <a:endCxn id="571" idx="1"/>
          </p:cNvCxnSpPr>
          <p:nvPr/>
        </p:nvCxnSpPr>
        <p:spPr>
          <a:xfrm rot="10800000" flipH="1">
            <a:off x="2659213" y="5165300"/>
            <a:ext cx="781800" cy="524100"/>
          </a:xfrm>
          <a:prstGeom prst="bentConnector3">
            <a:avLst>
              <a:gd name="adj1" fmla="val 36402"/>
            </a:avLst>
          </a:prstGeom>
          <a:noFill/>
          <a:ln w="9525" cap="flat" cmpd="sng">
            <a:solidFill>
              <a:srgbClr val="000000"/>
            </a:solidFill>
            <a:prstDash val="solid"/>
            <a:round/>
            <a:headEnd type="none" w="sm" len="sm"/>
            <a:tailEnd type="stealth" w="med" len="med"/>
          </a:ln>
        </p:spPr>
      </p:cxnSp>
      <p:sp>
        <p:nvSpPr>
          <p:cNvPr id="570" name="Google Shape;570;g3cb20f13e01_0_506"/>
          <p:cNvSpPr txBox="1"/>
          <p:nvPr/>
        </p:nvSpPr>
        <p:spPr>
          <a:xfrm>
            <a:off x="706813" y="4462775"/>
            <a:ext cx="1952400" cy="5397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4</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573" name="Google Shape;573;g3cb20f13e01_0_506"/>
          <p:cNvSpPr txBox="1"/>
          <p:nvPr/>
        </p:nvSpPr>
        <p:spPr>
          <a:xfrm>
            <a:off x="706813" y="5419550"/>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2 и 2</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574" name="Google Shape;574;g3cb20f13e01_0_506"/>
          <p:cNvSpPr txBox="1"/>
          <p:nvPr/>
        </p:nvSpPr>
        <p:spPr>
          <a:xfrm>
            <a:off x="6479263" y="4891725"/>
            <a:ext cx="1952400" cy="5472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сложить</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575" name="Google Shape;575;g3cb20f13e01_0_506"/>
          <p:cNvCxnSpPr>
            <a:stCxn id="571" idx="3"/>
            <a:endCxn id="574" idx="1"/>
          </p:cNvCxnSpPr>
          <p:nvPr/>
        </p:nvCxnSpPr>
        <p:spPr>
          <a:xfrm>
            <a:off x="5910100" y="5165325"/>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571" name="Google Shape;571;g3cb20f13e01_0_506"/>
          <p:cNvSpPr/>
          <p:nvPr/>
        </p:nvSpPr>
        <p:spPr>
          <a:xfrm>
            <a:off x="3228400" y="4703325"/>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Система</a:t>
            </a:r>
            <a:endParaRPr sz="1500" b="0" i="0" u="none" strike="noStrike" cap="none">
              <a:solidFill>
                <a:srgbClr val="000000"/>
              </a:solidFill>
              <a:latin typeface="Montserrat SemiBold"/>
              <a:ea typeface="Montserrat SemiBold"/>
              <a:cs typeface="Montserrat SemiBold"/>
              <a:sym typeface="Montserrat SemiBold"/>
            </a:endParaRPr>
          </a:p>
        </p:txBody>
      </p:sp>
      <p:cxnSp>
        <p:nvCxnSpPr>
          <p:cNvPr id="576" name="Google Shape;576;g3cb20f13e01_0_506"/>
          <p:cNvCxnSpPr>
            <a:stCxn id="577" idx="3"/>
            <a:endCxn id="578" idx="1"/>
          </p:cNvCxnSpPr>
          <p:nvPr/>
        </p:nvCxnSpPr>
        <p:spPr>
          <a:xfrm rot="10800000" flipH="1">
            <a:off x="2659212" y="3381250"/>
            <a:ext cx="787500" cy="3600"/>
          </a:xfrm>
          <a:prstGeom prst="bentConnector3">
            <a:avLst>
              <a:gd name="adj1" fmla="val 36490"/>
            </a:avLst>
          </a:prstGeom>
          <a:noFill/>
          <a:ln w="9525" cap="flat" cmpd="sng">
            <a:solidFill>
              <a:srgbClr val="000000"/>
            </a:solidFill>
            <a:prstDash val="solid"/>
            <a:round/>
            <a:headEnd type="none" w="sm" len="sm"/>
            <a:tailEnd type="stealth" w="med" len="med"/>
          </a:ln>
        </p:spPr>
      </p:cxnSp>
      <p:sp>
        <p:nvSpPr>
          <p:cNvPr id="577" name="Google Shape;577;g3cb20f13e01_0_506"/>
          <p:cNvSpPr txBox="1"/>
          <p:nvPr/>
        </p:nvSpPr>
        <p:spPr>
          <a:xfrm>
            <a:off x="706812" y="3115000"/>
            <a:ext cx="1952400" cy="539700"/>
          </a:xfrm>
          <a:prstGeom prst="rect">
            <a:avLst/>
          </a:prstGeom>
          <a:solidFill>
            <a:srgbClr val="E4F9F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ru-RU" sz="1600" b="0" i="0" u="none" strike="noStrike" cap="none">
                <a:solidFill>
                  <a:srgbClr val="000000"/>
                </a:solidFill>
                <a:latin typeface="Montserrat SemiBold"/>
                <a:ea typeface="Montserrat SemiBold"/>
                <a:cs typeface="Montserrat SemiBold"/>
                <a:sym typeface="Montserrat SemiBold"/>
              </a:rPr>
              <a:t>2 и 2</a:t>
            </a:r>
            <a:endParaRPr sz="1600" b="0" i="0" u="none" strike="noStrike" cap="none">
              <a:solidFill>
                <a:srgbClr val="000000"/>
              </a:solidFill>
              <a:latin typeface="Montserrat SemiBold"/>
              <a:ea typeface="Montserrat SemiBold"/>
              <a:cs typeface="Montserrat SemiBold"/>
              <a:sym typeface="Montserrat SemiBold"/>
            </a:endParaRPr>
          </a:p>
        </p:txBody>
      </p:sp>
      <p:sp>
        <p:nvSpPr>
          <p:cNvPr id="579" name="Google Shape;579;g3cb20f13e01_0_506"/>
          <p:cNvSpPr txBox="1"/>
          <p:nvPr/>
        </p:nvSpPr>
        <p:spPr>
          <a:xfrm>
            <a:off x="6484788" y="3107500"/>
            <a:ext cx="1952400" cy="547200"/>
          </a:xfrm>
          <a:prstGeom prst="rect">
            <a:avLst/>
          </a:prstGeom>
          <a:solidFill>
            <a:srgbClr val="C9DAF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Montserrat SemiBold"/>
                <a:ea typeface="Montserrat SemiBold"/>
                <a:cs typeface="Montserrat SemiBold"/>
                <a:sym typeface="Montserrat SemiBold"/>
              </a:rPr>
              <a:t>4</a:t>
            </a:r>
            <a:endParaRPr sz="1600" b="0" i="0" u="none" strike="noStrike" cap="none">
              <a:solidFill>
                <a:srgbClr val="000000"/>
              </a:solidFill>
              <a:latin typeface="Montserrat SemiBold"/>
              <a:ea typeface="Montserrat SemiBold"/>
              <a:cs typeface="Montserrat SemiBold"/>
              <a:sym typeface="Montserrat SemiBold"/>
            </a:endParaRPr>
          </a:p>
        </p:txBody>
      </p:sp>
      <p:cxnSp>
        <p:nvCxnSpPr>
          <p:cNvPr id="580" name="Google Shape;580;g3cb20f13e01_0_506"/>
          <p:cNvCxnSpPr>
            <a:stCxn id="578" idx="3"/>
            <a:endCxn id="579" idx="1"/>
          </p:cNvCxnSpPr>
          <p:nvPr/>
        </p:nvCxnSpPr>
        <p:spPr>
          <a:xfrm>
            <a:off x="5915625" y="3381100"/>
            <a:ext cx="569100" cy="600"/>
          </a:xfrm>
          <a:prstGeom prst="bentConnector3">
            <a:avLst>
              <a:gd name="adj1" fmla="val 50006"/>
            </a:avLst>
          </a:prstGeom>
          <a:noFill/>
          <a:ln w="9525" cap="flat" cmpd="sng">
            <a:solidFill>
              <a:srgbClr val="000000"/>
            </a:solidFill>
            <a:prstDash val="solid"/>
            <a:round/>
            <a:headEnd type="none" w="sm" len="sm"/>
            <a:tailEnd type="stealth" w="med" len="med"/>
          </a:ln>
        </p:spPr>
      </p:cxnSp>
      <p:sp>
        <p:nvSpPr>
          <p:cNvPr id="578" name="Google Shape;578;g3cb20f13e01_0_506"/>
          <p:cNvSpPr/>
          <p:nvPr/>
        </p:nvSpPr>
        <p:spPr>
          <a:xfrm>
            <a:off x="3233925" y="2919100"/>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Montserrat SemiBold"/>
                <a:ea typeface="Montserrat SemiBold"/>
                <a:cs typeface="Montserrat SemiBold"/>
                <a:sym typeface="Montserrat SemiBold"/>
              </a:rPr>
              <a:t>сложить</a:t>
            </a:r>
            <a:endParaRPr sz="1400" b="0" i="0" u="none" strike="noStrike" cap="non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grpSp>
        <p:nvGrpSpPr>
          <p:cNvPr id="585" name="Google Shape;585;g3cb20f13e01_0_554"/>
          <p:cNvGrpSpPr/>
          <p:nvPr/>
        </p:nvGrpSpPr>
        <p:grpSpPr>
          <a:xfrm>
            <a:off x="9353973" y="-1553420"/>
            <a:ext cx="2854020" cy="13716631"/>
            <a:chOff x="9353973" y="-1553420"/>
            <a:chExt cx="2854020" cy="13716631"/>
          </a:xfrm>
        </p:grpSpPr>
        <p:grpSp>
          <p:nvGrpSpPr>
            <p:cNvPr id="586" name="Google Shape;586;g3cb20f13e01_0_554"/>
            <p:cNvGrpSpPr/>
            <p:nvPr/>
          </p:nvGrpSpPr>
          <p:grpSpPr>
            <a:xfrm>
              <a:off x="9353973" y="-1553420"/>
              <a:ext cx="2838027" cy="13716631"/>
              <a:chOff x="9353973" y="-6079700"/>
              <a:chExt cx="2838027" cy="13716631"/>
            </a:xfrm>
          </p:grpSpPr>
          <p:pic>
            <p:nvPicPr>
              <p:cNvPr id="587" name="Google Shape;587;g3cb20f13e01_0_554"/>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588" name="Google Shape;588;g3cb20f13e01_0_554"/>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589" name="Google Shape;589;g3cb20f13e01_0_55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0" name="Google Shape;590;g3cb20f13e01_0_55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91" name="Google Shape;591;g3cb20f13e01_0_554"/>
          <p:cNvPicPr preferRelativeResize="0"/>
          <p:nvPr/>
        </p:nvPicPr>
        <p:blipFill rotWithShape="1">
          <a:blip r:embed="rId4">
            <a:alphaModFix/>
          </a:blip>
          <a:srcRect/>
          <a:stretch/>
        </p:blipFill>
        <p:spPr>
          <a:xfrm rot="-3600001">
            <a:off x="8854340" y="3963088"/>
            <a:ext cx="3047977" cy="3052211"/>
          </a:xfrm>
          <a:prstGeom prst="rect">
            <a:avLst/>
          </a:prstGeom>
          <a:noFill/>
          <a:ln>
            <a:noFill/>
          </a:ln>
        </p:spPr>
      </p:pic>
      <p:sp>
        <p:nvSpPr>
          <p:cNvPr id="592" name="Google Shape;592;g3cb20f13e01_0_554"/>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Основные термины машинного обучения</a:t>
            </a:r>
            <a:endParaRPr sz="3600" b="1" i="0" u="none" strike="noStrike" cap="none">
              <a:solidFill>
                <a:schemeClr val="dk1"/>
              </a:solidFill>
              <a:latin typeface="IBM Plex Sans"/>
              <a:ea typeface="IBM Plex Sans"/>
              <a:cs typeface="IBM Plex Sans"/>
              <a:sym typeface="IBM Plex Sans"/>
            </a:endParaRPr>
          </a:p>
        </p:txBody>
      </p:sp>
      <p:cxnSp>
        <p:nvCxnSpPr>
          <p:cNvPr id="593" name="Google Shape;593;g3cb20f13e01_0_554"/>
          <p:cNvCxnSpPr>
            <a:endCxn id="594" idx="1"/>
          </p:cNvCxnSpPr>
          <p:nvPr/>
        </p:nvCxnSpPr>
        <p:spPr>
          <a:xfrm>
            <a:off x="2894180" y="3509326"/>
            <a:ext cx="781800" cy="432600"/>
          </a:xfrm>
          <a:prstGeom prst="bentConnector3">
            <a:avLst>
              <a:gd name="adj1" fmla="val 36394"/>
            </a:avLst>
          </a:prstGeom>
          <a:noFill/>
          <a:ln w="9525" cap="flat" cmpd="sng">
            <a:solidFill>
              <a:srgbClr val="000000"/>
            </a:solidFill>
            <a:prstDash val="solid"/>
            <a:round/>
            <a:headEnd type="none" w="sm" len="sm"/>
            <a:tailEnd type="stealth" w="med" len="med"/>
          </a:ln>
        </p:spPr>
      </p:cxnSp>
      <p:cxnSp>
        <p:nvCxnSpPr>
          <p:cNvPr id="595" name="Google Shape;595;g3cb20f13e01_0_554"/>
          <p:cNvCxnSpPr>
            <a:endCxn id="594" idx="1"/>
          </p:cNvCxnSpPr>
          <p:nvPr/>
        </p:nvCxnSpPr>
        <p:spPr>
          <a:xfrm rot="10800000" flipH="1">
            <a:off x="2894180" y="3941926"/>
            <a:ext cx="781800" cy="524100"/>
          </a:xfrm>
          <a:prstGeom prst="bentConnector3">
            <a:avLst>
              <a:gd name="adj1" fmla="val 36394"/>
            </a:avLst>
          </a:prstGeom>
          <a:noFill/>
          <a:ln w="9525" cap="flat" cmpd="sng">
            <a:solidFill>
              <a:srgbClr val="000000"/>
            </a:solidFill>
            <a:prstDash val="solid"/>
            <a:round/>
            <a:headEnd type="none" w="sm" len="sm"/>
            <a:tailEnd type="stealth" w="med" len="med"/>
          </a:ln>
        </p:spPr>
      </p:cxnSp>
      <p:cxnSp>
        <p:nvCxnSpPr>
          <p:cNvPr id="596" name="Google Shape;596;g3cb20f13e01_0_554"/>
          <p:cNvCxnSpPr>
            <a:stCxn id="594" idx="3"/>
          </p:cNvCxnSpPr>
          <p:nvPr/>
        </p:nvCxnSpPr>
        <p:spPr>
          <a:xfrm rot="10800000" flipH="1">
            <a:off x="6144929" y="3938026"/>
            <a:ext cx="569100" cy="3900"/>
          </a:xfrm>
          <a:prstGeom prst="bentConnector3">
            <a:avLst>
              <a:gd name="adj1" fmla="val 50000"/>
            </a:avLst>
          </a:prstGeom>
          <a:noFill/>
          <a:ln w="9525" cap="flat" cmpd="sng">
            <a:solidFill>
              <a:srgbClr val="000000"/>
            </a:solidFill>
            <a:prstDash val="solid"/>
            <a:round/>
            <a:headEnd type="none" w="sm" len="sm"/>
            <a:tailEnd type="stealth" w="med" len="med"/>
          </a:ln>
        </p:spPr>
      </p:cxnSp>
      <p:sp>
        <p:nvSpPr>
          <p:cNvPr id="594" name="Google Shape;594;g3cb20f13e01_0_554"/>
          <p:cNvSpPr/>
          <p:nvPr/>
        </p:nvSpPr>
        <p:spPr>
          <a:xfrm>
            <a:off x="3463229" y="3479926"/>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Система</a:t>
            </a:r>
            <a:endParaRPr sz="1500" b="0" i="0" u="none" strike="noStrike" cap="none">
              <a:solidFill>
                <a:srgbClr val="000000"/>
              </a:solidFill>
              <a:latin typeface="Montserrat SemiBold"/>
              <a:ea typeface="Montserrat SemiBold"/>
              <a:cs typeface="Montserrat SemiBold"/>
              <a:sym typeface="Montserrat SemiBold"/>
            </a:endParaRPr>
          </a:p>
        </p:txBody>
      </p:sp>
      <p:sp>
        <p:nvSpPr>
          <p:cNvPr id="597" name="Google Shape;597;g3cb20f13e01_0_554"/>
          <p:cNvSpPr txBox="1"/>
          <p:nvPr/>
        </p:nvSpPr>
        <p:spPr>
          <a:xfrm>
            <a:off x="1055692" y="3335801"/>
            <a:ext cx="1952400" cy="539700"/>
          </a:xfrm>
          <a:prstGeom prst="rect">
            <a:avLst/>
          </a:prstGeom>
          <a:solidFill>
            <a:srgbClr val="C9DAF8"/>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Arial"/>
                <a:ea typeface="Arial"/>
                <a:cs typeface="Arial"/>
                <a:sym typeface="Arial"/>
              </a:rPr>
              <a:t>Состояние неба</a:t>
            </a:r>
            <a:endParaRPr sz="1600" b="0" i="0" u="none" strike="noStrike" cap="none">
              <a:solidFill>
                <a:srgbClr val="000000"/>
              </a:solidFill>
              <a:latin typeface="Arial"/>
              <a:ea typeface="Arial"/>
              <a:cs typeface="Arial"/>
              <a:sym typeface="Arial"/>
            </a:endParaRPr>
          </a:p>
        </p:txBody>
      </p:sp>
      <p:sp>
        <p:nvSpPr>
          <p:cNvPr id="598" name="Google Shape;598;g3cb20f13e01_0_554"/>
          <p:cNvSpPr txBox="1"/>
          <p:nvPr/>
        </p:nvSpPr>
        <p:spPr>
          <a:xfrm>
            <a:off x="1055692" y="4292576"/>
            <a:ext cx="1952400" cy="539700"/>
          </a:xfrm>
          <a:prstGeom prst="rect">
            <a:avLst/>
          </a:prstGeom>
          <a:solidFill>
            <a:srgbClr val="E4F9FD"/>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Arial"/>
                <a:ea typeface="Arial"/>
                <a:cs typeface="Arial"/>
                <a:sym typeface="Arial"/>
              </a:rPr>
              <a:t>Был ли дождь</a:t>
            </a:r>
            <a:endParaRPr sz="1600" b="0" i="0" u="none" strike="noStrike" cap="none">
              <a:solidFill>
                <a:srgbClr val="000000"/>
              </a:solidFill>
              <a:latin typeface="Arial"/>
              <a:ea typeface="Arial"/>
              <a:cs typeface="Arial"/>
              <a:sym typeface="Arial"/>
            </a:endParaRPr>
          </a:p>
        </p:txBody>
      </p:sp>
      <p:pic>
        <p:nvPicPr>
          <p:cNvPr id="599" name="Google Shape;599;g3cb20f13e01_0_554"/>
          <p:cNvPicPr preferRelativeResize="0"/>
          <p:nvPr/>
        </p:nvPicPr>
        <p:blipFill rotWithShape="1">
          <a:blip r:embed="rId5">
            <a:alphaModFix/>
          </a:blip>
          <a:srcRect/>
          <a:stretch/>
        </p:blipFill>
        <p:spPr>
          <a:xfrm>
            <a:off x="3936742" y="3038027"/>
            <a:ext cx="1800312" cy="1807800"/>
          </a:xfrm>
          <a:prstGeom prst="rect">
            <a:avLst/>
          </a:prstGeom>
          <a:noFill/>
          <a:ln>
            <a:noFill/>
          </a:ln>
        </p:spPr>
      </p:pic>
      <p:sp>
        <p:nvSpPr>
          <p:cNvPr id="600" name="Google Shape;600;g3cb20f13e01_0_554"/>
          <p:cNvSpPr/>
          <p:nvPr/>
        </p:nvSpPr>
        <p:spPr>
          <a:xfrm>
            <a:off x="6772663" y="3435837"/>
            <a:ext cx="14634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В хмурый день идет дождь</a:t>
            </a:r>
            <a:endParaRPr sz="14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grpSp>
        <p:nvGrpSpPr>
          <p:cNvPr id="605" name="Google Shape;605;g3cb20f13e01_0_606"/>
          <p:cNvGrpSpPr/>
          <p:nvPr/>
        </p:nvGrpSpPr>
        <p:grpSpPr>
          <a:xfrm>
            <a:off x="9353973" y="-1553420"/>
            <a:ext cx="2854020" cy="13716631"/>
            <a:chOff x="9353973" y="-1553420"/>
            <a:chExt cx="2854020" cy="13716631"/>
          </a:xfrm>
        </p:grpSpPr>
        <p:grpSp>
          <p:nvGrpSpPr>
            <p:cNvPr id="606" name="Google Shape;606;g3cb20f13e01_0_606"/>
            <p:cNvGrpSpPr/>
            <p:nvPr/>
          </p:nvGrpSpPr>
          <p:grpSpPr>
            <a:xfrm>
              <a:off x="9353973" y="-1553420"/>
              <a:ext cx="2838027" cy="13716631"/>
              <a:chOff x="9353973" y="-6079700"/>
              <a:chExt cx="2838027" cy="13716631"/>
            </a:xfrm>
          </p:grpSpPr>
          <p:pic>
            <p:nvPicPr>
              <p:cNvPr id="607" name="Google Shape;607;g3cb20f13e01_0_60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608" name="Google Shape;608;g3cb20f13e01_0_60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609" name="Google Shape;609;g3cb20f13e01_0_60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g3cb20f13e01_0_60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611" name="Google Shape;611;g3cb20f13e01_0_606"/>
          <p:cNvPicPr preferRelativeResize="0"/>
          <p:nvPr/>
        </p:nvPicPr>
        <p:blipFill rotWithShape="1">
          <a:blip r:embed="rId4">
            <a:alphaModFix/>
          </a:blip>
          <a:srcRect/>
          <a:stretch/>
        </p:blipFill>
        <p:spPr>
          <a:xfrm rot="-3600001">
            <a:off x="8854340" y="3963088"/>
            <a:ext cx="3047977" cy="3052211"/>
          </a:xfrm>
          <a:prstGeom prst="rect">
            <a:avLst/>
          </a:prstGeom>
          <a:noFill/>
          <a:ln>
            <a:noFill/>
          </a:ln>
        </p:spPr>
      </p:pic>
      <p:sp>
        <p:nvSpPr>
          <p:cNvPr id="612" name="Google Shape;612;g3cb20f13e01_0_606"/>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Основные термины машинного обучения</a:t>
            </a:r>
            <a:endParaRPr sz="3600" b="1" i="0" u="none" strike="noStrike" cap="none">
              <a:solidFill>
                <a:schemeClr val="dk1"/>
              </a:solidFill>
              <a:latin typeface="IBM Plex Sans"/>
              <a:ea typeface="IBM Plex Sans"/>
              <a:cs typeface="IBM Plex Sans"/>
              <a:sym typeface="IBM Plex Sans"/>
            </a:endParaRPr>
          </a:p>
        </p:txBody>
      </p:sp>
      <p:cxnSp>
        <p:nvCxnSpPr>
          <p:cNvPr id="613" name="Google Shape;613;g3cb20f13e01_0_606"/>
          <p:cNvCxnSpPr>
            <a:endCxn id="614" idx="1"/>
          </p:cNvCxnSpPr>
          <p:nvPr/>
        </p:nvCxnSpPr>
        <p:spPr>
          <a:xfrm>
            <a:off x="2894180" y="3509326"/>
            <a:ext cx="781800" cy="432600"/>
          </a:xfrm>
          <a:prstGeom prst="bentConnector3">
            <a:avLst>
              <a:gd name="adj1" fmla="val 36394"/>
            </a:avLst>
          </a:prstGeom>
          <a:noFill/>
          <a:ln w="9525" cap="flat" cmpd="sng">
            <a:solidFill>
              <a:srgbClr val="000000"/>
            </a:solidFill>
            <a:prstDash val="solid"/>
            <a:round/>
            <a:headEnd type="none" w="sm" len="sm"/>
            <a:tailEnd type="stealth" w="med" len="med"/>
          </a:ln>
        </p:spPr>
      </p:cxnSp>
      <p:cxnSp>
        <p:nvCxnSpPr>
          <p:cNvPr id="615" name="Google Shape;615;g3cb20f13e01_0_606"/>
          <p:cNvCxnSpPr>
            <a:endCxn id="614" idx="1"/>
          </p:cNvCxnSpPr>
          <p:nvPr/>
        </p:nvCxnSpPr>
        <p:spPr>
          <a:xfrm rot="10800000" flipH="1">
            <a:off x="2894180" y="3941926"/>
            <a:ext cx="781800" cy="524100"/>
          </a:xfrm>
          <a:prstGeom prst="bentConnector3">
            <a:avLst>
              <a:gd name="adj1" fmla="val 36394"/>
            </a:avLst>
          </a:prstGeom>
          <a:noFill/>
          <a:ln w="9525" cap="flat" cmpd="sng">
            <a:solidFill>
              <a:srgbClr val="000000"/>
            </a:solidFill>
            <a:prstDash val="solid"/>
            <a:round/>
            <a:headEnd type="none" w="sm" len="sm"/>
            <a:tailEnd type="stealth" w="med" len="med"/>
          </a:ln>
        </p:spPr>
      </p:cxnSp>
      <p:cxnSp>
        <p:nvCxnSpPr>
          <p:cNvPr id="616" name="Google Shape;616;g3cb20f13e01_0_606"/>
          <p:cNvCxnSpPr>
            <a:stCxn id="614" idx="3"/>
          </p:cNvCxnSpPr>
          <p:nvPr/>
        </p:nvCxnSpPr>
        <p:spPr>
          <a:xfrm rot="10800000" flipH="1">
            <a:off x="6144929" y="3938026"/>
            <a:ext cx="569100" cy="3900"/>
          </a:xfrm>
          <a:prstGeom prst="bentConnector3">
            <a:avLst>
              <a:gd name="adj1" fmla="val 50000"/>
            </a:avLst>
          </a:prstGeom>
          <a:noFill/>
          <a:ln w="9525" cap="flat" cmpd="sng">
            <a:solidFill>
              <a:srgbClr val="000000"/>
            </a:solidFill>
            <a:prstDash val="solid"/>
            <a:round/>
            <a:headEnd type="none" w="sm" len="sm"/>
            <a:tailEnd type="stealth" w="med" len="med"/>
          </a:ln>
        </p:spPr>
      </p:cxnSp>
      <p:sp>
        <p:nvSpPr>
          <p:cNvPr id="614" name="Google Shape;614;g3cb20f13e01_0_606"/>
          <p:cNvSpPr/>
          <p:nvPr/>
        </p:nvSpPr>
        <p:spPr>
          <a:xfrm>
            <a:off x="3463229" y="3479926"/>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Система</a:t>
            </a:r>
            <a:endParaRPr sz="1500" b="0" i="0" u="none" strike="noStrike" cap="none">
              <a:solidFill>
                <a:srgbClr val="000000"/>
              </a:solidFill>
              <a:latin typeface="Montserrat SemiBold"/>
              <a:ea typeface="Montserrat SemiBold"/>
              <a:cs typeface="Montserrat SemiBold"/>
              <a:sym typeface="Montserrat SemiBold"/>
            </a:endParaRPr>
          </a:p>
        </p:txBody>
      </p:sp>
      <p:sp>
        <p:nvSpPr>
          <p:cNvPr id="617" name="Google Shape;617;g3cb20f13e01_0_606"/>
          <p:cNvSpPr txBox="1"/>
          <p:nvPr/>
        </p:nvSpPr>
        <p:spPr>
          <a:xfrm>
            <a:off x="1055692" y="3335801"/>
            <a:ext cx="1952400" cy="539700"/>
          </a:xfrm>
          <a:prstGeom prst="rect">
            <a:avLst/>
          </a:prstGeom>
          <a:solidFill>
            <a:srgbClr val="C9DAF8"/>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Arial"/>
                <a:ea typeface="Arial"/>
                <a:cs typeface="Arial"/>
                <a:sym typeface="Arial"/>
              </a:rPr>
              <a:t>Состояние неба</a:t>
            </a:r>
            <a:endParaRPr sz="1600" b="0" i="0" u="none" strike="noStrike" cap="none">
              <a:solidFill>
                <a:srgbClr val="000000"/>
              </a:solidFill>
              <a:latin typeface="Arial"/>
              <a:ea typeface="Arial"/>
              <a:cs typeface="Arial"/>
              <a:sym typeface="Arial"/>
            </a:endParaRPr>
          </a:p>
        </p:txBody>
      </p:sp>
      <p:sp>
        <p:nvSpPr>
          <p:cNvPr id="618" name="Google Shape;618;g3cb20f13e01_0_606"/>
          <p:cNvSpPr txBox="1"/>
          <p:nvPr/>
        </p:nvSpPr>
        <p:spPr>
          <a:xfrm>
            <a:off x="1055692" y="4292576"/>
            <a:ext cx="1952400" cy="539700"/>
          </a:xfrm>
          <a:prstGeom prst="rect">
            <a:avLst/>
          </a:prstGeom>
          <a:solidFill>
            <a:srgbClr val="E4F9FD"/>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Arial"/>
                <a:ea typeface="Arial"/>
                <a:cs typeface="Arial"/>
                <a:sym typeface="Arial"/>
              </a:rPr>
              <a:t>Был ли дождь</a:t>
            </a:r>
            <a:endParaRPr sz="1600" b="0" i="0" u="none" strike="noStrike" cap="none">
              <a:solidFill>
                <a:srgbClr val="000000"/>
              </a:solidFill>
              <a:latin typeface="Arial"/>
              <a:ea typeface="Arial"/>
              <a:cs typeface="Arial"/>
              <a:sym typeface="Arial"/>
            </a:endParaRPr>
          </a:p>
        </p:txBody>
      </p:sp>
      <p:sp>
        <p:nvSpPr>
          <p:cNvPr id="619" name="Google Shape;619;g3cb20f13e01_0_606"/>
          <p:cNvSpPr/>
          <p:nvPr/>
        </p:nvSpPr>
        <p:spPr>
          <a:xfrm>
            <a:off x="6772663" y="3435837"/>
            <a:ext cx="14634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В хмурый день идет дождь</a:t>
            </a:r>
            <a:endParaRPr sz="1400" b="0" i="0" u="none" strike="noStrike" cap="none">
              <a:solidFill>
                <a:schemeClr val="dk1"/>
              </a:solidFill>
              <a:latin typeface="IBM Plex Sans"/>
              <a:ea typeface="IBM Plex Sans"/>
              <a:cs typeface="IBM Plex Sans"/>
              <a:sym typeface="IBM Plex Sans"/>
            </a:endParaRPr>
          </a:p>
        </p:txBody>
      </p:sp>
      <p:sp>
        <p:nvSpPr>
          <p:cNvPr id="620" name="Google Shape;620;g3cb20f13e01_0_606"/>
          <p:cNvSpPr/>
          <p:nvPr/>
        </p:nvSpPr>
        <p:spPr>
          <a:xfrm>
            <a:off x="3448541" y="3453032"/>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Montserrat SemiBold"/>
              <a:ea typeface="Montserrat SemiBold"/>
              <a:cs typeface="Montserrat SemiBold"/>
              <a:sym typeface="Montserrat SemiBold"/>
            </a:endParaRPr>
          </a:p>
        </p:txBody>
      </p:sp>
      <p:pic>
        <p:nvPicPr>
          <p:cNvPr id="621" name="Google Shape;621;g3cb20f13e01_0_606" descr="Picture background"/>
          <p:cNvPicPr preferRelativeResize="0"/>
          <p:nvPr/>
        </p:nvPicPr>
        <p:blipFill rotWithShape="1">
          <a:blip r:embed="rId5">
            <a:alphaModFix/>
          </a:blip>
          <a:srcRect/>
          <a:stretch/>
        </p:blipFill>
        <p:spPr>
          <a:xfrm>
            <a:off x="4371031" y="3472319"/>
            <a:ext cx="877622" cy="877622"/>
          </a:xfrm>
          <a:prstGeom prst="rect">
            <a:avLst/>
          </a:prstGeom>
          <a:noFill/>
          <a:ln>
            <a:noFill/>
          </a:ln>
        </p:spPr>
      </p:pic>
      <p:sp>
        <p:nvSpPr>
          <p:cNvPr id="622" name="Google Shape;622;g3cb20f13e01_0_606"/>
          <p:cNvSpPr/>
          <p:nvPr/>
        </p:nvSpPr>
        <p:spPr>
          <a:xfrm>
            <a:off x="4355039" y="4523467"/>
            <a:ext cx="834000" cy="307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Модель</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grpSp>
        <p:nvGrpSpPr>
          <p:cNvPr id="627" name="Google Shape;627;g3cb20f13e01_0_649"/>
          <p:cNvGrpSpPr/>
          <p:nvPr/>
        </p:nvGrpSpPr>
        <p:grpSpPr>
          <a:xfrm>
            <a:off x="9353973" y="-1553420"/>
            <a:ext cx="2854020" cy="13716631"/>
            <a:chOff x="9353973" y="-1553420"/>
            <a:chExt cx="2854020" cy="13716631"/>
          </a:xfrm>
        </p:grpSpPr>
        <p:grpSp>
          <p:nvGrpSpPr>
            <p:cNvPr id="628" name="Google Shape;628;g3cb20f13e01_0_649"/>
            <p:cNvGrpSpPr/>
            <p:nvPr/>
          </p:nvGrpSpPr>
          <p:grpSpPr>
            <a:xfrm>
              <a:off x="9353973" y="-1553420"/>
              <a:ext cx="2838027" cy="13716631"/>
              <a:chOff x="9353973" y="-6079700"/>
              <a:chExt cx="2838027" cy="13716631"/>
            </a:xfrm>
          </p:grpSpPr>
          <p:pic>
            <p:nvPicPr>
              <p:cNvPr id="629" name="Google Shape;629;g3cb20f13e01_0_649"/>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630" name="Google Shape;630;g3cb20f13e01_0_649"/>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631" name="Google Shape;631;g3cb20f13e01_0_649"/>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g3cb20f13e01_0_649"/>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633" name="Google Shape;633;g3cb20f13e01_0_649"/>
          <p:cNvPicPr preferRelativeResize="0"/>
          <p:nvPr/>
        </p:nvPicPr>
        <p:blipFill rotWithShape="1">
          <a:blip r:embed="rId4">
            <a:alphaModFix/>
          </a:blip>
          <a:srcRect/>
          <a:stretch/>
        </p:blipFill>
        <p:spPr>
          <a:xfrm rot="-3600001">
            <a:off x="8854340" y="3963088"/>
            <a:ext cx="3047977" cy="3052211"/>
          </a:xfrm>
          <a:prstGeom prst="rect">
            <a:avLst/>
          </a:prstGeom>
          <a:noFill/>
          <a:ln>
            <a:noFill/>
          </a:ln>
        </p:spPr>
      </p:pic>
      <p:sp>
        <p:nvSpPr>
          <p:cNvPr id="634" name="Google Shape;634;g3cb20f13e01_0_649"/>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Основные термины машинного обучения</a:t>
            </a:r>
            <a:endParaRPr sz="3600" b="1" i="0" u="none" strike="noStrike" cap="none">
              <a:solidFill>
                <a:schemeClr val="dk1"/>
              </a:solidFill>
              <a:latin typeface="IBM Plex Sans"/>
              <a:ea typeface="IBM Plex Sans"/>
              <a:cs typeface="IBM Plex Sans"/>
              <a:sym typeface="IBM Plex Sans"/>
            </a:endParaRPr>
          </a:p>
        </p:txBody>
      </p:sp>
      <p:cxnSp>
        <p:nvCxnSpPr>
          <p:cNvPr id="635" name="Google Shape;635;g3cb20f13e01_0_649"/>
          <p:cNvCxnSpPr>
            <a:endCxn id="636" idx="1"/>
          </p:cNvCxnSpPr>
          <p:nvPr/>
        </p:nvCxnSpPr>
        <p:spPr>
          <a:xfrm>
            <a:off x="2894180" y="3509326"/>
            <a:ext cx="781800" cy="432600"/>
          </a:xfrm>
          <a:prstGeom prst="bentConnector3">
            <a:avLst>
              <a:gd name="adj1" fmla="val 36394"/>
            </a:avLst>
          </a:prstGeom>
          <a:noFill/>
          <a:ln w="9525" cap="flat" cmpd="sng">
            <a:solidFill>
              <a:srgbClr val="000000"/>
            </a:solidFill>
            <a:prstDash val="solid"/>
            <a:round/>
            <a:headEnd type="none" w="sm" len="sm"/>
            <a:tailEnd type="stealth" w="med" len="med"/>
          </a:ln>
        </p:spPr>
      </p:cxnSp>
      <p:cxnSp>
        <p:nvCxnSpPr>
          <p:cNvPr id="637" name="Google Shape;637;g3cb20f13e01_0_649"/>
          <p:cNvCxnSpPr>
            <a:endCxn id="636" idx="1"/>
          </p:cNvCxnSpPr>
          <p:nvPr/>
        </p:nvCxnSpPr>
        <p:spPr>
          <a:xfrm rot="10800000" flipH="1">
            <a:off x="2894180" y="3941926"/>
            <a:ext cx="781800" cy="524100"/>
          </a:xfrm>
          <a:prstGeom prst="bentConnector3">
            <a:avLst>
              <a:gd name="adj1" fmla="val 36394"/>
            </a:avLst>
          </a:prstGeom>
          <a:noFill/>
          <a:ln w="9525" cap="flat" cmpd="sng">
            <a:solidFill>
              <a:srgbClr val="000000"/>
            </a:solidFill>
            <a:prstDash val="solid"/>
            <a:round/>
            <a:headEnd type="none" w="sm" len="sm"/>
            <a:tailEnd type="stealth" w="med" len="med"/>
          </a:ln>
        </p:spPr>
      </p:cxnSp>
      <p:cxnSp>
        <p:nvCxnSpPr>
          <p:cNvPr id="638" name="Google Shape;638;g3cb20f13e01_0_649"/>
          <p:cNvCxnSpPr>
            <a:stCxn id="636" idx="3"/>
          </p:cNvCxnSpPr>
          <p:nvPr/>
        </p:nvCxnSpPr>
        <p:spPr>
          <a:xfrm rot="10800000" flipH="1">
            <a:off x="6144929" y="3938026"/>
            <a:ext cx="569100" cy="3900"/>
          </a:xfrm>
          <a:prstGeom prst="bentConnector3">
            <a:avLst>
              <a:gd name="adj1" fmla="val 50000"/>
            </a:avLst>
          </a:prstGeom>
          <a:noFill/>
          <a:ln w="9525" cap="flat" cmpd="sng">
            <a:solidFill>
              <a:srgbClr val="000000"/>
            </a:solidFill>
            <a:prstDash val="solid"/>
            <a:round/>
            <a:headEnd type="none" w="sm" len="sm"/>
            <a:tailEnd type="stealth" w="med" len="med"/>
          </a:ln>
        </p:spPr>
      </p:cxnSp>
      <p:sp>
        <p:nvSpPr>
          <p:cNvPr id="636" name="Google Shape;636;g3cb20f13e01_0_649"/>
          <p:cNvSpPr/>
          <p:nvPr/>
        </p:nvSpPr>
        <p:spPr>
          <a:xfrm>
            <a:off x="3463229" y="3479926"/>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Система</a:t>
            </a:r>
            <a:endParaRPr sz="1500" b="0" i="0" u="none" strike="noStrike" cap="none">
              <a:solidFill>
                <a:srgbClr val="000000"/>
              </a:solidFill>
              <a:latin typeface="Montserrat SemiBold"/>
              <a:ea typeface="Montserrat SemiBold"/>
              <a:cs typeface="Montserrat SemiBold"/>
              <a:sym typeface="Montserrat SemiBold"/>
            </a:endParaRPr>
          </a:p>
        </p:txBody>
      </p:sp>
      <p:sp>
        <p:nvSpPr>
          <p:cNvPr id="639" name="Google Shape;639;g3cb20f13e01_0_649"/>
          <p:cNvSpPr txBox="1"/>
          <p:nvPr/>
        </p:nvSpPr>
        <p:spPr>
          <a:xfrm>
            <a:off x="1055692" y="3335801"/>
            <a:ext cx="1952400" cy="539700"/>
          </a:xfrm>
          <a:prstGeom prst="rect">
            <a:avLst/>
          </a:prstGeom>
          <a:solidFill>
            <a:srgbClr val="C9DAF8"/>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Arial"/>
                <a:ea typeface="Arial"/>
                <a:cs typeface="Arial"/>
                <a:sym typeface="Arial"/>
              </a:rPr>
              <a:t>Состояние неба</a:t>
            </a:r>
            <a:endParaRPr sz="1600" b="0" i="0" u="none" strike="noStrike" cap="none">
              <a:solidFill>
                <a:srgbClr val="000000"/>
              </a:solidFill>
              <a:latin typeface="Arial"/>
              <a:ea typeface="Arial"/>
              <a:cs typeface="Arial"/>
              <a:sym typeface="Arial"/>
            </a:endParaRPr>
          </a:p>
        </p:txBody>
      </p:sp>
      <p:sp>
        <p:nvSpPr>
          <p:cNvPr id="640" name="Google Shape;640;g3cb20f13e01_0_649"/>
          <p:cNvSpPr txBox="1"/>
          <p:nvPr/>
        </p:nvSpPr>
        <p:spPr>
          <a:xfrm>
            <a:off x="1055692" y="4292576"/>
            <a:ext cx="1952400" cy="539700"/>
          </a:xfrm>
          <a:prstGeom prst="rect">
            <a:avLst/>
          </a:prstGeom>
          <a:solidFill>
            <a:srgbClr val="E4F9FD"/>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Arial"/>
                <a:ea typeface="Arial"/>
                <a:cs typeface="Arial"/>
                <a:sym typeface="Arial"/>
              </a:rPr>
              <a:t>Был ли дождь</a:t>
            </a:r>
            <a:endParaRPr sz="1600" b="0" i="0" u="none" strike="noStrike" cap="none">
              <a:solidFill>
                <a:srgbClr val="000000"/>
              </a:solidFill>
              <a:latin typeface="Arial"/>
              <a:ea typeface="Arial"/>
              <a:cs typeface="Arial"/>
              <a:sym typeface="Arial"/>
            </a:endParaRPr>
          </a:p>
        </p:txBody>
      </p:sp>
      <p:sp>
        <p:nvSpPr>
          <p:cNvPr id="641" name="Google Shape;641;g3cb20f13e01_0_649"/>
          <p:cNvSpPr/>
          <p:nvPr/>
        </p:nvSpPr>
        <p:spPr>
          <a:xfrm>
            <a:off x="6772663" y="3435837"/>
            <a:ext cx="14634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В хмурый день идет дождь</a:t>
            </a:r>
            <a:endParaRPr sz="1400" b="0" i="0" u="none" strike="noStrike" cap="none">
              <a:solidFill>
                <a:schemeClr val="dk1"/>
              </a:solidFill>
              <a:latin typeface="IBM Plex Sans"/>
              <a:ea typeface="IBM Plex Sans"/>
              <a:cs typeface="IBM Plex Sans"/>
              <a:sym typeface="IBM Plex Sans"/>
            </a:endParaRPr>
          </a:p>
        </p:txBody>
      </p:sp>
      <p:sp>
        <p:nvSpPr>
          <p:cNvPr id="642" name="Google Shape;642;g3cb20f13e01_0_649"/>
          <p:cNvSpPr/>
          <p:nvPr/>
        </p:nvSpPr>
        <p:spPr>
          <a:xfrm>
            <a:off x="3448541" y="3453032"/>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Montserrat SemiBold"/>
              <a:ea typeface="Montserrat SemiBold"/>
              <a:cs typeface="Montserrat SemiBold"/>
              <a:sym typeface="Montserrat SemiBold"/>
            </a:endParaRPr>
          </a:p>
        </p:txBody>
      </p:sp>
      <p:pic>
        <p:nvPicPr>
          <p:cNvPr id="643" name="Google Shape;643;g3cb20f13e01_0_649" descr="Picture background"/>
          <p:cNvPicPr preferRelativeResize="0"/>
          <p:nvPr/>
        </p:nvPicPr>
        <p:blipFill rotWithShape="1">
          <a:blip r:embed="rId5">
            <a:alphaModFix/>
          </a:blip>
          <a:srcRect/>
          <a:stretch/>
        </p:blipFill>
        <p:spPr>
          <a:xfrm>
            <a:off x="4371031" y="3472319"/>
            <a:ext cx="877622" cy="877622"/>
          </a:xfrm>
          <a:prstGeom prst="rect">
            <a:avLst/>
          </a:prstGeom>
          <a:noFill/>
          <a:ln>
            <a:noFill/>
          </a:ln>
        </p:spPr>
      </p:pic>
      <p:sp>
        <p:nvSpPr>
          <p:cNvPr id="644" name="Google Shape;644;g3cb20f13e01_0_649"/>
          <p:cNvSpPr/>
          <p:nvPr/>
        </p:nvSpPr>
        <p:spPr>
          <a:xfrm>
            <a:off x="697775" y="3050818"/>
            <a:ext cx="7721700" cy="2265600"/>
          </a:xfrm>
          <a:prstGeom prst="roundRect">
            <a:avLst>
              <a:gd name="adj" fmla="val 16667"/>
            </a:avLst>
          </a:prstGeom>
          <a:noFill/>
          <a:ln w="25400" cap="flat" cmpd="sng">
            <a:solidFill>
              <a:srgbClr val="0D3E4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AF6"/>
              </a:solidFill>
              <a:latin typeface="Arial"/>
              <a:ea typeface="Arial"/>
              <a:cs typeface="Arial"/>
              <a:sym typeface="Arial"/>
            </a:endParaRPr>
          </a:p>
        </p:txBody>
      </p:sp>
      <p:sp>
        <p:nvSpPr>
          <p:cNvPr id="645" name="Google Shape;645;g3cb20f13e01_0_649"/>
          <p:cNvSpPr/>
          <p:nvPr/>
        </p:nvSpPr>
        <p:spPr>
          <a:xfrm>
            <a:off x="4355039" y="4523467"/>
            <a:ext cx="834000" cy="307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IBM Plex Sans"/>
                <a:ea typeface="IBM Plex Sans"/>
                <a:cs typeface="IBM Plex Sans"/>
                <a:sym typeface="IBM Plex Sans"/>
              </a:rPr>
              <a:t>Модель</a:t>
            </a:r>
            <a:endParaRPr sz="1400" b="0" i="0" u="none" strike="noStrike" cap="none">
              <a:solidFill>
                <a:srgbClr val="000000"/>
              </a:solidFill>
              <a:latin typeface="IBM Plex Sans"/>
              <a:ea typeface="IBM Plex Sans"/>
              <a:cs typeface="IBM Plex Sans"/>
              <a:sym typeface="IBM Plex Sans"/>
            </a:endParaRPr>
          </a:p>
        </p:txBody>
      </p:sp>
      <p:sp>
        <p:nvSpPr>
          <p:cNvPr id="646" name="Google Shape;646;g3cb20f13e01_0_649"/>
          <p:cNvSpPr txBox="1"/>
          <p:nvPr/>
        </p:nvSpPr>
        <p:spPr>
          <a:xfrm>
            <a:off x="3985261" y="2505875"/>
            <a:ext cx="15858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Arial"/>
                <a:ea typeface="Arial"/>
                <a:cs typeface="Arial"/>
                <a:sym typeface="Arial"/>
              </a:rPr>
              <a:t>Обучение</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pSp>
        <p:nvGrpSpPr>
          <p:cNvPr id="651" name="Google Shape;651;g3cb20f13e01_0_672"/>
          <p:cNvGrpSpPr/>
          <p:nvPr/>
        </p:nvGrpSpPr>
        <p:grpSpPr>
          <a:xfrm>
            <a:off x="9353973" y="-1553420"/>
            <a:ext cx="2854020" cy="13716631"/>
            <a:chOff x="9353973" y="-1553420"/>
            <a:chExt cx="2854020" cy="13716631"/>
          </a:xfrm>
        </p:grpSpPr>
        <p:grpSp>
          <p:nvGrpSpPr>
            <p:cNvPr id="652" name="Google Shape;652;g3cb20f13e01_0_672"/>
            <p:cNvGrpSpPr/>
            <p:nvPr/>
          </p:nvGrpSpPr>
          <p:grpSpPr>
            <a:xfrm>
              <a:off x="9353973" y="-1553420"/>
              <a:ext cx="2838027" cy="13716631"/>
              <a:chOff x="9353973" y="-6079700"/>
              <a:chExt cx="2838027" cy="13716631"/>
            </a:xfrm>
          </p:grpSpPr>
          <p:pic>
            <p:nvPicPr>
              <p:cNvPr id="653" name="Google Shape;653;g3cb20f13e01_0_672"/>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654" name="Google Shape;654;g3cb20f13e01_0_672"/>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655" name="Google Shape;655;g3cb20f13e01_0_672"/>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g3cb20f13e01_0_672"/>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657" name="Google Shape;657;g3cb20f13e01_0_672"/>
          <p:cNvPicPr preferRelativeResize="0"/>
          <p:nvPr/>
        </p:nvPicPr>
        <p:blipFill rotWithShape="1">
          <a:blip r:embed="rId4">
            <a:alphaModFix/>
          </a:blip>
          <a:srcRect/>
          <a:stretch/>
        </p:blipFill>
        <p:spPr>
          <a:xfrm rot="-3600001">
            <a:off x="8854340" y="3963088"/>
            <a:ext cx="3047977" cy="3052211"/>
          </a:xfrm>
          <a:prstGeom prst="rect">
            <a:avLst/>
          </a:prstGeom>
          <a:noFill/>
          <a:ln>
            <a:noFill/>
          </a:ln>
        </p:spPr>
      </p:pic>
      <p:sp>
        <p:nvSpPr>
          <p:cNvPr id="658" name="Google Shape;658;g3cb20f13e01_0_672"/>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Основные термины машинного обучения</a:t>
            </a:r>
            <a:endParaRPr sz="3600" b="1" i="0" u="none" strike="noStrike" cap="none">
              <a:solidFill>
                <a:schemeClr val="dk1"/>
              </a:solidFill>
              <a:latin typeface="IBM Plex Sans"/>
              <a:ea typeface="IBM Plex Sans"/>
              <a:cs typeface="IBM Plex Sans"/>
              <a:sym typeface="IBM Plex Sans"/>
            </a:endParaRPr>
          </a:p>
        </p:txBody>
      </p:sp>
      <p:cxnSp>
        <p:nvCxnSpPr>
          <p:cNvPr id="659" name="Google Shape;659;g3cb20f13e01_0_672"/>
          <p:cNvCxnSpPr>
            <a:endCxn id="660" idx="1"/>
          </p:cNvCxnSpPr>
          <p:nvPr/>
        </p:nvCxnSpPr>
        <p:spPr>
          <a:xfrm>
            <a:off x="2894180" y="3509326"/>
            <a:ext cx="781800" cy="432600"/>
          </a:xfrm>
          <a:prstGeom prst="bentConnector3">
            <a:avLst>
              <a:gd name="adj1" fmla="val 36394"/>
            </a:avLst>
          </a:prstGeom>
          <a:noFill/>
          <a:ln w="9525" cap="flat" cmpd="sng">
            <a:solidFill>
              <a:srgbClr val="000000"/>
            </a:solidFill>
            <a:prstDash val="solid"/>
            <a:round/>
            <a:headEnd type="none" w="sm" len="sm"/>
            <a:tailEnd type="stealth" w="med" len="med"/>
          </a:ln>
        </p:spPr>
      </p:cxnSp>
      <p:cxnSp>
        <p:nvCxnSpPr>
          <p:cNvPr id="661" name="Google Shape;661;g3cb20f13e01_0_672"/>
          <p:cNvCxnSpPr>
            <a:endCxn id="660" idx="1"/>
          </p:cNvCxnSpPr>
          <p:nvPr/>
        </p:nvCxnSpPr>
        <p:spPr>
          <a:xfrm rot="10800000" flipH="1">
            <a:off x="2894180" y="3941926"/>
            <a:ext cx="781800" cy="524100"/>
          </a:xfrm>
          <a:prstGeom prst="bentConnector3">
            <a:avLst>
              <a:gd name="adj1" fmla="val 36394"/>
            </a:avLst>
          </a:prstGeom>
          <a:noFill/>
          <a:ln w="9525" cap="flat" cmpd="sng">
            <a:solidFill>
              <a:srgbClr val="000000"/>
            </a:solidFill>
            <a:prstDash val="solid"/>
            <a:round/>
            <a:headEnd type="none" w="sm" len="sm"/>
            <a:tailEnd type="stealth" w="med" len="med"/>
          </a:ln>
        </p:spPr>
      </p:cxnSp>
      <p:cxnSp>
        <p:nvCxnSpPr>
          <p:cNvPr id="662" name="Google Shape;662;g3cb20f13e01_0_672"/>
          <p:cNvCxnSpPr>
            <a:stCxn id="660" idx="3"/>
          </p:cNvCxnSpPr>
          <p:nvPr/>
        </p:nvCxnSpPr>
        <p:spPr>
          <a:xfrm rot="10800000" flipH="1">
            <a:off x="6144929" y="3938026"/>
            <a:ext cx="569100" cy="3900"/>
          </a:xfrm>
          <a:prstGeom prst="bentConnector3">
            <a:avLst>
              <a:gd name="adj1" fmla="val 50000"/>
            </a:avLst>
          </a:prstGeom>
          <a:noFill/>
          <a:ln w="9525" cap="flat" cmpd="sng">
            <a:solidFill>
              <a:srgbClr val="000000"/>
            </a:solidFill>
            <a:prstDash val="solid"/>
            <a:round/>
            <a:headEnd type="none" w="sm" len="sm"/>
            <a:tailEnd type="stealth" w="med" len="med"/>
          </a:ln>
        </p:spPr>
      </p:cxnSp>
      <p:sp>
        <p:nvSpPr>
          <p:cNvPr id="660" name="Google Shape;660;g3cb20f13e01_0_672"/>
          <p:cNvSpPr/>
          <p:nvPr/>
        </p:nvSpPr>
        <p:spPr>
          <a:xfrm>
            <a:off x="3463229" y="3479926"/>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Система</a:t>
            </a:r>
            <a:endParaRPr sz="1500" b="0" i="0" u="none" strike="noStrike" cap="none">
              <a:solidFill>
                <a:srgbClr val="000000"/>
              </a:solidFill>
              <a:latin typeface="Montserrat SemiBold"/>
              <a:ea typeface="Montserrat SemiBold"/>
              <a:cs typeface="Montserrat SemiBold"/>
              <a:sym typeface="Montserrat SemiBold"/>
            </a:endParaRPr>
          </a:p>
        </p:txBody>
      </p:sp>
      <p:sp>
        <p:nvSpPr>
          <p:cNvPr id="663" name="Google Shape;663;g3cb20f13e01_0_672"/>
          <p:cNvSpPr txBox="1"/>
          <p:nvPr/>
        </p:nvSpPr>
        <p:spPr>
          <a:xfrm>
            <a:off x="1055692" y="3335801"/>
            <a:ext cx="1952400" cy="539700"/>
          </a:xfrm>
          <a:prstGeom prst="rect">
            <a:avLst/>
          </a:prstGeom>
          <a:solidFill>
            <a:srgbClr val="C9DAF8"/>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Arial"/>
                <a:ea typeface="Arial"/>
                <a:cs typeface="Arial"/>
                <a:sym typeface="Arial"/>
              </a:rPr>
              <a:t>Состояние неба</a:t>
            </a:r>
            <a:endParaRPr sz="1600" b="0" i="0" u="none" strike="noStrike" cap="none">
              <a:solidFill>
                <a:srgbClr val="000000"/>
              </a:solidFill>
              <a:latin typeface="Arial"/>
              <a:ea typeface="Arial"/>
              <a:cs typeface="Arial"/>
              <a:sym typeface="Arial"/>
            </a:endParaRPr>
          </a:p>
        </p:txBody>
      </p:sp>
      <p:sp>
        <p:nvSpPr>
          <p:cNvPr id="664" name="Google Shape;664;g3cb20f13e01_0_672"/>
          <p:cNvSpPr txBox="1"/>
          <p:nvPr/>
        </p:nvSpPr>
        <p:spPr>
          <a:xfrm>
            <a:off x="1055692" y="4292576"/>
            <a:ext cx="1952400" cy="539700"/>
          </a:xfrm>
          <a:prstGeom prst="rect">
            <a:avLst/>
          </a:prstGeom>
          <a:solidFill>
            <a:srgbClr val="E4F9FD"/>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Arial"/>
                <a:ea typeface="Arial"/>
                <a:cs typeface="Arial"/>
                <a:sym typeface="Arial"/>
              </a:rPr>
              <a:t>Был ли дождь</a:t>
            </a:r>
            <a:endParaRPr sz="1600" b="0" i="0" u="none" strike="noStrike" cap="none">
              <a:solidFill>
                <a:srgbClr val="000000"/>
              </a:solidFill>
              <a:latin typeface="Arial"/>
              <a:ea typeface="Arial"/>
              <a:cs typeface="Arial"/>
              <a:sym typeface="Arial"/>
            </a:endParaRPr>
          </a:p>
        </p:txBody>
      </p:sp>
      <p:sp>
        <p:nvSpPr>
          <p:cNvPr id="665" name="Google Shape;665;g3cb20f13e01_0_672"/>
          <p:cNvSpPr/>
          <p:nvPr/>
        </p:nvSpPr>
        <p:spPr>
          <a:xfrm>
            <a:off x="6772663" y="3435837"/>
            <a:ext cx="14634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В хмурый день идет дождь</a:t>
            </a:r>
            <a:endParaRPr sz="1400" b="0" i="0" u="none" strike="noStrike" cap="none">
              <a:solidFill>
                <a:schemeClr val="dk1"/>
              </a:solidFill>
              <a:latin typeface="IBM Plex Sans"/>
              <a:ea typeface="IBM Plex Sans"/>
              <a:cs typeface="IBM Plex Sans"/>
              <a:sym typeface="IBM Plex Sans"/>
            </a:endParaRPr>
          </a:p>
        </p:txBody>
      </p:sp>
      <p:sp>
        <p:nvSpPr>
          <p:cNvPr id="666" name="Google Shape;666;g3cb20f13e01_0_672"/>
          <p:cNvSpPr/>
          <p:nvPr/>
        </p:nvSpPr>
        <p:spPr>
          <a:xfrm>
            <a:off x="3448541" y="3453032"/>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Montserrat SemiBold"/>
              <a:ea typeface="Montserrat SemiBold"/>
              <a:cs typeface="Montserrat SemiBold"/>
              <a:sym typeface="Montserrat SemiBold"/>
            </a:endParaRPr>
          </a:p>
        </p:txBody>
      </p:sp>
      <p:pic>
        <p:nvPicPr>
          <p:cNvPr id="667" name="Google Shape;667;g3cb20f13e01_0_672" descr="Picture background"/>
          <p:cNvPicPr preferRelativeResize="0"/>
          <p:nvPr/>
        </p:nvPicPr>
        <p:blipFill rotWithShape="1">
          <a:blip r:embed="rId5">
            <a:alphaModFix/>
          </a:blip>
          <a:srcRect/>
          <a:stretch/>
        </p:blipFill>
        <p:spPr>
          <a:xfrm>
            <a:off x="4371031" y="3472319"/>
            <a:ext cx="877622" cy="877622"/>
          </a:xfrm>
          <a:prstGeom prst="rect">
            <a:avLst/>
          </a:prstGeom>
          <a:noFill/>
          <a:ln>
            <a:noFill/>
          </a:ln>
        </p:spPr>
      </p:pic>
      <p:sp>
        <p:nvSpPr>
          <p:cNvPr id="668" name="Google Shape;668;g3cb20f13e01_0_672"/>
          <p:cNvSpPr/>
          <p:nvPr/>
        </p:nvSpPr>
        <p:spPr>
          <a:xfrm>
            <a:off x="697775" y="3050818"/>
            <a:ext cx="7721700" cy="2265600"/>
          </a:xfrm>
          <a:prstGeom prst="roundRect">
            <a:avLst>
              <a:gd name="adj" fmla="val 16667"/>
            </a:avLst>
          </a:prstGeom>
          <a:noFill/>
          <a:ln w="25400" cap="flat" cmpd="sng">
            <a:solidFill>
              <a:srgbClr val="0D3E4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AF6"/>
              </a:solidFill>
              <a:latin typeface="Arial"/>
              <a:ea typeface="Arial"/>
              <a:cs typeface="Arial"/>
              <a:sym typeface="Arial"/>
            </a:endParaRPr>
          </a:p>
        </p:txBody>
      </p:sp>
      <p:sp>
        <p:nvSpPr>
          <p:cNvPr id="669" name="Google Shape;669;g3cb20f13e01_0_672"/>
          <p:cNvSpPr/>
          <p:nvPr/>
        </p:nvSpPr>
        <p:spPr>
          <a:xfrm>
            <a:off x="4215204" y="4466026"/>
            <a:ext cx="1148400" cy="301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IBM Plex Sans"/>
                <a:ea typeface="IBM Plex Sans"/>
                <a:cs typeface="IBM Plex Sans"/>
                <a:sym typeface="IBM Plex Sans"/>
              </a:rPr>
              <a:t>Модель</a:t>
            </a:r>
            <a:endParaRPr sz="1600" b="0" i="0" u="none" strike="noStrike" cap="none">
              <a:solidFill>
                <a:srgbClr val="000000"/>
              </a:solidFill>
              <a:latin typeface="IBM Plex Sans"/>
              <a:ea typeface="IBM Plex Sans"/>
              <a:cs typeface="IBM Plex Sans"/>
              <a:sym typeface="IBM Plex Sans"/>
            </a:endParaRPr>
          </a:p>
        </p:txBody>
      </p:sp>
      <p:sp>
        <p:nvSpPr>
          <p:cNvPr id="670" name="Google Shape;670;g3cb20f13e01_0_672"/>
          <p:cNvSpPr txBox="1"/>
          <p:nvPr/>
        </p:nvSpPr>
        <p:spPr>
          <a:xfrm>
            <a:off x="3985261" y="2505875"/>
            <a:ext cx="15858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Arial"/>
                <a:ea typeface="Arial"/>
                <a:cs typeface="Arial"/>
                <a:sym typeface="Arial"/>
              </a:rPr>
              <a:t>Обучение</a:t>
            </a:r>
            <a:endParaRPr sz="2000" b="0" i="0" u="none" strike="noStrike" cap="none">
              <a:solidFill>
                <a:srgbClr val="000000"/>
              </a:solidFill>
              <a:latin typeface="Arial"/>
              <a:ea typeface="Arial"/>
              <a:cs typeface="Arial"/>
              <a:sym typeface="Arial"/>
            </a:endParaRPr>
          </a:p>
        </p:txBody>
      </p:sp>
      <p:sp>
        <p:nvSpPr>
          <p:cNvPr id="671" name="Google Shape;671;g3cb20f13e01_0_672"/>
          <p:cNvSpPr/>
          <p:nvPr/>
        </p:nvSpPr>
        <p:spPr>
          <a:xfrm>
            <a:off x="6467072" y="4531075"/>
            <a:ext cx="1952400" cy="301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IBM Plex Sans"/>
                <a:ea typeface="IBM Plex Sans"/>
                <a:cs typeface="IBM Plex Sans"/>
                <a:sym typeface="IBM Plex Sans"/>
              </a:rPr>
              <a:t>Истинная зависимость</a:t>
            </a:r>
            <a:endParaRPr sz="1600" b="0" i="0" u="none" strike="noStrike" cap="none">
              <a:solidFill>
                <a:srgbClr val="000000"/>
              </a:solidFill>
              <a:latin typeface="IBM Plex Sans"/>
              <a:ea typeface="IBM Plex Sans"/>
              <a:cs typeface="IBM Plex Sans"/>
              <a:sym typeface="IBM Plex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grpSp>
        <p:nvGrpSpPr>
          <p:cNvPr id="676" name="Google Shape;676;g3cb20f13e01_0_696"/>
          <p:cNvGrpSpPr/>
          <p:nvPr/>
        </p:nvGrpSpPr>
        <p:grpSpPr>
          <a:xfrm>
            <a:off x="9353973" y="-1553420"/>
            <a:ext cx="2854020" cy="13716631"/>
            <a:chOff x="9353973" y="-1553420"/>
            <a:chExt cx="2854020" cy="13716631"/>
          </a:xfrm>
        </p:grpSpPr>
        <p:grpSp>
          <p:nvGrpSpPr>
            <p:cNvPr id="677" name="Google Shape;677;g3cb20f13e01_0_696"/>
            <p:cNvGrpSpPr/>
            <p:nvPr/>
          </p:nvGrpSpPr>
          <p:grpSpPr>
            <a:xfrm>
              <a:off x="9353973" y="-1553420"/>
              <a:ext cx="2838027" cy="13716631"/>
              <a:chOff x="9353973" y="-6079700"/>
              <a:chExt cx="2838027" cy="13716631"/>
            </a:xfrm>
          </p:grpSpPr>
          <p:pic>
            <p:nvPicPr>
              <p:cNvPr id="678" name="Google Shape;678;g3cb20f13e01_0_69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679" name="Google Shape;679;g3cb20f13e01_0_69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680" name="Google Shape;680;g3cb20f13e01_0_69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g3cb20f13e01_0_69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682" name="Google Shape;682;g3cb20f13e01_0_696"/>
          <p:cNvPicPr preferRelativeResize="0"/>
          <p:nvPr/>
        </p:nvPicPr>
        <p:blipFill rotWithShape="1">
          <a:blip r:embed="rId4">
            <a:alphaModFix/>
          </a:blip>
          <a:srcRect/>
          <a:stretch/>
        </p:blipFill>
        <p:spPr>
          <a:xfrm rot="-3600001">
            <a:off x="8854340" y="3963088"/>
            <a:ext cx="3047977" cy="3052211"/>
          </a:xfrm>
          <a:prstGeom prst="rect">
            <a:avLst/>
          </a:prstGeom>
          <a:noFill/>
          <a:ln>
            <a:noFill/>
          </a:ln>
        </p:spPr>
      </p:pic>
      <p:sp>
        <p:nvSpPr>
          <p:cNvPr id="683" name="Google Shape;683;g3cb20f13e01_0_696"/>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Основные термины машинного обучения</a:t>
            </a:r>
            <a:endParaRPr sz="3600" b="1" i="0" u="none" strike="noStrike" cap="none">
              <a:solidFill>
                <a:schemeClr val="dk1"/>
              </a:solidFill>
              <a:latin typeface="IBM Plex Sans"/>
              <a:ea typeface="IBM Plex Sans"/>
              <a:cs typeface="IBM Plex Sans"/>
              <a:sym typeface="IBM Plex Sans"/>
            </a:endParaRPr>
          </a:p>
        </p:txBody>
      </p:sp>
      <p:cxnSp>
        <p:nvCxnSpPr>
          <p:cNvPr id="684" name="Google Shape;684;g3cb20f13e01_0_696"/>
          <p:cNvCxnSpPr>
            <a:endCxn id="685" idx="1"/>
          </p:cNvCxnSpPr>
          <p:nvPr/>
        </p:nvCxnSpPr>
        <p:spPr>
          <a:xfrm rot="10800000" flipH="1">
            <a:off x="2949080" y="3941926"/>
            <a:ext cx="726900" cy="5400"/>
          </a:xfrm>
          <a:prstGeom prst="bentConnector3">
            <a:avLst>
              <a:gd name="adj1" fmla="val 35366"/>
            </a:avLst>
          </a:prstGeom>
          <a:noFill/>
          <a:ln w="9525" cap="flat" cmpd="sng">
            <a:solidFill>
              <a:srgbClr val="000000"/>
            </a:solidFill>
            <a:prstDash val="solid"/>
            <a:round/>
            <a:headEnd type="none" w="sm" len="sm"/>
            <a:tailEnd type="stealth" w="med" len="med"/>
          </a:ln>
        </p:spPr>
      </p:cxnSp>
      <p:cxnSp>
        <p:nvCxnSpPr>
          <p:cNvPr id="686" name="Google Shape;686;g3cb20f13e01_0_696"/>
          <p:cNvCxnSpPr>
            <a:stCxn id="685" idx="3"/>
          </p:cNvCxnSpPr>
          <p:nvPr/>
        </p:nvCxnSpPr>
        <p:spPr>
          <a:xfrm rot="10800000" flipH="1">
            <a:off x="6144929" y="3938026"/>
            <a:ext cx="569100" cy="3900"/>
          </a:xfrm>
          <a:prstGeom prst="bentConnector3">
            <a:avLst>
              <a:gd name="adj1" fmla="val 50000"/>
            </a:avLst>
          </a:prstGeom>
          <a:noFill/>
          <a:ln w="9525" cap="flat" cmpd="sng">
            <a:solidFill>
              <a:srgbClr val="000000"/>
            </a:solidFill>
            <a:prstDash val="solid"/>
            <a:round/>
            <a:headEnd type="none" w="sm" len="sm"/>
            <a:tailEnd type="stealth" w="med" len="med"/>
          </a:ln>
        </p:spPr>
      </p:cxnSp>
      <p:sp>
        <p:nvSpPr>
          <p:cNvPr id="685" name="Google Shape;685;g3cb20f13e01_0_696"/>
          <p:cNvSpPr/>
          <p:nvPr/>
        </p:nvSpPr>
        <p:spPr>
          <a:xfrm>
            <a:off x="3463229" y="3479926"/>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Система</a:t>
            </a:r>
            <a:endParaRPr sz="1500" b="0" i="0" u="none" strike="noStrike" cap="none">
              <a:solidFill>
                <a:srgbClr val="000000"/>
              </a:solidFill>
              <a:latin typeface="Montserrat SemiBold"/>
              <a:ea typeface="Montserrat SemiBold"/>
              <a:cs typeface="Montserrat SemiBold"/>
              <a:sym typeface="Montserrat SemiBold"/>
            </a:endParaRPr>
          </a:p>
        </p:txBody>
      </p:sp>
      <p:sp>
        <p:nvSpPr>
          <p:cNvPr id="687" name="Google Shape;687;g3cb20f13e01_0_696"/>
          <p:cNvSpPr/>
          <p:nvPr/>
        </p:nvSpPr>
        <p:spPr>
          <a:xfrm>
            <a:off x="6772663" y="3435837"/>
            <a:ext cx="14634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В хмурый день идет дождь</a:t>
            </a:r>
            <a:endParaRPr sz="1400" b="0" i="0" u="none" strike="noStrike" cap="none">
              <a:solidFill>
                <a:schemeClr val="dk1"/>
              </a:solidFill>
              <a:latin typeface="IBM Plex Sans"/>
              <a:ea typeface="IBM Plex Sans"/>
              <a:cs typeface="IBM Plex Sans"/>
              <a:sym typeface="IBM Plex Sans"/>
            </a:endParaRPr>
          </a:p>
        </p:txBody>
      </p:sp>
      <p:sp>
        <p:nvSpPr>
          <p:cNvPr id="688" name="Google Shape;688;g3cb20f13e01_0_696"/>
          <p:cNvSpPr/>
          <p:nvPr/>
        </p:nvSpPr>
        <p:spPr>
          <a:xfrm>
            <a:off x="3448541" y="3453032"/>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Montserrat SemiBold"/>
              <a:ea typeface="Montserrat SemiBold"/>
              <a:cs typeface="Montserrat SemiBold"/>
              <a:sym typeface="Montserrat SemiBold"/>
            </a:endParaRPr>
          </a:p>
        </p:txBody>
      </p:sp>
      <p:pic>
        <p:nvPicPr>
          <p:cNvPr id="689" name="Google Shape;689;g3cb20f13e01_0_696" descr="Picture background"/>
          <p:cNvPicPr preferRelativeResize="0"/>
          <p:nvPr/>
        </p:nvPicPr>
        <p:blipFill rotWithShape="1">
          <a:blip r:embed="rId5">
            <a:alphaModFix/>
          </a:blip>
          <a:srcRect/>
          <a:stretch/>
        </p:blipFill>
        <p:spPr>
          <a:xfrm>
            <a:off x="4371031" y="3472319"/>
            <a:ext cx="877622" cy="877622"/>
          </a:xfrm>
          <a:prstGeom prst="rect">
            <a:avLst/>
          </a:prstGeom>
          <a:noFill/>
          <a:ln>
            <a:noFill/>
          </a:ln>
        </p:spPr>
      </p:pic>
      <p:sp>
        <p:nvSpPr>
          <p:cNvPr id="690" name="Google Shape;690;g3cb20f13e01_0_696"/>
          <p:cNvSpPr/>
          <p:nvPr/>
        </p:nvSpPr>
        <p:spPr>
          <a:xfrm>
            <a:off x="4215204" y="4466026"/>
            <a:ext cx="1148400" cy="301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IBM Plex Sans"/>
                <a:ea typeface="IBM Plex Sans"/>
                <a:cs typeface="IBM Plex Sans"/>
                <a:sym typeface="IBM Plex Sans"/>
              </a:rPr>
              <a:t>Модель</a:t>
            </a:r>
            <a:endParaRPr sz="1600" b="0" i="0" u="none" strike="noStrike" cap="none">
              <a:solidFill>
                <a:srgbClr val="000000"/>
              </a:solidFill>
              <a:latin typeface="IBM Plex Sans"/>
              <a:ea typeface="IBM Plex Sans"/>
              <a:cs typeface="IBM Plex Sans"/>
              <a:sym typeface="IBM Plex Sans"/>
            </a:endParaRPr>
          </a:p>
        </p:txBody>
      </p:sp>
      <p:sp>
        <p:nvSpPr>
          <p:cNvPr id="691" name="Google Shape;691;g3cb20f13e01_0_696"/>
          <p:cNvSpPr/>
          <p:nvPr/>
        </p:nvSpPr>
        <p:spPr>
          <a:xfrm>
            <a:off x="6467072" y="4531075"/>
            <a:ext cx="1952400" cy="301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IBM Plex Sans"/>
                <a:ea typeface="IBM Plex Sans"/>
                <a:cs typeface="IBM Plex Sans"/>
                <a:sym typeface="IBM Plex Sans"/>
              </a:rPr>
              <a:t>Истинная зависимость</a:t>
            </a:r>
            <a:endParaRPr sz="1600" b="0" i="0" u="none" strike="noStrike" cap="none">
              <a:solidFill>
                <a:srgbClr val="000000"/>
              </a:solidFill>
              <a:latin typeface="IBM Plex Sans"/>
              <a:ea typeface="IBM Plex Sans"/>
              <a:cs typeface="IBM Plex Sans"/>
              <a:sym typeface="IBM Plex Sans"/>
            </a:endParaRPr>
          </a:p>
        </p:txBody>
      </p:sp>
      <p:graphicFrame>
        <p:nvGraphicFramePr>
          <p:cNvPr id="692" name="Google Shape;692;g3cb20f13e01_0_696"/>
          <p:cNvGraphicFramePr/>
          <p:nvPr/>
        </p:nvGraphicFramePr>
        <p:xfrm>
          <a:off x="548722" y="3373928"/>
          <a:ext cx="3000000" cy="3000000"/>
        </p:xfrm>
        <a:graphic>
          <a:graphicData uri="http://schemas.openxmlformats.org/drawingml/2006/table">
            <a:tbl>
              <a:tblPr firstRow="1" bandRow="1">
                <a:noFill/>
                <a:tableStyleId>{A9B0E0E1-4E68-4C5C-ACD4-11C2C6A234C4}</a:tableStyleId>
              </a:tblPr>
              <a:tblGrid>
                <a:gridCol w="1211475">
                  <a:extLst>
                    <a:ext uri="{9D8B030D-6E8A-4147-A177-3AD203B41FA5}">
                      <a16:colId xmlns:a16="http://schemas.microsoft.com/office/drawing/2014/main" val="20000"/>
                    </a:ext>
                  </a:extLst>
                </a:gridCol>
                <a:gridCol w="121147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Состояние неба</a:t>
                      </a:r>
                      <a:endParaRPr sz="1400" u="none" strike="noStrike" cap="none"/>
                    </a:p>
                  </a:txBody>
                  <a:tcPr marL="91450" marR="91450" marT="45725" marB="45725">
                    <a:solidFill>
                      <a:srgbClr val="8E39E2"/>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Был ли дождь</a:t>
                      </a:r>
                      <a:endParaRPr sz="1400" u="none" strike="noStrike" cap="none"/>
                    </a:p>
                  </a:txBody>
                  <a:tcPr marL="91450" marR="91450" marT="45725" marB="45725">
                    <a:solidFill>
                      <a:srgbClr val="8E39E2"/>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хмурое</a:t>
                      </a:r>
                      <a:endParaRPr sz="1400" u="none" strike="noStrike" cap="none"/>
                    </a:p>
                  </a:txBody>
                  <a:tcPr marL="91450" marR="91450" marT="45725" marB="45725">
                    <a:lnB w="38100" cap="flat" cmpd="sng">
                      <a:solidFill>
                        <a:srgbClr val="E4F9FD"/>
                      </a:solidFill>
                      <a:prstDash val="dash"/>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Был</a:t>
                      </a:r>
                      <a:endParaRPr sz="1400" u="none" strike="noStrike" cap="none"/>
                    </a:p>
                  </a:txBody>
                  <a:tcPr marL="91450" marR="91450" marT="45725" marB="45725">
                    <a:lnB w="38100" cap="flat" cmpd="sng">
                      <a:solidFill>
                        <a:srgbClr val="E4F9FD"/>
                      </a:solidFill>
                      <a:prstDash val="dash"/>
                      <a:round/>
                      <a:headEnd type="none" w="sm" len="sm"/>
                      <a:tailEnd type="none" w="sm" len="sm"/>
                    </a:lnB>
                    <a:solidFill>
                      <a:schemeClr val="lt1"/>
                    </a:solidFill>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ясное</a:t>
                      </a:r>
                      <a:endParaRPr sz="1400" u="none" strike="noStrike" cap="none"/>
                    </a:p>
                  </a:txBody>
                  <a:tcPr marL="91450" marR="91450" marT="45725" marB="45725">
                    <a:lnL w="38100" cap="flat" cmpd="sng">
                      <a:solidFill>
                        <a:srgbClr val="E4F9FD"/>
                      </a:solidFill>
                      <a:prstDash val="dash"/>
                      <a:round/>
                      <a:headEnd type="none" w="sm" len="sm"/>
                      <a:tailEnd type="none" w="sm" len="sm"/>
                    </a:lnL>
                    <a:lnR w="38100" cap="flat" cmpd="sng">
                      <a:solidFill>
                        <a:srgbClr val="E4F9FD"/>
                      </a:solidFill>
                      <a:prstDash val="dash"/>
                      <a:round/>
                      <a:headEnd type="none" w="sm" len="sm"/>
                      <a:tailEnd type="none" w="sm" len="sm"/>
                    </a:lnR>
                    <a:lnT w="38100" cap="flat" cmpd="sng">
                      <a:solidFill>
                        <a:srgbClr val="E4F9FD"/>
                      </a:solidFill>
                      <a:prstDash val="dash"/>
                      <a:round/>
                      <a:headEnd type="none" w="sm" len="sm"/>
                      <a:tailEnd type="none" w="sm" len="sm"/>
                    </a:lnT>
                    <a:lnB w="38100" cap="flat" cmpd="sng">
                      <a:solidFill>
                        <a:srgbClr val="E4F9FD"/>
                      </a:solidFill>
                      <a:prstDash val="dash"/>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Не было</a:t>
                      </a:r>
                      <a:endParaRPr sz="1400" u="none" strike="noStrike" cap="none"/>
                    </a:p>
                  </a:txBody>
                  <a:tcPr marL="91450" marR="91450" marT="45725" marB="45725">
                    <a:lnL w="38100" cap="flat" cmpd="sng">
                      <a:solidFill>
                        <a:srgbClr val="E4F9FD"/>
                      </a:solidFill>
                      <a:prstDash val="dash"/>
                      <a:round/>
                      <a:headEnd type="none" w="sm" len="sm"/>
                      <a:tailEnd type="none" w="sm" len="sm"/>
                    </a:lnL>
                    <a:lnR w="38100" cap="flat" cmpd="sng">
                      <a:solidFill>
                        <a:srgbClr val="E4F9FD"/>
                      </a:solidFill>
                      <a:prstDash val="dash"/>
                      <a:round/>
                      <a:headEnd type="none" w="sm" len="sm"/>
                      <a:tailEnd type="none" w="sm" len="sm"/>
                    </a:lnR>
                    <a:lnT w="38100" cap="flat" cmpd="sng">
                      <a:solidFill>
                        <a:srgbClr val="E4F9FD"/>
                      </a:solidFill>
                      <a:prstDash val="dash"/>
                      <a:round/>
                      <a:headEnd type="none" w="sm" len="sm"/>
                      <a:tailEnd type="none" w="sm" len="sm"/>
                    </a:lnT>
                    <a:lnB w="38100" cap="flat" cmpd="sng">
                      <a:solidFill>
                        <a:srgbClr val="E4F9FD"/>
                      </a:solidFill>
                      <a:prstDash val="dash"/>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
        <p:nvSpPr>
          <p:cNvPr id="693" name="Google Shape;693;g3cb20f13e01_0_696"/>
          <p:cNvSpPr txBox="1"/>
          <p:nvPr/>
        </p:nvSpPr>
        <p:spPr>
          <a:xfrm>
            <a:off x="548721" y="2609496"/>
            <a:ext cx="1033800" cy="738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400" b="1" i="0" u="none" strike="noStrike" cap="none">
                <a:solidFill>
                  <a:srgbClr val="000000"/>
                </a:solidFill>
                <a:latin typeface="Arial"/>
                <a:ea typeface="Arial"/>
                <a:cs typeface="Arial"/>
                <a:sym typeface="Arial"/>
              </a:rPr>
              <a:t>Признаки</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Features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X</a:t>
            </a:r>
            <a:endParaRPr sz="1400" b="0" i="0" u="none" strike="noStrike" cap="none">
              <a:solidFill>
                <a:srgbClr val="000000"/>
              </a:solidFill>
              <a:latin typeface="Arial"/>
              <a:ea typeface="Arial"/>
              <a:cs typeface="Arial"/>
              <a:sym typeface="Arial"/>
            </a:endParaRPr>
          </a:p>
        </p:txBody>
      </p:sp>
      <p:sp>
        <p:nvSpPr>
          <p:cNvPr id="694" name="Google Shape;694;g3cb20f13e01_0_696"/>
          <p:cNvSpPr txBox="1"/>
          <p:nvPr/>
        </p:nvSpPr>
        <p:spPr>
          <a:xfrm>
            <a:off x="1455502" y="2394986"/>
            <a:ext cx="1582200" cy="954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400" b="1" i="0" u="none" strike="noStrike" cap="none">
                <a:solidFill>
                  <a:srgbClr val="000000"/>
                </a:solidFill>
                <a:latin typeface="Arial"/>
                <a:ea typeface="Arial"/>
                <a:cs typeface="Arial"/>
                <a:sym typeface="Arial"/>
              </a:rPr>
              <a:t>Целевая переменная</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Target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y</a:t>
            </a:r>
            <a:endParaRPr sz="1400" b="0" i="0" u="none" strike="noStrike" cap="none">
              <a:solidFill>
                <a:srgbClr val="000000"/>
              </a:solidFill>
              <a:latin typeface="Arial"/>
              <a:ea typeface="Arial"/>
              <a:cs typeface="Arial"/>
              <a:sym typeface="Arial"/>
            </a:endParaRPr>
          </a:p>
        </p:txBody>
      </p:sp>
      <p:sp>
        <p:nvSpPr>
          <p:cNvPr id="695" name="Google Shape;695;g3cb20f13e01_0_696"/>
          <p:cNvSpPr/>
          <p:nvPr/>
        </p:nvSpPr>
        <p:spPr>
          <a:xfrm>
            <a:off x="756544" y="4748462"/>
            <a:ext cx="1943100" cy="307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Обучающая выборка</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grpSp>
        <p:nvGrpSpPr>
          <p:cNvPr id="700" name="Google Shape;700;g3cb20f13e01_0_1106"/>
          <p:cNvGrpSpPr/>
          <p:nvPr/>
        </p:nvGrpSpPr>
        <p:grpSpPr>
          <a:xfrm>
            <a:off x="9353973" y="-1553420"/>
            <a:ext cx="2854020" cy="13716631"/>
            <a:chOff x="9353973" y="-1553420"/>
            <a:chExt cx="2854020" cy="13716631"/>
          </a:xfrm>
        </p:grpSpPr>
        <p:grpSp>
          <p:nvGrpSpPr>
            <p:cNvPr id="701" name="Google Shape;701;g3cb20f13e01_0_1106"/>
            <p:cNvGrpSpPr/>
            <p:nvPr/>
          </p:nvGrpSpPr>
          <p:grpSpPr>
            <a:xfrm>
              <a:off x="9353973" y="-1553420"/>
              <a:ext cx="2838027" cy="13716631"/>
              <a:chOff x="9353973" y="-6079700"/>
              <a:chExt cx="2838027" cy="13716631"/>
            </a:xfrm>
          </p:grpSpPr>
          <p:pic>
            <p:nvPicPr>
              <p:cNvPr id="702" name="Google Shape;702;g3cb20f13e01_0_110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703" name="Google Shape;703;g3cb20f13e01_0_110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704" name="Google Shape;704;g3cb20f13e01_0_110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g3cb20f13e01_0_110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706" name="Google Shape;706;g3cb20f13e01_0_1106"/>
          <p:cNvPicPr preferRelativeResize="0"/>
          <p:nvPr/>
        </p:nvPicPr>
        <p:blipFill rotWithShape="1">
          <a:blip r:embed="rId4">
            <a:alphaModFix/>
          </a:blip>
          <a:srcRect/>
          <a:stretch/>
        </p:blipFill>
        <p:spPr>
          <a:xfrm rot="-3600001">
            <a:off x="8854340" y="3963088"/>
            <a:ext cx="3047977" cy="3052211"/>
          </a:xfrm>
          <a:prstGeom prst="rect">
            <a:avLst/>
          </a:prstGeom>
          <a:noFill/>
          <a:ln>
            <a:noFill/>
          </a:ln>
        </p:spPr>
      </p:pic>
      <p:sp>
        <p:nvSpPr>
          <p:cNvPr id="707" name="Google Shape;707;g3cb20f13e01_0_1106"/>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Основные термины машинного обучения</a:t>
            </a:r>
            <a:endParaRPr sz="3600" b="1" i="0" u="none" strike="noStrike" cap="none">
              <a:solidFill>
                <a:schemeClr val="dk1"/>
              </a:solidFill>
              <a:latin typeface="IBM Plex Sans"/>
              <a:ea typeface="IBM Plex Sans"/>
              <a:cs typeface="IBM Plex Sans"/>
              <a:sym typeface="IBM Plex Sans"/>
            </a:endParaRPr>
          </a:p>
        </p:txBody>
      </p:sp>
      <p:cxnSp>
        <p:nvCxnSpPr>
          <p:cNvPr id="708" name="Google Shape;708;g3cb20f13e01_0_1106"/>
          <p:cNvCxnSpPr>
            <a:endCxn id="709" idx="1"/>
          </p:cNvCxnSpPr>
          <p:nvPr/>
        </p:nvCxnSpPr>
        <p:spPr>
          <a:xfrm rot="10800000" flipH="1">
            <a:off x="2949080" y="3941926"/>
            <a:ext cx="726900" cy="5400"/>
          </a:xfrm>
          <a:prstGeom prst="bentConnector3">
            <a:avLst>
              <a:gd name="adj1" fmla="val 35366"/>
            </a:avLst>
          </a:prstGeom>
          <a:noFill/>
          <a:ln w="9525" cap="flat" cmpd="sng">
            <a:solidFill>
              <a:srgbClr val="000000"/>
            </a:solidFill>
            <a:prstDash val="solid"/>
            <a:round/>
            <a:headEnd type="none" w="sm" len="sm"/>
            <a:tailEnd type="stealth" w="med" len="med"/>
          </a:ln>
        </p:spPr>
      </p:cxnSp>
      <p:cxnSp>
        <p:nvCxnSpPr>
          <p:cNvPr id="710" name="Google Shape;710;g3cb20f13e01_0_1106"/>
          <p:cNvCxnSpPr>
            <a:stCxn id="709" idx="3"/>
          </p:cNvCxnSpPr>
          <p:nvPr/>
        </p:nvCxnSpPr>
        <p:spPr>
          <a:xfrm rot="10800000" flipH="1">
            <a:off x="6144929" y="3938026"/>
            <a:ext cx="569100" cy="3900"/>
          </a:xfrm>
          <a:prstGeom prst="bentConnector3">
            <a:avLst>
              <a:gd name="adj1" fmla="val 50000"/>
            </a:avLst>
          </a:prstGeom>
          <a:noFill/>
          <a:ln w="9525" cap="flat" cmpd="sng">
            <a:solidFill>
              <a:srgbClr val="000000"/>
            </a:solidFill>
            <a:prstDash val="solid"/>
            <a:round/>
            <a:headEnd type="none" w="sm" len="sm"/>
            <a:tailEnd type="stealth" w="med" len="med"/>
          </a:ln>
        </p:spPr>
      </p:cxnSp>
      <p:sp>
        <p:nvSpPr>
          <p:cNvPr id="709" name="Google Shape;709;g3cb20f13e01_0_1106"/>
          <p:cNvSpPr/>
          <p:nvPr/>
        </p:nvSpPr>
        <p:spPr>
          <a:xfrm>
            <a:off x="3463229" y="3479926"/>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Montserrat SemiBold"/>
                <a:ea typeface="Montserrat SemiBold"/>
                <a:cs typeface="Montserrat SemiBold"/>
                <a:sym typeface="Montserrat SemiBold"/>
              </a:rPr>
              <a:t>Система</a:t>
            </a:r>
            <a:endParaRPr sz="1500" b="0" i="0" u="none" strike="noStrike" cap="none">
              <a:solidFill>
                <a:srgbClr val="000000"/>
              </a:solidFill>
              <a:latin typeface="Montserrat SemiBold"/>
              <a:ea typeface="Montserrat SemiBold"/>
              <a:cs typeface="Montserrat SemiBold"/>
              <a:sym typeface="Montserrat SemiBold"/>
            </a:endParaRPr>
          </a:p>
        </p:txBody>
      </p:sp>
      <p:sp>
        <p:nvSpPr>
          <p:cNvPr id="711" name="Google Shape;711;g3cb20f13e01_0_1106"/>
          <p:cNvSpPr/>
          <p:nvPr/>
        </p:nvSpPr>
        <p:spPr>
          <a:xfrm>
            <a:off x="6772663" y="3435837"/>
            <a:ext cx="1463400" cy="1008300"/>
          </a:xfrm>
          <a:prstGeom prst="wedgeEllipseCallout">
            <a:avLst>
              <a:gd name="adj1" fmla="val -20833"/>
              <a:gd name="adj2" fmla="val 62500"/>
            </a:avLst>
          </a:prstGeom>
          <a:solidFill>
            <a:srgbClr val="F8CEE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В хмурый день идет дождь</a:t>
            </a:r>
            <a:endParaRPr sz="1400" b="0" i="0" u="none" strike="noStrike" cap="none">
              <a:solidFill>
                <a:schemeClr val="dk1"/>
              </a:solidFill>
              <a:latin typeface="IBM Plex Sans"/>
              <a:ea typeface="IBM Plex Sans"/>
              <a:cs typeface="IBM Plex Sans"/>
              <a:sym typeface="IBM Plex Sans"/>
            </a:endParaRPr>
          </a:p>
        </p:txBody>
      </p:sp>
      <p:sp>
        <p:nvSpPr>
          <p:cNvPr id="712" name="Google Shape;712;g3cb20f13e01_0_1106"/>
          <p:cNvSpPr/>
          <p:nvPr/>
        </p:nvSpPr>
        <p:spPr>
          <a:xfrm>
            <a:off x="3448541" y="3453032"/>
            <a:ext cx="2681700" cy="924000"/>
          </a:xfrm>
          <a:prstGeom prst="chevron">
            <a:avLst>
              <a:gd name="adj" fmla="val 23025"/>
            </a:avLst>
          </a:prstGeom>
          <a:solidFill>
            <a:srgbClr val="CBD0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Montserrat SemiBold"/>
              <a:ea typeface="Montserrat SemiBold"/>
              <a:cs typeface="Montserrat SemiBold"/>
              <a:sym typeface="Montserrat SemiBold"/>
            </a:endParaRPr>
          </a:p>
        </p:txBody>
      </p:sp>
      <p:pic>
        <p:nvPicPr>
          <p:cNvPr id="713" name="Google Shape;713;g3cb20f13e01_0_1106" descr="Picture background"/>
          <p:cNvPicPr preferRelativeResize="0"/>
          <p:nvPr/>
        </p:nvPicPr>
        <p:blipFill rotWithShape="1">
          <a:blip r:embed="rId5">
            <a:alphaModFix/>
          </a:blip>
          <a:srcRect/>
          <a:stretch/>
        </p:blipFill>
        <p:spPr>
          <a:xfrm>
            <a:off x="4371031" y="3472319"/>
            <a:ext cx="877622" cy="877622"/>
          </a:xfrm>
          <a:prstGeom prst="rect">
            <a:avLst/>
          </a:prstGeom>
          <a:noFill/>
          <a:ln>
            <a:noFill/>
          </a:ln>
        </p:spPr>
      </p:pic>
      <p:sp>
        <p:nvSpPr>
          <p:cNvPr id="714" name="Google Shape;714;g3cb20f13e01_0_1106"/>
          <p:cNvSpPr/>
          <p:nvPr/>
        </p:nvSpPr>
        <p:spPr>
          <a:xfrm>
            <a:off x="4215204" y="4466026"/>
            <a:ext cx="1148400" cy="301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IBM Plex Sans"/>
                <a:ea typeface="IBM Plex Sans"/>
                <a:cs typeface="IBM Plex Sans"/>
                <a:sym typeface="IBM Plex Sans"/>
              </a:rPr>
              <a:t>Модель</a:t>
            </a:r>
            <a:endParaRPr sz="1600" b="0" i="0" u="none" strike="noStrike" cap="none">
              <a:solidFill>
                <a:srgbClr val="000000"/>
              </a:solidFill>
              <a:latin typeface="IBM Plex Sans"/>
              <a:ea typeface="IBM Plex Sans"/>
              <a:cs typeface="IBM Plex Sans"/>
              <a:sym typeface="IBM Plex Sans"/>
            </a:endParaRPr>
          </a:p>
        </p:txBody>
      </p:sp>
      <p:sp>
        <p:nvSpPr>
          <p:cNvPr id="715" name="Google Shape;715;g3cb20f13e01_0_1106"/>
          <p:cNvSpPr/>
          <p:nvPr/>
        </p:nvSpPr>
        <p:spPr>
          <a:xfrm>
            <a:off x="6467072" y="4531075"/>
            <a:ext cx="1952400" cy="301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IBM Plex Sans"/>
                <a:ea typeface="IBM Plex Sans"/>
                <a:cs typeface="IBM Plex Sans"/>
                <a:sym typeface="IBM Plex Sans"/>
              </a:rPr>
              <a:t>Истинная зависимость</a:t>
            </a:r>
            <a:endParaRPr sz="1600" b="0" i="0" u="none" strike="noStrike" cap="none">
              <a:solidFill>
                <a:srgbClr val="000000"/>
              </a:solidFill>
              <a:latin typeface="IBM Plex Sans"/>
              <a:ea typeface="IBM Plex Sans"/>
              <a:cs typeface="IBM Plex Sans"/>
              <a:sym typeface="IBM Plex Sans"/>
            </a:endParaRPr>
          </a:p>
        </p:txBody>
      </p:sp>
      <p:graphicFrame>
        <p:nvGraphicFramePr>
          <p:cNvPr id="716" name="Google Shape;716;g3cb20f13e01_0_1106"/>
          <p:cNvGraphicFramePr/>
          <p:nvPr/>
        </p:nvGraphicFramePr>
        <p:xfrm>
          <a:off x="548722" y="3373928"/>
          <a:ext cx="3000000" cy="3000000"/>
        </p:xfrm>
        <a:graphic>
          <a:graphicData uri="http://schemas.openxmlformats.org/drawingml/2006/table">
            <a:tbl>
              <a:tblPr firstRow="1" bandRow="1">
                <a:noFill/>
                <a:tableStyleId>{A9B0E0E1-4E68-4C5C-ACD4-11C2C6A234C4}</a:tableStyleId>
              </a:tblPr>
              <a:tblGrid>
                <a:gridCol w="1211475">
                  <a:extLst>
                    <a:ext uri="{9D8B030D-6E8A-4147-A177-3AD203B41FA5}">
                      <a16:colId xmlns:a16="http://schemas.microsoft.com/office/drawing/2014/main" val="20000"/>
                    </a:ext>
                  </a:extLst>
                </a:gridCol>
                <a:gridCol w="121147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Состояние неба</a:t>
                      </a:r>
                      <a:endParaRPr sz="1400" u="none" strike="noStrike" cap="none"/>
                    </a:p>
                  </a:txBody>
                  <a:tcPr marL="91450" marR="91450" marT="45725" marB="45725">
                    <a:solidFill>
                      <a:srgbClr val="8E39E2"/>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Был ли дождь</a:t>
                      </a:r>
                      <a:endParaRPr sz="1400" u="none" strike="noStrike" cap="none"/>
                    </a:p>
                  </a:txBody>
                  <a:tcPr marL="91450" marR="91450" marT="45725" marB="45725">
                    <a:solidFill>
                      <a:srgbClr val="8E39E2"/>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хмурое</a:t>
                      </a:r>
                      <a:endParaRPr sz="1400" u="none" strike="noStrike" cap="none"/>
                    </a:p>
                  </a:txBody>
                  <a:tcPr marL="91450" marR="91450" marT="45725" marB="45725">
                    <a:lnB w="38100" cap="flat" cmpd="sng">
                      <a:solidFill>
                        <a:srgbClr val="8E39E2"/>
                      </a:solidFill>
                      <a:prstDash val="dash"/>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Был</a:t>
                      </a:r>
                      <a:endParaRPr sz="1400" u="none" strike="noStrike" cap="none"/>
                    </a:p>
                  </a:txBody>
                  <a:tcPr marL="91450" marR="91450" marT="45725" marB="45725">
                    <a:lnB w="38100" cap="flat" cmpd="sng">
                      <a:solidFill>
                        <a:srgbClr val="8E39E2"/>
                      </a:solidFill>
                      <a:prstDash val="dash"/>
                      <a:round/>
                      <a:headEnd type="none" w="sm" len="sm"/>
                      <a:tailEnd type="none" w="sm" len="sm"/>
                    </a:lnB>
                    <a:solidFill>
                      <a:schemeClr val="lt1"/>
                    </a:solidFill>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ясное</a:t>
                      </a:r>
                      <a:endParaRPr sz="1400" u="none" strike="noStrike" cap="none"/>
                    </a:p>
                  </a:txBody>
                  <a:tcPr marL="91450" marR="91450" marT="45725" marB="45725">
                    <a:lnL w="38100" cap="flat" cmpd="sng">
                      <a:solidFill>
                        <a:srgbClr val="8E39E2"/>
                      </a:solidFill>
                      <a:prstDash val="dash"/>
                      <a:round/>
                      <a:headEnd type="none" w="sm" len="sm"/>
                      <a:tailEnd type="none" w="sm" len="sm"/>
                    </a:lnL>
                    <a:lnR w="38100" cap="flat" cmpd="sng">
                      <a:solidFill>
                        <a:srgbClr val="8E39E2"/>
                      </a:solidFill>
                      <a:prstDash val="dash"/>
                      <a:round/>
                      <a:headEnd type="none" w="sm" len="sm"/>
                      <a:tailEnd type="none" w="sm" len="sm"/>
                    </a:lnR>
                    <a:lnT w="38100" cap="flat" cmpd="sng">
                      <a:solidFill>
                        <a:srgbClr val="8E39E2"/>
                      </a:solidFill>
                      <a:prstDash val="dash"/>
                      <a:round/>
                      <a:headEnd type="none" w="sm" len="sm"/>
                      <a:tailEnd type="none" w="sm" len="sm"/>
                    </a:lnT>
                    <a:lnB w="38100" cap="flat" cmpd="sng">
                      <a:solidFill>
                        <a:srgbClr val="8E39E2"/>
                      </a:solidFill>
                      <a:prstDash val="dash"/>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t>Не было</a:t>
                      </a:r>
                      <a:endParaRPr sz="1400" u="none" strike="noStrike" cap="none"/>
                    </a:p>
                  </a:txBody>
                  <a:tcPr marL="91450" marR="91450" marT="45725" marB="45725">
                    <a:lnL w="38100" cap="flat" cmpd="sng">
                      <a:solidFill>
                        <a:srgbClr val="8E39E2"/>
                      </a:solidFill>
                      <a:prstDash val="dash"/>
                      <a:round/>
                      <a:headEnd type="none" w="sm" len="sm"/>
                      <a:tailEnd type="none" w="sm" len="sm"/>
                    </a:lnL>
                    <a:lnR w="38100" cap="flat" cmpd="sng">
                      <a:solidFill>
                        <a:srgbClr val="8E39E2"/>
                      </a:solidFill>
                      <a:prstDash val="dash"/>
                      <a:round/>
                      <a:headEnd type="none" w="sm" len="sm"/>
                      <a:tailEnd type="none" w="sm" len="sm"/>
                    </a:lnR>
                    <a:lnT w="38100" cap="flat" cmpd="sng">
                      <a:solidFill>
                        <a:srgbClr val="8E39E2"/>
                      </a:solidFill>
                      <a:prstDash val="dash"/>
                      <a:round/>
                      <a:headEnd type="none" w="sm" len="sm"/>
                      <a:tailEnd type="none" w="sm" len="sm"/>
                    </a:lnT>
                    <a:lnB w="38100" cap="flat" cmpd="sng">
                      <a:solidFill>
                        <a:srgbClr val="8E39E2"/>
                      </a:solidFill>
                      <a:prstDash val="dash"/>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
        <p:nvSpPr>
          <p:cNvPr id="717" name="Google Shape;717;g3cb20f13e01_0_1106"/>
          <p:cNvSpPr txBox="1"/>
          <p:nvPr/>
        </p:nvSpPr>
        <p:spPr>
          <a:xfrm>
            <a:off x="548721" y="2609496"/>
            <a:ext cx="1033800" cy="738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400" b="1" i="0" u="none" strike="noStrike" cap="none">
                <a:solidFill>
                  <a:srgbClr val="000000"/>
                </a:solidFill>
                <a:latin typeface="Arial"/>
                <a:ea typeface="Arial"/>
                <a:cs typeface="Arial"/>
                <a:sym typeface="Arial"/>
              </a:rPr>
              <a:t>Признаки</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Features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X</a:t>
            </a:r>
            <a:endParaRPr sz="1400" b="0" i="0" u="none" strike="noStrike" cap="none">
              <a:solidFill>
                <a:srgbClr val="000000"/>
              </a:solidFill>
              <a:latin typeface="Arial"/>
              <a:ea typeface="Arial"/>
              <a:cs typeface="Arial"/>
              <a:sym typeface="Arial"/>
            </a:endParaRPr>
          </a:p>
        </p:txBody>
      </p:sp>
      <p:sp>
        <p:nvSpPr>
          <p:cNvPr id="718" name="Google Shape;718;g3cb20f13e01_0_1106"/>
          <p:cNvSpPr txBox="1"/>
          <p:nvPr/>
        </p:nvSpPr>
        <p:spPr>
          <a:xfrm>
            <a:off x="1455502" y="2394986"/>
            <a:ext cx="1582200" cy="954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400" b="1" i="0" u="none" strike="noStrike" cap="none">
                <a:solidFill>
                  <a:srgbClr val="000000"/>
                </a:solidFill>
                <a:latin typeface="Arial"/>
                <a:ea typeface="Arial"/>
                <a:cs typeface="Arial"/>
                <a:sym typeface="Arial"/>
              </a:rPr>
              <a:t>Целевая переменная</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Target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y</a:t>
            </a:r>
            <a:endParaRPr sz="1400" b="0" i="0" u="none" strike="noStrike" cap="none">
              <a:solidFill>
                <a:srgbClr val="000000"/>
              </a:solidFill>
              <a:latin typeface="Arial"/>
              <a:ea typeface="Arial"/>
              <a:cs typeface="Arial"/>
              <a:sym typeface="Arial"/>
            </a:endParaRPr>
          </a:p>
        </p:txBody>
      </p:sp>
      <p:sp>
        <p:nvSpPr>
          <p:cNvPr id="719" name="Google Shape;719;g3cb20f13e01_0_1106"/>
          <p:cNvSpPr/>
          <p:nvPr/>
        </p:nvSpPr>
        <p:spPr>
          <a:xfrm>
            <a:off x="756544" y="4748462"/>
            <a:ext cx="1943100" cy="307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Обучающая выборка</a:t>
            </a:r>
            <a:endParaRPr sz="1400" b="0" i="0" u="none" strike="noStrike" cap="none">
              <a:solidFill>
                <a:srgbClr val="000000"/>
              </a:solidFill>
              <a:latin typeface="Arial"/>
              <a:ea typeface="Arial"/>
              <a:cs typeface="Arial"/>
              <a:sym typeface="Arial"/>
            </a:endParaRPr>
          </a:p>
        </p:txBody>
      </p:sp>
      <p:sp>
        <p:nvSpPr>
          <p:cNvPr id="720" name="Google Shape;720;g3cb20f13e01_0_1106"/>
          <p:cNvSpPr txBox="1"/>
          <p:nvPr/>
        </p:nvSpPr>
        <p:spPr>
          <a:xfrm>
            <a:off x="3021250" y="4935625"/>
            <a:ext cx="33558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400" b="1" i="0" u="none" strike="noStrike" cap="none">
                <a:solidFill>
                  <a:srgbClr val="000000"/>
                </a:solidFill>
                <a:latin typeface="Arial"/>
                <a:ea typeface="Arial"/>
                <a:cs typeface="Arial"/>
                <a:sym typeface="Arial"/>
              </a:rPr>
              <a:t>Объект / наблюдение</a:t>
            </a: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Arial"/>
                <a:ea typeface="Arial"/>
                <a:cs typeface="Arial"/>
                <a:sym typeface="Arial"/>
              </a:rPr>
              <a:t>object, sample, observation, instance</a:t>
            </a:r>
            <a:endParaRPr sz="1400" b="0" i="0" u="none" strike="noStrike" cap="none">
              <a:solidFill>
                <a:srgbClr val="000000"/>
              </a:solidFill>
              <a:latin typeface="Arial"/>
              <a:ea typeface="Arial"/>
              <a:cs typeface="Arial"/>
              <a:sym typeface="Arial"/>
            </a:endParaRPr>
          </a:p>
        </p:txBody>
      </p:sp>
      <p:cxnSp>
        <p:nvCxnSpPr>
          <p:cNvPr id="721" name="Google Shape;721;g3cb20f13e01_0_1106"/>
          <p:cNvCxnSpPr/>
          <p:nvPr/>
        </p:nvCxnSpPr>
        <p:spPr>
          <a:xfrm rot="10800000">
            <a:off x="2949075" y="4633775"/>
            <a:ext cx="215100" cy="291900"/>
          </a:xfrm>
          <a:prstGeom prst="straightConnector1">
            <a:avLst/>
          </a:prstGeom>
          <a:noFill/>
          <a:ln w="38100" cap="flat" cmpd="sng">
            <a:solidFill>
              <a:srgbClr val="8E39E2"/>
            </a:solidFill>
            <a:prstDash val="solid"/>
            <a:round/>
            <a:headEnd type="none" w="sm" len="sm"/>
            <a:tailEnd type="none" w="sm" len="sm"/>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3d3e78d848d_0_72"/>
          <p:cNvSpPr txBox="1"/>
          <p:nvPr/>
        </p:nvSpPr>
        <p:spPr>
          <a:xfrm>
            <a:off x="1055702" y="1327700"/>
            <a:ext cx="73053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Смысловое значение терминов</a:t>
            </a:r>
            <a:endParaRPr sz="3600" b="0" i="0" u="none" strike="noStrike" cap="none">
              <a:solidFill>
                <a:srgbClr val="DFDFDF"/>
              </a:solidFill>
              <a:latin typeface="IBM Plex Sans"/>
              <a:ea typeface="IBM Plex Sans"/>
              <a:cs typeface="IBM Plex Sans"/>
              <a:sym typeface="IBM Plex Sans"/>
            </a:endParaRPr>
          </a:p>
        </p:txBody>
      </p:sp>
      <p:grpSp>
        <p:nvGrpSpPr>
          <p:cNvPr id="727" name="Google Shape;727;g3d3e78d848d_0_72"/>
          <p:cNvGrpSpPr/>
          <p:nvPr/>
        </p:nvGrpSpPr>
        <p:grpSpPr>
          <a:xfrm>
            <a:off x="9353973" y="-1553420"/>
            <a:ext cx="2854020" cy="13716631"/>
            <a:chOff x="9353973" y="-1553420"/>
            <a:chExt cx="2854020" cy="13716631"/>
          </a:xfrm>
        </p:grpSpPr>
        <p:grpSp>
          <p:nvGrpSpPr>
            <p:cNvPr id="728" name="Google Shape;728;g3d3e78d848d_0_72"/>
            <p:cNvGrpSpPr/>
            <p:nvPr/>
          </p:nvGrpSpPr>
          <p:grpSpPr>
            <a:xfrm>
              <a:off x="9353973" y="-1553420"/>
              <a:ext cx="2838027" cy="13716631"/>
              <a:chOff x="9353973" y="-6079700"/>
              <a:chExt cx="2838027" cy="13716631"/>
            </a:xfrm>
          </p:grpSpPr>
          <p:pic>
            <p:nvPicPr>
              <p:cNvPr id="729" name="Google Shape;729;g3d3e78d848d_0_72"/>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730" name="Google Shape;730;g3d3e78d848d_0_72"/>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731" name="Google Shape;731;g3d3e78d848d_0_72"/>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2" name="Google Shape;732;g3d3e78d848d_0_72"/>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33" name="Google Shape;733;g3d3e78d848d_0_72"/>
          <p:cNvSpPr/>
          <p:nvPr/>
        </p:nvSpPr>
        <p:spPr>
          <a:xfrm>
            <a:off x="1055688" y="2430525"/>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1</a:t>
            </a:r>
            <a:endParaRPr sz="1800" b="0" i="0" u="none" strike="noStrike" cap="none">
              <a:solidFill>
                <a:srgbClr val="F8CEEE"/>
              </a:solidFill>
              <a:latin typeface="IBM Plex Sans"/>
              <a:ea typeface="IBM Plex Sans"/>
              <a:cs typeface="IBM Plex Sans"/>
              <a:sym typeface="IBM Plex Sans"/>
            </a:endParaRPr>
          </a:p>
        </p:txBody>
      </p:sp>
      <p:grpSp>
        <p:nvGrpSpPr>
          <p:cNvPr id="734" name="Google Shape;734;g3d3e78d848d_0_72"/>
          <p:cNvGrpSpPr/>
          <p:nvPr/>
        </p:nvGrpSpPr>
        <p:grpSpPr>
          <a:xfrm>
            <a:off x="1910086" y="2108553"/>
            <a:ext cx="7046713" cy="745269"/>
            <a:chOff x="6251336" y="2194681"/>
            <a:chExt cx="7046713" cy="745269"/>
          </a:xfrm>
        </p:grpSpPr>
        <p:sp>
          <p:nvSpPr>
            <p:cNvPr id="735" name="Google Shape;735;g3d3e78d848d_0_72"/>
            <p:cNvSpPr txBox="1"/>
            <p:nvPr/>
          </p:nvSpPr>
          <p:spPr>
            <a:xfrm>
              <a:off x="6251349" y="2612050"/>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Обучающая выборка (training dataset)</a:t>
              </a:r>
              <a:endParaRPr sz="1800" b="0" i="0" u="none" strike="noStrike" cap="none">
                <a:solidFill>
                  <a:srgbClr val="000000"/>
                </a:solidFill>
                <a:latin typeface="Arial"/>
                <a:ea typeface="Arial"/>
                <a:cs typeface="Arial"/>
                <a:sym typeface="Arial"/>
              </a:endParaRPr>
            </a:p>
          </p:txBody>
        </p:sp>
        <p:sp>
          <p:nvSpPr>
            <p:cNvPr id="736" name="Google Shape;736;g3d3e78d848d_0_72"/>
            <p:cNvSpPr txBox="1"/>
            <p:nvPr/>
          </p:nvSpPr>
          <p:spPr>
            <a:xfrm>
              <a:off x="6251336" y="2194681"/>
              <a:ext cx="4813500" cy="6357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pic>
        <p:nvPicPr>
          <p:cNvPr id="737" name="Google Shape;737;g3d3e78d848d_0_72"/>
          <p:cNvPicPr preferRelativeResize="0"/>
          <p:nvPr/>
        </p:nvPicPr>
        <p:blipFill rotWithShape="1">
          <a:blip r:embed="rId4">
            <a:alphaModFix/>
          </a:blip>
          <a:srcRect/>
          <a:stretch/>
        </p:blipFill>
        <p:spPr>
          <a:xfrm>
            <a:off x="8835381" y="3877696"/>
            <a:ext cx="2638190" cy="264185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3d3e78d848d_0_141"/>
          <p:cNvSpPr txBox="1"/>
          <p:nvPr/>
        </p:nvSpPr>
        <p:spPr>
          <a:xfrm>
            <a:off x="1055702" y="1327700"/>
            <a:ext cx="73053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Смысловое значение терминов</a:t>
            </a:r>
            <a:endParaRPr sz="3600" b="0" i="0" u="none" strike="noStrike" cap="none">
              <a:solidFill>
                <a:srgbClr val="DFDFDF"/>
              </a:solidFill>
              <a:latin typeface="IBM Plex Sans"/>
              <a:ea typeface="IBM Plex Sans"/>
              <a:cs typeface="IBM Plex Sans"/>
              <a:sym typeface="IBM Plex Sans"/>
            </a:endParaRPr>
          </a:p>
        </p:txBody>
      </p:sp>
      <p:grpSp>
        <p:nvGrpSpPr>
          <p:cNvPr id="743" name="Google Shape;743;g3d3e78d848d_0_141"/>
          <p:cNvGrpSpPr/>
          <p:nvPr/>
        </p:nvGrpSpPr>
        <p:grpSpPr>
          <a:xfrm>
            <a:off x="9353973" y="-1553420"/>
            <a:ext cx="2854020" cy="13716631"/>
            <a:chOff x="9353973" y="-1553420"/>
            <a:chExt cx="2854020" cy="13716631"/>
          </a:xfrm>
        </p:grpSpPr>
        <p:grpSp>
          <p:nvGrpSpPr>
            <p:cNvPr id="744" name="Google Shape;744;g3d3e78d848d_0_141"/>
            <p:cNvGrpSpPr/>
            <p:nvPr/>
          </p:nvGrpSpPr>
          <p:grpSpPr>
            <a:xfrm>
              <a:off x="9353973" y="-1553420"/>
              <a:ext cx="2838027" cy="13716631"/>
              <a:chOff x="9353973" y="-6079700"/>
              <a:chExt cx="2838027" cy="13716631"/>
            </a:xfrm>
          </p:grpSpPr>
          <p:pic>
            <p:nvPicPr>
              <p:cNvPr id="745" name="Google Shape;745;g3d3e78d848d_0_141"/>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746" name="Google Shape;746;g3d3e78d848d_0_141"/>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747" name="Google Shape;747;g3d3e78d848d_0_141"/>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8" name="Google Shape;748;g3d3e78d848d_0_141"/>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49" name="Google Shape;749;g3d3e78d848d_0_141"/>
          <p:cNvSpPr/>
          <p:nvPr/>
        </p:nvSpPr>
        <p:spPr>
          <a:xfrm>
            <a:off x="1055688" y="2430525"/>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1</a:t>
            </a:r>
            <a:endParaRPr sz="1800" b="0" i="0" u="none" strike="noStrike" cap="none">
              <a:solidFill>
                <a:srgbClr val="F8CEEE"/>
              </a:solidFill>
              <a:latin typeface="IBM Plex Sans"/>
              <a:ea typeface="IBM Plex Sans"/>
              <a:cs typeface="IBM Plex Sans"/>
              <a:sym typeface="IBM Plex Sans"/>
            </a:endParaRPr>
          </a:p>
        </p:txBody>
      </p:sp>
      <p:grpSp>
        <p:nvGrpSpPr>
          <p:cNvPr id="750" name="Google Shape;750;g3d3e78d848d_0_141"/>
          <p:cNvGrpSpPr/>
          <p:nvPr/>
        </p:nvGrpSpPr>
        <p:grpSpPr>
          <a:xfrm>
            <a:off x="1910086" y="2108553"/>
            <a:ext cx="7046713" cy="745269"/>
            <a:chOff x="6251336" y="2194681"/>
            <a:chExt cx="7046713" cy="745269"/>
          </a:xfrm>
        </p:grpSpPr>
        <p:sp>
          <p:nvSpPr>
            <p:cNvPr id="751" name="Google Shape;751;g3d3e78d848d_0_141"/>
            <p:cNvSpPr txBox="1"/>
            <p:nvPr/>
          </p:nvSpPr>
          <p:spPr>
            <a:xfrm>
              <a:off x="6251349" y="2612050"/>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Обучающая выборка (training dataset)</a:t>
              </a:r>
              <a:endParaRPr sz="1800" b="0" i="0" u="none" strike="noStrike" cap="none">
                <a:solidFill>
                  <a:srgbClr val="000000"/>
                </a:solidFill>
                <a:latin typeface="Arial"/>
                <a:ea typeface="Arial"/>
                <a:cs typeface="Arial"/>
                <a:sym typeface="Arial"/>
              </a:endParaRPr>
            </a:p>
          </p:txBody>
        </p:sp>
        <p:sp>
          <p:nvSpPr>
            <p:cNvPr id="752" name="Google Shape;752;g3d3e78d848d_0_141"/>
            <p:cNvSpPr txBox="1"/>
            <p:nvPr/>
          </p:nvSpPr>
          <p:spPr>
            <a:xfrm>
              <a:off x="6251336" y="2194681"/>
              <a:ext cx="4813500" cy="6357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sp>
        <p:nvSpPr>
          <p:cNvPr id="753" name="Google Shape;753;g3d3e78d848d_0_141"/>
          <p:cNvSpPr/>
          <p:nvPr/>
        </p:nvSpPr>
        <p:spPr>
          <a:xfrm>
            <a:off x="1055688" y="3651711"/>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2</a:t>
            </a:r>
            <a:endParaRPr sz="1800" b="0" i="0" u="none" strike="noStrike" cap="none">
              <a:solidFill>
                <a:srgbClr val="F8CEEE"/>
              </a:solidFill>
              <a:latin typeface="IBM Plex Sans"/>
              <a:ea typeface="IBM Plex Sans"/>
              <a:cs typeface="IBM Plex Sans"/>
              <a:sym typeface="IBM Plex Sans"/>
            </a:endParaRPr>
          </a:p>
        </p:txBody>
      </p:sp>
      <p:grpSp>
        <p:nvGrpSpPr>
          <p:cNvPr id="754" name="Google Shape;754;g3d3e78d848d_0_141"/>
          <p:cNvGrpSpPr/>
          <p:nvPr/>
        </p:nvGrpSpPr>
        <p:grpSpPr>
          <a:xfrm>
            <a:off x="1910086" y="3651711"/>
            <a:ext cx="7046700" cy="417302"/>
            <a:chOff x="6251336" y="2557811"/>
            <a:chExt cx="7046700" cy="417302"/>
          </a:xfrm>
        </p:grpSpPr>
        <p:sp>
          <p:nvSpPr>
            <p:cNvPr id="755" name="Google Shape;755;g3d3e78d848d_0_141"/>
            <p:cNvSpPr txBox="1"/>
            <p:nvPr/>
          </p:nvSpPr>
          <p:spPr>
            <a:xfrm>
              <a:off x="6251336" y="2647213"/>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Истинная зависимость</a:t>
              </a:r>
              <a:endParaRPr sz="1800" b="0" i="0" u="none" strike="noStrike" cap="none">
                <a:solidFill>
                  <a:srgbClr val="000000"/>
                </a:solidFill>
                <a:latin typeface="Arial"/>
                <a:ea typeface="Arial"/>
                <a:cs typeface="Arial"/>
                <a:sym typeface="Arial"/>
              </a:endParaRPr>
            </a:p>
          </p:txBody>
        </p:sp>
        <p:sp>
          <p:nvSpPr>
            <p:cNvPr id="756" name="Google Shape;756;g3d3e78d848d_0_141"/>
            <p:cNvSpPr txBox="1"/>
            <p:nvPr/>
          </p:nvSpPr>
          <p:spPr>
            <a:xfrm>
              <a:off x="6252774" y="2557811"/>
              <a:ext cx="48135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pic>
        <p:nvPicPr>
          <p:cNvPr id="757" name="Google Shape;757;g3d3e78d848d_0_141"/>
          <p:cNvPicPr preferRelativeResize="0"/>
          <p:nvPr/>
        </p:nvPicPr>
        <p:blipFill rotWithShape="1">
          <a:blip r:embed="rId4">
            <a:alphaModFix/>
          </a:blip>
          <a:srcRect/>
          <a:stretch/>
        </p:blipFill>
        <p:spPr>
          <a:xfrm>
            <a:off x="8835381" y="3877696"/>
            <a:ext cx="2638190" cy="264185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g3d3e78d848d_0_168"/>
          <p:cNvSpPr txBox="1"/>
          <p:nvPr/>
        </p:nvSpPr>
        <p:spPr>
          <a:xfrm>
            <a:off x="1055702" y="1327700"/>
            <a:ext cx="73053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Смысловое значение терминов</a:t>
            </a:r>
            <a:endParaRPr sz="3600" b="0" i="0" u="none" strike="noStrike" cap="none">
              <a:solidFill>
                <a:srgbClr val="DFDFDF"/>
              </a:solidFill>
              <a:latin typeface="IBM Plex Sans"/>
              <a:ea typeface="IBM Plex Sans"/>
              <a:cs typeface="IBM Plex Sans"/>
              <a:sym typeface="IBM Plex Sans"/>
            </a:endParaRPr>
          </a:p>
        </p:txBody>
      </p:sp>
      <p:grpSp>
        <p:nvGrpSpPr>
          <p:cNvPr id="763" name="Google Shape;763;g3d3e78d848d_0_168"/>
          <p:cNvGrpSpPr/>
          <p:nvPr/>
        </p:nvGrpSpPr>
        <p:grpSpPr>
          <a:xfrm>
            <a:off x="9353973" y="-1553420"/>
            <a:ext cx="2854020" cy="13716631"/>
            <a:chOff x="9353973" y="-1553420"/>
            <a:chExt cx="2854020" cy="13716631"/>
          </a:xfrm>
        </p:grpSpPr>
        <p:grpSp>
          <p:nvGrpSpPr>
            <p:cNvPr id="764" name="Google Shape;764;g3d3e78d848d_0_168"/>
            <p:cNvGrpSpPr/>
            <p:nvPr/>
          </p:nvGrpSpPr>
          <p:grpSpPr>
            <a:xfrm>
              <a:off x="9353973" y="-1553420"/>
              <a:ext cx="2838027" cy="13716631"/>
              <a:chOff x="9353973" y="-6079700"/>
              <a:chExt cx="2838027" cy="13716631"/>
            </a:xfrm>
          </p:grpSpPr>
          <p:pic>
            <p:nvPicPr>
              <p:cNvPr id="765" name="Google Shape;765;g3d3e78d848d_0_168"/>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766" name="Google Shape;766;g3d3e78d848d_0_168"/>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767" name="Google Shape;767;g3d3e78d848d_0_168"/>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8" name="Google Shape;768;g3d3e78d848d_0_168"/>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69" name="Google Shape;769;g3d3e78d848d_0_168"/>
          <p:cNvSpPr/>
          <p:nvPr/>
        </p:nvSpPr>
        <p:spPr>
          <a:xfrm>
            <a:off x="1055688" y="2430525"/>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1</a:t>
            </a:r>
            <a:endParaRPr sz="1800" b="0" i="0" u="none" strike="noStrike" cap="none">
              <a:solidFill>
                <a:srgbClr val="F8CEEE"/>
              </a:solidFill>
              <a:latin typeface="IBM Plex Sans"/>
              <a:ea typeface="IBM Plex Sans"/>
              <a:cs typeface="IBM Plex Sans"/>
              <a:sym typeface="IBM Plex Sans"/>
            </a:endParaRPr>
          </a:p>
        </p:txBody>
      </p:sp>
      <p:grpSp>
        <p:nvGrpSpPr>
          <p:cNvPr id="770" name="Google Shape;770;g3d3e78d848d_0_168"/>
          <p:cNvGrpSpPr/>
          <p:nvPr/>
        </p:nvGrpSpPr>
        <p:grpSpPr>
          <a:xfrm>
            <a:off x="1910086" y="2108553"/>
            <a:ext cx="7046713" cy="745269"/>
            <a:chOff x="6251336" y="2194681"/>
            <a:chExt cx="7046713" cy="745269"/>
          </a:xfrm>
        </p:grpSpPr>
        <p:sp>
          <p:nvSpPr>
            <p:cNvPr id="771" name="Google Shape;771;g3d3e78d848d_0_168"/>
            <p:cNvSpPr txBox="1"/>
            <p:nvPr/>
          </p:nvSpPr>
          <p:spPr>
            <a:xfrm>
              <a:off x="6251349" y="2612050"/>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Обучающая выборка (training dataset)</a:t>
              </a:r>
              <a:endParaRPr sz="1800" b="0" i="0" u="none" strike="noStrike" cap="none">
                <a:solidFill>
                  <a:srgbClr val="000000"/>
                </a:solidFill>
                <a:latin typeface="Arial"/>
                <a:ea typeface="Arial"/>
                <a:cs typeface="Arial"/>
                <a:sym typeface="Arial"/>
              </a:endParaRPr>
            </a:p>
          </p:txBody>
        </p:sp>
        <p:sp>
          <p:nvSpPr>
            <p:cNvPr id="772" name="Google Shape;772;g3d3e78d848d_0_168"/>
            <p:cNvSpPr txBox="1"/>
            <p:nvPr/>
          </p:nvSpPr>
          <p:spPr>
            <a:xfrm>
              <a:off x="6251336" y="2194681"/>
              <a:ext cx="4813500" cy="6357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sp>
        <p:nvSpPr>
          <p:cNvPr id="773" name="Google Shape;773;g3d3e78d848d_0_168"/>
          <p:cNvSpPr/>
          <p:nvPr/>
        </p:nvSpPr>
        <p:spPr>
          <a:xfrm>
            <a:off x="1055688" y="3651711"/>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2</a:t>
            </a:r>
            <a:endParaRPr sz="1800" b="0" i="0" u="none" strike="noStrike" cap="none">
              <a:solidFill>
                <a:srgbClr val="F8CEEE"/>
              </a:solidFill>
              <a:latin typeface="IBM Plex Sans"/>
              <a:ea typeface="IBM Plex Sans"/>
              <a:cs typeface="IBM Plex Sans"/>
              <a:sym typeface="IBM Plex Sans"/>
            </a:endParaRPr>
          </a:p>
        </p:txBody>
      </p:sp>
      <p:grpSp>
        <p:nvGrpSpPr>
          <p:cNvPr id="774" name="Google Shape;774;g3d3e78d848d_0_168"/>
          <p:cNvGrpSpPr/>
          <p:nvPr/>
        </p:nvGrpSpPr>
        <p:grpSpPr>
          <a:xfrm>
            <a:off x="1910086" y="3651711"/>
            <a:ext cx="7046700" cy="417302"/>
            <a:chOff x="6251336" y="2557811"/>
            <a:chExt cx="7046700" cy="417302"/>
          </a:xfrm>
        </p:grpSpPr>
        <p:sp>
          <p:nvSpPr>
            <p:cNvPr id="775" name="Google Shape;775;g3d3e78d848d_0_168"/>
            <p:cNvSpPr txBox="1"/>
            <p:nvPr/>
          </p:nvSpPr>
          <p:spPr>
            <a:xfrm>
              <a:off x="6251336" y="2647213"/>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Истинная зависимость</a:t>
              </a:r>
              <a:endParaRPr sz="1800" b="0" i="0" u="none" strike="noStrike" cap="none">
                <a:solidFill>
                  <a:srgbClr val="000000"/>
                </a:solidFill>
                <a:latin typeface="Arial"/>
                <a:ea typeface="Arial"/>
                <a:cs typeface="Arial"/>
                <a:sym typeface="Arial"/>
              </a:endParaRPr>
            </a:p>
          </p:txBody>
        </p:sp>
        <p:sp>
          <p:nvSpPr>
            <p:cNvPr id="776" name="Google Shape;776;g3d3e78d848d_0_168"/>
            <p:cNvSpPr txBox="1"/>
            <p:nvPr/>
          </p:nvSpPr>
          <p:spPr>
            <a:xfrm>
              <a:off x="6252774" y="2557811"/>
              <a:ext cx="48135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pic>
        <p:nvPicPr>
          <p:cNvPr id="777" name="Google Shape;777;g3d3e78d848d_0_168"/>
          <p:cNvPicPr preferRelativeResize="0"/>
          <p:nvPr/>
        </p:nvPicPr>
        <p:blipFill rotWithShape="1">
          <a:blip r:embed="rId4">
            <a:alphaModFix/>
          </a:blip>
          <a:srcRect/>
          <a:stretch/>
        </p:blipFill>
        <p:spPr>
          <a:xfrm>
            <a:off x="8835381" y="3877696"/>
            <a:ext cx="2638190" cy="2641856"/>
          </a:xfrm>
          <a:prstGeom prst="rect">
            <a:avLst/>
          </a:prstGeom>
          <a:noFill/>
          <a:ln>
            <a:noFill/>
          </a:ln>
        </p:spPr>
      </p:pic>
      <p:sp>
        <p:nvSpPr>
          <p:cNvPr id="778" name="Google Shape;778;g3d3e78d848d_0_168"/>
          <p:cNvSpPr/>
          <p:nvPr/>
        </p:nvSpPr>
        <p:spPr>
          <a:xfrm>
            <a:off x="1055688" y="4688870"/>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3</a:t>
            </a:r>
            <a:endParaRPr sz="1800" b="0" i="0" u="none" strike="noStrike" cap="none">
              <a:solidFill>
                <a:srgbClr val="F8CEEE"/>
              </a:solidFill>
              <a:latin typeface="IBM Plex Sans"/>
              <a:ea typeface="IBM Plex Sans"/>
              <a:cs typeface="IBM Plex Sans"/>
              <a:sym typeface="IBM Plex Sans"/>
            </a:endParaRPr>
          </a:p>
        </p:txBody>
      </p:sp>
      <p:grpSp>
        <p:nvGrpSpPr>
          <p:cNvPr id="779" name="Google Shape;779;g3d3e78d848d_0_168"/>
          <p:cNvGrpSpPr/>
          <p:nvPr/>
        </p:nvGrpSpPr>
        <p:grpSpPr>
          <a:xfrm>
            <a:off x="1910086" y="4746020"/>
            <a:ext cx="7046700" cy="366164"/>
            <a:chOff x="6251336" y="2557811"/>
            <a:chExt cx="7046700" cy="366164"/>
          </a:xfrm>
        </p:grpSpPr>
        <p:sp>
          <p:nvSpPr>
            <p:cNvPr id="780" name="Google Shape;780;g3d3e78d848d_0_168"/>
            <p:cNvSpPr txBox="1"/>
            <p:nvPr/>
          </p:nvSpPr>
          <p:spPr>
            <a:xfrm>
              <a:off x="6251336" y="2596075"/>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Модель машинного обучения</a:t>
              </a:r>
              <a:endParaRPr sz="2000" b="1" i="0" u="none" strike="noStrike" cap="none">
                <a:solidFill>
                  <a:srgbClr val="8E39E2"/>
                </a:solidFill>
                <a:latin typeface="IBM Plex Sans"/>
                <a:ea typeface="IBM Plex Sans"/>
                <a:cs typeface="IBM Plex Sans"/>
                <a:sym typeface="IBM Plex Sans"/>
              </a:endParaRPr>
            </a:p>
          </p:txBody>
        </p:sp>
        <p:sp>
          <p:nvSpPr>
            <p:cNvPr id="781" name="Google Shape;781;g3d3e78d848d_0_168"/>
            <p:cNvSpPr txBox="1"/>
            <p:nvPr/>
          </p:nvSpPr>
          <p:spPr>
            <a:xfrm>
              <a:off x="6252774" y="2557811"/>
              <a:ext cx="48135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3d3e78d848d_0_195"/>
          <p:cNvSpPr txBox="1"/>
          <p:nvPr/>
        </p:nvSpPr>
        <p:spPr>
          <a:xfrm>
            <a:off x="1055702" y="1327700"/>
            <a:ext cx="73053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Смысловое значение терминов</a:t>
            </a:r>
            <a:endParaRPr sz="3600" b="0" i="0" u="none" strike="noStrike" cap="none">
              <a:solidFill>
                <a:srgbClr val="DFDFDF"/>
              </a:solidFill>
              <a:latin typeface="IBM Plex Sans"/>
              <a:ea typeface="IBM Plex Sans"/>
              <a:cs typeface="IBM Plex Sans"/>
              <a:sym typeface="IBM Plex Sans"/>
            </a:endParaRPr>
          </a:p>
        </p:txBody>
      </p:sp>
      <p:grpSp>
        <p:nvGrpSpPr>
          <p:cNvPr id="787" name="Google Shape;787;g3d3e78d848d_0_195"/>
          <p:cNvGrpSpPr/>
          <p:nvPr/>
        </p:nvGrpSpPr>
        <p:grpSpPr>
          <a:xfrm>
            <a:off x="9353973" y="-1553420"/>
            <a:ext cx="2854020" cy="13716631"/>
            <a:chOff x="9353973" y="-1553420"/>
            <a:chExt cx="2854020" cy="13716631"/>
          </a:xfrm>
        </p:grpSpPr>
        <p:grpSp>
          <p:nvGrpSpPr>
            <p:cNvPr id="788" name="Google Shape;788;g3d3e78d848d_0_195"/>
            <p:cNvGrpSpPr/>
            <p:nvPr/>
          </p:nvGrpSpPr>
          <p:grpSpPr>
            <a:xfrm>
              <a:off x="9353973" y="-1553420"/>
              <a:ext cx="2838027" cy="13716631"/>
              <a:chOff x="9353973" y="-6079700"/>
              <a:chExt cx="2838027" cy="13716631"/>
            </a:xfrm>
          </p:grpSpPr>
          <p:pic>
            <p:nvPicPr>
              <p:cNvPr id="789" name="Google Shape;789;g3d3e78d848d_0_195"/>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790" name="Google Shape;790;g3d3e78d848d_0_195"/>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791" name="Google Shape;791;g3d3e78d848d_0_195"/>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2" name="Google Shape;792;g3d3e78d848d_0_195"/>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93" name="Google Shape;793;g3d3e78d848d_0_195"/>
          <p:cNvSpPr/>
          <p:nvPr/>
        </p:nvSpPr>
        <p:spPr>
          <a:xfrm>
            <a:off x="1055688" y="2430525"/>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1</a:t>
            </a:r>
            <a:endParaRPr sz="1800" b="0" i="0" u="none" strike="noStrike" cap="none">
              <a:solidFill>
                <a:srgbClr val="F8CEEE"/>
              </a:solidFill>
              <a:latin typeface="IBM Plex Sans"/>
              <a:ea typeface="IBM Plex Sans"/>
              <a:cs typeface="IBM Plex Sans"/>
              <a:sym typeface="IBM Plex Sans"/>
            </a:endParaRPr>
          </a:p>
        </p:txBody>
      </p:sp>
      <p:grpSp>
        <p:nvGrpSpPr>
          <p:cNvPr id="794" name="Google Shape;794;g3d3e78d848d_0_195"/>
          <p:cNvGrpSpPr/>
          <p:nvPr/>
        </p:nvGrpSpPr>
        <p:grpSpPr>
          <a:xfrm>
            <a:off x="1910086" y="2108553"/>
            <a:ext cx="7046713" cy="745269"/>
            <a:chOff x="6251336" y="2194681"/>
            <a:chExt cx="7046713" cy="745269"/>
          </a:xfrm>
        </p:grpSpPr>
        <p:sp>
          <p:nvSpPr>
            <p:cNvPr id="795" name="Google Shape;795;g3d3e78d848d_0_195"/>
            <p:cNvSpPr txBox="1"/>
            <p:nvPr/>
          </p:nvSpPr>
          <p:spPr>
            <a:xfrm>
              <a:off x="6251349" y="2612050"/>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Обучающая выборка (training dataset)</a:t>
              </a:r>
              <a:endParaRPr sz="1800" b="0" i="0" u="none" strike="noStrike" cap="none">
                <a:solidFill>
                  <a:srgbClr val="000000"/>
                </a:solidFill>
                <a:latin typeface="Arial"/>
                <a:ea typeface="Arial"/>
                <a:cs typeface="Arial"/>
                <a:sym typeface="Arial"/>
              </a:endParaRPr>
            </a:p>
          </p:txBody>
        </p:sp>
        <p:sp>
          <p:nvSpPr>
            <p:cNvPr id="796" name="Google Shape;796;g3d3e78d848d_0_195"/>
            <p:cNvSpPr txBox="1"/>
            <p:nvPr/>
          </p:nvSpPr>
          <p:spPr>
            <a:xfrm>
              <a:off x="6251336" y="2194681"/>
              <a:ext cx="4813500" cy="6357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sp>
        <p:nvSpPr>
          <p:cNvPr id="797" name="Google Shape;797;g3d3e78d848d_0_195"/>
          <p:cNvSpPr/>
          <p:nvPr/>
        </p:nvSpPr>
        <p:spPr>
          <a:xfrm>
            <a:off x="1055688" y="3651711"/>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2</a:t>
            </a:r>
            <a:endParaRPr sz="1800" b="0" i="0" u="none" strike="noStrike" cap="none">
              <a:solidFill>
                <a:srgbClr val="F8CEEE"/>
              </a:solidFill>
              <a:latin typeface="IBM Plex Sans"/>
              <a:ea typeface="IBM Plex Sans"/>
              <a:cs typeface="IBM Plex Sans"/>
              <a:sym typeface="IBM Plex Sans"/>
            </a:endParaRPr>
          </a:p>
        </p:txBody>
      </p:sp>
      <p:grpSp>
        <p:nvGrpSpPr>
          <p:cNvPr id="798" name="Google Shape;798;g3d3e78d848d_0_195"/>
          <p:cNvGrpSpPr/>
          <p:nvPr/>
        </p:nvGrpSpPr>
        <p:grpSpPr>
          <a:xfrm>
            <a:off x="1910086" y="3651711"/>
            <a:ext cx="7046700" cy="417302"/>
            <a:chOff x="6251336" y="2557811"/>
            <a:chExt cx="7046700" cy="417302"/>
          </a:xfrm>
        </p:grpSpPr>
        <p:sp>
          <p:nvSpPr>
            <p:cNvPr id="799" name="Google Shape;799;g3d3e78d848d_0_195"/>
            <p:cNvSpPr txBox="1"/>
            <p:nvPr/>
          </p:nvSpPr>
          <p:spPr>
            <a:xfrm>
              <a:off x="6251336" y="2647213"/>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Истинная зависимость</a:t>
              </a:r>
              <a:endParaRPr sz="1800" b="0" i="0" u="none" strike="noStrike" cap="none">
                <a:solidFill>
                  <a:srgbClr val="000000"/>
                </a:solidFill>
                <a:latin typeface="Arial"/>
                <a:ea typeface="Arial"/>
                <a:cs typeface="Arial"/>
                <a:sym typeface="Arial"/>
              </a:endParaRPr>
            </a:p>
          </p:txBody>
        </p:sp>
        <p:sp>
          <p:nvSpPr>
            <p:cNvPr id="800" name="Google Shape;800;g3d3e78d848d_0_195"/>
            <p:cNvSpPr txBox="1"/>
            <p:nvPr/>
          </p:nvSpPr>
          <p:spPr>
            <a:xfrm>
              <a:off x="6252774" y="2557811"/>
              <a:ext cx="48135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pic>
        <p:nvPicPr>
          <p:cNvPr id="801" name="Google Shape;801;g3d3e78d848d_0_195"/>
          <p:cNvPicPr preferRelativeResize="0"/>
          <p:nvPr/>
        </p:nvPicPr>
        <p:blipFill rotWithShape="1">
          <a:blip r:embed="rId4">
            <a:alphaModFix/>
          </a:blip>
          <a:srcRect/>
          <a:stretch/>
        </p:blipFill>
        <p:spPr>
          <a:xfrm>
            <a:off x="8835381" y="3877696"/>
            <a:ext cx="2638190" cy="2641856"/>
          </a:xfrm>
          <a:prstGeom prst="rect">
            <a:avLst/>
          </a:prstGeom>
          <a:noFill/>
          <a:ln>
            <a:noFill/>
          </a:ln>
        </p:spPr>
      </p:pic>
      <p:sp>
        <p:nvSpPr>
          <p:cNvPr id="802" name="Google Shape;802;g3d3e78d848d_0_195"/>
          <p:cNvSpPr/>
          <p:nvPr/>
        </p:nvSpPr>
        <p:spPr>
          <a:xfrm>
            <a:off x="1055688" y="4688870"/>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3</a:t>
            </a:r>
            <a:endParaRPr sz="1800" b="0" i="0" u="none" strike="noStrike" cap="none">
              <a:solidFill>
                <a:srgbClr val="F8CEEE"/>
              </a:solidFill>
              <a:latin typeface="IBM Plex Sans"/>
              <a:ea typeface="IBM Plex Sans"/>
              <a:cs typeface="IBM Plex Sans"/>
              <a:sym typeface="IBM Plex Sans"/>
            </a:endParaRPr>
          </a:p>
        </p:txBody>
      </p:sp>
      <p:grpSp>
        <p:nvGrpSpPr>
          <p:cNvPr id="803" name="Google Shape;803;g3d3e78d848d_0_195"/>
          <p:cNvGrpSpPr/>
          <p:nvPr/>
        </p:nvGrpSpPr>
        <p:grpSpPr>
          <a:xfrm>
            <a:off x="1910086" y="4746020"/>
            <a:ext cx="7046700" cy="366164"/>
            <a:chOff x="6251336" y="2557811"/>
            <a:chExt cx="7046700" cy="366164"/>
          </a:xfrm>
        </p:grpSpPr>
        <p:sp>
          <p:nvSpPr>
            <p:cNvPr id="804" name="Google Shape;804;g3d3e78d848d_0_195"/>
            <p:cNvSpPr txBox="1"/>
            <p:nvPr/>
          </p:nvSpPr>
          <p:spPr>
            <a:xfrm>
              <a:off x="6251336" y="2596075"/>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Модель машинного обучения</a:t>
              </a:r>
              <a:endParaRPr sz="2000" b="1" i="0" u="none" strike="noStrike" cap="none">
                <a:solidFill>
                  <a:srgbClr val="8E39E2"/>
                </a:solidFill>
                <a:latin typeface="IBM Plex Sans"/>
                <a:ea typeface="IBM Plex Sans"/>
                <a:cs typeface="IBM Plex Sans"/>
                <a:sym typeface="IBM Plex Sans"/>
              </a:endParaRPr>
            </a:p>
          </p:txBody>
        </p:sp>
        <p:sp>
          <p:nvSpPr>
            <p:cNvPr id="805" name="Google Shape;805;g3d3e78d848d_0_195"/>
            <p:cNvSpPr txBox="1"/>
            <p:nvPr/>
          </p:nvSpPr>
          <p:spPr>
            <a:xfrm>
              <a:off x="6252774" y="2557811"/>
              <a:ext cx="48135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sp>
        <p:nvSpPr>
          <p:cNvPr id="806" name="Google Shape;806;g3d3e78d848d_0_195"/>
          <p:cNvSpPr/>
          <p:nvPr/>
        </p:nvSpPr>
        <p:spPr>
          <a:xfrm>
            <a:off x="1055688" y="5646262"/>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4</a:t>
            </a:r>
            <a:endParaRPr sz="1800" b="0" i="0" u="none" strike="noStrike" cap="none">
              <a:solidFill>
                <a:srgbClr val="F8CEEE"/>
              </a:solidFill>
              <a:latin typeface="IBM Plex Sans"/>
              <a:ea typeface="IBM Plex Sans"/>
              <a:cs typeface="IBM Plex Sans"/>
              <a:sym typeface="IBM Plex Sans"/>
            </a:endParaRPr>
          </a:p>
        </p:txBody>
      </p:sp>
      <p:grpSp>
        <p:nvGrpSpPr>
          <p:cNvPr id="807" name="Google Shape;807;g3d3e78d848d_0_195"/>
          <p:cNvGrpSpPr/>
          <p:nvPr/>
        </p:nvGrpSpPr>
        <p:grpSpPr>
          <a:xfrm>
            <a:off x="1910086" y="5731845"/>
            <a:ext cx="7046700" cy="328089"/>
            <a:chOff x="6251336" y="2557811"/>
            <a:chExt cx="7046700" cy="328089"/>
          </a:xfrm>
        </p:grpSpPr>
        <p:sp>
          <p:nvSpPr>
            <p:cNvPr id="808" name="Google Shape;808;g3d3e78d848d_0_195"/>
            <p:cNvSpPr txBox="1"/>
            <p:nvPr/>
          </p:nvSpPr>
          <p:spPr>
            <a:xfrm>
              <a:off x="6251336" y="2558000"/>
              <a:ext cx="70467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2000" b="1" i="0" u="none" strike="noStrike" cap="none">
                  <a:solidFill>
                    <a:srgbClr val="8E39E2"/>
                  </a:solidFill>
                  <a:latin typeface="IBM Plex Sans"/>
                  <a:ea typeface="IBM Plex Sans"/>
                  <a:cs typeface="IBM Plex Sans"/>
                  <a:sym typeface="IBM Plex Sans"/>
                </a:rPr>
                <a:t>Обучение</a:t>
              </a:r>
              <a:endParaRPr sz="2000" b="1" i="0" u="none" strike="noStrike" cap="none">
                <a:solidFill>
                  <a:srgbClr val="8E39E2"/>
                </a:solidFill>
                <a:latin typeface="IBM Plex Sans"/>
                <a:ea typeface="IBM Plex Sans"/>
                <a:cs typeface="IBM Plex Sans"/>
                <a:sym typeface="IBM Plex Sans"/>
              </a:endParaRPr>
            </a:p>
          </p:txBody>
        </p:sp>
        <p:sp>
          <p:nvSpPr>
            <p:cNvPr id="809" name="Google Shape;809;g3d3e78d848d_0_195"/>
            <p:cNvSpPr txBox="1"/>
            <p:nvPr/>
          </p:nvSpPr>
          <p:spPr>
            <a:xfrm>
              <a:off x="6252774" y="2557811"/>
              <a:ext cx="4813500" cy="3279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3d3e78d848d_0_114"/>
          <p:cNvSpPr txBox="1"/>
          <p:nvPr/>
        </p:nvSpPr>
        <p:spPr>
          <a:xfrm>
            <a:off x="1055702" y="1327700"/>
            <a:ext cx="73053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Смысловое значение терминов</a:t>
            </a:r>
            <a:endParaRPr sz="3600" b="0" i="0" u="none" strike="noStrike" cap="none">
              <a:solidFill>
                <a:srgbClr val="DFDFDF"/>
              </a:solidFill>
              <a:latin typeface="IBM Plex Sans"/>
              <a:ea typeface="IBM Plex Sans"/>
              <a:cs typeface="IBM Plex Sans"/>
              <a:sym typeface="IBM Plex Sans"/>
            </a:endParaRPr>
          </a:p>
        </p:txBody>
      </p:sp>
      <p:grpSp>
        <p:nvGrpSpPr>
          <p:cNvPr id="815" name="Google Shape;815;g3d3e78d848d_0_114"/>
          <p:cNvGrpSpPr/>
          <p:nvPr/>
        </p:nvGrpSpPr>
        <p:grpSpPr>
          <a:xfrm>
            <a:off x="9353973" y="-1553420"/>
            <a:ext cx="2854020" cy="13716631"/>
            <a:chOff x="9353973" y="-1553420"/>
            <a:chExt cx="2854020" cy="13716631"/>
          </a:xfrm>
        </p:grpSpPr>
        <p:grpSp>
          <p:nvGrpSpPr>
            <p:cNvPr id="816" name="Google Shape;816;g3d3e78d848d_0_114"/>
            <p:cNvGrpSpPr/>
            <p:nvPr/>
          </p:nvGrpSpPr>
          <p:grpSpPr>
            <a:xfrm>
              <a:off x="9353973" y="-1553420"/>
              <a:ext cx="2838027" cy="13716631"/>
              <a:chOff x="9353973" y="-6079700"/>
              <a:chExt cx="2838027" cy="13716631"/>
            </a:xfrm>
          </p:grpSpPr>
          <p:pic>
            <p:nvPicPr>
              <p:cNvPr id="817" name="Google Shape;817;g3d3e78d848d_0_114"/>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818" name="Google Shape;818;g3d3e78d848d_0_114"/>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819" name="Google Shape;819;g3d3e78d848d_0_11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0" name="Google Shape;820;g3d3e78d848d_0_11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21" name="Google Shape;821;g3d3e78d848d_0_114"/>
          <p:cNvSpPr/>
          <p:nvPr/>
        </p:nvSpPr>
        <p:spPr>
          <a:xfrm>
            <a:off x="1055688" y="2430525"/>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1</a:t>
            </a:r>
            <a:endParaRPr sz="1800" b="0" i="0" u="none" strike="noStrike" cap="none">
              <a:solidFill>
                <a:srgbClr val="F8CEEE"/>
              </a:solidFill>
              <a:latin typeface="IBM Plex Sans"/>
              <a:ea typeface="IBM Plex Sans"/>
              <a:cs typeface="IBM Plex Sans"/>
              <a:sym typeface="IBM Plex Sans"/>
            </a:endParaRPr>
          </a:p>
        </p:txBody>
      </p:sp>
      <p:grpSp>
        <p:nvGrpSpPr>
          <p:cNvPr id="822" name="Google Shape;822;g3d3e78d848d_0_114"/>
          <p:cNvGrpSpPr/>
          <p:nvPr/>
        </p:nvGrpSpPr>
        <p:grpSpPr>
          <a:xfrm>
            <a:off x="1910086" y="1827222"/>
            <a:ext cx="7046700" cy="1532931"/>
            <a:chOff x="6251336" y="1913350"/>
            <a:chExt cx="7046700" cy="1532931"/>
          </a:xfrm>
        </p:grpSpPr>
        <p:sp>
          <p:nvSpPr>
            <p:cNvPr id="823" name="Google Shape;823;g3d3e78d848d_0_114"/>
            <p:cNvSpPr txBox="1"/>
            <p:nvPr/>
          </p:nvSpPr>
          <p:spPr>
            <a:xfrm>
              <a:off x="6251336" y="1913350"/>
              <a:ext cx="7046700" cy="2664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1600" b="1" i="0" u="none" strike="noStrike" cap="none">
                  <a:solidFill>
                    <a:srgbClr val="8E39E2"/>
                  </a:solidFill>
                  <a:latin typeface="IBM Plex Sans"/>
                  <a:ea typeface="IBM Plex Sans"/>
                  <a:cs typeface="IBM Plex Sans"/>
                  <a:sym typeface="IBM Plex Sans"/>
                </a:rPr>
                <a:t>Обучающая выборка (training dataset)</a:t>
              </a:r>
              <a:endParaRPr sz="1400" b="0" i="0" u="none" strike="noStrike" cap="none">
                <a:solidFill>
                  <a:srgbClr val="000000"/>
                </a:solidFill>
                <a:latin typeface="Arial"/>
                <a:ea typeface="Arial"/>
                <a:cs typeface="Arial"/>
                <a:sym typeface="Arial"/>
              </a:endParaRPr>
            </a:p>
          </p:txBody>
        </p:sp>
        <p:sp>
          <p:nvSpPr>
            <p:cNvPr id="824" name="Google Shape;824;g3d3e78d848d_0_114"/>
            <p:cNvSpPr txBox="1"/>
            <p:nvPr/>
          </p:nvSpPr>
          <p:spPr>
            <a:xfrm>
              <a:off x="6251336" y="2194681"/>
              <a:ext cx="4813500" cy="12516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накопленный опыт. Каждый объект в выборке представляет собой набор признаков (features) и соответствующее ему значение целевой переменной (target).</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IBM Plex Sans"/>
                <a:ea typeface="IBM Plex Sans"/>
                <a:cs typeface="IBM Plex Sans"/>
                <a:sym typeface="IBM Plex Sans"/>
              </a:endParaRPr>
            </a:p>
          </p:txBody>
        </p:sp>
      </p:grpSp>
      <p:sp>
        <p:nvSpPr>
          <p:cNvPr id="825" name="Google Shape;825;g3d3e78d848d_0_114"/>
          <p:cNvSpPr/>
          <p:nvPr/>
        </p:nvSpPr>
        <p:spPr>
          <a:xfrm>
            <a:off x="1055688" y="3651711"/>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2</a:t>
            </a:r>
            <a:endParaRPr sz="1800" b="0" i="0" u="none" strike="noStrike" cap="none">
              <a:solidFill>
                <a:srgbClr val="F8CEEE"/>
              </a:solidFill>
              <a:latin typeface="IBM Plex Sans"/>
              <a:ea typeface="IBM Plex Sans"/>
              <a:cs typeface="IBM Plex Sans"/>
              <a:sym typeface="IBM Plex Sans"/>
            </a:endParaRPr>
          </a:p>
        </p:txBody>
      </p:sp>
      <p:grpSp>
        <p:nvGrpSpPr>
          <p:cNvPr id="826" name="Google Shape;826;g3d3e78d848d_0_114"/>
          <p:cNvGrpSpPr/>
          <p:nvPr/>
        </p:nvGrpSpPr>
        <p:grpSpPr>
          <a:xfrm>
            <a:off x="1911525" y="3427525"/>
            <a:ext cx="7046700" cy="1040336"/>
            <a:chOff x="6252774" y="2276475"/>
            <a:chExt cx="7046700" cy="1040336"/>
          </a:xfrm>
        </p:grpSpPr>
        <p:sp>
          <p:nvSpPr>
            <p:cNvPr id="827" name="Google Shape;827;g3d3e78d848d_0_114"/>
            <p:cNvSpPr txBox="1"/>
            <p:nvPr/>
          </p:nvSpPr>
          <p:spPr>
            <a:xfrm>
              <a:off x="6252774" y="2276475"/>
              <a:ext cx="7046700" cy="2664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1600" b="1" i="0" u="none" strike="noStrike" cap="none">
                  <a:solidFill>
                    <a:srgbClr val="8E39E2"/>
                  </a:solidFill>
                  <a:latin typeface="IBM Plex Sans"/>
                  <a:ea typeface="IBM Plex Sans"/>
                  <a:cs typeface="IBM Plex Sans"/>
                  <a:sym typeface="IBM Plex Sans"/>
                </a:rPr>
                <a:t>Истинная зависимость</a:t>
              </a:r>
              <a:endParaRPr sz="1400" b="0" i="0" u="none" strike="noStrike" cap="none">
                <a:solidFill>
                  <a:srgbClr val="000000"/>
                </a:solidFill>
                <a:latin typeface="Arial"/>
                <a:ea typeface="Arial"/>
                <a:cs typeface="Arial"/>
                <a:sym typeface="Arial"/>
              </a:endParaRPr>
            </a:p>
          </p:txBody>
        </p:sp>
        <p:sp>
          <p:nvSpPr>
            <p:cNvPr id="828" name="Google Shape;828;g3d3e78d848d_0_114"/>
            <p:cNvSpPr txBox="1"/>
            <p:nvPr/>
          </p:nvSpPr>
          <p:spPr>
            <a:xfrm>
              <a:off x="6252774" y="2557811"/>
              <a:ext cx="4813500" cy="7590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правила перевода признаков в целевую переменную</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IBM Plex Sans"/>
                <a:ea typeface="IBM Plex Sans"/>
                <a:cs typeface="IBM Plex Sans"/>
                <a:sym typeface="IBM Plex Sans"/>
              </a:endParaRPr>
            </a:p>
          </p:txBody>
        </p:sp>
      </p:grpSp>
      <p:pic>
        <p:nvPicPr>
          <p:cNvPr id="829" name="Google Shape;829;g3d3e78d848d_0_114"/>
          <p:cNvPicPr preferRelativeResize="0"/>
          <p:nvPr/>
        </p:nvPicPr>
        <p:blipFill rotWithShape="1">
          <a:blip r:embed="rId4">
            <a:alphaModFix/>
          </a:blip>
          <a:srcRect/>
          <a:stretch/>
        </p:blipFill>
        <p:spPr>
          <a:xfrm>
            <a:off x="8835381" y="3877696"/>
            <a:ext cx="2638190" cy="2641856"/>
          </a:xfrm>
          <a:prstGeom prst="rect">
            <a:avLst/>
          </a:prstGeom>
          <a:noFill/>
          <a:ln>
            <a:noFill/>
          </a:ln>
        </p:spPr>
      </p:pic>
      <p:sp>
        <p:nvSpPr>
          <p:cNvPr id="830" name="Google Shape;830;g3d3e78d848d_0_114"/>
          <p:cNvSpPr/>
          <p:nvPr/>
        </p:nvSpPr>
        <p:spPr>
          <a:xfrm>
            <a:off x="1055688" y="4688870"/>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3</a:t>
            </a:r>
            <a:endParaRPr sz="1800" b="0" i="0" u="none" strike="noStrike" cap="none">
              <a:solidFill>
                <a:srgbClr val="F8CEEE"/>
              </a:solidFill>
              <a:latin typeface="IBM Plex Sans"/>
              <a:ea typeface="IBM Plex Sans"/>
              <a:cs typeface="IBM Plex Sans"/>
              <a:sym typeface="IBM Plex Sans"/>
            </a:endParaRPr>
          </a:p>
        </p:txBody>
      </p:sp>
      <p:grpSp>
        <p:nvGrpSpPr>
          <p:cNvPr id="831" name="Google Shape;831;g3d3e78d848d_0_114"/>
          <p:cNvGrpSpPr/>
          <p:nvPr/>
        </p:nvGrpSpPr>
        <p:grpSpPr>
          <a:xfrm>
            <a:off x="1911525" y="4464684"/>
            <a:ext cx="7046700" cy="794036"/>
            <a:chOff x="6252774" y="2276475"/>
            <a:chExt cx="7046700" cy="794036"/>
          </a:xfrm>
        </p:grpSpPr>
        <p:sp>
          <p:nvSpPr>
            <p:cNvPr id="832" name="Google Shape;832;g3d3e78d848d_0_114"/>
            <p:cNvSpPr txBox="1"/>
            <p:nvPr/>
          </p:nvSpPr>
          <p:spPr>
            <a:xfrm>
              <a:off x="6252774" y="2276475"/>
              <a:ext cx="7046700" cy="2664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1600" b="1" i="0" u="none" strike="noStrike" cap="none">
                  <a:solidFill>
                    <a:srgbClr val="8E39E2"/>
                  </a:solidFill>
                  <a:latin typeface="IBM Plex Sans"/>
                  <a:ea typeface="IBM Plex Sans"/>
                  <a:cs typeface="IBM Plex Sans"/>
                  <a:sym typeface="IBM Plex Sans"/>
                </a:rPr>
                <a:t>Модель машинного обучения</a:t>
              </a:r>
              <a:endParaRPr sz="1600" b="1" i="0" u="none" strike="noStrike" cap="none">
                <a:solidFill>
                  <a:srgbClr val="8E39E2"/>
                </a:solidFill>
                <a:latin typeface="IBM Plex Sans"/>
                <a:ea typeface="IBM Plex Sans"/>
                <a:cs typeface="IBM Plex Sans"/>
                <a:sym typeface="IBM Plex Sans"/>
              </a:endParaRPr>
            </a:p>
          </p:txBody>
        </p:sp>
        <p:sp>
          <p:nvSpPr>
            <p:cNvPr id="833" name="Google Shape;833;g3d3e78d848d_0_114"/>
            <p:cNvSpPr txBox="1"/>
            <p:nvPr/>
          </p:nvSpPr>
          <p:spPr>
            <a:xfrm>
              <a:off x="6252774" y="2557811"/>
              <a:ext cx="4813500" cy="5127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алгоритм, выявляющий истинную зависимость</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 на основе обучающей выборки</a:t>
              </a:r>
              <a:endParaRPr sz="1600" b="0" i="0" u="none" strike="noStrike" cap="none">
                <a:solidFill>
                  <a:schemeClr val="dk1"/>
                </a:solidFill>
                <a:latin typeface="IBM Plex Sans"/>
                <a:ea typeface="IBM Plex Sans"/>
                <a:cs typeface="IBM Plex Sans"/>
                <a:sym typeface="IBM Plex Sans"/>
              </a:endParaRPr>
            </a:p>
          </p:txBody>
        </p:sp>
      </p:grpSp>
      <p:sp>
        <p:nvSpPr>
          <p:cNvPr id="834" name="Google Shape;834;g3d3e78d848d_0_114"/>
          <p:cNvSpPr/>
          <p:nvPr/>
        </p:nvSpPr>
        <p:spPr>
          <a:xfrm>
            <a:off x="1055688" y="5646262"/>
            <a:ext cx="457200" cy="457200"/>
          </a:xfrm>
          <a:prstGeom prst="ellipse">
            <a:avLst/>
          </a:prstGeom>
          <a:solidFill>
            <a:srgbClr val="00000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800" b="0" i="0" u="none" strike="noStrike" cap="none">
                <a:solidFill>
                  <a:srgbClr val="F8CEEE"/>
                </a:solidFill>
                <a:latin typeface="IBM Plex Sans"/>
                <a:ea typeface="IBM Plex Sans"/>
                <a:cs typeface="IBM Plex Sans"/>
                <a:sym typeface="IBM Plex Sans"/>
              </a:rPr>
              <a:t>4</a:t>
            </a:r>
            <a:endParaRPr sz="1800" b="0" i="0" u="none" strike="noStrike" cap="none">
              <a:solidFill>
                <a:srgbClr val="F8CEEE"/>
              </a:solidFill>
              <a:latin typeface="IBM Plex Sans"/>
              <a:ea typeface="IBM Plex Sans"/>
              <a:cs typeface="IBM Plex Sans"/>
              <a:sym typeface="IBM Plex Sans"/>
            </a:endParaRPr>
          </a:p>
        </p:txBody>
      </p:sp>
      <p:grpSp>
        <p:nvGrpSpPr>
          <p:cNvPr id="835" name="Google Shape;835;g3d3e78d848d_0_114"/>
          <p:cNvGrpSpPr/>
          <p:nvPr/>
        </p:nvGrpSpPr>
        <p:grpSpPr>
          <a:xfrm>
            <a:off x="1911525" y="5450509"/>
            <a:ext cx="7046700" cy="794036"/>
            <a:chOff x="6252774" y="2276475"/>
            <a:chExt cx="7046700" cy="794036"/>
          </a:xfrm>
        </p:grpSpPr>
        <p:sp>
          <p:nvSpPr>
            <p:cNvPr id="836" name="Google Shape;836;g3d3e78d848d_0_114"/>
            <p:cNvSpPr txBox="1"/>
            <p:nvPr/>
          </p:nvSpPr>
          <p:spPr>
            <a:xfrm>
              <a:off x="6252774" y="2276475"/>
              <a:ext cx="7046700" cy="2664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1600" b="1" i="0" u="none" strike="noStrike" cap="none">
                  <a:solidFill>
                    <a:srgbClr val="8E39E2"/>
                  </a:solidFill>
                  <a:latin typeface="IBM Plex Sans"/>
                  <a:ea typeface="IBM Plex Sans"/>
                  <a:cs typeface="IBM Plex Sans"/>
                  <a:sym typeface="IBM Plex Sans"/>
                </a:rPr>
                <a:t>Обучение</a:t>
              </a:r>
              <a:endParaRPr sz="1600" b="1" i="0" u="none" strike="noStrike" cap="none">
                <a:solidFill>
                  <a:srgbClr val="8E39E2"/>
                </a:solidFill>
                <a:latin typeface="IBM Plex Sans"/>
                <a:ea typeface="IBM Plex Sans"/>
                <a:cs typeface="IBM Plex Sans"/>
                <a:sym typeface="IBM Plex Sans"/>
              </a:endParaRPr>
            </a:p>
          </p:txBody>
        </p:sp>
        <p:sp>
          <p:nvSpPr>
            <p:cNvPr id="837" name="Google Shape;837;g3d3e78d848d_0_114"/>
            <p:cNvSpPr txBox="1"/>
            <p:nvPr/>
          </p:nvSpPr>
          <p:spPr>
            <a:xfrm>
              <a:off x="6252774" y="2557811"/>
              <a:ext cx="4813500" cy="5127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процесс выявления истинной зависимости моделью машинного обучения</a:t>
              </a:r>
              <a:endParaRPr sz="1600" b="0" i="0" u="none" strike="noStrike" cap="none">
                <a:solidFill>
                  <a:schemeClr val="dk1"/>
                </a:solidFill>
                <a:latin typeface="IBM Plex Sans"/>
                <a:ea typeface="IBM Plex Sans"/>
                <a:cs typeface="IBM Plex Sans"/>
                <a:sym typeface="IBM Plex Sans"/>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grpSp>
        <p:nvGrpSpPr>
          <p:cNvPr id="842" name="Google Shape;842;p18"/>
          <p:cNvGrpSpPr/>
          <p:nvPr/>
        </p:nvGrpSpPr>
        <p:grpSpPr>
          <a:xfrm>
            <a:off x="9353973" y="-1553420"/>
            <a:ext cx="2853949" cy="13716633"/>
            <a:chOff x="9353973" y="-1553420"/>
            <a:chExt cx="2853949" cy="13716633"/>
          </a:xfrm>
        </p:grpSpPr>
        <p:grpSp>
          <p:nvGrpSpPr>
            <p:cNvPr id="843" name="Google Shape;843;p18"/>
            <p:cNvGrpSpPr/>
            <p:nvPr/>
          </p:nvGrpSpPr>
          <p:grpSpPr>
            <a:xfrm>
              <a:off x="9353973" y="-1553420"/>
              <a:ext cx="2838027" cy="13716633"/>
              <a:chOff x="9353973" y="-6079700"/>
              <a:chExt cx="2838027" cy="13716633"/>
            </a:xfrm>
          </p:grpSpPr>
          <p:pic>
            <p:nvPicPr>
              <p:cNvPr id="844" name="Google Shape;844;p18"/>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845" name="Google Shape;845;p18"/>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846" name="Google Shape;846;p18"/>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47" name="Google Shape;847;p18"/>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48" name="Google Shape;848;p18"/>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Пример</a:t>
            </a:r>
            <a:endParaRPr sz="3600" b="0" i="0" u="none" strike="noStrike" cap="none">
              <a:solidFill>
                <a:srgbClr val="DFDFDF"/>
              </a:solidFill>
              <a:latin typeface="IBM Plex Sans"/>
              <a:ea typeface="IBM Plex Sans"/>
              <a:cs typeface="IBM Plex Sans"/>
              <a:sym typeface="IBM Plex Sans"/>
            </a:endParaRPr>
          </a:p>
        </p:txBody>
      </p:sp>
      <p:sp>
        <p:nvSpPr>
          <p:cNvPr id="849" name="Google Shape;849;p18"/>
          <p:cNvSpPr txBox="1"/>
          <p:nvPr/>
        </p:nvSpPr>
        <p:spPr>
          <a:xfrm>
            <a:off x="4788925" y="2334651"/>
            <a:ext cx="29766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IBM Plex Sans"/>
                <a:ea typeface="IBM Plex Sans"/>
                <a:cs typeface="IBM Plex Sans"/>
                <a:sym typeface="IBM Plex Sans"/>
              </a:rPr>
              <a:t>Обучающая выборка</a:t>
            </a:r>
            <a:endParaRPr sz="2000" b="0" i="0" u="none" strike="noStrike" cap="none">
              <a:solidFill>
                <a:srgbClr val="000000"/>
              </a:solidFill>
              <a:latin typeface="IBM Plex Sans"/>
              <a:ea typeface="IBM Plex Sans"/>
              <a:cs typeface="IBM Plex Sans"/>
              <a:sym typeface="IBM Plex Sans"/>
            </a:endParaRPr>
          </a:p>
        </p:txBody>
      </p:sp>
      <p:pic>
        <p:nvPicPr>
          <p:cNvPr id="850" name="Google Shape;850;p18" descr="Picture background"/>
          <p:cNvPicPr preferRelativeResize="0"/>
          <p:nvPr/>
        </p:nvPicPr>
        <p:blipFill rotWithShape="1">
          <a:blip r:embed="rId4">
            <a:alphaModFix/>
          </a:blip>
          <a:srcRect l="27309" t="11529" r="26952" b="7163"/>
          <a:stretch/>
        </p:blipFill>
        <p:spPr>
          <a:xfrm>
            <a:off x="862463" y="3771215"/>
            <a:ext cx="1634067" cy="1634067"/>
          </a:xfrm>
          <a:prstGeom prst="rect">
            <a:avLst/>
          </a:prstGeom>
          <a:noFill/>
          <a:ln w="28575" cap="flat" cmpd="sng">
            <a:solidFill>
              <a:srgbClr val="15110E"/>
            </a:solidFill>
            <a:prstDash val="solid"/>
            <a:round/>
            <a:headEnd type="none" w="sm" len="sm"/>
            <a:tailEnd type="none" w="sm" len="sm"/>
          </a:ln>
        </p:spPr>
      </p:pic>
      <p:pic>
        <p:nvPicPr>
          <p:cNvPr id="851" name="Google Shape;851;p18" descr="Picture background"/>
          <p:cNvPicPr preferRelativeResize="0"/>
          <p:nvPr/>
        </p:nvPicPr>
        <p:blipFill rotWithShape="1">
          <a:blip r:embed="rId4">
            <a:alphaModFix/>
          </a:blip>
          <a:srcRect l="27309" t="11529" r="26952" b="7163"/>
          <a:stretch/>
        </p:blipFill>
        <p:spPr>
          <a:xfrm>
            <a:off x="930196" y="3837414"/>
            <a:ext cx="1634067" cy="1634067"/>
          </a:xfrm>
          <a:prstGeom prst="rect">
            <a:avLst/>
          </a:prstGeom>
          <a:noFill/>
          <a:ln w="28575" cap="flat" cmpd="sng">
            <a:solidFill>
              <a:srgbClr val="15110E"/>
            </a:solidFill>
            <a:prstDash val="solid"/>
            <a:round/>
            <a:headEnd type="none" w="sm" len="sm"/>
            <a:tailEnd type="none" w="sm" len="sm"/>
          </a:ln>
        </p:spPr>
      </p:pic>
      <p:pic>
        <p:nvPicPr>
          <p:cNvPr id="852" name="Google Shape;852;p18" descr="Picture background"/>
          <p:cNvPicPr preferRelativeResize="0"/>
          <p:nvPr/>
        </p:nvPicPr>
        <p:blipFill rotWithShape="1">
          <a:blip r:embed="rId4">
            <a:alphaModFix/>
          </a:blip>
          <a:srcRect l="27309" t="11529" r="26952" b="7163"/>
          <a:stretch/>
        </p:blipFill>
        <p:spPr>
          <a:xfrm>
            <a:off x="1014863" y="3898214"/>
            <a:ext cx="1634067" cy="1634067"/>
          </a:xfrm>
          <a:prstGeom prst="rect">
            <a:avLst/>
          </a:prstGeom>
          <a:noFill/>
          <a:ln w="28575" cap="flat" cmpd="sng">
            <a:solidFill>
              <a:srgbClr val="15110E"/>
            </a:solidFill>
            <a:prstDash val="solid"/>
            <a:round/>
            <a:headEnd type="none" w="sm" len="sm"/>
            <a:tailEnd type="none" w="sm" len="sm"/>
          </a:ln>
        </p:spPr>
      </p:pic>
      <p:pic>
        <p:nvPicPr>
          <p:cNvPr id="853" name="Google Shape;853;p18" descr="Picture background"/>
          <p:cNvPicPr preferRelativeResize="0"/>
          <p:nvPr/>
        </p:nvPicPr>
        <p:blipFill rotWithShape="1">
          <a:blip r:embed="rId4">
            <a:alphaModFix/>
          </a:blip>
          <a:srcRect l="27309" t="11529" r="26952" b="7163"/>
          <a:stretch/>
        </p:blipFill>
        <p:spPr>
          <a:xfrm>
            <a:off x="1099530" y="3959014"/>
            <a:ext cx="1634067" cy="1634067"/>
          </a:xfrm>
          <a:prstGeom prst="rect">
            <a:avLst/>
          </a:prstGeom>
          <a:noFill/>
          <a:ln w="28575" cap="flat" cmpd="sng">
            <a:solidFill>
              <a:srgbClr val="15110E"/>
            </a:solidFill>
            <a:prstDash val="solid"/>
            <a:round/>
            <a:headEnd type="none" w="sm" len="sm"/>
            <a:tailEnd type="none" w="sm" len="sm"/>
          </a:ln>
        </p:spPr>
      </p:pic>
      <p:graphicFrame>
        <p:nvGraphicFramePr>
          <p:cNvPr id="854" name="Google Shape;854;p18"/>
          <p:cNvGraphicFramePr/>
          <p:nvPr/>
        </p:nvGraphicFramePr>
        <p:xfrm>
          <a:off x="4224872" y="3645907"/>
          <a:ext cx="3000000" cy="3000000"/>
        </p:xfrm>
        <a:graphic>
          <a:graphicData uri="http://schemas.openxmlformats.org/drawingml/2006/table">
            <a:tbl>
              <a:tblPr firstRow="1" bandRow="1">
                <a:noFill/>
                <a:tableStyleId>{A9B0E0E1-4E68-4C5C-ACD4-11C2C6A234C4}</a:tableStyleId>
              </a:tblPr>
              <a:tblGrid>
                <a:gridCol w="1368225">
                  <a:extLst>
                    <a:ext uri="{9D8B030D-6E8A-4147-A177-3AD203B41FA5}">
                      <a16:colId xmlns:a16="http://schemas.microsoft.com/office/drawing/2014/main" val="20000"/>
                    </a:ext>
                  </a:extLst>
                </a:gridCol>
                <a:gridCol w="1368225">
                  <a:extLst>
                    <a:ext uri="{9D8B030D-6E8A-4147-A177-3AD203B41FA5}">
                      <a16:colId xmlns:a16="http://schemas.microsoft.com/office/drawing/2014/main" val="20001"/>
                    </a:ext>
                  </a:extLst>
                </a:gridCol>
                <a:gridCol w="1368225">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Состояние поля</a:t>
                      </a:r>
                      <a:endParaRPr sz="1400" u="none" strike="noStrike" cap="none">
                        <a:latin typeface="IBM Plex Sans"/>
                        <a:ea typeface="IBM Plex Sans"/>
                        <a:cs typeface="IBM Plex Sans"/>
                        <a:sym typeface="IBM Plex Sans"/>
                      </a:endParaRPr>
                    </a:p>
                  </a:txBody>
                  <a:tcPr marL="91450" marR="91450" marT="45725" marB="45725">
                    <a:solidFill>
                      <a:srgbClr val="8E39E2"/>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Предыдущий ход соперника</a:t>
                      </a:r>
                      <a:endParaRPr sz="1400" u="none" strike="noStrike" cap="none">
                        <a:latin typeface="IBM Plex Sans"/>
                        <a:ea typeface="IBM Plex Sans"/>
                        <a:cs typeface="IBM Plex Sans"/>
                        <a:sym typeface="IBM Plex Sans"/>
                      </a:endParaRPr>
                    </a:p>
                  </a:txBody>
                  <a:tcPr marL="91450" marR="91450" marT="45725" marB="45725">
                    <a:solidFill>
                      <a:srgbClr val="8E39E2"/>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Следующий ход</a:t>
                      </a:r>
                      <a:endParaRPr sz="1400" u="none" strike="noStrike" cap="none">
                        <a:latin typeface="IBM Plex Sans"/>
                        <a:ea typeface="IBM Plex Sans"/>
                        <a:cs typeface="IBM Plex Sans"/>
                        <a:sym typeface="IBM Plex Sans"/>
                      </a:endParaRPr>
                    </a:p>
                  </a:txBody>
                  <a:tcPr marL="91450" marR="91450" marT="45725" marB="45725">
                    <a:solidFill>
                      <a:srgbClr val="8E39E2"/>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Пешка G2, ладья C3 …</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ладья на C3 </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Конь на F6</a:t>
                      </a:r>
                      <a:endParaRPr sz="1400" u="none" strike="noStrike" cap="none">
                        <a:latin typeface="IBM Plex Sans"/>
                        <a:ea typeface="IBM Plex Sans"/>
                        <a:cs typeface="IBM Plex Sans"/>
                        <a:sym typeface="IBM Plex Sans"/>
                      </a:endParaRPr>
                    </a:p>
                  </a:txBody>
                  <a:tcPr marL="91450" marR="91450" marT="45725" marB="45725">
                    <a:solidFill>
                      <a:srgbClr val="F8CEEE"/>
                    </a:solidFill>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Слон B4, пешка G6 …</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Король на D5</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Пешка на C5</a:t>
                      </a:r>
                      <a:endParaRPr sz="1400" u="none" strike="noStrike" cap="none">
                        <a:latin typeface="IBM Plex Sans"/>
                        <a:ea typeface="IBM Plex Sans"/>
                        <a:cs typeface="IBM Plex Sans"/>
                        <a:sym typeface="IBM Plex Sans"/>
                      </a:endParaRPr>
                    </a:p>
                  </a:txBody>
                  <a:tcPr marL="91450" marR="91450" marT="45725" marB="45725">
                    <a:solidFill>
                      <a:srgbClr val="F8CEEE"/>
                    </a:solidFill>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a:t>
                      </a:r>
                      <a:endParaRPr sz="1400" u="none" strike="noStrike" cap="none">
                        <a:latin typeface="IBM Plex Sans"/>
                        <a:ea typeface="IBM Plex Sans"/>
                        <a:cs typeface="IBM Plex Sans"/>
                        <a:sym typeface="IBM Plex Sans"/>
                      </a:endParaRPr>
                    </a:p>
                  </a:txBody>
                  <a:tcPr marL="91450" marR="91450" marT="45725" marB="45725">
                    <a:solidFill>
                      <a:srgbClr val="F8CEEE"/>
                    </a:solidFill>
                  </a:tcPr>
                </a:tc>
                <a:extLst>
                  <a:ext uri="{0D108BD9-81ED-4DB2-BD59-A6C34878D82A}">
                    <a16:rowId xmlns:a16="http://schemas.microsoft.com/office/drawing/2014/main" val="10003"/>
                  </a:ext>
                </a:extLst>
              </a:tr>
            </a:tbl>
          </a:graphicData>
        </a:graphic>
      </p:graphicFrame>
      <p:sp>
        <p:nvSpPr>
          <p:cNvPr id="855" name="Google Shape;855;p18"/>
          <p:cNvSpPr/>
          <p:nvPr/>
        </p:nvSpPr>
        <p:spPr>
          <a:xfrm>
            <a:off x="2953731" y="4520344"/>
            <a:ext cx="813900" cy="397800"/>
          </a:xfrm>
          <a:prstGeom prst="rightArrow">
            <a:avLst>
              <a:gd name="adj1" fmla="val 50000"/>
              <a:gd name="adj2" fmla="val 50000"/>
            </a:avLst>
          </a:prstGeom>
          <a:solidFill>
            <a:srgbClr val="8E39E2"/>
          </a:solidFill>
          <a:ln w="25400" cap="flat" cmpd="sng">
            <a:solidFill>
              <a:srgbClr val="0D3E4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AF6"/>
              </a:solidFill>
              <a:latin typeface="Arial"/>
              <a:ea typeface="Arial"/>
              <a:cs typeface="Arial"/>
              <a:sym typeface="Arial"/>
            </a:endParaRPr>
          </a:p>
        </p:txBody>
      </p:sp>
      <p:sp>
        <p:nvSpPr>
          <p:cNvPr id="856" name="Google Shape;856;p18"/>
          <p:cNvSpPr txBox="1"/>
          <p:nvPr/>
        </p:nvSpPr>
        <p:spPr>
          <a:xfrm>
            <a:off x="4122475" y="3011585"/>
            <a:ext cx="29766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IBM Plex Sans"/>
                <a:ea typeface="IBM Plex Sans"/>
                <a:cs typeface="IBM Plex Sans"/>
                <a:sym typeface="IBM Plex Sans"/>
              </a:rPr>
              <a:t>Признаки</a:t>
            </a:r>
            <a:endParaRPr sz="2000" b="0" i="0" u="none" strike="noStrike" cap="none">
              <a:solidFill>
                <a:srgbClr val="000000"/>
              </a:solidFill>
              <a:latin typeface="IBM Plex Sans"/>
              <a:ea typeface="IBM Plex Sans"/>
              <a:cs typeface="IBM Plex Sans"/>
              <a:sym typeface="IBM Plex Sans"/>
            </a:endParaRPr>
          </a:p>
        </p:txBody>
      </p:sp>
      <p:sp>
        <p:nvSpPr>
          <p:cNvPr id="857" name="Google Shape;857;p18"/>
          <p:cNvSpPr txBox="1"/>
          <p:nvPr/>
        </p:nvSpPr>
        <p:spPr>
          <a:xfrm>
            <a:off x="6641983" y="3072366"/>
            <a:ext cx="21447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a:solidFill>
                  <a:srgbClr val="000000"/>
                </a:solidFill>
                <a:latin typeface="IBM Plex Sans"/>
                <a:ea typeface="IBM Plex Sans"/>
                <a:cs typeface="IBM Plex Sans"/>
                <a:sym typeface="IBM Plex Sans"/>
              </a:rPr>
              <a:t>Целевая переменная</a:t>
            </a:r>
            <a:endParaRPr sz="1600" b="0" i="0" u="none" strike="noStrike" cap="none">
              <a:solidFill>
                <a:srgbClr val="000000"/>
              </a:solidFill>
              <a:latin typeface="IBM Plex Sans"/>
              <a:ea typeface="IBM Plex Sans"/>
              <a:cs typeface="IBM Plex Sans"/>
              <a:sym typeface="IBM Plex Sans"/>
            </a:endParaRPr>
          </a:p>
        </p:txBody>
      </p:sp>
      <p:sp>
        <p:nvSpPr>
          <p:cNvPr id="858" name="Google Shape;858;p18"/>
          <p:cNvSpPr/>
          <p:nvPr/>
        </p:nvSpPr>
        <p:spPr>
          <a:xfrm rot="5400000">
            <a:off x="6057314" y="882512"/>
            <a:ext cx="439800" cy="4104600"/>
          </a:xfrm>
          <a:prstGeom prst="leftBrace">
            <a:avLst>
              <a:gd name="adj1" fmla="val 20833"/>
              <a:gd name="adj2" fmla="val 50000"/>
            </a:avLst>
          </a:prstGeom>
          <a:noFill/>
          <a:ln w="9525" cap="flat" cmpd="sng">
            <a:solidFill>
              <a:srgbClr val="0F556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5110E"/>
              </a:solidFill>
              <a:latin typeface="IBM Plex Sans"/>
              <a:ea typeface="IBM Plex Sans"/>
              <a:cs typeface="IBM Plex Sans"/>
              <a:sym typeface="IBM Plex Sans"/>
            </a:endParaRPr>
          </a:p>
        </p:txBody>
      </p:sp>
      <p:sp>
        <p:nvSpPr>
          <p:cNvPr id="859" name="Google Shape;859;p18"/>
          <p:cNvSpPr/>
          <p:nvPr/>
        </p:nvSpPr>
        <p:spPr>
          <a:xfrm rot="5400000">
            <a:off x="5508755" y="2111561"/>
            <a:ext cx="205800" cy="2773800"/>
          </a:xfrm>
          <a:prstGeom prst="leftBrace">
            <a:avLst>
              <a:gd name="adj1" fmla="val 20833"/>
              <a:gd name="adj2" fmla="val 50000"/>
            </a:avLst>
          </a:prstGeom>
          <a:noFill/>
          <a:ln w="9525" cap="flat" cmpd="sng">
            <a:solidFill>
              <a:srgbClr val="0F556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5110E"/>
              </a:solidFill>
              <a:latin typeface="IBM Plex Sans"/>
              <a:ea typeface="IBM Plex Sans"/>
              <a:cs typeface="IBM Plex Sans"/>
              <a:sym typeface="IBM Plex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grpSp>
        <p:nvGrpSpPr>
          <p:cNvPr id="864" name="Google Shape;864;g3cb20f13e01_0_776"/>
          <p:cNvGrpSpPr/>
          <p:nvPr/>
        </p:nvGrpSpPr>
        <p:grpSpPr>
          <a:xfrm>
            <a:off x="9353973" y="-1553420"/>
            <a:ext cx="2854020" cy="13716631"/>
            <a:chOff x="9353973" y="-1553420"/>
            <a:chExt cx="2854020" cy="13716631"/>
          </a:xfrm>
        </p:grpSpPr>
        <p:grpSp>
          <p:nvGrpSpPr>
            <p:cNvPr id="865" name="Google Shape;865;g3cb20f13e01_0_776"/>
            <p:cNvGrpSpPr/>
            <p:nvPr/>
          </p:nvGrpSpPr>
          <p:grpSpPr>
            <a:xfrm>
              <a:off x="9353973" y="-1553420"/>
              <a:ext cx="2838027" cy="13716631"/>
              <a:chOff x="9353973" y="-6079700"/>
              <a:chExt cx="2838027" cy="13716631"/>
            </a:xfrm>
          </p:grpSpPr>
          <p:pic>
            <p:nvPicPr>
              <p:cNvPr id="866" name="Google Shape;866;g3cb20f13e01_0_77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867" name="Google Shape;867;g3cb20f13e01_0_77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868" name="Google Shape;868;g3cb20f13e01_0_77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69" name="Google Shape;869;g3cb20f13e01_0_77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70" name="Google Shape;870;g3cb20f13e01_0_776"/>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Пример</a:t>
            </a:r>
            <a:endParaRPr sz="3600" b="0" i="0" u="none" strike="noStrike" cap="none">
              <a:solidFill>
                <a:srgbClr val="DFDFDF"/>
              </a:solidFill>
              <a:latin typeface="IBM Plex Sans"/>
              <a:ea typeface="IBM Plex Sans"/>
              <a:cs typeface="IBM Plex Sans"/>
              <a:sym typeface="IBM Plex Sans"/>
            </a:endParaRPr>
          </a:p>
        </p:txBody>
      </p:sp>
      <p:sp>
        <p:nvSpPr>
          <p:cNvPr id="871" name="Google Shape;871;g3cb20f13e01_0_776"/>
          <p:cNvSpPr txBox="1"/>
          <p:nvPr/>
        </p:nvSpPr>
        <p:spPr>
          <a:xfrm>
            <a:off x="984710" y="5424400"/>
            <a:ext cx="29766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IBM Plex Sans"/>
                <a:ea typeface="IBM Plex Sans"/>
                <a:cs typeface="IBM Plex Sans"/>
                <a:sym typeface="IBM Plex Sans"/>
              </a:rPr>
              <a:t>Обучающая выборка</a:t>
            </a:r>
            <a:endParaRPr sz="2000" b="0" i="0" u="none" strike="noStrike" cap="none">
              <a:solidFill>
                <a:srgbClr val="000000"/>
              </a:solidFill>
              <a:latin typeface="IBM Plex Sans"/>
              <a:ea typeface="IBM Plex Sans"/>
              <a:cs typeface="IBM Plex Sans"/>
              <a:sym typeface="IBM Plex Sans"/>
            </a:endParaRPr>
          </a:p>
        </p:txBody>
      </p:sp>
      <p:sp>
        <p:nvSpPr>
          <p:cNvPr id="872" name="Google Shape;872;g3cb20f13e01_0_776"/>
          <p:cNvSpPr/>
          <p:nvPr/>
        </p:nvSpPr>
        <p:spPr>
          <a:xfrm>
            <a:off x="6988553" y="3696752"/>
            <a:ext cx="1463400" cy="1008300"/>
          </a:xfrm>
          <a:prstGeom prst="wedgeEllipseCallout">
            <a:avLst>
              <a:gd name="adj1" fmla="val -20833"/>
              <a:gd name="adj2" fmla="val 62500"/>
            </a:avLst>
          </a:prstGeom>
          <a:solidFill>
            <a:srgbClr val="F8CEEE"/>
          </a:solidFill>
          <a:ln w="25400" cap="flat" cmpd="sng">
            <a:solidFill>
              <a:srgbClr val="F8C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Arial"/>
                <a:ea typeface="Arial"/>
                <a:cs typeface="Arial"/>
                <a:sym typeface="Arial"/>
              </a:rPr>
              <a:t>…</a:t>
            </a:r>
            <a:endParaRPr sz="1400" b="0" i="0" u="none" strike="noStrike" cap="none">
              <a:solidFill>
                <a:schemeClr val="dk1"/>
              </a:solidFill>
              <a:latin typeface="Arial"/>
              <a:ea typeface="Arial"/>
              <a:cs typeface="Arial"/>
              <a:sym typeface="Arial"/>
            </a:endParaRPr>
          </a:p>
        </p:txBody>
      </p:sp>
      <p:sp>
        <p:nvSpPr>
          <p:cNvPr id="873" name="Google Shape;873;g3cb20f13e01_0_776"/>
          <p:cNvSpPr txBox="1"/>
          <p:nvPr/>
        </p:nvSpPr>
        <p:spPr>
          <a:xfrm>
            <a:off x="6735639" y="5270495"/>
            <a:ext cx="19692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IBM Plex Sans"/>
                <a:ea typeface="IBM Plex Sans"/>
                <a:cs typeface="IBM Plex Sans"/>
                <a:sym typeface="IBM Plex Sans"/>
              </a:rPr>
              <a:t>Истинная зависимость</a:t>
            </a:r>
            <a:endParaRPr sz="2000" b="0" i="0" u="none" strike="noStrike" cap="none">
              <a:solidFill>
                <a:srgbClr val="000000"/>
              </a:solidFill>
              <a:latin typeface="IBM Plex Sans"/>
              <a:ea typeface="IBM Plex Sans"/>
              <a:cs typeface="IBM Plex Sans"/>
              <a:sym typeface="IBM Plex Sans"/>
            </a:endParaRPr>
          </a:p>
        </p:txBody>
      </p:sp>
      <p:cxnSp>
        <p:nvCxnSpPr>
          <p:cNvPr id="874" name="Google Shape;874;g3cb20f13e01_0_776"/>
          <p:cNvCxnSpPr/>
          <p:nvPr/>
        </p:nvCxnSpPr>
        <p:spPr>
          <a:xfrm rot="10800000" flipH="1">
            <a:off x="4784841" y="4342471"/>
            <a:ext cx="441600" cy="11700"/>
          </a:xfrm>
          <a:prstGeom prst="straightConnector1">
            <a:avLst/>
          </a:prstGeom>
          <a:noFill/>
          <a:ln w="57150" cap="flat" cmpd="sng">
            <a:solidFill>
              <a:srgbClr val="8E39E2"/>
            </a:solidFill>
            <a:prstDash val="solid"/>
            <a:round/>
            <a:headEnd type="none" w="sm" len="sm"/>
            <a:tailEnd type="triangle" w="med" len="med"/>
          </a:ln>
        </p:spPr>
      </p:cxnSp>
      <p:cxnSp>
        <p:nvCxnSpPr>
          <p:cNvPr id="875" name="Google Shape;875;g3cb20f13e01_0_776"/>
          <p:cNvCxnSpPr/>
          <p:nvPr/>
        </p:nvCxnSpPr>
        <p:spPr>
          <a:xfrm rot="10800000" flipH="1">
            <a:off x="6416796" y="4342471"/>
            <a:ext cx="441600" cy="11700"/>
          </a:xfrm>
          <a:prstGeom prst="straightConnector1">
            <a:avLst/>
          </a:prstGeom>
          <a:noFill/>
          <a:ln w="57150" cap="flat" cmpd="sng">
            <a:solidFill>
              <a:srgbClr val="8E39E2"/>
            </a:solidFill>
            <a:prstDash val="solid"/>
            <a:round/>
            <a:headEnd type="none" w="sm" len="sm"/>
            <a:tailEnd type="triangle" w="med" len="med"/>
          </a:ln>
        </p:spPr>
      </p:cxnSp>
      <p:pic>
        <p:nvPicPr>
          <p:cNvPr id="876" name="Google Shape;876;g3cb20f13e01_0_776" descr="Picture background"/>
          <p:cNvPicPr preferRelativeResize="0"/>
          <p:nvPr/>
        </p:nvPicPr>
        <p:blipFill rotWithShape="1">
          <a:blip r:embed="rId4">
            <a:alphaModFix/>
          </a:blip>
          <a:srcRect/>
          <a:stretch/>
        </p:blipFill>
        <p:spPr>
          <a:xfrm>
            <a:off x="5164192" y="3767719"/>
            <a:ext cx="1172905" cy="1172905"/>
          </a:xfrm>
          <a:prstGeom prst="rect">
            <a:avLst/>
          </a:prstGeom>
          <a:noFill/>
          <a:ln>
            <a:noFill/>
          </a:ln>
        </p:spPr>
      </p:pic>
      <p:sp>
        <p:nvSpPr>
          <p:cNvPr id="877" name="Google Shape;877;g3cb20f13e01_0_776"/>
          <p:cNvSpPr txBox="1"/>
          <p:nvPr/>
        </p:nvSpPr>
        <p:spPr>
          <a:xfrm>
            <a:off x="4665874" y="5116624"/>
            <a:ext cx="2169600" cy="1015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IBM Plex Sans"/>
                <a:ea typeface="IBM Plex Sans"/>
                <a:cs typeface="IBM Plex Sans"/>
                <a:sym typeface="IBM Plex Sans"/>
              </a:rPr>
              <a:t>Модель машинного обучения</a:t>
            </a:r>
            <a:endParaRPr sz="2000" b="0" i="0" u="none" strike="noStrike" cap="none">
              <a:solidFill>
                <a:srgbClr val="000000"/>
              </a:solidFill>
              <a:latin typeface="IBM Plex Sans"/>
              <a:ea typeface="IBM Plex Sans"/>
              <a:cs typeface="IBM Plex Sans"/>
              <a:sym typeface="IBM Plex Sans"/>
            </a:endParaRPr>
          </a:p>
        </p:txBody>
      </p:sp>
      <p:graphicFrame>
        <p:nvGraphicFramePr>
          <p:cNvPr id="878" name="Google Shape;878;g3cb20f13e01_0_776"/>
          <p:cNvGraphicFramePr/>
          <p:nvPr/>
        </p:nvGraphicFramePr>
        <p:xfrm>
          <a:off x="420672" y="3131570"/>
          <a:ext cx="3000000" cy="3000000"/>
        </p:xfrm>
        <a:graphic>
          <a:graphicData uri="http://schemas.openxmlformats.org/drawingml/2006/table">
            <a:tbl>
              <a:tblPr firstRow="1" bandRow="1">
                <a:noFill/>
                <a:tableStyleId>{A9B0E0E1-4E68-4C5C-ACD4-11C2C6A234C4}</a:tableStyleId>
              </a:tblPr>
              <a:tblGrid>
                <a:gridCol w="1368225">
                  <a:extLst>
                    <a:ext uri="{9D8B030D-6E8A-4147-A177-3AD203B41FA5}">
                      <a16:colId xmlns:a16="http://schemas.microsoft.com/office/drawing/2014/main" val="20000"/>
                    </a:ext>
                  </a:extLst>
                </a:gridCol>
                <a:gridCol w="1368225">
                  <a:extLst>
                    <a:ext uri="{9D8B030D-6E8A-4147-A177-3AD203B41FA5}">
                      <a16:colId xmlns:a16="http://schemas.microsoft.com/office/drawing/2014/main" val="20001"/>
                    </a:ext>
                  </a:extLst>
                </a:gridCol>
                <a:gridCol w="1368225">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Состояние поля</a:t>
                      </a:r>
                      <a:endParaRPr sz="1400" u="none" strike="noStrike" cap="none">
                        <a:latin typeface="IBM Plex Sans"/>
                        <a:ea typeface="IBM Plex Sans"/>
                        <a:cs typeface="IBM Plex Sans"/>
                        <a:sym typeface="IBM Plex Sans"/>
                      </a:endParaRPr>
                    </a:p>
                  </a:txBody>
                  <a:tcPr marL="91450" marR="91450" marT="45725" marB="45725">
                    <a:solidFill>
                      <a:srgbClr val="8E39E2"/>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Предыдущий ход соперника</a:t>
                      </a:r>
                      <a:endParaRPr sz="1400" u="none" strike="noStrike" cap="none">
                        <a:latin typeface="IBM Plex Sans"/>
                        <a:ea typeface="IBM Plex Sans"/>
                        <a:cs typeface="IBM Plex Sans"/>
                        <a:sym typeface="IBM Plex Sans"/>
                      </a:endParaRPr>
                    </a:p>
                  </a:txBody>
                  <a:tcPr marL="91450" marR="91450" marT="45725" marB="45725">
                    <a:solidFill>
                      <a:srgbClr val="8E39E2"/>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Следующий ход</a:t>
                      </a:r>
                      <a:endParaRPr sz="1400" u="none" strike="noStrike" cap="none">
                        <a:latin typeface="IBM Plex Sans"/>
                        <a:ea typeface="IBM Plex Sans"/>
                        <a:cs typeface="IBM Plex Sans"/>
                        <a:sym typeface="IBM Plex Sans"/>
                      </a:endParaRPr>
                    </a:p>
                  </a:txBody>
                  <a:tcPr marL="91450" marR="91450" marT="45725" marB="45725">
                    <a:solidFill>
                      <a:srgbClr val="8E39E2"/>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Пешка G2, ладья C3 …</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ладья на C3 </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Конь на F6</a:t>
                      </a:r>
                      <a:endParaRPr sz="1400" u="none" strike="noStrike" cap="none">
                        <a:latin typeface="IBM Plex Sans"/>
                        <a:ea typeface="IBM Plex Sans"/>
                        <a:cs typeface="IBM Plex Sans"/>
                        <a:sym typeface="IBM Plex Sans"/>
                      </a:endParaRPr>
                    </a:p>
                  </a:txBody>
                  <a:tcPr marL="91450" marR="91450" marT="45725" marB="45725">
                    <a:solidFill>
                      <a:srgbClr val="F8CEEE"/>
                    </a:solidFill>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Слон B4, пешка G6 …</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Король на D5</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Пешка на C5</a:t>
                      </a:r>
                      <a:endParaRPr sz="1400" u="none" strike="noStrike" cap="none">
                        <a:latin typeface="IBM Plex Sans"/>
                        <a:ea typeface="IBM Plex Sans"/>
                        <a:cs typeface="IBM Plex Sans"/>
                        <a:sym typeface="IBM Plex Sans"/>
                      </a:endParaRPr>
                    </a:p>
                  </a:txBody>
                  <a:tcPr marL="91450" marR="91450" marT="45725" marB="45725">
                    <a:solidFill>
                      <a:srgbClr val="F8CEEE"/>
                    </a:solidFill>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a:t>
                      </a:r>
                      <a:endParaRPr sz="1400" u="none" strike="noStrike" cap="none">
                        <a:latin typeface="IBM Plex Sans"/>
                        <a:ea typeface="IBM Plex Sans"/>
                        <a:cs typeface="IBM Plex Sans"/>
                        <a:sym typeface="IBM Plex San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a:t>
                      </a:r>
                      <a:endParaRPr sz="1400" u="none" strike="noStrike" cap="none">
                        <a:latin typeface="IBM Plex Sans"/>
                        <a:ea typeface="IBM Plex Sans"/>
                        <a:cs typeface="IBM Plex Sans"/>
                        <a:sym typeface="IBM Plex Sans"/>
                      </a:endParaRPr>
                    </a:p>
                  </a:txBody>
                  <a:tcPr marL="91450" marR="91450" marT="45725" marB="45725">
                    <a:solidFill>
                      <a:srgbClr val="F8CEEE"/>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grpSp>
        <p:nvGrpSpPr>
          <p:cNvPr id="883" name="Google Shape;883;g3cb20f13e01_0_806"/>
          <p:cNvGrpSpPr/>
          <p:nvPr/>
        </p:nvGrpSpPr>
        <p:grpSpPr>
          <a:xfrm>
            <a:off x="9353973" y="-1553420"/>
            <a:ext cx="2854020" cy="13716631"/>
            <a:chOff x="9353973" y="-1553420"/>
            <a:chExt cx="2854020" cy="13716631"/>
          </a:xfrm>
        </p:grpSpPr>
        <p:grpSp>
          <p:nvGrpSpPr>
            <p:cNvPr id="884" name="Google Shape;884;g3cb20f13e01_0_806"/>
            <p:cNvGrpSpPr/>
            <p:nvPr/>
          </p:nvGrpSpPr>
          <p:grpSpPr>
            <a:xfrm>
              <a:off x="9353973" y="-1553420"/>
              <a:ext cx="2838027" cy="13716631"/>
              <a:chOff x="9353973" y="-6079700"/>
              <a:chExt cx="2838027" cy="13716631"/>
            </a:xfrm>
          </p:grpSpPr>
          <p:pic>
            <p:nvPicPr>
              <p:cNvPr id="885" name="Google Shape;885;g3cb20f13e01_0_80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886" name="Google Shape;886;g3cb20f13e01_0_80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887" name="Google Shape;887;g3cb20f13e01_0_80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88" name="Google Shape;888;g3cb20f13e01_0_80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89" name="Google Shape;889;g3cb20f13e01_0_806"/>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Пример</a:t>
            </a:r>
            <a:endParaRPr sz="3600" b="0" i="0" u="none" strike="noStrike" cap="none">
              <a:solidFill>
                <a:srgbClr val="DFDFDF"/>
              </a:solidFill>
              <a:latin typeface="IBM Plex Sans"/>
              <a:ea typeface="IBM Plex Sans"/>
              <a:cs typeface="IBM Plex Sans"/>
              <a:sym typeface="IBM Plex Sans"/>
            </a:endParaRPr>
          </a:p>
        </p:txBody>
      </p:sp>
      <p:sp>
        <p:nvSpPr>
          <p:cNvPr id="890" name="Google Shape;890;g3cb20f13e01_0_806"/>
          <p:cNvSpPr/>
          <p:nvPr/>
        </p:nvSpPr>
        <p:spPr>
          <a:xfrm>
            <a:off x="4185550" y="2383403"/>
            <a:ext cx="1463400" cy="1008300"/>
          </a:xfrm>
          <a:prstGeom prst="wedgeEllipseCallout">
            <a:avLst>
              <a:gd name="adj1" fmla="val -20833"/>
              <a:gd name="adj2" fmla="val 62500"/>
            </a:avLst>
          </a:prstGeom>
          <a:solidFill>
            <a:srgbClr val="F8CEEE"/>
          </a:solidFill>
          <a:ln w="25400" cap="flat" cmpd="sng">
            <a:solidFill>
              <a:srgbClr val="F8C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a:solidFill>
                  <a:schemeClr val="dk1"/>
                </a:solidFill>
                <a:latin typeface="Arial"/>
                <a:ea typeface="Arial"/>
                <a:cs typeface="Arial"/>
                <a:sym typeface="Arial"/>
              </a:rPr>
              <a:t>?</a:t>
            </a:r>
            <a:endParaRPr sz="1400" b="0" i="0" u="none" strike="noStrike" cap="none">
              <a:solidFill>
                <a:schemeClr val="dk1"/>
              </a:solidFill>
              <a:latin typeface="Arial"/>
              <a:ea typeface="Arial"/>
              <a:cs typeface="Arial"/>
              <a:sym typeface="Arial"/>
            </a:endParaRPr>
          </a:p>
        </p:txBody>
      </p:sp>
      <p:sp>
        <p:nvSpPr>
          <p:cNvPr id="891" name="Google Shape;891;g3cb20f13e01_0_806"/>
          <p:cNvSpPr txBox="1"/>
          <p:nvPr/>
        </p:nvSpPr>
        <p:spPr>
          <a:xfrm>
            <a:off x="3932650" y="1628893"/>
            <a:ext cx="1969200" cy="1015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ru-RU" sz="2000" b="0" i="0" u="none" strike="noStrike" cap="none">
                <a:solidFill>
                  <a:schemeClr val="dk1"/>
                </a:solidFill>
                <a:latin typeface="IBM Plex Sans"/>
                <a:ea typeface="IBM Plex Sans"/>
                <a:cs typeface="IBM Plex Sans"/>
                <a:sym typeface="IBM Plex Sans"/>
              </a:rPr>
              <a:t>Истинная зависимость</a:t>
            </a: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IBM Plex Sans"/>
              <a:ea typeface="IBM Plex Sans"/>
              <a:cs typeface="IBM Plex Sans"/>
              <a:sym typeface="IBM Plex Sans"/>
            </a:endParaRPr>
          </a:p>
        </p:txBody>
      </p:sp>
      <p:cxnSp>
        <p:nvCxnSpPr>
          <p:cNvPr id="892" name="Google Shape;892;g3cb20f13e01_0_806"/>
          <p:cNvCxnSpPr/>
          <p:nvPr/>
        </p:nvCxnSpPr>
        <p:spPr>
          <a:xfrm rot="10800000" flipH="1">
            <a:off x="3543712" y="4142371"/>
            <a:ext cx="441600" cy="11700"/>
          </a:xfrm>
          <a:prstGeom prst="straightConnector1">
            <a:avLst/>
          </a:prstGeom>
          <a:noFill/>
          <a:ln w="57150" cap="flat" cmpd="sng">
            <a:solidFill>
              <a:srgbClr val="0F5568"/>
            </a:solidFill>
            <a:prstDash val="solid"/>
            <a:round/>
            <a:headEnd type="none" w="sm" len="sm"/>
            <a:tailEnd type="triangle" w="med" len="med"/>
          </a:ln>
        </p:spPr>
      </p:cxnSp>
      <p:pic>
        <p:nvPicPr>
          <p:cNvPr id="893" name="Google Shape;893;g3cb20f13e01_0_806" descr="Picture background"/>
          <p:cNvPicPr preferRelativeResize="0"/>
          <p:nvPr/>
        </p:nvPicPr>
        <p:blipFill rotWithShape="1">
          <a:blip r:embed="rId4">
            <a:alphaModFix/>
          </a:blip>
          <a:srcRect/>
          <a:stretch/>
        </p:blipFill>
        <p:spPr>
          <a:xfrm>
            <a:off x="4062989" y="3567619"/>
            <a:ext cx="1172905" cy="1172905"/>
          </a:xfrm>
          <a:prstGeom prst="rect">
            <a:avLst/>
          </a:prstGeom>
          <a:noFill/>
          <a:ln>
            <a:noFill/>
          </a:ln>
        </p:spPr>
      </p:pic>
      <p:sp>
        <p:nvSpPr>
          <p:cNvPr id="894" name="Google Shape;894;g3cb20f13e01_0_806"/>
          <p:cNvSpPr txBox="1"/>
          <p:nvPr/>
        </p:nvSpPr>
        <p:spPr>
          <a:xfrm>
            <a:off x="3564671" y="4916524"/>
            <a:ext cx="2169600" cy="1015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IBM Plex Sans"/>
                <a:ea typeface="IBM Plex Sans"/>
                <a:cs typeface="IBM Plex Sans"/>
                <a:sym typeface="IBM Plex Sans"/>
              </a:rPr>
              <a:t>Модель машинного обучения</a:t>
            </a:r>
            <a:endParaRPr sz="2000" b="0" i="0" u="none" strike="noStrike" cap="none">
              <a:solidFill>
                <a:srgbClr val="000000"/>
              </a:solidFill>
              <a:latin typeface="IBM Plex Sans"/>
              <a:ea typeface="IBM Plex Sans"/>
              <a:cs typeface="IBM Plex Sans"/>
              <a:sym typeface="IBM Plex Sans"/>
            </a:endParaRPr>
          </a:p>
        </p:txBody>
      </p:sp>
      <p:graphicFrame>
        <p:nvGraphicFramePr>
          <p:cNvPr id="895" name="Google Shape;895;g3cb20f13e01_0_806"/>
          <p:cNvGraphicFramePr/>
          <p:nvPr/>
        </p:nvGraphicFramePr>
        <p:xfrm>
          <a:off x="6032615" y="3709571"/>
          <a:ext cx="3000000" cy="3000000"/>
        </p:xfrm>
        <a:graphic>
          <a:graphicData uri="http://schemas.openxmlformats.org/drawingml/2006/table">
            <a:tbl>
              <a:tblPr firstRow="1" bandRow="1">
                <a:noFill/>
                <a:tableStyleId>{A9B0E0E1-4E68-4C5C-ACD4-11C2C6A234C4}</a:tableStyleId>
              </a:tblPr>
              <a:tblGrid>
                <a:gridCol w="127847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Следующий ход</a:t>
                      </a:r>
                      <a:endParaRPr sz="1400" u="none" strike="noStrike" cap="none">
                        <a:latin typeface="IBM Plex Sans"/>
                        <a:ea typeface="IBM Plex Sans"/>
                        <a:cs typeface="IBM Plex Sans"/>
                        <a:sym typeface="IBM Plex Sans"/>
                      </a:endParaRPr>
                    </a:p>
                  </a:txBody>
                  <a:tcPr marL="91450" marR="91450" marT="45725" marB="45725">
                    <a:solidFill>
                      <a:srgbClr val="8E39E2"/>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Конь на F3</a:t>
                      </a:r>
                      <a:endParaRPr sz="1400" u="none" strike="noStrike" cap="none">
                        <a:latin typeface="IBM Plex Sans"/>
                        <a:ea typeface="IBM Plex Sans"/>
                        <a:cs typeface="IBM Plex Sans"/>
                        <a:sym typeface="IBM Plex Sans"/>
                      </a:endParaRPr>
                    </a:p>
                  </a:txBody>
                  <a:tcPr marL="91450" marR="91450" marT="45725" marB="45725"/>
                </a:tc>
                <a:extLst>
                  <a:ext uri="{0D108BD9-81ED-4DB2-BD59-A6C34878D82A}">
                    <a16:rowId xmlns:a16="http://schemas.microsoft.com/office/drawing/2014/main" val="10001"/>
                  </a:ext>
                </a:extLst>
              </a:tr>
            </a:tbl>
          </a:graphicData>
        </a:graphic>
      </p:graphicFrame>
      <p:cxnSp>
        <p:nvCxnSpPr>
          <p:cNvPr id="896" name="Google Shape;896;g3cb20f13e01_0_806"/>
          <p:cNvCxnSpPr/>
          <p:nvPr/>
        </p:nvCxnSpPr>
        <p:spPr>
          <a:xfrm rot="10800000" flipH="1">
            <a:off x="5292465" y="4130796"/>
            <a:ext cx="441600" cy="11700"/>
          </a:xfrm>
          <a:prstGeom prst="straightConnector1">
            <a:avLst/>
          </a:prstGeom>
          <a:noFill/>
          <a:ln w="57150" cap="flat" cmpd="sng">
            <a:solidFill>
              <a:srgbClr val="0F5568"/>
            </a:solidFill>
            <a:prstDash val="solid"/>
            <a:round/>
            <a:headEnd type="none" w="sm" len="sm"/>
            <a:tailEnd type="triangle" w="med" len="med"/>
          </a:ln>
        </p:spPr>
      </p:cxnSp>
      <p:sp>
        <p:nvSpPr>
          <p:cNvPr id="897" name="Google Shape;897;g3cb20f13e01_0_806"/>
          <p:cNvSpPr txBox="1"/>
          <p:nvPr/>
        </p:nvSpPr>
        <p:spPr>
          <a:xfrm>
            <a:off x="5513338" y="4853192"/>
            <a:ext cx="21696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IBM Plex Sans"/>
                <a:ea typeface="IBM Plex Sans"/>
                <a:cs typeface="IBM Plex Sans"/>
                <a:sym typeface="IBM Plex Sans"/>
              </a:rPr>
              <a:t>Предсказание</a:t>
            </a:r>
            <a:endParaRPr sz="2000" b="0" i="0" u="none" strike="noStrike" cap="none">
              <a:solidFill>
                <a:srgbClr val="000000"/>
              </a:solidFill>
              <a:latin typeface="IBM Plex Sans"/>
              <a:ea typeface="IBM Plex Sans"/>
              <a:cs typeface="IBM Plex Sans"/>
              <a:sym typeface="IBM Plex Sans"/>
            </a:endParaRPr>
          </a:p>
        </p:txBody>
      </p:sp>
      <p:graphicFrame>
        <p:nvGraphicFramePr>
          <p:cNvPr id="898" name="Google Shape;898;g3cb20f13e01_0_806"/>
          <p:cNvGraphicFramePr/>
          <p:nvPr/>
        </p:nvGraphicFramePr>
        <p:xfrm>
          <a:off x="658082" y="3666844"/>
          <a:ext cx="3000000" cy="3000000"/>
        </p:xfrm>
        <a:graphic>
          <a:graphicData uri="http://schemas.openxmlformats.org/drawingml/2006/table">
            <a:tbl>
              <a:tblPr firstRow="1" bandRow="1">
                <a:noFill/>
                <a:tableStyleId>{A9B0E0E1-4E68-4C5C-ACD4-11C2C6A234C4}</a:tableStyleId>
              </a:tblPr>
              <a:tblGrid>
                <a:gridCol w="1368225">
                  <a:extLst>
                    <a:ext uri="{9D8B030D-6E8A-4147-A177-3AD203B41FA5}">
                      <a16:colId xmlns:a16="http://schemas.microsoft.com/office/drawing/2014/main" val="20000"/>
                    </a:ext>
                  </a:extLst>
                </a:gridCol>
                <a:gridCol w="1368225">
                  <a:extLst>
                    <a:ext uri="{9D8B030D-6E8A-4147-A177-3AD203B41FA5}">
                      <a16:colId xmlns:a16="http://schemas.microsoft.com/office/drawing/2014/main" val="20001"/>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Состояние поля</a:t>
                      </a:r>
                      <a:endParaRPr sz="1400" u="none" strike="noStrike" cap="none">
                        <a:latin typeface="IBM Plex Sans"/>
                        <a:ea typeface="IBM Plex Sans"/>
                        <a:cs typeface="IBM Plex Sans"/>
                        <a:sym typeface="IBM Plex Sans"/>
                      </a:endParaRPr>
                    </a:p>
                  </a:txBody>
                  <a:tcPr marL="91450" marR="91450" marT="45725" marB="45725">
                    <a:lnL w="9525" cap="flat" cmpd="sng">
                      <a:solidFill>
                        <a:srgbClr val="8E39E2"/>
                      </a:solidFill>
                      <a:prstDash val="solid"/>
                      <a:round/>
                      <a:headEnd type="none" w="sm" len="sm"/>
                      <a:tailEnd type="none" w="sm" len="sm"/>
                    </a:lnL>
                    <a:lnR w="9525" cap="flat" cmpd="sng">
                      <a:solidFill>
                        <a:srgbClr val="8E39E2"/>
                      </a:solidFill>
                      <a:prstDash val="solid"/>
                      <a:round/>
                      <a:headEnd type="none" w="sm" len="sm"/>
                      <a:tailEnd type="none" w="sm" len="sm"/>
                    </a:lnR>
                    <a:lnT w="9525" cap="flat" cmpd="sng">
                      <a:solidFill>
                        <a:srgbClr val="8E39E2"/>
                      </a:solidFill>
                      <a:prstDash val="solid"/>
                      <a:round/>
                      <a:headEnd type="none" w="sm" len="sm"/>
                      <a:tailEnd type="none" w="sm" len="sm"/>
                    </a:lnT>
                    <a:lnB w="9525" cap="flat" cmpd="sng">
                      <a:solidFill>
                        <a:srgbClr val="8E39E2"/>
                      </a:solidFill>
                      <a:prstDash val="solid"/>
                      <a:round/>
                      <a:headEnd type="none" w="sm" len="sm"/>
                      <a:tailEnd type="none" w="sm" len="sm"/>
                    </a:lnB>
                    <a:solidFill>
                      <a:srgbClr val="8E39E2"/>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Предыдущий ход соперника</a:t>
                      </a:r>
                      <a:endParaRPr sz="1400" u="none" strike="noStrike" cap="none">
                        <a:latin typeface="IBM Plex Sans"/>
                        <a:ea typeface="IBM Plex Sans"/>
                        <a:cs typeface="IBM Plex Sans"/>
                        <a:sym typeface="IBM Plex Sans"/>
                      </a:endParaRPr>
                    </a:p>
                  </a:txBody>
                  <a:tcPr marL="91450" marR="91450" marT="45725" marB="45725">
                    <a:lnL w="9525" cap="flat" cmpd="sng">
                      <a:solidFill>
                        <a:srgbClr val="8E39E2"/>
                      </a:solidFill>
                      <a:prstDash val="solid"/>
                      <a:round/>
                      <a:headEnd type="none" w="sm" len="sm"/>
                      <a:tailEnd type="none" w="sm" len="sm"/>
                    </a:lnL>
                    <a:lnR w="9525" cap="flat" cmpd="sng">
                      <a:solidFill>
                        <a:srgbClr val="8E39E2"/>
                      </a:solidFill>
                      <a:prstDash val="solid"/>
                      <a:round/>
                      <a:headEnd type="none" w="sm" len="sm"/>
                      <a:tailEnd type="none" w="sm" len="sm"/>
                    </a:lnR>
                    <a:lnT w="9525" cap="flat" cmpd="sng">
                      <a:solidFill>
                        <a:srgbClr val="8E39E2"/>
                      </a:solidFill>
                      <a:prstDash val="solid"/>
                      <a:round/>
                      <a:headEnd type="none" w="sm" len="sm"/>
                      <a:tailEnd type="none" w="sm" len="sm"/>
                    </a:lnT>
                    <a:lnB w="9525" cap="flat" cmpd="sng">
                      <a:solidFill>
                        <a:srgbClr val="8E39E2"/>
                      </a:solidFill>
                      <a:prstDash val="solid"/>
                      <a:round/>
                      <a:headEnd type="none" w="sm" len="sm"/>
                      <a:tailEnd type="none" w="sm" len="sm"/>
                    </a:lnB>
                    <a:solidFill>
                      <a:srgbClr val="8E39E2"/>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Пешка G2, ладья C3 …</a:t>
                      </a:r>
                      <a:endParaRPr sz="1400" u="none" strike="noStrike" cap="none">
                        <a:latin typeface="IBM Plex Sans"/>
                        <a:ea typeface="IBM Plex Sans"/>
                        <a:cs typeface="IBM Plex Sans"/>
                        <a:sym typeface="IBM Plex Sans"/>
                      </a:endParaRPr>
                    </a:p>
                  </a:txBody>
                  <a:tcPr marL="91450" marR="91450" marT="45725" marB="45725">
                    <a:lnT w="9525" cap="flat" cmpd="sng">
                      <a:solidFill>
                        <a:srgbClr val="8E39E2"/>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400"/>
                        <a:buFont typeface="Arial"/>
                        <a:buNone/>
                      </a:pPr>
                      <a:r>
                        <a:rPr lang="ru-RU" sz="1400" u="none" strike="noStrike" cap="none">
                          <a:latin typeface="IBM Plex Sans"/>
                          <a:ea typeface="IBM Plex Sans"/>
                          <a:cs typeface="IBM Plex Sans"/>
                          <a:sym typeface="IBM Plex Sans"/>
                        </a:rPr>
                        <a:t>ладья на C3 </a:t>
                      </a:r>
                      <a:endParaRPr sz="1400" u="none" strike="noStrike" cap="none">
                        <a:latin typeface="IBM Plex Sans"/>
                        <a:ea typeface="IBM Plex Sans"/>
                        <a:cs typeface="IBM Plex Sans"/>
                        <a:sym typeface="IBM Plex Sans"/>
                      </a:endParaRPr>
                    </a:p>
                  </a:txBody>
                  <a:tcPr marL="91450" marR="91450" marT="45725" marB="45725">
                    <a:lnT w="9525" cap="flat" cmpd="sng">
                      <a:solidFill>
                        <a:srgbClr val="8E39E2"/>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10"/>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Вопрос</a:t>
            </a:r>
            <a:endParaRPr sz="3600" b="1" i="0" u="none" strike="noStrike" cap="none">
              <a:solidFill>
                <a:schemeClr val="dk1"/>
              </a:solidFill>
              <a:latin typeface="IBM Plex Sans"/>
              <a:ea typeface="IBM Plex Sans"/>
              <a:cs typeface="IBM Plex Sans"/>
              <a:sym typeface="IBM Plex Sans"/>
            </a:endParaRPr>
          </a:p>
        </p:txBody>
      </p:sp>
      <p:grpSp>
        <p:nvGrpSpPr>
          <p:cNvPr id="904" name="Google Shape;904;p10"/>
          <p:cNvGrpSpPr/>
          <p:nvPr/>
        </p:nvGrpSpPr>
        <p:grpSpPr>
          <a:xfrm>
            <a:off x="9353973" y="-1553420"/>
            <a:ext cx="2853949" cy="13716633"/>
            <a:chOff x="9353973" y="-1553420"/>
            <a:chExt cx="2853949" cy="13716633"/>
          </a:xfrm>
        </p:grpSpPr>
        <p:grpSp>
          <p:nvGrpSpPr>
            <p:cNvPr id="905" name="Google Shape;905;p10"/>
            <p:cNvGrpSpPr/>
            <p:nvPr/>
          </p:nvGrpSpPr>
          <p:grpSpPr>
            <a:xfrm>
              <a:off x="9353973" y="-1553420"/>
              <a:ext cx="2838027" cy="13716633"/>
              <a:chOff x="9353973" y="-6079700"/>
              <a:chExt cx="2838027" cy="13716633"/>
            </a:xfrm>
          </p:grpSpPr>
          <p:pic>
            <p:nvPicPr>
              <p:cNvPr id="906" name="Google Shape;906;p10"/>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907" name="Google Shape;907;p10"/>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908" name="Google Shape;908;p10"/>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9" name="Google Shape;909;p10"/>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910" name="Google Shape;910;p10" descr="Picture background"/>
          <p:cNvPicPr preferRelativeResize="0"/>
          <p:nvPr/>
        </p:nvPicPr>
        <p:blipFill rotWithShape="1">
          <a:blip r:embed="rId4">
            <a:alphaModFix/>
          </a:blip>
          <a:srcRect/>
          <a:stretch/>
        </p:blipFill>
        <p:spPr>
          <a:xfrm>
            <a:off x="1116500" y="3255264"/>
            <a:ext cx="4838458" cy="2721632"/>
          </a:xfrm>
          <a:prstGeom prst="rect">
            <a:avLst/>
          </a:prstGeom>
          <a:noFill/>
          <a:ln>
            <a:noFill/>
          </a:ln>
        </p:spPr>
      </p:pic>
      <p:sp>
        <p:nvSpPr>
          <p:cNvPr id="911" name="Google Shape;911;p10"/>
          <p:cNvSpPr txBox="1"/>
          <p:nvPr/>
        </p:nvSpPr>
        <p:spPr>
          <a:xfrm>
            <a:off x="1125263" y="2860809"/>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900"/>
              <a:buFont typeface="Arial"/>
              <a:buNone/>
            </a:pPr>
            <a:r>
              <a:rPr lang="ru-RU" sz="1900" b="1" i="0" u="none" strike="noStrike" cap="none">
                <a:solidFill>
                  <a:schemeClr val="dk1"/>
                </a:solidFill>
                <a:latin typeface="IBM Plex Sans"/>
                <a:ea typeface="IBM Plex Sans"/>
                <a:cs typeface="IBM Plex Sans"/>
                <a:sym typeface="IBM Plex Sans"/>
              </a:rPr>
              <a:t>Deep Blue</a:t>
            </a:r>
            <a:endParaRPr sz="1900" b="1" i="0" u="none" strike="noStrike" cap="none">
              <a:solidFill>
                <a:schemeClr val="dk1"/>
              </a:solidFill>
              <a:latin typeface="IBM Plex Sans"/>
              <a:ea typeface="IBM Plex Sans"/>
              <a:cs typeface="IBM Plex Sans"/>
              <a:sym typeface="IBM Plex Sans"/>
            </a:endParaRPr>
          </a:p>
        </p:txBody>
      </p:sp>
      <p:sp>
        <p:nvSpPr>
          <p:cNvPr id="912" name="Google Shape;912;p10"/>
          <p:cNvSpPr txBox="1"/>
          <p:nvPr/>
        </p:nvSpPr>
        <p:spPr>
          <a:xfrm>
            <a:off x="2028899" y="6022325"/>
            <a:ext cx="3468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400" b="0" i="0" u="none" strike="noStrike" cap="none">
                <a:solidFill>
                  <a:srgbClr val="000000"/>
                </a:solidFill>
                <a:latin typeface="IBM Plex Sans"/>
                <a:ea typeface="IBM Plex Sans"/>
                <a:cs typeface="IBM Plex Sans"/>
                <a:sym typeface="IBM Plex Sans"/>
              </a:rPr>
              <a:t>Алгоритм, принимающий решение</a:t>
            </a:r>
            <a:endParaRPr sz="1400" b="0" i="0" u="none" strike="noStrike" cap="none">
              <a:solidFill>
                <a:srgbClr val="000000"/>
              </a:solidFill>
              <a:latin typeface="IBM Plex Sans"/>
              <a:ea typeface="IBM Plex Sans"/>
              <a:cs typeface="IBM Plex Sans"/>
              <a:sym typeface="IBM Plex Sans"/>
            </a:endParaRPr>
          </a:p>
        </p:txBody>
      </p:sp>
      <p:pic>
        <p:nvPicPr>
          <p:cNvPr id="913" name="Google Shape;913;p10" descr="Picture background"/>
          <p:cNvPicPr preferRelativeResize="0"/>
          <p:nvPr/>
        </p:nvPicPr>
        <p:blipFill rotWithShape="1">
          <a:blip r:embed="rId5">
            <a:alphaModFix/>
          </a:blip>
          <a:srcRect/>
          <a:stretch/>
        </p:blipFill>
        <p:spPr>
          <a:xfrm>
            <a:off x="7402666" y="3109587"/>
            <a:ext cx="1172905" cy="1172905"/>
          </a:xfrm>
          <a:prstGeom prst="rect">
            <a:avLst/>
          </a:prstGeom>
          <a:noFill/>
          <a:ln>
            <a:noFill/>
          </a:ln>
        </p:spPr>
      </p:pic>
      <p:sp>
        <p:nvSpPr>
          <p:cNvPr id="914" name="Google Shape;914;p10"/>
          <p:cNvSpPr txBox="1"/>
          <p:nvPr/>
        </p:nvSpPr>
        <p:spPr>
          <a:xfrm>
            <a:off x="6904348" y="4458492"/>
            <a:ext cx="2169600" cy="1015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ru-RU" sz="2000" b="0" i="0" u="none" strike="noStrike" cap="none">
                <a:solidFill>
                  <a:srgbClr val="000000"/>
                </a:solidFill>
                <a:latin typeface="IBM Plex Sans"/>
                <a:ea typeface="IBM Plex Sans"/>
                <a:cs typeface="IBM Plex Sans"/>
                <a:sym typeface="IBM Plex Sans"/>
              </a:rPr>
              <a:t>Модель машинного обучения</a:t>
            </a:r>
            <a:endParaRPr sz="2000" b="0" i="0" u="none" strike="noStrike" cap="none">
              <a:solidFill>
                <a:srgbClr val="000000"/>
              </a:solidFill>
              <a:latin typeface="IBM Plex Sans"/>
              <a:ea typeface="IBM Plex Sans"/>
              <a:cs typeface="IBM Plex Sans"/>
              <a:sym typeface="IBM Plex Sans"/>
            </a:endParaRPr>
          </a:p>
        </p:txBody>
      </p:sp>
      <p:pic>
        <p:nvPicPr>
          <p:cNvPr id="915" name="Google Shape;915;p10"/>
          <p:cNvPicPr preferRelativeResize="0"/>
          <p:nvPr/>
        </p:nvPicPr>
        <p:blipFill rotWithShape="1">
          <a:blip r:embed="rId6">
            <a:alphaModFix/>
          </a:blip>
          <a:srcRect/>
          <a:stretch/>
        </p:blipFill>
        <p:spPr>
          <a:xfrm>
            <a:off x="8708574" y="4040996"/>
            <a:ext cx="3047978" cy="3052211"/>
          </a:xfrm>
          <a:prstGeom prst="rect">
            <a:avLst/>
          </a:prstGeom>
          <a:noFill/>
          <a:ln>
            <a:noFill/>
          </a:ln>
        </p:spPr>
      </p:pic>
      <p:sp>
        <p:nvSpPr>
          <p:cNvPr id="916" name="Google Shape;916;p10"/>
          <p:cNvSpPr txBox="1"/>
          <p:nvPr/>
        </p:nvSpPr>
        <p:spPr>
          <a:xfrm>
            <a:off x="1015175" y="1705975"/>
            <a:ext cx="64218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ru-RU" sz="2200" b="0" i="0" u="none" strike="noStrike" cap="none">
                <a:solidFill>
                  <a:srgbClr val="000000"/>
                </a:solidFill>
                <a:latin typeface="IBM Plex Sans"/>
                <a:ea typeface="IBM Plex Sans"/>
                <a:cs typeface="IBM Plex Sans"/>
                <a:sym typeface="IBM Plex Sans"/>
              </a:rPr>
              <a:t>В чем основная разница между Deep Blue и ML моделью?</a:t>
            </a:r>
            <a:endParaRPr sz="2200" b="0" i="0" u="none" strike="noStrike" cap="none">
              <a:solidFill>
                <a:srgbClr val="000000"/>
              </a:solidFill>
              <a:latin typeface="IBM Plex Sans"/>
              <a:ea typeface="IBM Plex Sans"/>
              <a:cs typeface="IBM Plex Sans"/>
              <a:sym typeface="IBM Plex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g3cb20f13e01_0_108"/>
          <p:cNvSpPr txBox="1"/>
          <p:nvPr/>
        </p:nvSpPr>
        <p:spPr>
          <a:xfrm>
            <a:off x="1055688" y="10228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Artificial Intelligence</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Искусственный интеллект</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922" name="Google Shape;922;g3cb20f13e01_0_108"/>
          <p:cNvGrpSpPr/>
          <p:nvPr/>
        </p:nvGrpSpPr>
        <p:grpSpPr>
          <a:xfrm>
            <a:off x="9353973" y="-1553420"/>
            <a:ext cx="2854020" cy="13716631"/>
            <a:chOff x="9353973" y="-1553420"/>
            <a:chExt cx="2854020" cy="13716631"/>
          </a:xfrm>
        </p:grpSpPr>
        <p:grpSp>
          <p:nvGrpSpPr>
            <p:cNvPr id="923" name="Google Shape;923;g3cb20f13e01_0_108"/>
            <p:cNvGrpSpPr/>
            <p:nvPr/>
          </p:nvGrpSpPr>
          <p:grpSpPr>
            <a:xfrm>
              <a:off x="9353973" y="-1553420"/>
              <a:ext cx="2838027" cy="13716631"/>
              <a:chOff x="9353973" y="-6079700"/>
              <a:chExt cx="2838027" cy="13716631"/>
            </a:xfrm>
          </p:grpSpPr>
          <p:pic>
            <p:nvPicPr>
              <p:cNvPr id="924" name="Google Shape;924;g3cb20f13e01_0_108"/>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925" name="Google Shape;925;g3cb20f13e01_0_108"/>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926" name="Google Shape;926;g3cb20f13e01_0_108"/>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27" name="Google Shape;927;g3cb20f13e01_0_108"/>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928" name="Google Shape;928;g3cb20f13e01_0_108"/>
          <p:cNvSpPr txBox="1"/>
          <p:nvPr/>
        </p:nvSpPr>
        <p:spPr>
          <a:xfrm>
            <a:off x="1055688" y="1909737"/>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000" b="0" i="0" u="none" strike="noStrike" cap="none">
                <a:solidFill>
                  <a:schemeClr val="dk1"/>
                </a:solidFill>
                <a:latin typeface="IBM Plex Sans"/>
                <a:ea typeface="IBM Plex Sans"/>
                <a:cs typeface="IBM Plex Sans"/>
                <a:sym typeface="IBM Plex Sans"/>
              </a:rPr>
              <a:t>Система, способная принимать решения </a:t>
            </a: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r>
              <a:rPr lang="ru-RU" sz="2000" b="0" i="0" u="none" strike="noStrike" cap="none">
                <a:solidFill>
                  <a:schemeClr val="dk1"/>
                </a:solidFill>
                <a:latin typeface="IBM Plex Sans"/>
                <a:ea typeface="IBM Plex Sans"/>
                <a:cs typeface="IBM Plex Sans"/>
                <a:sym typeface="IBM Plex Sans"/>
              </a:rPr>
              <a:t>на основе состояния мира</a:t>
            </a: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pic>
        <p:nvPicPr>
          <p:cNvPr id="929" name="Google Shape;929;g3cb20f13e01_0_108"/>
          <p:cNvPicPr preferRelativeResize="0"/>
          <p:nvPr/>
        </p:nvPicPr>
        <p:blipFill rotWithShape="1">
          <a:blip r:embed="rId4">
            <a:alphaModFix/>
          </a:blip>
          <a:srcRect/>
          <a:stretch/>
        </p:blipFill>
        <p:spPr>
          <a:xfrm>
            <a:off x="8826215" y="354856"/>
            <a:ext cx="2867441" cy="2867441"/>
          </a:xfrm>
          <a:prstGeom prst="rect">
            <a:avLst/>
          </a:prstGeom>
          <a:noFill/>
          <a:ln>
            <a:noFill/>
          </a:ln>
        </p:spPr>
      </p:pic>
      <p:sp>
        <p:nvSpPr>
          <p:cNvPr id="930" name="Google Shape;930;g3cb20f13e01_0_108"/>
          <p:cNvSpPr/>
          <p:nvPr/>
        </p:nvSpPr>
        <p:spPr>
          <a:xfrm>
            <a:off x="5742275" y="3167079"/>
            <a:ext cx="3206100" cy="3174900"/>
          </a:xfrm>
          <a:prstGeom prst="ellipse">
            <a:avLst/>
          </a:prstGeom>
          <a:solidFill>
            <a:srgbClr val="8E39E2"/>
          </a:solidFill>
          <a:ln w="9525" cap="flat" cmpd="sng">
            <a:solidFill>
              <a:srgbClr val="8E39E2"/>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931" name="Google Shape;931;g3cb20f13e01_0_108"/>
          <p:cNvSpPr/>
          <p:nvPr/>
        </p:nvSpPr>
        <p:spPr>
          <a:xfrm>
            <a:off x="6175481" y="4002618"/>
            <a:ext cx="2339700" cy="2251800"/>
          </a:xfrm>
          <a:prstGeom prst="ellipse">
            <a:avLst/>
          </a:prstGeom>
          <a:solidFill>
            <a:srgbClr val="F8CEEE"/>
          </a:solidFill>
          <a:ln>
            <a:noFill/>
          </a:ln>
        </p:spPr>
        <p:txBody>
          <a:bodyPr spcFirstLastPara="1" wrap="square" lIns="45725" tIns="45725" rIns="45725" bIns="45725" anchor="ctr" anchorCtr="0">
            <a:noAutofit/>
          </a:bodyPr>
          <a:lstStyle/>
          <a:p>
            <a:pPr marL="0" marR="0" lvl="0" indent="0" algn="ctr" rtl="0">
              <a:lnSpc>
                <a:spcPct val="100000"/>
              </a:lnSpc>
              <a:spcBef>
                <a:spcPts val="0"/>
              </a:spcBef>
              <a:spcAft>
                <a:spcPts val="0"/>
              </a:spcAft>
              <a:buClr>
                <a:schemeClr val="dk1"/>
              </a:buClr>
              <a:buSzPts val="4800"/>
              <a:buFont typeface="Proxima Nova"/>
              <a:buNone/>
            </a:pPr>
            <a:endParaRPr sz="4600" b="0" i="0" u="none" strike="noStrike" cap="none">
              <a:solidFill>
                <a:schemeClr val="dk1"/>
              </a:solidFill>
              <a:latin typeface="Proxima Nova"/>
              <a:ea typeface="Proxima Nova"/>
              <a:cs typeface="Proxima Nova"/>
              <a:sym typeface="Proxima Nova"/>
            </a:endParaRPr>
          </a:p>
        </p:txBody>
      </p:sp>
      <p:sp>
        <p:nvSpPr>
          <p:cNvPr id="932" name="Google Shape;932;g3cb20f13e01_0_108"/>
          <p:cNvSpPr/>
          <p:nvPr/>
        </p:nvSpPr>
        <p:spPr>
          <a:xfrm>
            <a:off x="6353525" y="4572216"/>
            <a:ext cx="1983600" cy="1566300"/>
          </a:xfrm>
          <a:prstGeom prst="ellipse">
            <a:avLst/>
          </a:prstGeom>
          <a:solidFill>
            <a:srgbClr val="E4F9FD"/>
          </a:solidFill>
          <a:ln w="9525" cap="flat" cmpd="sng">
            <a:solidFill>
              <a:srgbClr val="C2E5F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600" b="0" i="0" u="none" strike="noStrike" cap="none">
              <a:solidFill>
                <a:srgbClr val="000000"/>
              </a:solidFill>
              <a:latin typeface="Nunito"/>
              <a:ea typeface="Nunito"/>
              <a:cs typeface="Nunito"/>
              <a:sym typeface="Nunito"/>
            </a:endParaRPr>
          </a:p>
        </p:txBody>
      </p:sp>
      <p:sp>
        <p:nvSpPr>
          <p:cNvPr id="933" name="Google Shape;933;g3cb20f13e01_0_108"/>
          <p:cNvSpPr txBox="1"/>
          <p:nvPr/>
        </p:nvSpPr>
        <p:spPr>
          <a:xfrm>
            <a:off x="7088000" y="47734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15110E"/>
                </a:solidFill>
                <a:latin typeface="IBM Plex Sans"/>
                <a:ea typeface="IBM Plex Sans"/>
                <a:cs typeface="IBM Plex Sans"/>
                <a:sym typeface="IBM Plex Sans"/>
              </a:rPr>
              <a:t>DL</a:t>
            </a:r>
            <a:endParaRPr sz="1500" b="0" i="0" u="none" strike="noStrike" cap="none">
              <a:solidFill>
                <a:srgbClr val="15110E"/>
              </a:solidFill>
              <a:latin typeface="IBM Plex Sans"/>
              <a:ea typeface="IBM Plex Sans"/>
              <a:cs typeface="IBM Plex Sans"/>
              <a:sym typeface="IBM Plex Sans"/>
            </a:endParaRPr>
          </a:p>
        </p:txBody>
      </p:sp>
      <p:sp>
        <p:nvSpPr>
          <p:cNvPr id="934" name="Google Shape;934;g3cb20f13e01_0_108"/>
          <p:cNvSpPr txBox="1"/>
          <p:nvPr/>
        </p:nvSpPr>
        <p:spPr>
          <a:xfrm>
            <a:off x="7101050" y="406667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15110E"/>
                </a:solidFill>
                <a:latin typeface="IBM Plex Sans"/>
                <a:ea typeface="IBM Plex Sans"/>
                <a:cs typeface="IBM Plex Sans"/>
                <a:sym typeface="IBM Plex Sans"/>
              </a:rPr>
              <a:t>ML</a:t>
            </a:r>
            <a:endParaRPr sz="1500" b="0" i="0" u="none" strike="noStrike" cap="none">
              <a:solidFill>
                <a:srgbClr val="15110E"/>
              </a:solidFill>
              <a:latin typeface="IBM Plex Sans"/>
              <a:ea typeface="IBM Plex Sans"/>
              <a:cs typeface="IBM Plex Sans"/>
              <a:sym typeface="IBM Plex Sans"/>
            </a:endParaRPr>
          </a:p>
        </p:txBody>
      </p:sp>
      <p:sp>
        <p:nvSpPr>
          <p:cNvPr id="935" name="Google Shape;935;g3cb20f13e01_0_108"/>
          <p:cNvSpPr txBox="1"/>
          <p:nvPr/>
        </p:nvSpPr>
        <p:spPr>
          <a:xfrm>
            <a:off x="7088000" y="3285525"/>
            <a:ext cx="2882400" cy="5079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100" b="0" i="0" u="none" strike="noStrike" cap="none">
                <a:solidFill>
                  <a:srgbClr val="FFFFFF"/>
                </a:solidFill>
                <a:latin typeface="IBM Plex Sans"/>
                <a:ea typeface="IBM Plex Sans"/>
                <a:cs typeface="IBM Plex Sans"/>
                <a:sym typeface="IBM Plex Sans"/>
              </a:rPr>
              <a:t>AI</a:t>
            </a:r>
            <a:endParaRPr sz="1500" b="0" i="0" u="none" strike="noStrike" cap="none">
              <a:solidFill>
                <a:srgbClr val="FFFFFF"/>
              </a:solidFill>
              <a:latin typeface="IBM Plex Sans"/>
              <a:ea typeface="IBM Plex Sans"/>
              <a:cs typeface="IBM Plex Sans"/>
              <a:sym typeface="IBM Plex Sans"/>
            </a:endParaRPr>
          </a:p>
        </p:txBody>
      </p:sp>
      <p:sp>
        <p:nvSpPr>
          <p:cNvPr id="936" name="Google Shape;936;g3cb20f13e01_0_108"/>
          <p:cNvSpPr txBox="1"/>
          <p:nvPr/>
        </p:nvSpPr>
        <p:spPr>
          <a:xfrm>
            <a:off x="1055688" y="28993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Machine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937" name="Google Shape;937;g3cb20f13e01_0_108"/>
          <p:cNvSpPr txBox="1"/>
          <p:nvPr/>
        </p:nvSpPr>
        <p:spPr>
          <a:xfrm>
            <a:off x="1055698" y="3786150"/>
            <a:ext cx="46866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000" b="0" i="0" u="none" strike="noStrike" cap="non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sp>
        <p:nvSpPr>
          <p:cNvPr id="938" name="Google Shape;938;g3cb20f13e01_0_108"/>
          <p:cNvSpPr txBox="1"/>
          <p:nvPr/>
        </p:nvSpPr>
        <p:spPr>
          <a:xfrm>
            <a:off x="1055688" y="4847813"/>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Deep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Глубокое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sp>
        <p:nvSpPr>
          <p:cNvPr id="939" name="Google Shape;939;g3cb20f13e01_0_108"/>
          <p:cNvSpPr txBox="1"/>
          <p:nvPr/>
        </p:nvSpPr>
        <p:spPr>
          <a:xfrm>
            <a:off x="1055688" y="573466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000" b="0" i="0" u="none" strike="noStrike" cap="none">
                <a:solidFill>
                  <a:schemeClr val="dk1"/>
                </a:solidFill>
                <a:latin typeface="IBM Plex Sans"/>
                <a:ea typeface="IBM Plex Sans"/>
                <a:cs typeface="IBM Plex Sans"/>
                <a:sym typeface="IBM Plex Sans"/>
              </a:rPr>
              <a:t>Подоблась машинного обучения, основанная на нейронных сетях</a:t>
            </a: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3cb20f13e01_0_849"/>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Когда нужно 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945" name="Google Shape;945;g3cb20f13e01_0_849"/>
          <p:cNvGrpSpPr/>
          <p:nvPr/>
        </p:nvGrpSpPr>
        <p:grpSpPr>
          <a:xfrm>
            <a:off x="9353973" y="-1553420"/>
            <a:ext cx="2854020" cy="13716631"/>
            <a:chOff x="9353973" y="-1553420"/>
            <a:chExt cx="2854020" cy="13716631"/>
          </a:xfrm>
        </p:grpSpPr>
        <p:grpSp>
          <p:nvGrpSpPr>
            <p:cNvPr id="946" name="Google Shape;946;g3cb20f13e01_0_849"/>
            <p:cNvGrpSpPr/>
            <p:nvPr/>
          </p:nvGrpSpPr>
          <p:grpSpPr>
            <a:xfrm>
              <a:off x="9353973" y="-1553420"/>
              <a:ext cx="2838027" cy="13716631"/>
              <a:chOff x="9353973" y="-6079700"/>
              <a:chExt cx="2838027" cy="13716631"/>
            </a:xfrm>
          </p:grpSpPr>
          <p:pic>
            <p:nvPicPr>
              <p:cNvPr id="947" name="Google Shape;947;g3cb20f13e01_0_849"/>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948" name="Google Shape;948;g3cb20f13e01_0_849"/>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949" name="Google Shape;949;g3cb20f13e01_0_849"/>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0" name="Google Shape;950;g3cb20f13e01_0_849"/>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951" name="Google Shape;951;g3cb20f13e01_0_849"/>
          <p:cNvPicPr preferRelativeResize="0"/>
          <p:nvPr/>
        </p:nvPicPr>
        <p:blipFill rotWithShape="1">
          <a:blip r:embed="rId4">
            <a:alphaModFix/>
          </a:blip>
          <a:srcRect/>
          <a:stretch/>
        </p:blipFill>
        <p:spPr>
          <a:xfrm>
            <a:off x="8708574" y="4040996"/>
            <a:ext cx="3047978" cy="305221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g3d3e78d848d_0_228"/>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Когда нужно 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957" name="Google Shape;957;g3d3e78d848d_0_228"/>
          <p:cNvGrpSpPr/>
          <p:nvPr/>
        </p:nvGrpSpPr>
        <p:grpSpPr>
          <a:xfrm>
            <a:off x="9353973" y="-1553420"/>
            <a:ext cx="2854020" cy="13716631"/>
            <a:chOff x="9353973" y="-1553420"/>
            <a:chExt cx="2854020" cy="13716631"/>
          </a:xfrm>
        </p:grpSpPr>
        <p:grpSp>
          <p:nvGrpSpPr>
            <p:cNvPr id="958" name="Google Shape;958;g3d3e78d848d_0_228"/>
            <p:cNvGrpSpPr/>
            <p:nvPr/>
          </p:nvGrpSpPr>
          <p:grpSpPr>
            <a:xfrm>
              <a:off x="9353973" y="-1553420"/>
              <a:ext cx="2838027" cy="13716631"/>
              <a:chOff x="9353973" y="-6079700"/>
              <a:chExt cx="2838027" cy="13716631"/>
            </a:xfrm>
          </p:grpSpPr>
          <p:pic>
            <p:nvPicPr>
              <p:cNvPr id="959" name="Google Shape;959;g3d3e78d848d_0_228"/>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960" name="Google Shape;960;g3d3e78d848d_0_228"/>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961" name="Google Shape;961;g3d3e78d848d_0_228"/>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62" name="Google Shape;962;g3d3e78d848d_0_228"/>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963" name="Google Shape;963;g3d3e78d848d_0_228"/>
          <p:cNvPicPr preferRelativeResize="0"/>
          <p:nvPr/>
        </p:nvPicPr>
        <p:blipFill rotWithShape="1">
          <a:blip r:embed="rId4">
            <a:alphaModFix/>
          </a:blip>
          <a:srcRect/>
          <a:stretch/>
        </p:blipFill>
        <p:spPr>
          <a:xfrm>
            <a:off x="8708574" y="4040996"/>
            <a:ext cx="3047978" cy="3052211"/>
          </a:xfrm>
          <a:prstGeom prst="rect">
            <a:avLst/>
          </a:prstGeom>
          <a:noFill/>
          <a:ln>
            <a:noFill/>
          </a:ln>
        </p:spPr>
      </p:pic>
      <p:sp>
        <p:nvSpPr>
          <p:cNvPr id="964" name="Google Shape;964;g3d3e78d848d_0_228"/>
          <p:cNvSpPr txBox="1"/>
          <p:nvPr/>
        </p:nvSpPr>
        <p:spPr>
          <a:xfrm>
            <a:off x="1055688" y="252511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800" b="0" i="0" u="none" strike="noStrike" cap="none">
                <a:solidFill>
                  <a:schemeClr val="dk1"/>
                </a:solidFill>
                <a:latin typeface="IBM Plex Sans"/>
                <a:ea typeface="IBM Plex Sans"/>
                <a:cs typeface="IBM Plex Sans"/>
                <a:sym typeface="IBM Plex Sans"/>
              </a:rPr>
              <a:t>Определять правила для решения задачи самостоятельно сложно и долго</a:t>
            </a:r>
            <a:endParaRPr sz="28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8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7"/>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Когда нужно 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970" name="Google Shape;970;p7"/>
          <p:cNvGrpSpPr/>
          <p:nvPr/>
        </p:nvGrpSpPr>
        <p:grpSpPr>
          <a:xfrm>
            <a:off x="9353973" y="-1553420"/>
            <a:ext cx="2853949" cy="13716633"/>
            <a:chOff x="9353973" y="-1553420"/>
            <a:chExt cx="2853949" cy="13716633"/>
          </a:xfrm>
        </p:grpSpPr>
        <p:grpSp>
          <p:nvGrpSpPr>
            <p:cNvPr id="971" name="Google Shape;971;p7"/>
            <p:cNvGrpSpPr/>
            <p:nvPr/>
          </p:nvGrpSpPr>
          <p:grpSpPr>
            <a:xfrm>
              <a:off x="9353973" y="-1553420"/>
              <a:ext cx="2838027" cy="13716633"/>
              <a:chOff x="9353973" y="-6079700"/>
              <a:chExt cx="2838027" cy="13716633"/>
            </a:xfrm>
          </p:grpSpPr>
          <p:pic>
            <p:nvPicPr>
              <p:cNvPr id="972" name="Google Shape;972;p7"/>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973" name="Google Shape;973;p7"/>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974" name="Google Shape;974;p7"/>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5" name="Google Shape;975;p7"/>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976" name="Google Shape;976;p7"/>
          <p:cNvPicPr preferRelativeResize="0"/>
          <p:nvPr/>
        </p:nvPicPr>
        <p:blipFill rotWithShape="1">
          <a:blip r:embed="rId4">
            <a:alphaModFix/>
          </a:blip>
          <a:srcRect/>
          <a:stretch/>
        </p:blipFill>
        <p:spPr>
          <a:xfrm>
            <a:off x="8708574" y="4040996"/>
            <a:ext cx="3047977" cy="3052211"/>
          </a:xfrm>
          <a:prstGeom prst="rect">
            <a:avLst/>
          </a:prstGeom>
          <a:noFill/>
          <a:ln>
            <a:noFill/>
          </a:ln>
        </p:spPr>
      </p:pic>
      <p:sp>
        <p:nvSpPr>
          <p:cNvPr id="977" name="Google Shape;977;p7"/>
          <p:cNvSpPr txBox="1"/>
          <p:nvPr/>
        </p:nvSpPr>
        <p:spPr>
          <a:xfrm>
            <a:off x="1055688" y="252511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Определять правила для решения задачи самостоятельно сложно и долго</a:t>
            </a: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p:txBody>
      </p:sp>
      <p:sp>
        <p:nvSpPr>
          <p:cNvPr id="978" name="Google Shape;978;p7"/>
          <p:cNvSpPr txBox="1"/>
          <p:nvPr/>
        </p:nvSpPr>
        <p:spPr>
          <a:xfrm>
            <a:off x="1055689" y="3558907"/>
            <a:ext cx="5022900" cy="271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ru-RU" sz="2300" b="1" i="0" u="none" strike="noStrike" cap="none">
                <a:solidFill>
                  <a:srgbClr val="8E39E2"/>
                </a:solidFill>
                <a:latin typeface="IBM Plex Sans"/>
                <a:ea typeface="IBM Plex Sans"/>
                <a:cs typeface="IBM Plex Sans"/>
                <a:sym typeface="IBM Plex Sans"/>
              </a:rPr>
              <a:t>Пример </a:t>
            </a:r>
            <a:endParaRPr sz="2300" b="1" i="0" u="none" strike="noStrike" cap="none">
              <a:solidFill>
                <a:srgbClr val="8E39E2"/>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4300" b="0" i="0" u="none" strike="noStrike" cap="none">
              <a:solidFill>
                <a:srgbClr val="8E39E2"/>
              </a:solidFill>
              <a:latin typeface="IBM Plex Sans"/>
              <a:ea typeface="IBM Plex Sans"/>
              <a:cs typeface="IBM Plex Sans"/>
              <a:sym typeface="IBM Plex Sans"/>
            </a:endParaRPr>
          </a:p>
        </p:txBody>
      </p:sp>
      <p:sp>
        <p:nvSpPr>
          <p:cNvPr id="979" name="Google Shape;979;p7"/>
          <p:cNvSpPr txBox="1"/>
          <p:nvPr/>
        </p:nvSpPr>
        <p:spPr>
          <a:xfrm>
            <a:off x="1055704" y="3958950"/>
            <a:ext cx="68010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Есть фотографии собак и кошек, необходимо определить, какое животное находится на фото</a:t>
            </a: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p:txBody>
      </p:sp>
      <p:pic>
        <p:nvPicPr>
          <p:cNvPr id="980" name="Google Shape;980;p7"/>
          <p:cNvPicPr preferRelativeResize="0"/>
          <p:nvPr/>
        </p:nvPicPr>
        <p:blipFill rotWithShape="1">
          <a:blip r:embed="rId5">
            <a:alphaModFix/>
          </a:blip>
          <a:srcRect/>
          <a:stretch/>
        </p:blipFill>
        <p:spPr>
          <a:xfrm>
            <a:off x="339836" y="3558903"/>
            <a:ext cx="649736" cy="652443"/>
          </a:xfrm>
          <a:prstGeom prst="rect">
            <a:avLst/>
          </a:prstGeom>
          <a:noFill/>
          <a:ln>
            <a:noFill/>
          </a:ln>
        </p:spPr>
      </p:pic>
      <p:sp>
        <p:nvSpPr>
          <p:cNvPr id="981" name="Google Shape;981;p7"/>
          <p:cNvSpPr txBox="1"/>
          <p:nvPr/>
        </p:nvSpPr>
        <p:spPr>
          <a:xfrm>
            <a:off x="965689" y="4867012"/>
            <a:ext cx="5022900" cy="271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ru-RU" sz="2300" b="1" i="0" u="none" strike="noStrike" cap="none">
                <a:solidFill>
                  <a:srgbClr val="8E39E2"/>
                </a:solidFill>
                <a:latin typeface="IBM Plex Sans"/>
                <a:ea typeface="IBM Plex Sans"/>
                <a:cs typeface="IBM Plex Sans"/>
                <a:sym typeface="IBM Plex Sans"/>
              </a:rPr>
              <a:t>Пример </a:t>
            </a:r>
            <a:endParaRPr sz="2300" b="1" i="0" u="none" strike="noStrike" cap="none">
              <a:solidFill>
                <a:srgbClr val="8E39E2"/>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2300" b="0" i="0" u="none" strike="noStrike" cap="none">
              <a:solidFill>
                <a:srgbClr val="8E39E2"/>
              </a:solidFill>
              <a:latin typeface="IBM Plex Sans"/>
              <a:ea typeface="IBM Plex Sans"/>
              <a:cs typeface="IBM Plex Sans"/>
              <a:sym typeface="IBM Plex Sans"/>
            </a:endParaRPr>
          </a:p>
        </p:txBody>
      </p:sp>
      <p:sp>
        <p:nvSpPr>
          <p:cNvPr id="982" name="Google Shape;982;p7"/>
          <p:cNvSpPr txBox="1"/>
          <p:nvPr/>
        </p:nvSpPr>
        <p:spPr>
          <a:xfrm>
            <a:off x="965704" y="5238475"/>
            <a:ext cx="68910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Есть масса тела и ускорение свободного падения. Необходимо рассчитать силу тяжести, действующую на предмет</a:t>
            </a: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p:txBody>
      </p:sp>
      <p:pic>
        <p:nvPicPr>
          <p:cNvPr id="983" name="Google Shape;983;p7"/>
          <p:cNvPicPr preferRelativeResize="0"/>
          <p:nvPr/>
        </p:nvPicPr>
        <p:blipFill rotWithShape="1">
          <a:blip r:embed="rId6">
            <a:alphaModFix/>
          </a:blip>
          <a:srcRect/>
          <a:stretch/>
        </p:blipFill>
        <p:spPr>
          <a:xfrm>
            <a:off x="339828" y="5060804"/>
            <a:ext cx="625871" cy="62847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3cb20f13e01_0_865"/>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Когда нужно 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989" name="Google Shape;989;g3cb20f13e01_0_865"/>
          <p:cNvGrpSpPr/>
          <p:nvPr/>
        </p:nvGrpSpPr>
        <p:grpSpPr>
          <a:xfrm>
            <a:off x="9353973" y="-1553420"/>
            <a:ext cx="2854020" cy="13716631"/>
            <a:chOff x="9353973" y="-1553420"/>
            <a:chExt cx="2854020" cy="13716631"/>
          </a:xfrm>
        </p:grpSpPr>
        <p:grpSp>
          <p:nvGrpSpPr>
            <p:cNvPr id="990" name="Google Shape;990;g3cb20f13e01_0_865"/>
            <p:cNvGrpSpPr/>
            <p:nvPr/>
          </p:nvGrpSpPr>
          <p:grpSpPr>
            <a:xfrm>
              <a:off x="9353973" y="-1553420"/>
              <a:ext cx="2838027" cy="13716631"/>
              <a:chOff x="9353973" y="-6079700"/>
              <a:chExt cx="2838027" cy="13716631"/>
            </a:xfrm>
          </p:grpSpPr>
          <p:pic>
            <p:nvPicPr>
              <p:cNvPr id="991" name="Google Shape;991;g3cb20f13e01_0_865"/>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992" name="Google Shape;992;g3cb20f13e01_0_865"/>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993" name="Google Shape;993;g3cb20f13e01_0_865"/>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4" name="Google Shape;994;g3cb20f13e01_0_865"/>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995" name="Google Shape;995;g3cb20f13e01_0_865"/>
          <p:cNvPicPr preferRelativeResize="0"/>
          <p:nvPr/>
        </p:nvPicPr>
        <p:blipFill rotWithShape="1">
          <a:blip r:embed="rId4">
            <a:alphaModFix/>
          </a:blip>
          <a:srcRect/>
          <a:stretch/>
        </p:blipFill>
        <p:spPr>
          <a:xfrm>
            <a:off x="8708574" y="4040996"/>
            <a:ext cx="3047978" cy="3052211"/>
          </a:xfrm>
          <a:prstGeom prst="rect">
            <a:avLst/>
          </a:prstGeom>
          <a:noFill/>
          <a:ln>
            <a:noFill/>
          </a:ln>
        </p:spPr>
      </p:pic>
      <p:sp>
        <p:nvSpPr>
          <p:cNvPr id="996" name="Google Shape;996;g3cb20f13e01_0_865"/>
          <p:cNvSpPr txBox="1"/>
          <p:nvPr/>
        </p:nvSpPr>
        <p:spPr>
          <a:xfrm>
            <a:off x="1055688" y="252511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Нужно учесть множество факторов и условий</a:t>
            </a: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3cb20f13e01_0_877"/>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Когда нужно 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002" name="Google Shape;1002;g3cb20f13e01_0_877"/>
          <p:cNvGrpSpPr/>
          <p:nvPr/>
        </p:nvGrpSpPr>
        <p:grpSpPr>
          <a:xfrm>
            <a:off x="9353973" y="-1553420"/>
            <a:ext cx="2854020" cy="13716631"/>
            <a:chOff x="9353973" y="-1553420"/>
            <a:chExt cx="2854020" cy="13716631"/>
          </a:xfrm>
        </p:grpSpPr>
        <p:grpSp>
          <p:nvGrpSpPr>
            <p:cNvPr id="1003" name="Google Shape;1003;g3cb20f13e01_0_877"/>
            <p:cNvGrpSpPr/>
            <p:nvPr/>
          </p:nvGrpSpPr>
          <p:grpSpPr>
            <a:xfrm>
              <a:off x="9353973" y="-1553420"/>
              <a:ext cx="2838027" cy="13716631"/>
              <a:chOff x="9353973" y="-6079700"/>
              <a:chExt cx="2838027" cy="13716631"/>
            </a:xfrm>
          </p:grpSpPr>
          <p:pic>
            <p:nvPicPr>
              <p:cNvPr id="1004" name="Google Shape;1004;g3cb20f13e01_0_877"/>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005" name="Google Shape;1005;g3cb20f13e01_0_877"/>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006" name="Google Shape;1006;g3cb20f13e01_0_877"/>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07" name="Google Shape;1007;g3cb20f13e01_0_877"/>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08" name="Google Shape;1008;g3cb20f13e01_0_877"/>
          <p:cNvPicPr preferRelativeResize="0"/>
          <p:nvPr/>
        </p:nvPicPr>
        <p:blipFill rotWithShape="1">
          <a:blip r:embed="rId4">
            <a:alphaModFix/>
          </a:blip>
          <a:srcRect/>
          <a:stretch/>
        </p:blipFill>
        <p:spPr>
          <a:xfrm>
            <a:off x="8708574" y="4040996"/>
            <a:ext cx="3047978" cy="3052211"/>
          </a:xfrm>
          <a:prstGeom prst="rect">
            <a:avLst/>
          </a:prstGeom>
          <a:noFill/>
          <a:ln>
            <a:noFill/>
          </a:ln>
        </p:spPr>
      </p:pic>
      <p:sp>
        <p:nvSpPr>
          <p:cNvPr id="1009" name="Google Shape;1009;g3cb20f13e01_0_877"/>
          <p:cNvSpPr txBox="1"/>
          <p:nvPr/>
        </p:nvSpPr>
        <p:spPr>
          <a:xfrm>
            <a:off x="1055688" y="252511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Нужно учесть множество факторов и условий</a:t>
            </a: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p:txBody>
      </p:sp>
      <p:sp>
        <p:nvSpPr>
          <p:cNvPr id="1010" name="Google Shape;1010;g3cb20f13e01_0_877"/>
          <p:cNvSpPr txBox="1"/>
          <p:nvPr/>
        </p:nvSpPr>
        <p:spPr>
          <a:xfrm>
            <a:off x="1055689" y="3406507"/>
            <a:ext cx="5022900" cy="271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ru-RU" sz="2300" b="1" i="0" u="none" strike="noStrike" cap="none">
                <a:solidFill>
                  <a:srgbClr val="8E39E2"/>
                </a:solidFill>
                <a:latin typeface="IBM Plex Sans"/>
                <a:ea typeface="IBM Plex Sans"/>
                <a:cs typeface="IBM Plex Sans"/>
                <a:sym typeface="IBM Plex Sans"/>
              </a:rPr>
              <a:t>Пример </a:t>
            </a:r>
            <a:endParaRPr sz="2300" b="1" i="0" u="none" strike="noStrike" cap="none">
              <a:solidFill>
                <a:srgbClr val="8E39E2"/>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2300" b="0" i="0" u="none" strike="noStrike" cap="none">
              <a:solidFill>
                <a:srgbClr val="8E39E2"/>
              </a:solidFill>
              <a:latin typeface="IBM Plex Sans"/>
              <a:ea typeface="IBM Plex Sans"/>
              <a:cs typeface="IBM Plex Sans"/>
              <a:sym typeface="IBM Plex Sans"/>
            </a:endParaRPr>
          </a:p>
        </p:txBody>
      </p:sp>
      <p:sp>
        <p:nvSpPr>
          <p:cNvPr id="1011" name="Google Shape;1011;g3cb20f13e01_0_877"/>
          <p:cNvSpPr txBox="1"/>
          <p:nvPr/>
        </p:nvSpPr>
        <p:spPr>
          <a:xfrm>
            <a:off x="1055688" y="3730357"/>
            <a:ext cx="50229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Есть разнообразные параметры автомобиля. Необходимо определить стоимость </a:t>
            </a: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p:txBody>
      </p:sp>
      <p:pic>
        <p:nvPicPr>
          <p:cNvPr id="1012" name="Google Shape;1012;g3cb20f13e01_0_877"/>
          <p:cNvPicPr preferRelativeResize="0"/>
          <p:nvPr/>
        </p:nvPicPr>
        <p:blipFill rotWithShape="1">
          <a:blip r:embed="rId5">
            <a:alphaModFix/>
          </a:blip>
          <a:srcRect/>
          <a:stretch/>
        </p:blipFill>
        <p:spPr>
          <a:xfrm>
            <a:off x="339836" y="3406503"/>
            <a:ext cx="649736" cy="65244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8"/>
          <p:cNvSpPr txBox="1"/>
          <p:nvPr/>
        </p:nvSpPr>
        <p:spPr>
          <a:xfrm>
            <a:off x="1055689"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chemeClr val="dk1"/>
              </a:buClr>
              <a:buSzPts val="3600"/>
              <a:buFont typeface="Arial"/>
              <a:buNone/>
            </a:pPr>
            <a:r>
              <a:rPr lang="ru-RU" sz="3600" b="1" i="0" u="none" strike="noStrike" cap="none">
                <a:solidFill>
                  <a:schemeClr val="dk1"/>
                </a:solidFill>
                <a:latin typeface="IBM Plex Sans"/>
                <a:ea typeface="IBM Plex Sans"/>
                <a:cs typeface="IBM Plex Sans"/>
                <a:sym typeface="IBM Plex Sans"/>
              </a:rPr>
              <a:t>Когда можно 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3600"/>
              <a:buFont typeface="Arial"/>
              <a:buNone/>
            </a:pP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018" name="Google Shape;1018;p8"/>
          <p:cNvGrpSpPr/>
          <p:nvPr/>
        </p:nvGrpSpPr>
        <p:grpSpPr>
          <a:xfrm>
            <a:off x="9353973" y="-1553420"/>
            <a:ext cx="2853949" cy="13716633"/>
            <a:chOff x="9353973" y="-1553420"/>
            <a:chExt cx="2853949" cy="13716633"/>
          </a:xfrm>
        </p:grpSpPr>
        <p:grpSp>
          <p:nvGrpSpPr>
            <p:cNvPr id="1019" name="Google Shape;1019;p8"/>
            <p:cNvGrpSpPr/>
            <p:nvPr/>
          </p:nvGrpSpPr>
          <p:grpSpPr>
            <a:xfrm>
              <a:off x="9353973" y="-1553420"/>
              <a:ext cx="2838027" cy="13716633"/>
              <a:chOff x="9353973" y="-6079700"/>
              <a:chExt cx="2838027" cy="13716633"/>
            </a:xfrm>
          </p:grpSpPr>
          <p:pic>
            <p:nvPicPr>
              <p:cNvPr id="1020" name="Google Shape;1020;p8"/>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021" name="Google Shape;1021;p8"/>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022" name="Google Shape;1022;p8"/>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3" name="Google Shape;1023;p8"/>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24" name="Google Shape;1024;p8"/>
          <p:cNvPicPr preferRelativeResize="0"/>
          <p:nvPr/>
        </p:nvPicPr>
        <p:blipFill rotWithShape="1">
          <a:blip r:embed="rId4">
            <a:alphaModFix/>
          </a:blip>
          <a:srcRect/>
          <a:stretch/>
        </p:blipFill>
        <p:spPr>
          <a:xfrm>
            <a:off x="8350995" y="3553293"/>
            <a:ext cx="3497712" cy="350257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3d3e78d848d_0_243"/>
          <p:cNvSpPr txBox="1"/>
          <p:nvPr/>
        </p:nvSpPr>
        <p:spPr>
          <a:xfrm>
            <a:off x="1055689"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chemeClr val="dk1"/>
              </a:buClr>
              <a:buSzPts val="3600"/>
              <a:buFont typeface="Arial"/>
              <a:buNone/>
            </a:pPr>
            <a:r>
              <a:rPr lang="ru-RU" sz="3600" b="1" i="0" u="none" strike="noStrike" cap="none">
                <a:solidFill>
                  <a:schemeClr val="dk1"/>
                </a:solidFill>
                <a:latin typeface="IBM Plex Sans"/>
                <a:ea typeface="IBM Plex Sans"/>
                <a:cs typeface="IBM Plex Sans"/>
                <a:sym typeface="IBM Plex Sans"/>
              </a:rPr>
              <a:t>Когда можно Машинное обучение?</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chemeClr val="dk1"/>
              </a:buClr>
              <a:buSzPts val="3600"/>
              <a:buFont typeface="Arial"/>
              <a:buNone/>
            </a:pP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030" name="Google Shape;1030;g3d3e78d848d_0_243"/>
          <p:cNvGrpSpPr/>
          <p:nvPr/>
        </p:nvGrpSpPr>
        <p:grpSpPr>
          <a:xfrm>
            <a:off x="9353973" y="-1553420"/>
            <a:ext cx="2854020" cy="13716631"/>
            <a:chOff x="9353973" y="-1553420"/>
            <a:chExt cx="2854020" cy="13716631"/>
          </a:xfrm>
        </p:grpSpPr>
        <p:grpSp>
          <p:nvGrpSpPr>
            <p:cNvPr id="1031" name="Google Shape;1031;g3d3e78d848d_0_243"/>
            <p:cNvGrpSpPr/>
            <p:nvPr/>
          </p:nvGrpSpPr>
          <p:grpSpPr>
            <a:xfrm>
              <a:off x="9353973" y="-1553420"/>
              <a:ext cx="2838027" cy="13716631"/>
              <a:chOff x="9353973" y="-6079700"/>
              <a:chExt cx="2838027" cy="13716631"/>
            </a:xfrm>
          </p:grpSpPr>
          <p:pic>
            <p:nvPicPr>
              <p:cNvPr id="1032" name="Google Shape;1032;g3d3e78d848d_0_243"/>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033" name="Google Shape;1033;g3d3e78d848d_0_243"/>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034" name="Google Shape;1034;g3d3e78d848d_0_243"/>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5" name="Google Shape;1035;g3d3e78d848d_0_243"/>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36" name="Google Shape;1036;g3d3e78d848d_0_243"/>
          <p:cNvPicPr preferRelativeResize="0"/>
          <p:nvPr/>
        </p:nvPicPr>
        <p:blipFill rotWithShape="1">
          <a:blip r:embed="rId4">
            <a:alphaModFix/>
          </a:blip>
          <a:srcRect/>
          <a:stretch/>
        </p:blipFill>
        <p:spPr>
          <a:xfrm>
            <a:off x="8350995" y="3553293"/>
            <a:ext cx="3497711" cy="3502571"/>
          </a:xfrm>
          <a:prstGeom prst="rect">
            <a:avLst/>
          </a:prstGeom>
          <a:noFill/>
          <a:ln>
            <a:noFill/>
          </a:ln>
        </p:spPr>
      </p:pic>
      <p:sp>
        <p:nvSpPr>
          <p:cNvPr id="1037" name="Google Shape;1037;g3d3e78d848d_0_243"/>
          <p:cNvSpPr txBox="1"/>
          <p:nvPr/>
        </p:nvSpPr>
        <p:spPr>
          <a:xfrm>
            <a:off x="1055688" y="2525112"/>
            <a:ext cx="53658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Есть данные.</a:t>
            </a: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Основываясь на данных модель выявляет истинную зависимость. Если данных мало или они плохого качества, то и истинная зависимость будет выявлена плохо. </a:t>
            </a: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В таком случае качество предсказаний будет низкое.</a:t>
            </a:r>
            <a:endParaRPr sz="23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grpSp>
        <p:nvGrpSpPr>
          <p:cNvPr id="1042" name="Google Shape;1042;g3cb20f13e01_0_926"/>
          <p:cNvGrpSpPr/>
          <p:nvPr/>
        </p:nvGrpSpPr>
        <p:grpSpPr>
          <a:xfrm>
            <a:off x="9353973" y="-1553420"/>
            <a:ext cx="2854020" cy="13716631"/>
            <a:chOff x="9353973" y="-1553420"/>
            <a:chExt cx="2854020" cy="13716631"/>
          </a:xfrm>
        </p:grpSpPr>
        <p:grpSp>
          <p:nvGrpSpPr>
            <p:cNvPr id="1043" name="Google Shape;1043;g3cb20f13e01_0_926"/>
            <p:cNvGrpSpPr/>
            <p:nvPr/>
          </p:nvGrpSpPr>
          <p:grpSpPr>
            <a:xfrm>
              <a:off x="9353973" y="-1553420"/>
              <a:ext cx="2838027" cy="13716631"/>
              <a:chOff x="9353973" y="-6079700"/>
              <a:chExt cx="2838027" cy="13716631"/>
            </a:xfrm>
          </p:grpSpPr>
          <p:pic>
            <p:nvPicPr>
              <p:cNvPr id="1044" name="Google Shape;1044;g3cb20f13e01_0_92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045" name="Google Shape;1045;g3cb20f13e01_0_92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046" name="Google Shape;1046;g3cb20f13e01_0_92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7" name="Google Shape;1047;g3cb20f13e01_0_92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48" name="Google Shape;1048;g3cb20f13e01_0_926"/>
          <p:cNvSpPr txBox="1"/>
          <p:nvPr/>
        </p:nvSpPr>
        <p:spPr>
          <a:xfrm>
            <a:off x="1060850" y="2662300"/>
            <a:ext cx="6202500" cy="774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SzPts val="4800"/>
              <a:buFont typeface="Arial"/>
              <a:buNone/>
            </a:pPr>
            <a:r>
              <a:rPr lang="ru-RU" sz="4400" b="1" i="0" u="none" strike="noStrike" cap="none">
                <a:solidFill>
                  <a:schemeClr val="dk1"/>
                </a:solidFill>
                <a:latin typeface="IBM Plex Sans"/>
                <a:ea typeface="IBM Plex Sans"/>
                <a:cs typeface="IBM Plex Sans"/>
                <a:sym typeface="IBM Plex Sans"/>
              </a:rPr>
              <a:t>Виды машинного обучения</a:t>
            </a:r>
            <a:endParaRPr sz="4400" b="1" i="0" u="none" strike="noStrike" cap="none">
              <a:solidFill>
                <a:schemeClr val="dk1"/>
              </a:solidFill>
              <a:latin typeface="IBM Plex Sans"/>
              <a:ea typeface="IBM Plex Sans"/>
              <a:cs typeface="IBM Plex Sans"/>
              <a:sym typeface="IBM Plex Sans"/>
            </a:endParaRPr>
          </a:p>
        </p:txBody>
      </p:sp>
      <p:sp>
        <p:nvSpPr>
          <p:cNvPr id="1049" name="Google Shape;1049;g3cb20f13e01_0_926"/>
          <p:cNvSpPr txBox="1"/>
          <p:nvPr/>
        </p:nvSpPr>
        <p:spPr>
          <a:xfrm>
            <a:off x="1060857" y="6033838"/>
            <a:ext cx="3771900" cy="235500"/>
          </a:xfrm>
          <a:prstGeom prst="rect">
            <a:avLst/>
          </a:prstGeom>
          <a:noFill/>
          <a:ln>
            <a:noFill/>
          </a:ln>
        </p:spPr>
        <p:txBody>
          <a:bodyPr spcFirstLastPara="1" wrap="square" lIns="0" tIns="19875" rIns="0" bIns="0" anchor="t" anchorCtr="0">
            <a:spAutoFit/>
          </a:bodyPr>
          <a:lstStyle/>
          <a:p>
            <a:pPr marL="20942" marR="8376" lvl="0" indent="0" algn="l" rtl="0">
              <a:lnSpc>
                <a:spcPct val="12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ularionova@mail.tsu.ru</a:t>
            </a:r>
            <a:endParaRPr sz="1400" b="0" i="0" u="none" strike="noStrike" cap="none">
              <a:solidFill>
                <a:schemeClr val="dk1"/>
              </a:solidFill>
              <a:latin typeface="IBM Plex Sans"/>
              <a:ea typeface="IBM Plex Sans"/>
              <a:cs typeface="IBM Plex Sans"/>
              <a:sym typeface="IBM Plex Sans"/>
            </a:endParaRPr>
          </a:p>
        </p:txBody>
      </p:sp>
      <p:sp>
        <p:nvSpPr>
          <p:cNvPr id="1050" name="Google Shape;1050;g3cb20f13e01_0_926"/>
          <p:cNvSpPr txBox="1"/>
          <p:nvPr/>
        </p:nvSpPr>
        <p:spPr>
          <a:xfrm>
            <a:off x="1060857" y="5282291"/>
            <a:ext cx="4032300" cy="561900"/>
          </a:xfrm>
          <a:prstGeom prst="rect">
            <a:avLst/>
          </a:prstGeom>
          <a:noFill/>
          <a:ln>
            <a:noFill/>
          </a:ln>
        </p:spPr>
        <p:txBody>
          <a:bodyPr spcFirstLastPara="1" wrap="square" lIns="0" tIns="19875" rIns="0" bIns="0" anchor="t" anchorCtr="0">
            <a:spAutoFit/>
          </a:bodyPr>
          <a:lstStyle/>
          <a:p>
            <a:pPr marL="20942" marR="8376"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Ларионова Ульяна</a:t>
            </a:r>
            <a:endParaRPr sz="1400" b="0" i="0" u="none" strike="noStrike" cap="none">
              <a:solidFill>
                <a:srgbClr val="000000"/>
              </a:solidFill>
              <a:latin typeface="Arial"/>
              <a:ea typeface="Arial"/>
              <a:cs typeface="Arial"/>
              <a:sym typeface="Arial"/>
            </a:endParaRPr>
          </a:p>
          <a:p>
            <a:pPr marL="20942" marR="8376"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Преподаватель</a:t>
            </a:r>
            <a:endParaRPr sz="1600" b="0" i="0" u="none" strike="noStrike" cap="none">
              <a:solidFill>
                <a:schemeClr val="dk1"/>
              </a:solidFill>
              <a:latin typeface="IBM Plex Sans"/>
              <a:ea typeface="IBM Plex Sans"/>
              <a:cs typeface="IBM Plex Sans"/>
              <a:sym typeface="IBM Plex Sans"/>
            </a:endParaRPr>
          </a:p>
        </p:txBody>
      </p:sp>
      <p:pic>
        <p:nvPicPr>
          <p:cNvPr id="1051" name="Google Shape;1051;g3cb20f13e01_0_926"/>
          <p:cNvPicPr preferRelativeResize="0"/>
          <p:nvPr/>
        </p:nvPicPr>
        <p:blipFill rotWithShape="1">
          <a:blip r:embed="rId4">
            <a:alphaModFix/>
          </a:blip>
          <a:srcRect/>
          <a:stretch/>
        </p:blipFill>
        <p:spPr>
          <a:xfrm rot="10800000" flipH="1">
            <a:off x="8976462" y="3862790"/>
            <a:ext cx="2872246" cy="2884213"/>
          </a:xfrm>
          <a:prstGeom prst="rect">
            <a:avLst/>
          </a:prstGeom>
          <a:noFill/>
          <a:ln>
            <a:noFill/>
          </a:ln>
        </p:spPr>
      </p:pic>
      <p:pic>
        <p:nvPicPr>
          <p:cNvPr id="1053" name="Google Shape;1053;g3cb20f13e01_0_926"/>
          <p:cNvPicPr preferRelativeResize="0"/>
          <p:nvPr/>
        </p:nvPicPr>
        <p:blipFill rotWithShape="1">
          <a:blip r:embed="rId5">
            <a:alphaModFix/>
          </a:blip>
          <a:srcRect/>
          <a:stretch/>
        </p:blipFill>
        <p:spPr>
          <a:xfrm>
            <a:off x="1055688" y="285516"/>
            <a:ext cx="677246" cy="77496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grpSp>
        <p:nvGrpSpPr>
          <p:cNvPr id="1058" name="Google Shape;1058;p9"/>
          <p:cNvGrpSpPr/>
          <p:nvPr/>
        </p:nvGrpSpPr>
        <p:grpSpPr>
          <a:xfrm>
            <a:off x="9353973" y="-1553420"/>
            <a:ext cx="2853949" cy="13716633"/>
            <a:chOff x="9353973" y="-1553420"/>
            <a:chExt cx="2853949" cy="13716633"/>
          </a:xfrm>
        </p:grpSpPr>
        <p:grpSp>
          <p:nvGrpSpPr>
            <p:cNvPr id="1059" name="Google Shape;1059;p9"/>
            <p:cNvGrpSpPr/>
            <p:nvPr/>
          </p:nvGrpSpPr>
          <p:grpSpPr>
            <a:xfrm>
              <a:off x="9353973" y="-1553420"/>
              <a:ext cx="2838027" cy="13716633"/>
              <a:chOff x="9353973" y="-6079700"/>
              <a:chExt cx="2838027" cy="13716633"/>
            </a:xfrm>
          </p:grpSpPr>
          <p:pic>
            <p:nvPicPr>
              <p:cNvPr id="1060" name="Google Shape;1060;p9"/>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061" name="Google Shape;1061;p9"/>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062" name="Google Shape;1062;p9"/>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63" name="Google Shape;1063;p9"/>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64" name="Google Shape;1064;p9"/>
          <p:cNvPicPr preferRelativeResize="0"/>
          <p:nvPr/>
        </p:nvPicPr>
        <p:blipFill rotWithShape="1">
          <a:blip r:embed="rId4">
            <a:alphaModFix/>
          </a:blip>
          <a:srcRect/>
          <a:stretch/>
        </p:blipFill>
        <p:spPr>
          <a:xfrm>
            <a:off x="366150" y="679913"/>
            <a:ext cx="8171424" cy="58509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11"/>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Обучение с учителем</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supervised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070" name="Google Shape;1070;p11"/>
          <p:cNvGrpSpPr/>
          <p:nvPr/>
        </p:nvGrpSpPr>
        <p:grpSpPr>
          <a:xfrm>
            <a:off x="9353973" y="-1553420"/>
            <a:ext cx="2854020" cy="13716631"/>
            <a:chOff x="9353973" y="-1553420"/>
            <a:chExt cx="2854020" cy="13716631"/>
          </a:xfrm>
        </p:grpSpPr>
        <p:grpSp>
          <p:nvGrpSpPr>
            <p:cNvPr id="1071" name="Google Shape;1071;p11"/>
            <p:cNvGrpSpPr/>
            <p:nvPr/>
          </p:nvGrpSpPr>
          <p:grpSpPr>
            <a:xfrm>
              <a:off x="9353973" y="-1553420"/>
              <a:ext cx="2838027" cy="13716631"/>
              <a:chOff x="9353973" y="-6079700"/>
              <a:chExt cx="2838027" cy="13716631"/>
            </a:xfrm>
          </p:grpSpPr>
          <p:pic>
            <p:nvPicPr>
              <p:cNvPr id="1072" name="Google Shape;1072;p11"/>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073" name="Google Shape;1073;p11"/>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074" name="Google Shape;1074;p11"/>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5" name="Google Shape;1075;p11"/>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76" name="Google Shape;1076;p11"/>
          <p:cNvSpPr txBox="1"/>
          <p:nvPr/>
        </p:nvSpPr>
        <p:spPr>
          <a:xfrm>
            <a:off x="1055700" y="2337325"/>
            <a:ext cx="5365800" cy="23460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2300" b="0" i="0" u="none" strike="noStrike" cap="none">
                <a:solidFill>
                  <a:schemeClr val="dk1"/>
                </a:solidFill>
                <a:latin typeface="IBM Plex Sans"/>
                <a:ea typeface="IBM Plex Sans"/>
                <a:cs typeface="IBM Plex Sans"/>
                <a:sym typeface="IBM Plex Sans"/>
              </a:rPr>
              <a:t>Правильные ответы для каждого объекта обучающей выборки заранее известны</a:t>
            </a: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2300" b="0" i="0" u="none" strike="noStrike" cap="none">
              <a:solidFill>
                <a:schemeClr val="dk1"/>
              </a:solidFill>
              <a:latin typeface="IBM Plex Sans"/>
              <a:ea typeface="IBM Plex Sans"/>
              <a:cs typeface="IBM Plex Sans"/>
              <a:sym typeface="IBM Plex Sans"/>
            </a:endParaRPr>
          </a:p>
        </p:txBody>
      </p:sp>
      <p:pic>
        <p:nvPicPr>
          <p:cNvPr id="1077" name="Google Shape;1077;p11"/>
          <p:cNvPicPr preferRelativeResize="0"/>
          <p:nvPr/>
        </p:nvPicPr>
        <p:blipFill rotWithShape="1">
          <a:blip r:embed="rId4">
            <a:alphaModFix/>
          </a:blip>
          <a:srcRect/>
          <a:stretch/>
        </p:blipFill>
        <p:spPr>
          <a:xfrm>
            <a:off x="8441516" y="3933811"/>
            <a:ext cx="3047978" cy="3047978"/>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p12"/>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Регрессия</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083" name="Google Shape;1083;p12"/>
          <p:cNvGrpSpPr/>
          <p:nvPr/>
        </p:nvGrpSpPr>
        <p:grpSpPr>
          <a:xfrm>
            <a:off x="9353973" y="-1553420"/>
            <a:ext cx="2853949" cy="13716633"/>
            <a:chOff x="9353973" y="-1553420"/>
            <a:chExt cx="2853949" cy="13716633"/>
          </a:xfrm>
        </p:grpSpPr>
        <p:grpSp>
          <p:nvGrpSpPr>
            <p:cNvPr id="1084" name="Google Shape;1084;p12"/>
            <p:cNvGrpSpPr/>
            <p:nvPr/>
          </p:nvGrpSpPr>
          <p:grpSpPr>
            <a:xfrm>
              <a:off x="9353973" y="-1553420"/>
              <a:ext cx="2838027" cy="13716633"/>
              <a:chOff x="9353973" y="-6079700"/>
              <a:chExt cx="2838027" cy="13716633"/>
            </a:xfrm>
          </p:grpSpPr>
          <p:pic>
            <p:nvPicPr>
              <p:cNvPr id="1085" name="Google Shape;1085;p12"/>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086" name="Google Shape;1086;p12"/>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087" name="Google Shape;1087;p12"/>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88" name="Google Shape;1088;p12"/>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89" name="Google Shape;1089;p12"/>
          <p:cNvPicPr preferRelativeResize="0"/>
          <p:nvPr/>
        </p:nvPicPr>
        <p:blipFill rotWithShape="1">
          <a:blip r:embed="rId4">
            <a:alphaModFix/>
          </a:blip>
          <a:srcRect/>
          <a:stretch/>
        </p:blipFill>
        <p:spPr>
          <a:xfrm>
            <a:off x="9297671" y="4482903"/>
            <a:ext cx="2248125" cy="2248125"/>
          </a:xfrm>
          <a:prstGeom prst="rect">
            <a:avLst/>
          </a:prstGeom>
          <a:noFill/>
          <a:ln>
            <a:noFill/>
          </a:ln>
        </p:spPr>
      </p:pic>
      <p:sp>
        <p:nvSpPr>
          <p:cNvPr id="1090" name="Google Shape;1090;p12"/>
          <p:cNvSpPr txBox="1"/>
          <p:nvPr/>
        </p:nvSpPr>
        <p:spPr>
          <a:xfrm>
            <a:off x="979700" y="3071875"/>
            <a:ext cx="5252100" cy="2252100"/>
          </a:xfrm>
          <a:prstGeom prst="rect">
            <a:avLst/>
          </a:prstGeom>
          <a:noFill/>
          <a:ln>
            <a:noFill/>
          </a:ln>
        </p:spPr>
        <p:txBody>
          <a:bodyPr spcFirstLastPara="1" wrap="square" lIns="0" tIns="19875" rIns="0" bIns="0" anchor="t" anchorCtr="0">
            <a:spAutoFit/>
          </a:bodyPr>
          <a:lstStyle/>
          <a:p>
            <a:pPr marL="457200" marR="0" lvl="0" indent="-355600" algn="l" rtl="0">
              <a:lnSpc>
                <a:spcPct val="100000"/>
              </a:lnSpc>
              <a:spcBef>
                <a:spcPts val="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предсказание продолжительности поездки на каршеринге</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100000"/>
              </a:lnSpc>
              <a:spcBef>
                <a:spcPts val="100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спрос на конкретный товар в конкретный день </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100000"/>
              </a:lnSpc>
              <a:spcBef>
                <a:spcPts val="100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погода в вашем городе на завтра</a:t>
            </a:r>
            <a:endParaRPr sz="2000" b="0" i="0" u="none" strike="noStrike" cap="none">
              <a:solidFill>
                <a:schemeClr val="dk1"/>
              </a:solidFill>
              <a:latin typeface="IBM Plex Sans"/>
              <a:ea typeface="IBM Plex Sans"/>
              <a:cs typeface="IBM Plex Sans"/>
              <a:sym typeface="IBM Plex Sans"/>
            </a:endParaRPr>
          </a:p>
          <a:p>
            <a:pPr marL="457200" marR="0" lvl="0" indent="0" algn="l" rtl="0">
              <a:lnSpc>
                <a:spcPct val="100000"/>
              </a:lnSpc>
              <a:spcBef>
                <a:spcPts val="1000"/>
              </a:spcBef>
              <a:spcAft>
                <a:spcPts val="100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sp>
        <p:nvSpPr>
          <p:cNvPr id="1091" name="Google Shape;1091;p12"/>
          <p:cNvSpPr txBox="1"/>
          <p:nvPr/>
        </p:nvSpPr>
        <p:spPr>
          <a:xfrm>
            <a:off x="979700" y="1628775"/>
            <a:ext cx="7708800" cy="1253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6000"/>
              <a:buFont typeface="Arial"/>
              <a:buNone/>
            </a:pPr>
            <a:r>
              <a:rPr lang="ru-RU" sz="6000" b="0" i="0" u="none" strike="noStrike" cap="none">
                <a:solidFill>
                  <a:srgbClr val="8E39E2"/>
                </a:solidFill>
                <a:latin typeface="Montserrat SemiBold"/>
                <a:ea typeface="Montserrat SemiBold"/>
                <a:cs typeface="Montserrat SemiBold"/>
                <a:sym typeface="Montserrat SemiBold"/>
              </a:rPr>
              <a:t>𝕐=ℝ или</a:t>
            </a:r>
            <a:endParaRPr sz="6000" b="0" i="0" u="none" strike="noStrike" cap="none">
              <a:solidFill>
                <a:srgbClr val="8E39E2"/>
              </a:solidFill>
              <a:latin typeface="Montserrat SemiBold"/>
              <a:ea typeface="Montserrat SemiBold"/>
              <a:cs typeface="Montserrat SemiBold"/>
              <a:sym typeface="Montserrat SemiBold"/>
            </a:endParaRPr>
          </a:p>
        </p:txBody>
      </p:sp>
      <p:sp>
        <p:nvSpPr>
          <p:cNvPr id="1092" name="Google Shape;1092;p12"/>
          <p:cNvSpPr txBox="1"/>
          <p:nvPr/>
        </p:nvSpPr>
        <p:spPr>
          <a:xfrm>
            <a:off x="4408700" y="1628775"/>
            <a:ext cx="7708800" cy="1253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6000"/>
              <a:buFont typeface="Arial"/>
              <a:buNone/>
            </a:pPr>
            <a:r>
              <a:rPr lang="ru-RU" sz="6000" b="0" i="0" u="none" strike="noStrike" cap="none">
                <a:solidFill>
                  <a:srgbClr val="8E39E2"/>
                </a:solidFill>
                <a:latin typeface="Montserrat SemiBold"/>
                <a:ea typeface="Montserrat SemiBold"/>
                <a:cs typeface="Montserrat SemiBold"/>
                <a:sym typeface="Montserrat SemiBold"/>
              </a:rPr>
              <a:t>𝕐=ℝ</a:t>
            </a:r>
            <a:endParaRPr sz="6000" b="0" i="0" u="none" strike="noStrike" cap="none">
              <a:solidFill>
                <a:srgbClr val="8E39E2"/>
              </a:solidFill>
              <a:latin typeface="Montserrat SemiBold"/>
              <a:ea typeface="Montserrat SemiBold"/>
              <a:cs typeface="Montserrat SemiBold"/>
              <a:sym typeface="Montserrat SemiBold"/>
            </a:endParaRPr>
          </a:p>
        </p:txBody>
      </p:sp>
      <p:sp>
        <p:nvSpPr>
          <p:cNvPr id="1093" name="Google Shape;1093;p12"/>
          <p:cNvSpPr txBox="1"/>
          <p:nvPr/>
        </p:nvSpPr>
        <p:spPr>
          <a:xfrm>
            <a:off x="5967499" y="1739325"/>
            <a:ext cx="836100" cy="7140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3000"/>
              <a:buFont typeface="Arial"/>
              <a:buNone/>
            </a:pPr>
            <a:r>
              <a:rPr lang="ru-RU" sz="3000" b="0" i="1" u="none" strike="noStrike" cap="none">
                <a:solidFill>
                  <a:srgbClr val="8E39E2"/>
                </a:solidFill>
                <a:latin typeface="Montserrat SemiBold"/>
                <a:ea typeface="Montserrat SemiBold"/>
                <a:cs typeface="Montserrat SemiBold"/>
                <a:sym typeface="Montserrat SemiBold"/>
              </a:rPr>
              <a:t>K</a:t>
            </a:r>
            <a:endParaRPr sz="3000" b="0" i="1" u="none" strike="noStrike" cap="none">
              <a:solidFill>
                <a:srgbClr val="8E39E2"/>
              </a:solidFill>
              <a:latin typeface="Montserrat SemiBold"/>
              <a:ea typeface="Montserrat SemiBold"/>
              <a:cs typeface="Montserrat SemiBold"/>
              <a:sym typeface="Montserrat SemiBold"/>
            </a:endParaRPr>
          </a:p>
        </p:txBody>
      </p:sp>
      <p:pic>
        <p:nvPicPr>
          <p:cNvPr id="1094" name="Google Shape;1094;p12"/>
          <p:cNvPicPr preferRelativeResize="0"/>
          <p:nvPr/>
        </p:nvPicPr>
        <p:blipFill rotWithShape="1">
          <a:blip r:embed="rId5">
            <a:alphaModFix/>
          </a:blip>
          <a:srcRect/>
          <a:stretch/>
        </p:blipFill>
        <p:spPr>
          <a:xfrm>
            <a:off x="5967500" y="4181950"/>
            <a:ext cx="3071150" cy="20845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g3cb20f13e01_0_950"/>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Многоклассовая классификация</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100" name="Google Shape;1100;g3cb20f13e01_0_950"/>
          <p:cNvGrpSpPr/>
          <p:nvPr/>
        </p:nvGrpSpPr>
        <p:grpSpPr>
          <a:xfrm>
            <a:off x="9353973" y="-1553420"/>
            <a:ext cx="2854020" cy="13716631"/>
            <a:chOff x="9353973" y="-1553420"/>
            <a:chExt cx="2854020" cy="13716631"/>
          </a:xfrm>
        </p:grpSpPr>
        <p:grpSp>
          <p:nvGrpSpPr>
            <p:cNvPr id="1101" name="Google Shape;1101;g3cb20f13e01_0_950"/>
            <p:cNvGrpSpPr/>
            <p:nvPr/>
          </p:nvGrpSpPr>
          <p:grpSpPr>
            <a:xfrm>
              <a:off x="9353973" y="-1553420"/>
              <a:ext cx="2838027" cy="13716631"/>
              <a:chOff x="9353973" y="-6079700"/>
              <a:chExt cx="2838027" cy="13716631"/>
            </a:xfrm>
          </p:grpSpPr>
          <p:pic>
            <p:nvPicPr>
              <p:cNvPr id="1102" name="Google Shape;1102;g3cb20f13e01_0_950"/>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103" name="Google Shape;1103;g3cb20f13e01_0_950"/>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104" name="Google Shape;1104;g3cb20f13e01_0_950"/>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05" name="Google Shape;1105;g3cb20f13e01_0_950"/>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106" name="Google Shape;1106;g3cb20f13e01_0_950"/>
          <p:cNvPicPr preferRelativeResize="0"/>
          <p:nvPr/>
        </p:nvPicPr>
        <p:blipFill rotWithShape="1">
          <a:blip r:embed="rId4">
            <a:alphaModFix/>
          </a:blip>
          <a:srcRect/>
          <a:stretch/>
        </p:blipFill>
        <p:spPr>
          <a:xfrm>
            <a:off x="9297671" y="4482903"/>
            <a:ext cx="2248124" cy="2248124"/>
          </a:xfrm>
          <a:prstGeom prst="rect">
            <a:avLst/>
          </a:prstGeom>
          <a:noFill/>
          <a:ln>
            <a:noFill/>
          </a:ln>
        </p:spPr>
      </p:pic>
      <p:sp>
        <p:nvSpPr>
          <p:cNvPr id="1107" name="Google Shape;1107;g3cb20f13e01_0_950"/>
          <p:cNvSpPr txBox="1"/>
          <p:nvPr/>
        </p:nvSpPr>
        <p:spPr>
          <a:xfrm>
            <a:off x="979700" y="3346325"/>
            <a:ext cx="5252100" cy="1815900"/>
          </a:xfrm>
          <a:prstGeom prst="rect">
            <a:avLst/>
          </a:prstGeom>
          <a:noFill/>
          <a:ln>
            <a:noFill/>
          </a:ln>
        </p:spPr>
        <p:txBody>
          <a:bodyPr spcFirstLastPara="1" wrap="square" lIns="0" tIns="19875" rIns="0" bIns="0" anchor="t" anchorCtr="0">
            <a:spAutoFit/>
          </a:bodyPr>
          <a:lstStyle/>
          <a:p>
            <a:pPr marL="457200" marR="0" lvl="0" indent="-355600" algn="l" rtl="0">
              <a:lnSpc>
                <a:spcPct val="100000"/>
              </a:lnSpc>
              <a:spcBef>
                <a:spcPts val="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определение предметной области для научной статьи</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100000"/>
              </a:lnSpc>
              <a:spcBef>
                <a:spcPts val="100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классификация типов рака</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100000"/>
              </a:lnSpc>
              <a:spcBef>
                <a:spcPts val="1000"/>
              </a:spcBef>
              <a:spcAft>
                <a:spcPts val="100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классификация дорожных знаков для систем автономного вождения</a:t>
            </a:r>
            <a:endParaRPr sz="2000" b="0" i="0" u="none" strike="noStrike" cap="none">
              <a:solidFill>
                <a:schemeClr val="dk1"/>
              </a:solidFill>
              <a:latin typeface="IBM Plex Sans"/>
              <a:ea typeface="IBM Plex Sans"/>
              <a:cs typeface="IBM Plex Sans"/>
              <a:sym typeface="IBM Plex Sans"/>
            </a:endParaRPr>
          </a:p>
        </p:txBody>
      </p:sp>
      <p:sp>
        <p:nvSpPr>
          <p:cNvPr id="1108" name="Google Shape;1108;g3cb20f13e01_0_950"/>
          <p:cNvSpPr txBox="1"/>
          <p:nvPr/>
        </p:nvSpPr>
        <p:spPr>
          <a:xfrm>
            <a:off x="979700" y="1764825"/>
            <a:ext cx="7708800" cy="1253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6000"/>
              <a:buFont typeface="Arial"/>
              <a:buNone/>
            </a:pPr>
            <a:r>
              <a:rPr lang="ru-RU" sz="6000" b="0" i="0" u="none" strike="noStrike" cap="none">
                <a:solidFill>
                  <a:srgbClr val="8E39E2"/>
                </a:solidFill>
                <a:latin typeface="Montserrat SemiBold"/>
                <a:ea typeface="Montserrat SemiBold"/>
                <a:cs typeface="Montserrat SemiBold"/>
                <a:sym typeface="Montserrat SemiBold"/>
              </a:rPr>
              <a:t>𝕐=1,…,K</a:t>
            </a:r>
            <a:endParaRPr sz="6000" b="0" i="0" u="none" strike="noStrike" cap="none">
              <a:solidFill>
                <a:srgbClr val="8E39E2"/>
              </a:solidFill>
              <a:latin typeface="Montserrat SemiBold"/>
              <a:ea typeface="Montserrat SemiBold"/>
              <a:cs typeface="Montserrat SemiBold"/>
              <a:sym typeface="Montserrat SemiBo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g3cb20f13e01_0_967"/>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Бинарная классификация</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114" name="Google Shape;1114;g3cb20f13e01_0_967"/>
          <p:cNvGrpSpPr/>
          <p:nvPr/>
        </p:nvGrpSpPr>
        <p:grpSpPr>
          <a:xfrm>
            <a:off x="9353973" y="-1553420"/>
            <a:ext cx="2854020" cy="13716631"/>
            <a:chOff x="9353973" y="-1553420"/>
            <a:chExt cx="2854020" cy="13716631"/>
          </a:xfrm>
        </p:grpSpPr>
        <p:grpSp>
          <p:nvGrpSpPr>
            <p:cNvPr id="1115" name="Google Shape;1115;g3cb20f13e01_0_967"/>
            <p:cNvGrpSpPr/>
            <p:nvPr/>
          </p:nvGrpSpPr>
          <p:grpSpPr>
            <a:xfrm>
              <a:off x="9353973" y="-1553420"/>
              <a:ext cx="2838027" cy="13716631"/>
              <a:chOff x="9353973" y="-6079700"/>
              <a:chExt cx="2838027" cy="13716631"/>
            </a:xfrm>
          </p:grpSpPr>
          <p:pic>
            <p:nvPicPr>
              <p:cNvPr id="1116" name="Google Shape;1116;g3cb20f13e01_0_967"/>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117" name="Google Shape;1117;g3cb20f13e01_0_967"/>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118" name="Google Shape;1118;g3cb20f13e01_0_967"/>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19" name="Google Shape;1119;g3cb20f13e01_0_967"/>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120" name="Google Shape;1120;g3cb20f13e01_0_967"/>
          <p:cNvPicPr preferRelativeResize="0"/>
          <p:nvPr/>
        </p:nvPicPr>
        <p:blipFill rotWithShape="1">
          <a:blip r:embed="rId4">
            <a:alphaModFix/>
          </a:blip>
          <a:srcRect/>
          <a:stretch/>
        </p:blipFill>
        <p:spPr>
          <a:xfrm>
            <a:off x="9297671" y="4482903"/>
            <a:ext cx="2248124" cy="2248124"/>
          </a:xfrm>
          <a:prstGeom prst="rect">
            <a:avLst/>
          </a:prstGeom>
          <a:noFill/>
          <a:ln>
            <a:noFill/>
          </a:ln>
        </p:spPr>
      </p:pic>
      <p:sp>
        <p:nvSpPr>
          <p:cNvPr id="1121" name="Google Shape;1121;g3cb20f13e01_0_967"/>
          <p:cNvSpPr txBox="1"/>
          <p:nvPr/>
        </p:nvSpPr>
        <p:spPr>
          <a:xfrm>
            <a:off x="979700" y="3346325"/>
            <a:ext cx="5252100" cy="2252100"/>
          </a:xfrm>
          <a:prstGeom prst="rect">
            <a:avLst/>
          </a:prstGeom>
          <a:noFill/>
          <a:ln>
            <a:noFill/>
          </a:ln>
        </p:spPr>
        <p:txBody>
          <a:bodyPr spcFirstLastPara="1" wrap="square" lIns="0" tIns="19875" rIns="0" bIns="0" anchor="t" anchorCtr="0">
            <a:spAutoFit/>
          </a:bodyPr>
          <a:lstStyle/>
          <a:p>
            <a:pPr marL="457200" marR="0" lvl="0" indent="-355600" algn="l" rtl="0">
              <a:lnSpc>
                <a:spcPct val="100000"/>
              </a:lnSpc>
              <a:spcBef>
                <a:spcPts val="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кликнет ли пользователь по рекламному объявлению</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100000"/>
              </a:lnSpc>
              <a:spcBef>
                <a:spcPts val="100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вернёт ли клиент кредит в установленный срок</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100000"/>
              </a:lnSpc>
              <a:spcBef>
                <a:spcPts val="100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сдаст ли студент сессию</a:t>
            </a: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1000"/>
              </a:spcBef>
              <a:spcAft>
                <a:spcPts val="100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sp>
        <p:nvSpPr>
          <p:cNvPr id="1122" name="Google Shape;1122;g3cb20f13e01_0_967"/>
          <p:cNvSpPr txBox="1"/>
          <p:nvPr/>
        </p:nvSpPr>
        <p:spPr>
          <a:xfrm>
            <a:off x="979700" y="1764825"/>
            <a:ext cx="7708800" cy="1253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6000"/>
              <a:buFont typeface="Arial"/>
              <a:buNone/>
            </a:pPr>
            <a:r>
              <a:rPr lang="ru-RU" sz="6000" b="0" i="0" u="none" strike="noStrike" cap="none">
                <a:solidFill>
                  <a:srgbClr val="8E39E2"/>
                </a:solidFill>
                <a:latin typeface="Montserrat SemiBold"/>
                <a:ea typeface="Montserrat SemiBold"/>
                <a:cs typeface="Montserrat SemiBold"/>
                <a:sym typeface="Montserrat SemiBold"/>
              </a:rPr>
              <a:t>𝕐=0, 1</a:t>
            </a:r>
            <a:endParaRPr sz="6000" b="0" i="0" u="none" strike="noStrike" cap="none">
              <a:solidFill>
                <a:srgbClr val="8E39E2"/>
              </a:solidFill>
              <a:latin typeface="Montserrat SemiBold"/>
              <a:ea typeface="Montserrat SemiBold"/>
              <a:cs typeface="Montserrat SemiBold"/>
              <a:sym typeface="Montserrat SemiBo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g3cb20f13e01_0_982"/>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multilabel classification</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128" name="Google Shape;1128;g3cb20f13e01_0_982"/>
          <p:cNvGrpSpPr/>
          <p:nvPr/>
        </p:nvGrpSpPr>
        <p:grpSpPr>
          <a:xfrm>
            <a:off x="9353973" y="-1553420"/>
            <a:ext cx="2854020" cy="13716631"/>
            <a:chOff x="9353973" y="-1553420"/>
            <a:chExt cx="2854020" cy="13716631"/>
          </a:xfrm>
        </p:grpSpPr>
        <p:grpSp>
          <p:nvGrpSpPr>
            <p:cNvPr id="1129" name="Google Shape;1129;g3cb20f13e01_0_982"/>
            <p:cNvGrpSpPr/>
            <p:nvPr/>
          </p:nvGrpSpPr>
          <p:grpSpPr>
            <a:xfrm>
              <a:off x="9353973" y="-1553420"/>
              <a:ext cx="2838027" cy="13716631"/>
              <a:chOff x="9353973" y="-6079700"/>
              <a:chExt cx="2838027" cy="13716631"/>
            </a:xfrm>
          </p:grpSpPr>
          <p:pic>
            <p:nvPicPr>
              <p:cNvPr id="1130" name="Google Shape;1130;g3cb20f13e01_0_982"/>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131" name="Google Shape;1131;g3cb20f13e01_0_982"/>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132" name="Google Shape;1132;g3cb20f13e01_0_982"/>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3" name="Google Shape;1133;g3cb20f13e01_0_982"/>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134" name="Google Shape;1134;g3cb20f13e01_0_982"/>
          <p:cNvPicPr preferRelativeResize="0"/>
          <p:nvPr/>
        </p:nvPicPr>
        <p:blipFill rotWithShape="1">
          <a:blip r:embed="rId4">
            <a:alphaModFix/>
          </a:blip>
          <a:srcRect/>
          <a:stretch/>
        </p:blipFill>
        <p:spPr>
          <a:xfrm>
            <a:off x="9297671" y="4482903"/>
            <a:ext cx="2248124" cy="2248124"/>
          </a:xfrm>
          <a:prstGeom prst="rect">
            <a:avLst/>
          </a:prstGeom>
          <a:noFill/>
          <a:ln>
            <a:noFill/>
          </a:ln>
        </p:spPr>
      </p:pic>
      <p:sp>
        <p:nvSpPr>
          <p:cNvPr id="1135" name="Google Shape;1135;g3cb20f13e01_0_982"/>
          <p:cNvSpPr txBox="1"/>
          <p:nvPr/>
        </p:nvSpPr>
        <p:spPr>
          <a:xfrm>
            <a:off x="979700" y="3346325"/>
            <a:ext cx="5252100" cy="1944000"/>
          </a:xfrm>
          <a:prstGeom prst="rect">
            <a:avLst/>
          </a:prstGeom>
          <a:noFill/>
          <a:ln>
            <a:noFill/>
          </a:ln>
        </p:spPr>
        <p:txBody>
          <a:bodyPr spcFirstLastPara="1" wrap="square" lIns="0" tIns="19875" rIns="0" bIns="0" anchor="t" anchorCtr="0">
            <a:spAutoFit/>
          </a:bodyPr>
          <a:lstStyle/>
          <a:p>
            <a:pPr marL="457200" marR="0" lvl="0" indent="-355600" algn="l" rtl="0">
              <a:lnSpc>
                <a:spcPct val="100000"/>
              </a:lnSpc>
              <a:spcBef>
                <a:spcPts val="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автоматическое проставления тегов для ресторанов</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100000"/>
              </a:lnSpc>
              <a:spcBef>
                <a:spcPts val="100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проставление жанров музыки</a:t>
            </a:r>
            <a:endParaRPr sz="2000" b="0" i="0" u="none" strike="noStrike" cap="none">
              <a:solidFill>
                <a:schemeClr val="dk1"/>
              </a:solidFill>
              <a:latin typeface="IBM Plex Sans"/>
              <a:ea typeface="IBM Plex Sans"/>
              <a:cs typeface="IBM Plex Sans"/>
              <a:sym typeface="IBM Plex Sans"/>
            </a:endParaRPr>
          </a:p>
          <a:p>
            <a:pPr marL="457200" marR="0" lvl="0" indent="0" algn="l" rtl="0">
              <a:lnSpc>
                <a:spcPct val="100000"/>
              </a:lnSpc>
              <a:spcBef>
                <a:spcPts val="1000"/>
              </a:spcBef>
              <a:spcAft>
                <a:spcPts val="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100000"/>
              </a:lnSpc>
              <a:spcBef>
                <a:spcPts val="1000"/>
              </a:spcBef>
              <a:spcAft>
                <a:spcPts val="1000"/>
              </a:spcAft>
              <a:buClr>
                <a:srgbClr val="000000"/>
              </a:buClr>
              <a:buSzPts val="1600"/>
              <a:buFont typeface="Arial"/>
              <a:buNone/>
            </a:pPr>
            <a:endParaRPr sz="2000" b="0" i="0" u="none" strike="noStrike" cap="none">
              <a:solidFill>
                <a:schemeClr val="dk1"/>
              </a:solidFill>
              <a:latin typeface="IBM Plex Sans"/>
              <a:ea typeface="IBM Plex Sans"/>
              <a:cs typeface="IBM Plex Sans"/>
              <a:sym typeface="IBM Plex Sans"/>
            </a:endParaRPr>
          </a:p>
        </p:txBody>
      </p:sp>
      <p:sp>
        <p:nvSpPr>
          <p:cNvPr id="1136" name="Google Shape;1136;g3cb20f13e01_0_982"/>
          <p:cNvSpPr txBox="1"/>
          <p:nvPr/>
        </p:nvSpPr>
        <p:spPr>
          <a:xfrm>
            <a:off x="1055700" y="1751375"/>
            <a:ext cx="7708800" cy="1253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6000"/>
              <a:buFont typeface="Arial"/>
              <a:buNone/>
            </a:pPr>
            <a:r>
              <a:rPr lang="ru-RU" sz="6000" b="0" i="0" u="none" strike="noStrike" cap="none">
                <a:solidFill>
                  <a:srgbClr val="8E39E2"/>
                </a:solidFill>
                <a:latin typeface="Montserrat SemiBold"/>
                <a:ea typeface="Montserrat SemiBold"/>
                <a:cs typeface="Montserrat SemiBold"/>
                <a:sym typeface="Montserrat SemiBold"/>
              </a:rPr>
              <a:t>𝕐=0,1</a:t>
            </a:r>
            <a:endParaRPr sz="6000" b="0" i="0" u="none" strike="noStrike" cap="none">
              <a:solidFill>
                <a:srgbClr val="8E39E2"/>
              </a:solidFill>
              <a:latin typeface="Montserrat SemiBold"/>
              <a:ea typeface="Montserrat SemiBold"/>
              <a:cs typeface="Montserrat SemiBold"/>
              <a:sym typeface="Montserrat SemiBold"/>
            </a:endParaRPr>
          </a:p>
        </p:txBody>
      </p:sp>
      <p:sp>
        <p:nvSpPr>
          <p:cNvPr id="1137" name="Google Shape;1137;g3cb20f13e01_0_982"/>
          <p:cNvSpPr txBox="1"/>
          <p:nvPr/>
        </p:nvSpPr>
        <p:spPr>
          <a:xfrm>
            <a:off x="3116425" y="1861925"/>
            <a:ext cx="836100" cy="7140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3000"/>
              <a:buFont typeface="Arial"/>
              <a:buNone/>
            </a:pPr>
            <a:r>
              <a:rPr lang="ru-RU" sz="3000" b="0" i="1" u="none" strike="noStrike" cap="none">
                <a:solidFill>
                  <a:srgbClr val="8E39E2"/>
                </a:solidFill>
                <a:latin typeface="Montserrat SemiBold"/>
                <a:ea typeface="Montserrat SemiBold"/>
                <a:cs typeface="Montserrat SemiBold"/>
                <a:sym typeface="Montserrat SemiBold"/>
              </a:rPr>
              <a:t>K</a:t>
            </a:r>
            <a:endParaRPr sz="3000" b="0" i="1" u="none" strike="noStrike" cap="none">
              <a:solidFill>
                <a:srgbClr val="8E39E2"/>
              </a:solidFill>
              <a:latin typeface="Montserrat SemiBold"/>
              <a:ea typeface="Montserrat SemiBold"/>
              <a:cs typeface="Montserrat SemiBold"/>
              <a:sym typeface="Montserrat SemiBo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g3d3e78d848d_0_276"/>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К какой задаче относятся следующие примеры:</a:t>
            </a:r>
            <a:endParaRPr sz="3600" b="1" i="0" u="none" strike="noStrike" cap="none">
              <a:solidFill>
                <a:schemeClr val="dk1"/>
              </a:solidFill>
              <a:latin typeface="IBM Plex Sans"/>
              <a:ea typeface="IBM Plex Sans"/>
              <a:cs typeface="IBM Plex Sans"/>
              <a:sym typeface="IBM Plex Sans"/>
            </a:endParaRPr>
          </a:p>
        </p:txBody>
      </p:sp>
      <p:grpSp>
        <p:nvGrpSpPr>
          <p:cNvPr id="1143" name="Google Shape;1143;g3d3e78d848d_0_276"/>
          <p:cNvGrpSpPr/>
          <p:nvPr/>
        </p:nvGrpSpPr>
        <p:grpSpPr>
          <a:xfrm>
            <a:off x="9353973" y="-1553420"/>
            <a:ext cx="2854020" cy="13716631"/>
            <a:chOff x="9353973" y="-1553420"/>
            <a:chExt cx="2854020" cy="13716631"/>
          </a:xfrm>
        </p:grpSpPr>
        <p:grpSp>
          <p:nvGrpSpPr>
            <p:cNvPr id="1144" name="Google Shape;1144;g3d3e78d848d_0_276"/>
            <p:cNvGrpSpPr/>
            <p:nvPr/>
          </p:nvGrpSpPr>
          <p:grpSpPr>
            <a:xfrm>
              <a:off x="9353973" y="-1553420"/>
              <a:ext cx="2838027" cy="13716631"/>
              <a:chOff x="9353973" y="-6079700"/>
              <a:chExt cx="2838027" cy="13716631"/>
            </a:xfrm>
          </p:grpSpPr>
          <p:pic>
            <p:nvPicPr>
              <p:cNvPr id="1145" name="Google Shape;1145;g3d3e78d848d_0_27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146" name="Google Shape;1146;g3d3e78d848d_0_27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147" name="Google Shape;1147;g3d3e78d848d_0_27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48" name="Google Shape;1148;g3d3e78d848d_0_27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149" name="Google Shape;1149;g3d3e78d848d_0_276"/>
          <p:cNvPicPr preferRelativeResize="0"/>
          <p:nvPr/>
        </p:nvPicPr>
        <p:blipFill rotWithShape="1">
          <a:blip r:embed="rId4">
            <a:alphaModFix/>
          </a:blip>
          <a:srcRect/>
          <a:stretch/>
        </p:blipFill>
        <p:spPr>
          <a:xfrm>
            <a:off x="9297671" y="4482903"/>
            <a:ext cx="2248124" cy="2248124"/>
          </a:xfrm>
          <a:prstGeom prst="rect">
            <a:avLst/>
          </a:prstGeom>
          <a:noFill/>
          <a:ln>
            <a:noFill/>
          </a:ln>
        </p:spPr>
      </p:pic>
      <p:sp>
        <p:nvSpPr>
          <p:cNvPr id="1150" name="Google Shape;1150;g3d3e78d848d_0_276"/>
          <p:cNvSpPr txBox="1"/>
          <p:nvPr/>
        </p:nvSpPr>
        <p:spPr>
          <a:xfrm>
            <a:off x="6877637" y="2519918"/>
            <a:ext cx="3262200" cy="23676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SzPts val="3600"/>
              <a:buFont typeface="Arial"/>
              <a:buNone/>
            </a:pPr>
            <a:r>
              <a:rPr lang="ru-RU" sz="2200" b="1" i="0" u="none" strike="noStrike" cap="none">
                <a:solidFill>
                  <a:srgbClr val="8E39E2"/>
                </a:solidFill>
                <a:latin typeface="IBM Plex Sans"/>
                <a:ea typeface="IBM Plex Sans"/>
                <a:cs typeface="IBM Plex Sans"/>
                <a:sym typeface="IBM Plex Sans"/>
              </a:rPr>
              <a:t>Регрессия</a:t>
            </a: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r>
              <a:rPr lang="ru-RU" sz="2200" b="1" i="0" u="none" strike="noStrike" cap="none">
                <a:solidFill>
                  <a:srgbClr val="8E39E2"/>
                </a:solidFill>
                <a:latin typeface="IBM Plex Sans"/>
                <a:ea typeface="IBM Plex Sans"/>
                <a:cs typeface="IBM Plex Sans"/>
                <a:sym typeface="IBM Plex Sans"/>
              </a:rPr>
              <a:t>Многоклассовая классификация</a:t>
            </a: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r>
              <a:rPr lang="ru-RU" sz="2200" b="1" i="0" u="none" strike="noStrike" cap="none">
                <a:solidFill>
                  <a:srgbClr val="8E39E2"/>
                </a:solidFill>
                <a:latin typeface="IBM Plex Sans"/>
                <a:ea typeface="IBM Plex Sans"/>
                <a:cs typeface="IBM Plex Sans"/>
                <a:sym typeface="IBM Plex Sans"/>
              </a:rPr>
              <a:t>Бинакрная классификация</a:t>
            </a: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r>
              <a:rPr lang="ru-RU" sz="2200" b="1" i="0" u="none" strike="noStrike" cap="none">
                <a:solidFill>
                  <a:srgbClr val="8E39E2"/>
                </a:solidFill>
                <a:latin typeface="IBM Plex Sans"/>
                <a:ea typeface="IBM Plex Sans"/>
                <a:cs typeface="IBM Plex Sans"/>
                <a:sym typeface="IBM Plex Sans"/>
              </a:rPr>
              <a:t>Многоклассовая классификация с пересекающимися классами</a:t>
            </a:r>
            <a:endParaRPr sz="2200" b="1" i="0" u="none" strike="noStrike" cap="none">
              <a:solidFill>
                <a:srgbClr val="8E39E2"/>
              </a:solidFill>
              <a:latin typeface="IBM Plex Sans"/>
              <a:ea typeface="IBM Plex Sans"/>
              <a:cs typeface="IBM Plex Sans"/>
              <a:sym typeface="IBM Plex Sans"/>
            </a:endParaRPr>
          </a:p>
        </p:txBody>
      </p:sp>
      <p:pic>
        <p:nvPicPr>
          <p:cNvPr id="1151" name="Google Shape;1151;g3d3e78d848d_0_276"/>
          <p:cNvPicPr preferRelativeResize="0"/>
          <p:nvPr/>
        </p:nvPicPr>
        <p:blipFill rotWithShape="1">
          <a:blip r:embed="rId5">
            <a:alphaModFix/>
          </a:blip>
          <a:srcRect l="49039" t="14842" b="26703"/>
          <a:stretch/>
        </p:blipFill>
        <p:spPr>
          <a:xfrm>
            <a:off x="1099375" y="3074450"/>
            <a:ext cx="5295849" cy="3405275"/>
          </a:xfrm>
          <a:prstGeom prst="rect">
            <a:avLst/>
          </a:prstGeom>
          <a:noFill/>
          <a:ln>
            <a:noFill/>
          </a:ln>
        </p:spPr>
      </p:pic>
      <p:sp>
        <p:nvSpPr>
          <p:cNvPr id="1152" name="Google Shape;1152;g3d3e78d848d_0_276"/>
          <p:cNvSpPr txBox="1"/>
          <p:nvPr/>
        </p:nvSpPr>
        <p:spPr>
          <a:xfrm>
            <a:off x="1055700" y="2427950"/>
            <a:ext cx="53832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ru-RU" sz="1500" b="0" i="0" u="none" strike="noStrike" cap="none">
                <a:solidFill>
                  <a:srgbClr val="000000"/>
                </a:solidFill>
                <a:latin typeface="IBM Plex Sans"/>
                <a:ea typeface="IBM Plex Sans"/>
                <a:cs typeface="IBM Plex Sans"/>
                <a:sym typeface="IBM Plex Sans"/>
              </a:rPr>
              <a:t>По признакам необходимо определить вид ириса (Iris setosa, Iris versicolor или Iris virginica). </a:t>
            </a:r>
            <a:endParaRPr sz="1500" b="0" i="0" u="none" strike="noStrike" cap="none">
              <a:solidFill>
                <a:srgbClr val="000000"/>
              </a:solidFill>
              <a:latin typeface="IBM Plex Sans"/>
              <a:ea typeface="IBM Plex Sans"/>
              <a:cs typeface="IBM Plex Sans"/>
              <a:sym typeface="IBM Plex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g3d3e78d848d_0_295"/>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К какой задаче относятся следующие примеры:</a:t>
            </a:r>
            <a:endParaRPr sz="3600" b="1" i="0" u="none" strike="noStrike" cap="none">
              <a:solidFill>
                <a:schemeClr val="dk1"/>
              </a:solidFill>
              <a:latin typeface="IBM Plex Sans"/>
              <a:ea typeface="IBM Plex Sans"/>
              <a:cs typeface="IBM Plex Sans"/>
              <a:sym typeface="IBM Plex Sans"/>
            </a:endParaRPr>
          </a:p>
        </p:txBody>
      </p:sp>
      <p:grpSp>
        <p:nvGrpSpPr>
          <p:cNvPr id="1158" name="Google Shape;1158;g3d3e78d848d_0_295"/>
          <p:cNvGrpSpPr/>
          <p:nvPr/>
        </p:nvGrpSpPr>
        <p:grpSpPr>
          <a:xfrm>
            <a:off x="9353973" y="-1553420"/>
            <a:ext cx="2854020" cy="13716631"/>
            <a:chOff x="9353973" y="-1553420"/>
            <a:chExt cx="2854020" cy="13716631"/>
          </a:xfrm>
        </p:grpSpPr>
        <p:grpSp>
          <p:nvGrpSpPr>
            <p:cNvPr id="1159" name="Google Shape;1159;g3d3e78d848d_0_295"/>
            <p:cNvGrpSpPr/>
            <p:nvPr/>
          </p:nvGrpSpPr>
          <p:grpSpPr>
            <a:xfrm>
              <a:off x="9353973" y="-1553420"/>
              <a:ext cx="2838027" cy="13716631"/>
              <a:chOff x="9353973" y="-6079700"/>
              <a:chExt cx="2838027" cy="13716631"/>
            </a:xfrm>
          </p:grpSpPr>
          <p:pic>
            <p:nvPicPr>
              <p:cNvPr id="1160" name="Google Shape;1160;g3d3e78d848d_0_295"/>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161" name="Google Shape;1161;g3d3e78d848d_0_295"/>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162" name="Google Shape;1162;g3d3e78d848d_0_295"/>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63" name="Google Shape;1163;g3d3e78d848d_0_295"/>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164" name="Google Shape;1164;g3d3e78d848d_0_295"/>
          <p:cNvPicPr preferRelativeResize="0"/>
          <p:nvPr/>
        </p:nvPicPr>
        <p:blipFill rotWithShape="1">
          <a:blip r:embed="rId4">
            <a:alphaModFix/>
          </a:blip>
          <a:srcRect/>
          <a:stretch/>
        </p:blipFill>
        <p:spPr>
          <a:xfrm>
            <a:off x="9297671" y="4482903"/>
            <a:ext cx="2248124" cy="2248124"/>
          </a:xfrm>
          <a:prstGeom prst="rect">
            <a:avLst/>
          </a:prstGeom>
          <a:noFill/>
          <a:ln>
            <a:noFill/>
          </a:ln>
        </p:spPr>
      </p:pic>
      <p:sp>
        <p:nvSpPr>
          <p:cNvPr id="1165" name="Google Shape;1165;g3d3e78d848d_0_295"/>
          <p:cNvSpPr txBox="1"/>
          <p:nvPr/>
        </p:nvSpPr>
        <p:spPr>
          <a:xfrm>
            <a:off x="1010340" y="2413050"/>
            <a:ext cx="4124100" cy="326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ru-RU" sz="2000" b="0" i="0" u="none" strike="noStrike" cap="none">
                <a:solidFill>
                  <a:srgbClr val="0F1115"/>
                </a:solidFill>
                <a:highlight>
                  <a:srgbClr val="FFFFFF"/>
                </a:highlight>
                <a:latin typeface="IBM Plex Sans"/>
                <a:ea typeface="IBM Plex Sans"/>
                <a:cs typeface="IBM Plex Sans"/>
                <a:sym typeface="IBM Plex Sans"/>
              </a:rPr>
              <a:t>Имеются метеоданные за последние 5 лет: давление, влажность, скорость ветра, а также фактическая температура воздуха в полдень каждого дня.</a:t>
            </a:r>
            <a:endParaRPr sz="2000" b="0" i="0" u="none" strike="noStrike" cap="none">
              <a:solidFill>
                <a:srgbClr val="0F1115"/>
              </a:solidFill>
              <a:highlight>
                <a:srgbClr val="FFFFFF"/>
              </a:highlight>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F1115"/>
              </a:solidFill>
              <a:highlight>
                <a:srgbClr val="FFFFFF"/>
              </a:highlight>
              <a:latin typeface="IBM Plex Sans"/>
              <a:ea typeface="IBM Plex Sans"/>
              <a:cs typeface="IBM Plex Sans"/>
              <a:sym typeface="IBM Plex Sans"/>
            </a:endParaRPr>
          </a:p>
          <a:p>
            <a:pPr marL="0" marR="0" lvl="0" indent="0" algn="l" rtl="0">
              <a:lnSpc>
                <a:spcPct val="100000"/>
              </a:lnSpc>
              <a:spcBef>
                <a:spcPts val="0"/>
              </a:spcBef>
              <a:spcAft>
                <a:spcPts val="0"/>
              </a:spcAft>
              <a:buClr>
                <a:schemeClr val="dk1"/>
              </a:buClr>
              <a:buSzPts val="1100"/>
              <a:buFont typeface="Arial"/>
              <a:buNone/>
            </a:pPr>
            <a:r>
              <a:rPr lang="ru-RU" sz="2000" b="0" i="0" u="none" strike="noStrike" cap="none">
                <a:solidFill>
                  <a:srgbClr val="0F1115"/>
                </a:solidFill>
                <a:highlight>
                  <a:srgbClr val="FFFFFF"/>
                </a:highlight>
                <a:latin typeface="IBM Plex Sans"/>
                <a:ea typeface="IBM Plex Sans"/>
                <a:cs typeface="IBM Plex Sans"/>
                <a:sym typeface="IBM Plex Sans"/>
              </a:rPr>
              <a:t>Необходимо построить модель для предсказания числового значения температуры</a:t>
            </a:r>
            <a:endParaRPr sz="2000" b="0" i="0" u="none" strike="noStrike" cap="none">
              <a:solidFill>
                <a:srgbClr val="0F1115"/>
              </a:solidFill>
              <a:highlight>
                <a:srgbClr val="FFFFFF"/>
              </a:highlight>
              <a:latin typeface="IBM Plex Sans"/>
              <a:ea typeface="IBM Plex Sans"/>
              <a:cs typeface="IBM Plex Sans"/>
              <a:sym typeface="IBM Plex Sans"/>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F1115"/>
              </a:solidFill>
              <a:highlight>
                <a:srgbClr val="FFFFFF"/>
              </a:highlight>
              <a:latin typeface="IBM Plex Sans"/>
              <a:ea typeface="IBM Plex Sans"/>
              <a:cs typeface="IBM Plex Sans"/>
              <a:sym typeface="IBM Plex Sans"/>
            </a:endParaRPr>
          </a:p>
        </p:txBody>
      </p:sp>
      <p:sp>
        <p:nvSpPr>
          <p:cNvPr id="1166" name="Google Shape;1166;g3d3e78d848d_0_295"/>
          <p:cNvSpPr txBox="1"/>
          <p:nvPr/>
        </p:nvSpPr>
        <p:spPr>
          <a:xfrm>
            <a:off x="5607637" y="2557268"/>
            <a:ext cx="3262200" cy="23676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SzPts val="3600"/>
              <a:buFont typeface="Arial"/>
              <a:buNone/>
            </a:pPr>
            <a:r>
              <a:rPr lang="ru-RU" sz="2200" b="1" i="0" u="none" strike="noStrike" cap="none">
                <a:solidFill>
                  <a:srgbClr val="8E39E2"/>
                </a:solidFill>
                <a:latin typeface="IBM Plex Sans"/>
                <a:ea typeface="IBM Plex Sans"/>
                <a:cs typeface="IBM Plex Sans"/>
                <a:sym typeface="IBM Plex Sans"/>
              </a:rPr>
              <a:t>Регрессия</a:t>
            </a: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r>
              <a:rPr lang="ru-RU" sz="2200" b="1" i="0" u="none" strike="noStrike" cap="none">
                <a:solidFill>
                  <a:srgbClr val="8E39E2"/>
                </a:solidFill>
                <a:latin typeface="IBM Plex Sans"/>
                <a:ea typeface="IBM Plex Sans"/>
                <a:cs typeface="IBM Plex Sans"/>
                <a:sym typeface="IBM Plex Sans"/>
              </a:rPr>
              <a:t>Многоклассовая классификация</a:t>
            </a: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r>
              <a:rPr lang="ru-RU" sz="2200" b="1" i="0" u="none" strike="noStrike" cap="none">
                <a:solidFill>
                  <a:srgbClr val="8E39E2"/>
                </a:solidFill>
                <a:latin typeface="IBM Plex Sans"/>
                <a:ea typeface="IBM Plex Sans"/>
                <a:cs typeface="IBM Plex Sans"/>
                <a:sym typeface="IBM Plex Sans"/>
              </a:rPr>
              <a:t>Бинакрная классификация</a:t>
            </a: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endParaRPr sz="2200" b="1" i="0" u="none" strike="noStrike" cap="none">
              <a:solidFill>
                <a:srgbClr val="8E39E2"/>
              </a:solidFill>
              <a:latin typeface="IBM Plex Sans"/>
              <a:ea typeface="IBM Plex Sans"/>
              <a:cs typeface="IBM Plex Sans"/>
              <a:sym typeface="IBM Plex Sans"/>
            </a:endParaRPr>
          </a:p>
          <a:p>
            <a:pPr marL="0" marR="0" lvl="0" indent="0" algn="l" rtl="0">
              <a:lnSpc>
                <a:spcPct val="80000"/>
              </a:lnSpc>
              <a:spcBef>
                <a:spcPts val="0"/>
              </a:spcBef>
              <a:spcAft>
                <a:spcPts val="0"/>
              </a:spcAft>
              <a:buClr>
                <a:srgbClr val="000000"/>
              </a:buClr>
              <a:buSzPts val="3600"/>
              <a:buFont typeface="Arial"/>
              <a:buNone/>
            </a:pPr>
            <a:r>
              <a:rPr lang="ru-RU" sz="2200" b="1" i="0" u="none" strike="noStrike" cap="none">
                <a:solidFill>
                  <a:srgbClr val="8E39E2"/>
                </a:solidFill>
                <a:latin typeface="IBM Plex Sans"/>
                <a:ea typeface="IBM Plex Sans"/>
                <a:cs typeface="IBM Plex Sans"/>
                <a:sym typeface="IBM Plex Sans"/>
              </a:rPr>
              <a:t>Многоклассовая классификация с пересекающимися классами</a:t>
            </a:r>
            <a:endParaRPr sz="2200" b="1" i="0" u="none" strike="noStrike" cap="none">
              <a:solidFill>
                <a:srgbClr val="8E39E2"/>
              </a:solidFill>
              <a:latin typeface="IBM Plex Sans"/>
              <a:ea typeface="IBM Plex Sans"/>
              <a:cs typeface="IBM Plex Sans"/>
              <a:sym typeface="IBM Plex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sp>
        <p:nvSpPr>
          <p:cNvPr id="1171" name="Google Shape;1171;g3cb20f13e01_0_1012"/>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Обучение без учителя</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unsupervised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172" name="Google Shape;1172;g3cb20f13e01_0_1012"/>
          <p:cNvGrpSpPr/>
          <p:nvPr/>
        </p:nvGrpSpPr>
        <p:grpSpPr>
          <a:xfrm>
            <a:off x="9353973" y="-1553420"/>
            <a:ext cx="2854020" cy="13716631"/>
            <a:chOff x="9353973" y="-1553420"/>
            <a:chExt cx="2854020" cy="13716631"/>
          </a:xfrm>
        </p:grpSpPr>
        <p:grpSp>
          <p:nvGrpSpPr>
            <p:cNvPr id="1173" name="Google Shape;1173;g3cb20f13e01_0_1012"/>
            <p:cNvGrpSpPr/>
            <p:nvPr/>
          </p:nvGrpSpPr>
          <p:grpSpPr>
            <a:xfrm>
              <a:off x="9353973" y="-1553420"/>
              <a:ext cx="2838027" cy="13716631"/>
              <a:chOff x="9353973" y="-6079700"/>
              <a:chExt cx="2838027" cy="13716631"/>
            </a:xfrm>
          </p:grpSpPr>
          <p:pic>
            <p:nvPicPr>
              <p:cNvPr id="1174" name="Google Shape;1174;g3cb20f13e01_0_1012"/>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175" name="Google Shape;1175;g3cb20f13e01_0_1012"/>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176" name="Google Shape;1176;g3cb20f13e01_0_1012"/>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77" name="Google Shape;1177;g3cb20f13e01_0_1012"/>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78" name="Google Shape;1178;g3cb20f13e01_0_1012"/>
          <p:cNvSpPr txBox="1"/>
          <p:nvPr/>
        </p:nvSpPr>
        <p:spPr>
          <a:xfrm>
            <a:off x="1055700" y="2337325"/>
            <a:ext cx="5365800" cy="23460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Правильные ответы для каждого объекта обучающей выборки заранее НЕ известны</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1600" b="0" i="0" u="none" strike="noStrike" cap="none">
              <a:solidFill>
                <a:schemeClr val="dk1"/>
              </a:solidFill>
              <a:latin typeface="IBM Plex Sans"/>
              <a:ea typeface="IBM Plex Sans"/>
              <a:cs typeface="IBM Plex Sans"/>
              <a:sym typeface="IBM Plex Sans"/>
            </a:endParaRPr>
          </a:p>
        </p:txBody>
      </p:sp>
      <p:pic>
        <p:nvPicPr>
          <p:cNvPr id="1179" name="Google Shape;1179;g3cb20f13e01_0_1012"/>
          <p:cNvPicPr preferRelativeResize="0"/>
          <p:nvPr/>
        </p:nvPicPr>
        <p:blipFill rotWithShape="1">
          <a:blip r:embed="rId4">
            <a:alphaModFix/>
          </a:blip>
          <a:srcRect/>
          <a:stretch/>
        </p:blipFill>
        <p:spPr>
          <a:xfrm>
            <a:off x="8441516" y="3933811"/>
            <a:ext cx="3047978" cy="3047978"/>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13"/>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Кластеризация </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185" name="Google Shape;1185;p13"/>
          <p:cNvGrpSpPr/>
          <p:nvPr/>
        </p:nvGrpSpPr>
        <p:grpSpPr>
          <a:xfrm>
            <a:off x="9353973" y="-1553420"/>
            <a:ext cx="2853949" cy="13716633"/>
            <a:chOff x="9353973" y="-1553420"/>
            <a:chExt cx="2853949" cy="13716633"/>
          </a:xfrm>
        </p:grpSpPr>
        <p:grpSp>
          <p:nvGrpSpPr>
            <p:cNvPr id="1186" name="Google Shape;1186;p13"/>
            <p:cNvGrpSpPr/>
            <p:nvPr/>
          </p:nvGrpSpPr>
          <p:grpSpPr>
            <a:xfrm>
              <a:off x="9353973" y="-1553420"/>
              <a:ext cx="2838027" cy="13716633"/>
              <a:chOff x="9353973" y="-6079700"/>
              <a:chExt cx="2838027" cy="13716633"/>
            </a:xfrm>
          </p:grpSpPr>
          <p:pic>
            <p:nvPicPr>
              <p:cNvPr id="1187" name="Google Shape;1187;p13"/>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188" name="Google Shape;1188;p13"/>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189" name="Google Shape;1189;p13"/>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90" name="Google Shape;1190;p13"/>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191" name="Google Shape;1191;p13"/>
          <p:cNvPicPr preferRelativeResize="0"/>
          <p:nvPr/>
        </p:nvPicPr>
        <p:blipFill rotWithShape="1">
          <a:blip r:embed="rId4">
            <a:alphaModFix/>
          </a:blip>
          <a:srcRect/>
          <a:stretch/>
        </p:blipFill>
        <p:spPr>
          <a:xfrm>
            <a:off x="9424416" y="4441575"/>
            <a:ext cx="1994635" cy="1994635"/>
          </a:xfrm>
          <a:prstGeom prst="rect">
            <a:avLst/>
          </a:prstGeom>
          <a:noFill/>
          <a:ln>
            <a:noFill/>
          </a:ln>
        </p:spPr>
      </p:pic>
      <p:sp>
        <p:nvSpPr>
          <p:cNvPr id="1192" name="Google Shape;1192;p13"/>
          <p:cNvSpPr txBox="1"/>
          <p:nvPr/>
        </p:nvSpPr>
        <p:spPr>
          <a:xfrm>
            <a:off x="962902" y="2015550"/>
            <a:ext cx="6421800" cy="15393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rgbClr val="15110E"/>
              </a:buClr>
              <a:buSzPts val="2000"/>
              <a:buFont typeface="IBM Plex Sans"/>
              <a:buChar char="●"/>
            </a:pPr>
            <a:r>
              <a:rPr lang="ru-RU" sz="2000" b="0" i="0" u="none" strike="noStrike" cap="none">
                <a:solidFill>
                  <a:srgbClr val="15110E"/>
                </a:solidFill>
                <a:latin typeface="IBM Plex Sans"/>
                <a:ea typeface="IBM Plex Sans"/>
                <a:cs typeface="IBM Plex Sans"/>
                <a:sym typeface="IBM Plex Sans"/>
              </a:rPr>
              <a:t>кластеризация документов из электронной библиотеки по темам</a:t>
            </a:r>
            <a:endParaRPr sz="2000" b="0" i="0" u="none" strike="noStrike" cap="none">
              <a:solidFill>
                <a:srgbClr val="15110E"/>
              </a:solidFill>
              <a:latin typeface="IBM Plex Sans"/>
              <a:ea typeface="IBM Plex Sans"/>
              <a:cs typeface="IBM Plex Sans"/>
              <a:sym typeface="IBM Plex Sans"/>
            </a:endParaRPr>
          </a:p>
          <a:p>
            <a:pPr marL="457200" marR="0" lvl="0" indent="-355600" algn="l" rtl="0">
              <a:lnSpc>
                <a:spcPct val="100000"/>
              </a:lnSpc>
              <a:spcBef>
                <a:spcPts val="0"/>
              </a:spcBef>
              <a:spcAft>
                <a:spcPts val="0"/>
              </a:spcAft>
              <a:buClr>
                <a:srgbClr val="15110E"/>
              </a:buClr>
              <a:buSzPts val="2000"/>
              <a:buFont typeface="IBM Plex Sans"/>
              <a:buChar char="●"/>
            </a:pPr>
            <a:r>
              <a:rPr lang="ru-RU" sz="2000" b="0" i="0" u="none" strike="noStrike" cap="none">
                <a:solidFill>
                  <a:srgbClr val="15110E"/>
                </a:solidFill>
                <a:latin typeface="IBM Plex Sans"/>
                <a:ea typeface="IBM Plex Sans"/>
                <a:cs typeface="IBM Plex Sans"/>
                <a:sym typeface="IBM Plex Sans"/>
              </a:rPr>
              <a:t>кластеризация новостей по сюжетам</a:t>
            </a:r>
            <a:endParaRPr sz="2000" b="0" i="0" u="none" strike="noStrike" cap="none">
              <a:solidFill>
                <a:srgbClr val="15110E"/>
              </a:solidFill>
              <a:latin typeface="IBM Plex Sans"/>
              <a:ea typeface="IBM Plex Sans"/>
              <a:cs typeface="IBM Plex Sans"/>
              <a:sym typeface="IBM Plex Sans"/>
            </a:endParaRPr>
          </a:p>
          <a:p>
            <a:pPr marL="457200" marR="0" lvl="0" indent="-355600" algn="l" rtl="0">
              <a:lnSpc>
                <a:spcPct val="100000"/>
              </a:lnSpc>
              <a:spcBef>
                <a:spcPts val="0"/>
              </a:spcBef>
              <a:spcAft>
                <a:spcPts val="0"/>
              </a:spcAft>
              <a:buClr>
                <a:srgbClr val="15110E"/>
              </a:buClr>
              <a:buSzPts val="2000"/>
              <a:buFont typeface="IBM Plex Sans"/>
              <a:buChar char="●"/>
            </a:pPr>
            <a:r>
              <a:rPr lang="ru-RU" sz="2000" b="0" i="0" u="none" strike="noStrike" cap="none">
                <a:solidFill>
                  <a:srgbClr val="15110E"/>
                </a:solidFill>
                <a:latin typeface="IBM Plex Sans"/>
                <a:ea typeface="IBM Plex Sans"/>
                <a:cs typeface="IBM Plex Sans"/>
                <a:sym typeface="IBM Plex Sans"/>
              </a:rPr>
              <a:t>ответов респондентов по содержанию</a:t>
            </a:r>
            <a:endParaRPr sz="2000" b="0" i="0" u="none" strike="noStrike" cap="none">
              <a:solidFill>
                <a:srgbClr val="15110E"/>
              </a:solidFill>
              <a:latin typeface="IBM Plex Sans"/>
              <a:ea typeface="IBM Plex Sans"/>
              <a:cs typeface="IBM Plex Sans"/>
              <a:sym typeface="IBM Plex Sans"/>
            </a:endParaRPr>
          </a:p>
        </p:txBody>
      </p:sp>
      <p:pic>
        <p:nvPicPr>
          <p:cNvPr id="1193" name="Google Shape;1193;p13"/>
          <p:cNvPicPr preferRelativeResize="0"/>
          <p:nvPr/>
        </p:nvPicPr>
        <p:blipFill rotWithShape="1">
          <a:blip r:embed="rId5">
            <a:alphaModFix/>
          </a:blip>
          <a:srcRect/>
          <a:stretch/>
        </p:blipFill>
        <p:spPr>
          <a:xfrm>
            <a:off x="962905" y="3471225"/>
            <a:ext cx="8050625" cy="29649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14"/>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Обучение с подкреплением</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Reinforcement learning</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199" name="Google Shape;1199;p14"/>
          <p:cNvGrpSpPr/>
          <p:nvPr/>
        </p:nvGrpSpPr>
        <p:grpSpPr>
          <a:xfrm>
            <a:off x="9353973" y="-1553420"/>
            <a:ext cx="2853949" cy="13716633"/>
            <a:chOff x="9353973" y="-1553420"/>
            <a:chExt cx="2853949" cy="13716633"/>
          </a:xfrm>
        </p:grpSpPr>
        <p:grpSp>
          <p:nvGrpSpPr>
            <p:cNvPr id="1200" name="Google Shape;1200;p14"/>
            <p:cNvGrpSpPr/>
            <p:nvPr/>
          </p:nvGrpSpPr>
          <p:grpSpPr>
            <a:xfrm>
              <a:off x="9353973" y="-1553420"/>
              <a:ext cx="2838027" cy="13716633"/>
              <a:chOff x="9353973" y="-6079700"/>
              <a:chExt cx="2838027" cy="13716633"/>
            </a:xfrm>
          </p:grpSpPr>
          <p:pic>
            <p:nvPicPr>
              <p:cNvPr id="1201" name="Google Shape;1201;p14"/>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202" name="Google Shape;1202;p14"/>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203" name="Google Shape;1203;p14"/>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4" name="Google Shape;1204;p14"/>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205" name="Google Shape;1205;p14"/>
          <p:cNvPicPr preferRelativeResize="0"/>
          <p:nvPr/>
        </p:nvPicPr>
        <p:blipFill rotWithShape="1">
          <a:blip r:embed="rId4">
            <a:alphaModFix/>
          </a:blip>
          <a:srcRect/>
          <a:stretch/>
        </p:blipFill>
        <p:spPr>
          <a:xfrm>
            <a:off x="9424416" y="4441575"/>
            <a:ext cx="1994635" cy="1994635"/>
          </a:xfrm>
          <a:prstGeom prst="rect">
            <a:avLst/>
          </a:prstGeom>
          <a:noFill/>
          <a:ln>
            <a:noFill/>
          </a:ln>
        </p:spPr>
      </p:pic>
      <p:sp>
        <p:nvSpPr>
          <p:cNvPr id="1206" name="Google Shape;1206;p14"/>
          <p:cNvSpPr txBox="1"/>
          <p:nvPr/>
        </p:nvSpPr>
        <p:spPr>
          <a:xfrm>
            <a:off x="1055700" y="2220275"/>
            <a:ext cx="5000100" cy="160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900" b="0" i="0" u="none" strike="noStrike" cap="none">
                <a:solidFill>
                  <a:srgbClr val="15110E"/>
                </a:solidFill>
                <a:latin typeface="IBM Plex Sans"/>
                <a:ea typeface="IBM Plex Sans"/>
                <a:cs typeface="IBM Plex Sans"/>
                <a:sym typeface="IBM Plex Sans"/>
              </a:rPr>
              <a:t>Алгоритм за каждое действие получает награду или наказание</a:t>
            </a:r>
            <a:endParaRPr sz="1900" b="0" i="0" u="none" strike="noStrike" cap="none">
              <a:solidFill>
                <a:srgbClr val="15110E"/>
              </a:solidFill>
              <a:latin typeface="IBM Plex Sans"/>
              <a:ea typeface="IBM Plex Sans"/>
              <a:cs typeface="IBM Plex Sans"/>
              <a:sym typeface="IBM Plex Sans"/>
            </a:endParaRPr>
          </a:p>
        </p:txBody>
      </p:sp>
      <p:pic>
        <p:nvPicPr>
          <p:cNvPr id="1207" name="Google Shape;1207;p14"/>
          <p:cNvPicPr preferRelativeResize="0"/>
          <p:nvPr/>
        </p:nvPicPr>
        <p:blipFill rotWithShape="1">
          <a:blip r:embed="rId5">
            <a:alphaModFix/>
          </a:blip>
          <a:srcRect/>
          <a:stretch/>
        </p:blipFill>
        <p:spPr>
          <a:xfrm>
            <a:off x="1155276" y="3019854"/>
            <a:ext cx="6867275" cy="33331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grpSp>
        <p:nvGrpSpPr>
          <p:cNvPr id="1212" name="Google Shape;1212;g3cb20f13e01_0_1028"/>
          <p:cNvGrpSpPr/>
          <p:nvPr/>
        </p:nvGrpSpPr>
        <p:grpSpPr>
          <a:xfrm>
            <a:off x="9353973" y="-1553420"/>
            <a:ext cx="2854020" cy="13716631"/>
            <a:chOff x="9353973" y="-1553420"/>
            <a:chExt cx="2854020" cy="13716631"/>
          </a:xfrm>
        </p:grpSpPr>
        <p:grpSp>
          <p:nvGrpSpPr>
            <p:cNvPr id="1213" name="Google Shape;1213;g3cb20f13e01_0_1028"/>
            <p:cNvGrpSpPr/>
            <p:nvPr/>
          </p:nvGrpSpPr>
          <p:grpSpPr>
            <a:xfrm>
              <a:off x="9353973" y="-1553420"/>
              <a:ext cx="2838027" cy="13716631"/>
              <a:chOff x="9353973" y="-6079700"/>
              <a:chExt cx="2838027" cy="13716631"/>
            </a:xfrm>
          </p:grpSpPr>
          <p:pic>
            <p:nvPicPr>
              <p:cNvPr id="1214" name="Google Shape;1214;g3cb20f13e01_0_1028"/>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215" name="Google Shape;1215;g3cb20f13e01_0_1028"/>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216" name="Google Shape;1216;g3cb20f13e01_0_1028"/>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17" name="Google Shape;1217;g3cb20f13e01_0_1028"/>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218" name="Google Shape;1218;g3cb20f13e01_0_1028"/>
          <p:cNvPicPr preferRelativeResize="0"/>
          <p:nvPr/>
        </p:nvPicPr>
        <p:blipFill rotWithShape="1">
          <a:blip r:embed="rId4">
            <a:alphaModFix/>
          </a:blip>
          <a:srcRect/>
          <a:stretch/>
        </p:blipFill>
        <p:spPr>
          <a:xfrm>
            <a:off x="9424416" y="4441575"/>
            <a:ext cx="1994636" cy="1994636"/>
          </a:xfrm>
          <a:prstGeom prst="rect">
            <a:avLst/>
          </a:prstGeom>
          <a:noFill/>
          <a:ln>
            <a:noFill/>
          </a:ln>
        </p:spPr>
      </p:pic>
      <p:pic>
        <p:nvPicPr>
          <p:cNvPr id="1219" name="Google Shape;1219;g3cb20f13e01_0_1028"/>
          <p:cNvPicPr preferRelativeResize="0"/>
          <p:nvPr/>
        </p:nvPicPr>
        <p:blipFill rotWithShape="1">
          <a:blip r:embed="rId5">
            <a:alphaModFix/>
          </a:blip>
          <a:srcRect r="51114" b="59210"/>
          <a:stretch/>
        </p:blipFill>
        <p:spPr>
          <a:xfrm>
            <a:off x="1533525" y="584863"/>
            <a:ext cx="6767500" cy="2673301"/>
          </a:xfrm>
          <a:prstGeom prst="rect">
            <a:avLst/>
          </a:prstGeom>
          <a:noFill/>
          <a:ln>
            <a:noFill/>
          </a:ln>
        </p:spPr>
      </p:pic>
      <p:pic>
        <p:nvPicPr>
          <p:cNvPr id="1220" name="Google Shape;1220;g3cb20f13e01_0_1028"/>
          <p:cNvPicPr preferRelativeResize="0"/>
          <p:nvPr/>
        </p:nvPicPr>
        <p:blipFill rotWithShape="1">
          <a:blip r:embed="rId5">
            <a:alphaModFix/>
          </a:blip>
          <a:srcRect l="49349" t="52047" r="1764" b="7162"/>
          <a:stretch/>
        </p:blipFill>
        <p:spPr>
          <a:xfrm>
            <a:off x="1533525" y="3599836"/>
            <a:ext cx="6767500" cy="267330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grpSp>
        <p:nvGrpSpPr>
          <p:cNvPr id="1225" name="Google Shape;1225;g3cb20f13e01_0_1043"/>
          <p:cNvGrpSpPr/>
          <p:nvPr/>
        </p:nvGrpSpPr>
        <p:grpSpPr>
          <a:xfrm>
            <a:off x="9353973" y="-1553420"/>
            <a:ext cx="2854020" cy="13716631"/>
            <a:chOff x="9353973" y="-1553420"/>
            <a:chExt cx="2854020" cy="13716631"/>
          </a:xfrm>
        </p:grpSpPr>
        <p:grpSp>
          <p:nvGrpSpPr>
            <p:cNvPr id="1226" name="Google Shape;1226;g3cb20f13e01_0_1043"/>
            <p:cNvGrpSpPr/>
            <p:nvPr/>
          </p:nvGrpSpPr>
          <p:grpSpPr>
            <a:xfrm>
              <a:off x="9353973" y="-1553420"/>
              <a:ext cx="2838027" cy="13716631"/>
              <a:chOff x="9353973" y="-6079700"/>
              <a:chExt cx="2838027" cy="13716631"/>
            </a:xfrm>
          </p:grpSpPr>
          <p:pic>
            <p:nvPicPr>
              <p:cNvPr id="1227" name="Google Shape;1227;g3cb20f13e01_0_1043"/>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228" name="Google Shape;1228;g3cb20f13e01_0_1043"/>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229" name="Google Shape;1229;g3cb20f13e01_0_1043"/>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30" name="Google Shape;1230;g3cb20f13e01_0_1043"/>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231" name="Google Shape;1231;g3cb20f13e01_0_1043"/>
          <p:cNvPicPr preferRelativeResize="0"/>
          <p:nvPr/>
        </p:nvPicPr>
        <p:blipFill rotWithShape="1">
          <a:blip r:embed="rId4">
            <a:alphaModFix/>
          </a:blip>
          <a:srcRect/>
          <a:stretch/>
        </p:blipFill>
        <p:spPr>
          <a:xfrm>
            <a:off x="3476566" y="2621225"/>
            <a:ext cx="1994636" cy="1994636"/>
          </a:xfrm>
          <a:prstGeom prst="rect">
            <a:avLst/>
          </a:prstGeom>
          <a:noFill/>
          <a:ln>
            <a:noFill/>
          </a:ln>
        </p:spPr>
      </p:pic>
      <p:sp>
        <p:nvSpPr>
          <p:cNvPr id="1232" name="Google Shape;1232;g3cb20f13e01_0_1043"/>
          <p:cNvSpPr txBox="1"/>
          <p:nvPr/>
        </p:nvSpPr>
        <p:spPr>
          <a:xfrm>
            <a:off x="1055700" y="2778675"/>
            <a:ext cx="3097500" cy="94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300"/>
              <a:buFont typeface="Arial"/>
              <a:buNone/>
            </a:pPr>
            <a:r>
              <a:rPr lang="ru-RU" sz="3300" b="0" i="0" u="none" strike="noStrike" cap="none">
                <a:solidFill>
                  <a:srgbClr val="15110E"/>
                </a:solidFill>
                <a:latin typeface="IBM Plex Sans SemiBold"/>
                <a:ea typeface="IBM Plex Sans SemiBold"/>
                <a:cs typeface="IBM Plex Sans SemiBold"/>
                <a:sym typeface="IBM Plex Sans SemiBold"/>
              </a:rPr>
              <a:t>Я люблю машинное обучение</a:t>
            </a:r>
            <a:endParaRPr sz="3300" b="0" i="0" u="none" strike="noStrike" cap="none">
              <a:solidFill>
                <a:srgbClr val="15110E"/>
              </a:solidFill>
              <a:latin typeface="IBM Plex Sans SemiBold"/>
              <a:ea typeface="IBM Plex Sans SemiBold"/>
              <a:cs typeface="IBM Plex Sans SemiBold"/>
              <a:sym typeface="IBM Plex Sans SemiBold"/>
            </a:endParaRPr>
          </a:p>
        </p:txBody>
      </p:sp>
      <p:sp>
        <p:nvSpPr>
          <p:cNvPr id="1233" name="Google Shape;1233;g3cb20f13e01_0_1043"/>
          <p:cNvSpPr txBox="1"/>
          <p:nvPr/>
        </p:nvSpPr>
        <p:spPr>
          <a:xfrm>
            <a:off x="5605475" y="2867575"/>
            <a:ext cx="3097500" cy="94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300"/>
              <a:buFont typeface="Arial"/>
              <a:buNone/>
            </a:pPr>
            <a:r>
              <a:rPr lang="ru-RU" sz="3300" b="0" i="0" u="none" strike="noStrike" cap="none">
                <a:solidFill>
                  <a:srgbClr val="15110E"/>
                </a:solidFill>
                <a:latin typeface="IBM Plex Sans SemiBold"/>
                <a:ea typeface="IBM Plex Sans SemiBold"/>
                <a:cs typeface="IBM Plex Sans SemiBold"/>
                <a:sym typeface="IBM Plex Sans SemiBold"/>
              </a:rPr>
              <a:t>I love machine learning</a:t>
            </a:r>
            <a:endParaRPr sz="3300" b="0" i="0" u="none" strike="noStrike" cap="none">
              <a:solidFill>
                <a:srgbClr val="15110E"/>
              </a:solidFill>
              <a:latin typeface="IBM Plex Sans SemiBold"/>
              <a:ea typeface="IBM Plex Sans SemiBold"/>
              <a:cs typeface="IBM Plex Sans SemiBold"/>
              <a:sym typeface="IBM Plex Sans SemiBo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grpSp>
        <p:nvGrpSpPr>
          <p:cNvPr id="1238" name="Google Shape;1238;p15"/>
          <p:cNvGrpSpPr/>
          <p:nvPr/>
        </p:nvGrpSpPr>
        <p:grpSpPr>
          <a:xfrm>
            <a:off x="9353973" y="-1553420"/>
            <a:ext cx="2853949" cy="13716633"/>
            <a:chOff x="9353973" y="-1553420"/>
            <a:chExt cx="2853949" cy="13716633"/>
          </a:xfrm>
        </p:grpSpPr>
        <p:grpSp>
          <p:nvGrpSpPr>
            <p:cNvPr id="1239" name="Google Shape;1239;p15"/>
            <p:cNvGrpSpPr/>
            <p:nvPr/>
          </p:nvGrpSpPr>
          <p:grpSpPr>
            <a:xfrm>
              <a:off x="9353973" y="-1553420"/>
              <a:ext cx="2838027" cy="13716633"/>
              <a:chOff x="9353973" y="-6079700"/>
              <a:chExt cx="2838027" cy="13716633"/>
            </a:xfrm>
          </p:grpSpPr>
          <p:pic>
            <p:nvPicPr>
              <p:cNvPr id="1240" name="Google Shape;1240;p15"/>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241" name="Google Shape;1241;p15"/>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242" name="Google Shape;1242;p15"/>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43" name="Google Shape;1243;p15"/>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244" name="Google Shape;1244;p15"/>
          <p:cNvPicPr preferRelativeResize="0"/>
          <p:nvPr/>
        </p:nvPicPr>
        <p:blipFill rotWithShape="1">
          <a:blip r:embed="rId4">
            <a:alphaModFix/>
          </a:blip>
          <a:srcRect/>
          <a:stretch/>
        </p:blipFill>
        <p:spPr>
          <a:xfrm>
            <a:off x="9057537" y="4431141"/>
            <a:ext cx="2011886" cy="2014681"/>
          </a:xfrm>
          <a:prstGeom prst="rect">
            <a:avLst/>
          </a:prstGeom>
          <a:noFill/>
          <a:ln>
            <a:noFill/>
          </a:ln>
        </p:spPr>
      </p:pic>
      <p:pic>
        <p:nvPicPr>
          <p:cNvPr id="1245" name="Google Shape;1245;p15"/>
          <p:cNvPicPr preferRelativeResize="0"/>
          <p:nvPr/>
        </p:nvPicPr>
        <p:blipFill rotWithShape="1">
          <a:blip r:embed="rId5">
            <a:alphaModFix/>
          </a:blip>
          <a:srcRect/>
          <a:stretch/>
        </p:blipFill>
        <p:spPr>
          <a:xfrm>
            <a:off x="237050" y="1009650"/>
            <a:ext cx="8602134" cy="48387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grpSp>
        <p:nvGrpSpPr>
          <p:cNvPr id="1042" name="Google Shape;1042;g3cb20f13e01_0_926"/>
          <p:cNvGrpSpPr/>
          <p:nvPr/>
        </p:nvGrpSpPr>
        <p:grpSpPr>
          <a:xfrm>
            <a:off x="9353973" y="-1553420"/>
            <a:ext cx="2854020" cy="13716631"/>
            <a:chOff x="9353973" y="-1553420"/>
            <a:chExt cx="2854020" cy="13716631"/>
          </a:xfrm>
        </p:grpSpPr>
        <p:grpSp>
          <p:nvGrpSpPr>
            <p:cNvPr id="1043" name="Google Shape;1043;g3cb20f13e01_0_926"/>
            <p:cNvGrpSpPr/>
            <p:nvPr/>
          </p:nvGrpSpPr>
          <p:grpSpPr>
            <a:xfrm>
              <a:off x="9353973" y="-1553420"/>
              <a:ext cx="2838027" cy="13716631"/>
              <a:chOff x="9353973" y="-6079700"/>
              <a:chExt cx="2838027" cy="13716631"/>
            </a:xfrm>
          </p:grpSpPr>
          <p:pic>
            <p:nvPicPr>
              <p:cNvPr id="1044" name="Google Shape;1044;g3cb20f13e01_0_92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045" name="Google Shape;1045;g3cb20f13e01_0_92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046" name="Google Shape;1046;g3cb20f13e01_0_92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7" name="Google Shape;1047;g3cb20f13e01_0_92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48" name="Google Shape;1048;g3cb20f13e01_0_926"/>
          <p:cNvSpPr txBox="1"/>
          <p:nvPr/>
        </p:nvSpPr>
        <p:spPr>
          <a:xfrm>
            <a:off x="1060849" y="2662300"/>
            <a:ext cx="7370769" cy="774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SzPts val="4800"/>
              <a:buFont typeface="Arial"/>
              <a:buNone/>
            </a:pPr>
            <a:r>
              <a:rPr lang="en-US" sz="4400" b="1" i="0" u="none" strike="noStrike" cap="none" dirty="0">
                <a:solidFill>
                  <a:schemeClr val="dk1"/>
                </a:solidFill>
                <a:latin typeface="IBM Plex Sans"/>
                <a:ea typeface="IBM Plex Sans"/>
                <a:cs typeface="IBM Plex Sans"/>
                <a:sym typeface="IBM Plex Sans"/>
              </a:rPr>
              <a:t>KNN</a:t>
            </a:r>
          </a:p>
          <a:p>
            <a:pPr marL="0" marR="0" lvl="0" indent="0" algn="l" rtl="0">
              <a:lnSpc>
                <a:spcPct val="80000"/>
              </a:lnSpc>
              <a:spcBef>
                <a:spcPts val="0"/>
              </a:spcBef>
              <a:spcAft>
                <a:spcPts val="0"/>
              </a:spcAft>
              <a:buClr>
                <a:srgbClr val="000000"/>
              </a:buClr>
              <a:buSzPts val="4800"/>
              <a:buFont typeface="Arial"/>
              <a:buNone/>
            </a:pPr>
            <a:r>
              <a:rPr lang="ru-RU" sz="2400" i="0" u="none" strike="noStrike" cap="none" dirty="0">
                <a:solidFill>
                  <a:schemeClr val="dk1"/>
                </a:solidFill>
                <a:latin typeface="IBM Plex Sans"/>
                <a:ea typeface="IBM Plex Sans"/>
                <a:cs typeface="IBM Plex Sans"/>
                <a:sym typeface="IBM Plex Sans"/>
              </a:rPr>
              <a:t>и большие проблемы ML на его примере</a:t>
            </a:r>
          </a:p>
          <a:p>
            <a:pPr marL="0" marR="0" lvl="0" indent="0" algn="l" rtl="0">
              <a:lnSpc>
                <a:spcPct val="80000"/>
              </a:lnSpc>
              <a:spcBef>
                <a:spcPts val="0"/>
              </a:spcBef>
              <a:spcAft>
                <a:spcPts val="0"/>
              </a:spcAft>
              <a:buClr>
                <a:srgbClr val="000000"/>
              </a:buClr>
              <a:buSzPts val="4800"/>
              <a:buFont typeface="Arial"/>
              <a:buNone/>
            </a:pPr>
            <a:endParaRPr lang="ru-RU" sz="4400" b="1" i="0" u="none" strike="noStrike" cap="none" dirty="0">
              <a:solidFill>
                <a:schemeClr val="dk1"/>
              </a:solidFill>
              <a:latin typeface="IBM Plex Sans"/>
              <a:ea typeface="IBM Plex Sans"/>
              <a:cs typeface="IBM Plex Sans"/>
              <a:sym typeface="IBM Plex Sans"/>
            </a:endParaRPr>
          </a:p>
        </p:txBody>
      </p:sp>
      <p:sp>
        <p:nvSpPr>
          <p:cNvPr id="1049" name="Google Shape;1049;g3cb20f13e01_0_926"/>
          <p:cNvSpPr txBox="1"/>
          <p:nvPr/>
        </p:nvSpPr>
        <p:spPr>
          <a:xfrm>
            <a:off x="1060857" y="6033838"/>
            <a:ext cx="3771900" cy="235500"/>
          </a:xfrm>
          <a:prstGeom prst="rect">
            <a:avLst/>
          </a:prstGeom>
          <a:noFill/>
          <a:ln>
            <a:noFill/>
          </a:ln>
        </p:spPr>
        <p:txBody>
          <a:bodyPr spcFirstLastPara="1" wrap="square" lIns="0" tIns="19875" rIns="0" bIns="0" anchor="t" anchorCtr="0">
            <a:spAutoFit/>
          </a:bodyPr>
          <a:lstStyle/>
          <a:p>
            <a:pPr marL="20942" marR="8376" lvl="0" indent="0" algn="l" rtl="0">
              <a:lnSpc>
                <a:spcPct val="12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ularionova@mail.tsu.ru</a:t>
            </a:r>
            <a:endParaRPr sz="1400" b="0" i="0" u="none" strike="noStrike" cap="none">
              <a:solidFill>
                <a:schemeClr val="dk1"/>
              </a:solidFill>
              <a:latin typeface="IBM Plex Sans"/>
              <a:ea typeface="IBM Plex Sans"/>
              <a:cs typeface="IBM Plex Sans"/>
              <a:sym typeface="IBM Plex Sans"/>
            </a:endParaRPr>
          </a:p>
        </p:txBody>
      </p:sp>
      <p:sp>
        <p:nvSpPr>
          <p:cNvPr id="1050" name="Google Shape;1050;g3cb20f13e01_0_926"/>
          <p:cNvSpPr txBox="1"/>
          <p:nvPr/>
        </p:nvSpPr>
        <p:spPr>
          <a:xfrm>
            <a:off x="1060857" y="5282291"/>
            <a:ext cx="4032300" cy="561900"/>
          </a:xfrm>
          <a:prstGeom prst="rect">
            <a:avLst/>
          </a:prstGeom>
          <a:noFill/>
          <a:ln>
            <a:noFill/>
          </a:ln>
        </p:spPr>
        <p:txBody>
          <a:bodyPr spcFirstLastPara="1" wrap="square" lIns="0" tIns="19875" rIns="0" bIns="0" anchor="t" anchorCtr="0">
            <a:spAutoFit/>
          </a:bodyPr>
          <a:lstStyle/>
          <a:p>
            <a:pPr marL="20942" marR="8376"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Ларионова Ульяна</a:t>
            </a:r>
            <a:endParaRPr sz="1400" b="0" i="0" u="none" strike="noStrike" cap="none">
              <a:solidFill>
                <a:srgbClr val="000000"/>
              </a:solidFill>
              <a:latin typeface="Arial"/>
              <a:ea typeface="Arial"/>
              <a:cs typeface="Arial"/>
              <a:sym typeface="Arial"/>
            </a:endParaRPr>
          </a:p>
          <a:p>
            <a:pPr marL="20942" marR="8376"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Преподаватель</a:t>
            </a:r>
            <a:endParaRPr sz="1600" b="0" i="0" u="none" strike="noStrike" cap="none">
              <a:solidFill>
                <a:schemeClr val="dk1"/>
              </a:solidFill>
              <a:latin typeface="IBM Plex Sans"/>
              <a:ea typeface="IBM Plex Sans"/>
              <a:cs typeface="IBM Plex Sans"/>
              <a:sym typeface="IBM Plex Sans"/>
            </a:endParaRPr>
          </a:p>
        </p:txBody>
      </p:sp>
      <p:pic>
        <p:nvPicPr>
          <p:cNvPr id="1051" name="Google Shape;1051;g3cb20f13e01_0_926"/>
          <p:cNvPicPr preferRelativeResize="0"/>
          <p:nvPr/>
        </p:nvPicPr>
        <p:blipFill rotWithShape="1">
          <a:blip r:embed="rId4">
            <a:alphaModFix/>
          </a:blip>
          <a:srcRect/>
          <a:stretch/>
        </p:blipFill>
        <p:spPr>
          <a:xfrm rot="10800000" flipH="1">
            <a:off x="8976462" y="3862790"/>
            <a:ext cx="2872246" cy="2884213"/>
          </a:xfrm>
          <a:prstGeom prst="rect">
            <a:avLst/>
          </a:prstGeom>
          <a:noFill/>
          <a:ln>
            <a:noFill/>
          </a:ln>
        </p:spPr>
      </p:pic>
      <p:pic>
        <p:nvPicPr>
          <p:cNvPr id="1053" name="Google Shape;1053;g3cb20f13e01_0_926"/>
          <p:cNvPicPr preferRelativeResize="0"/>
          <p:nvPr/>
        </p:nvPicPr>
        <p:blipFill rotWithShape="1">
          <a:blip r:embed="rId5">
            <a:alphaModFix/>
          </a:blip>
          <a:srcRect/>
          <a:stretch/>
        </p:blipFill>
        <p:spPr>
          <a:xfrm>
            <a:off x="1055688" y="285516"/>
            <a:ext cx="677246" cy="774960"/>
          </a:xfrm>
          <a:prstGeom prst="rect">
            <a:avLst/>
          </a:prstGeom>
          <a:noFill/>
          <a:ln>
            <a:noFill/>
          </a:ln>
        </p:spPr>
      </p:pic>
      <p:sp>
        <p:nvSpPr>
          <p:cNvPr id="14" name="TextBox 13">
            <a:extLst>
              <a:ext uri="{FF2B5EF4-FFF2-40B4-BE49-F238E27FC236}">
                <a16:creationId xmlns:a16="http://schemas.microsoft.com/office/drawing/2014/main" id="{4410F3F7-8677-416F-B992-1C200C5397C5}"/>
              </a:ext>
            </a:extLst>
          </p:cNvPr>
          <p:cNvSpPr txBox="1"/>
          <p:nvPr/>
        </p:nvSpPr>
        <p:spPr>
          <a:xfrm>
            <a:off x="3052119" y="5147161"/>
            <a:ext cx="6104238" cy="307777"/>
          </a:xfrm>
          <a:prstGeom prst="rect">
            <a:avLst/>
          </a:prstGeom>
          <a:noFill/>
        </p:spPr>
        <p:txBody>
          <a:bodyPr wrap="square">
            <a:spAutoFit/>
          </a:bodyPr>
          <a:lstStyle/>
          <a:p>
            <a:r>
              <a:rPr lang="ru-RU" b="0" dirty="0">
                <a:effectLst/>
              </a:rPr>
              <a:t>  </a:t>
            </a:r>
            <a:endParaRPr lang="ru-RU" dirty="0"/>
          </a:p>
        </p:txBody>
      </p:sp>
      <p:sp>
        <p:nvSpPr>
          <p:cNvPr id="16" name="TextBox 15">
            <a:extLst>
              <a:ext uri="{FF2B5EF4-FFF2-40B4-BE49-F238E27FC236}">
                <a16:creationId xmlns:a16="http://schemas.microsoft.com/office/drawing/2014/main" id="{93A00A23-27E3-4BF9-B561-740B81B490FD}"/>
              </a:ext>
            </a:extLst>
          </p:cNvPr>
          <p:cNvSpPr txBox="1"/>
          <p:nvPr/>
        </p:nvSpPr>
        <p:spPr>
          <a:xfrm>
            <a:off x="3052119" y="5147161"/>
            <a:ext cx="6104238" cy="307777"/>
          </a:xfrm>
          <a:prstGeom prst="rect">
            <a:avLst/>
          </a:prstGeom>
          <a:noFill/>
        </p:spPr>
        <p:txBody>
          <a:bodyPr wrap="square">
            <a:spAutoFit/>
          </a:bodyPr>
          <a:lstStyle/>
          <a:p>
            <a:r>
              <a:rPr lang="ru-RU" b="0" dirty="0">
                <a:effectLst/>
              </a:rPr>
              <a:t> </a:t>
            </a:r>
            <a:endParaRPr lang="ru-RU" dirty="0"/>
          </a:p>
        </p:txBody>
      </p:sp>
    </p:spTree>
    <p:extLst>
      <p:ext uri="{BB962C8B-B14F-4D97-AF65-F5344CB8AC3E}">
        <p14:creationId xmlns:p14="http://schemas.microsoft.com/office/powerpoint/2010/main" val="12436717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3cb20f13e01_0_950"/>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Многоклассовая классификация</a:t>
            </a:r>
            <a:endParaRPr sz="3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3600" b="1" i="0" u="none" strike="noStrike" cap="none">
              <a:solidFill>
                <a:schemeClr val="dk1"/>
              </a:solidFill>
              <a:latin typeface="IBM Plex Sans"/>
              <a:ea typeface="IBM Plex Sans"/>
              <a:cs typeface="IBM Plex Sans"/>
              <a:sym typeface="IBM Plex Sans"/>
            </a:endParaRPr>
          </a:p>
        </p:txBody>
      </p:sp>
      <p:grpSp>
        <p:nvGrpSpPr>
          <p:cNvPr id="125" name="Google Shape;125;g3cb20f13e01_0_950"/>
          <p:cNvGrpSpPr/>
          <p:nvPr/>
        </p:nvGrpSpPr>
        <p:grpSpPr>
          <a:xfrm>
            <a:off x="9353973" y="-1553420"/>
            <a:ext cx="2854020" cy="13716631"/>
            <a:chOff x="9353973" y="-1553420"/>
            <a:chExt cx="2854020" cy="13716631"/>
          </a:xfrm>
        </p:grpSpPr>
        <p:grpSp>
          <p:nvGrpSpPr>
            <p:cNvPr id="126" name="Google Shape;126;g3cb20f13e01_0_950"/>
            <p:cNvGrpSpPr/>
            <p:nvPr/>
          </p:nvGrpSpPr>
          <p:grpSpPr>
            <a:xfrm>
              <a:off x="9353973" y="-1553420"/>
              <a:ext cx="2838027" cy="13716631"/>
              <a:chOff x="9353973" y="-6079700"/>
              <a:chExt cx="2838027" cy="13716631"/>
            </a:xfrm>
          </p:grpSpPr>
          <p:pic>
            <p:nvPicPr>
              <p:cNvPr id="127" name="Google Shape;127;g3cb20f13e01_0_950"/>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28" name="Google Shape;128;g3cb20f13e01_0_950"/>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29" name="Google Shape;129;g3cb20f13e01_0_950"/>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g3cb20f13e01_0_950"/>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31" name="Google Shape;131;g3cb20f13e01_0_950"/>
          <p:cNvPicPr preferRelativeResize="0"/>
          <p:nvPr/>
        </p:nvPicPr>
        <p:blipFill rotWithShape="1">
          <a:blip r:embed="rId4">
            <a:alphaModFix/>
          </a:blip>
          <a:srcRect/>
          <a:stretch/>
        </p:blipFill>
        <p:spPr>
          <a:xfrm>
            <a:off x="9297671" y="4482903"/>
            <a:ext cx="2248124" cy="2248124"/>
          </a:xfrm>
          <a:prstGeom prst="rect">
            <a:avLst/>
          </a:prstGeom>
          <a:noFill/>
          <a:ln>
            <a:noFill/>
          </a:ln>
        </p:spPr>
      </p:pic>
      <p:sp>
        <p:nvSpPr>
          <p:cNvPr id="132" name="Google Shape;132;g3cb20f13e01_0_950"/>
          <p:cNvSpPr txBox="1"/>
          <p:nvPr/>
        </p:nvSpPr>
        <p:spPr>
          <a:xfrm>
            <a:off x="979700" y="3346325"/>
            <a:ext cx="5252100" cy="1508100"/>
          </a:xfrm>
          <a:prstGeom prst="rect">
            <a:avLst/>
          </a:prstGeom>
          <a:noFill/>
          <a:ln>
            <a:noFill/>
          </a:ln>
        </p:spPr>
        <p:txBody>
          <a:bodyPr spcFirstLastPara="1" wrap="square" lIns="0" tIns="19875" rIns="0" bIns="0" anchor="t" anchorCtr="0">
            <a:spAutoFit/>
          </a:bodyPr>
          <a:lstStyle/>
          <a:p>
            <a:pPr marL="457200" marR="0" lvl="0" indent="-330200" algn="l" rtl="0">
              <a:lnSpc>
                <a:spcPct val="100000"/>
              </a:lnSpc>
              <a:spcBef>
                <a:spcPts val="0"/>
              </a:spcBef>
              <a:spcAft>
                <a:spcPts val="0"/>
              </a:spcAft>
              <a:buClr>
                <a:schemeClr val="dk1"/>
              </a:buClr>
              <a:buSzPts val="1600"/>
              <a:buFont typeface="IBM Plex Sans"/>
              <a:buChar char="●"/>
            </a:pPr>
            <a:r>
              <a:rPr lang="ru-RU" sz="1600" b="0" i="0" u="none" strike="noStrike" cap="none">
                <a:solidFill>
                  <a:schemeClr val="dk1"/>
                </a:solidFill>
                <a:latin typeface="IBM Plex Sans"/>
                <a:ea typeface="IBM Plex Sans"/>
                <a:cs typeface="IBM Plex Sans"/>
                <a:sym typeface="IBM Plex Sans"/>
              </a:rPr>
              <a:t>определение предметной области для научной статьи</a:t>
            </a:r>
            <a:endParaRPr sz="1600" b="0" i="0" u="none" strike="noStrike" cap="none">
              <a:solidFill>
                <a:schemeClr val="dk1"/>
              </a:solidFill>
              <a:latin typeface="IBM Plex Sans"/>
              <a:ea typeface="IBM Plex Sans"/>
              <a:cs typeface="IBM Plex Sans"/>
              <a:sym typeface="IBM Plex Sans"/>
            </a:endParaRPr>
          </a:p>
          <a:p>
            <a:pPr marL="457200" marR="0" lvl="0" indent="-330200" algn="l" rtl="0">
              <a:lnSpc>
                <a:spcPct val="100000"/>
              </a:lnSpc>
              <a:spcBef>
                <a:spcPts val="1000"/>
              </a:spcBef>
              <a:spcAft>
                <a:spcPts val="0"/>
              </a:spcAft>
              <a:buClr>
                <a:schemeClr val="dk1"/>
              </a:buClr>
              <a:buSzPts val="1600"/>
              <a:buFont typeface="IBM Plex Sans"/>
              <a:buChar char="●"/>
            </a:pPr>
            <a:r>
              <a:rPr lang="ru-RU" sz="1600" b="0" i="0" u="none" strike="noStrike" cap="none">
                <a:solidFill>
                  <a:schemeClr val="dk1"/>
                </a:solidFill>
                <a:latin typeface="IBM Plex Sans"/>
                <a:ea typeface="IBM Plex Sans"/>
                <a:cs typeface="IBM Plex Sans"/>
                <a:sym typeface="IBM Plex Sans"/>
              </a:rPr>
              <a:t>классификация типов рака</a:t>
            </a:r>
            <a:endParaRPr sz="1600" b="0" i="0" u="none" strike="noStrike" cap="none">
              <a:solidFill>
                <a:schemeClr val="dk1"/>
              </a:solidFill>
              <a:latin typeface="IBM Plex Sans"/>
              <a:ea typeface="IBM Plex Sans"/>
              <a:cs typeface="IBM Plex Sans"/>
              <a:sym typeface="IBM Plex Sans"/>
            </a:endParaRPr>
          </a:p>
          <a:p>
            <a:pPr marL="457200" marR="0" lvl="0" indent="-330200" algn="l" rtl="0">
              <a:lnSpc>
                <a:spcPct val="100000"/>
              </a:lnSpc>
              <a:spcBef>
                <a:spcPts val="1000"/>
              </a:spcBef>
              <a:spcAft>
                <a:spcPts val="1000"/>
              </a:spcAft>
              <a:buClr>
                <a:schemeClr val="dk1"/>
              </a:buClr>
              <a:buSzPts val="1600"/>
              <a:buFont typeface="IBM Plex Sans"/>
              <a:buChar char="●"/>
            </a:pPr>
            <a:r>
              <a:rPr lang="ru-RU" sz="1600" b="0" i="0" u="none" strike="noStrike" cap="none">
                <a:solidFill>
                  <a:schemeClr val="dk1"/>
                </a:solidFill>
                <a:latin typeface="IBM Plex Sans"/>
                <a:ea typeface="IBM Plex Sans"/>
                <a:cs typeface="IBM Plex Sans"/>
                <a:sym typeface="IBM Plex Sans"/>
              </a:rPr>
              <a:t>классификация дорожных знаков для систем автономного вождения</a:t>
            </a:r>
            <a:endParaRPr sz="1600" b="0" i="0" u="none" strike="noStrike" cap="none">
              <a:solidFill>
                <a:schemeClr val="dk1"/>
              </a:solidFill>
              <a:latin typeface="IBM Plex Sans"/>
              <a:ea typeface="IBM Plex Sans"/>
              <a:cs typeface="IBM Plex Sans"/>
              <a:sym typeface="IBM Plex Sans"/>
            </a:endParaRPr>
          </a:p>
        </p:txBody>
      </p:sp>
      <p:sp>
        <p:nvSpPr>
          <p:cNvPr id="133" name="Google Shape;133;g3cb20f13e01_0_950"/>
          <p:cNvSpPr txBox="1"/>
          <p:nvPr/>
        </p:nvSpPr>
        <p:spPr>
          <a:xfrm>
            <a:off x="979700" y="1764825"/>
            <a:ext cx="7708800" cy="1253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6000"/>
              <a:buFont typeface="Arial"/>
              <a:buNone/>
            </a:pPr>
            <a:r>
              <a:rPr lang="ru-RU" sz="6000" b="0" i="0" u="none" strike="noStrike" cap="none">
                <a:solidFill>
                  <a:srgbClr val="8E39E2"/>
                </a:solidFill>
                <a:latin typeface="Montserrat SemiBold"/>
                <a:ea typeface="Montserrat SemiBold"/>
                <a:cs typeface="Montserrat SemiBold"/>
                <a:sym typeface="Montserrat SemiBold"/>
              </a:rPr>
              <a:t>𝕐=1,…,K</a:t>
            </a:r>
            <a:endParaRPr sz="6000" b="0" i="0" u="none" strike="noStrike" cap="none">
              <a:solidFill>
                <a:srgbClr val="8E39E2"/>
              </a:solidFill>
              <a:latin typeface="Montserrat SemiBold"/>
              <a:ea typeface="Montserrat SemiBold"/>
              <a:cs typeface="Montserrat SemiBold"/>
              <a:sym typeface="Montserrat SemiBo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3cd43cf902c_0_44"/>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a:solidFill>
                  <a:schemeClr val="dk1"/>
                </a:solidFill>
                <a:latin typeface="IBM Plex Sans"/>
                <a:ea typeface="IBM Plex Sans"/>
                <a:cs typeface="IBM Plex Sans"/>
                <a:sym typeface="IBM Plex Sans"/>
              </a:rPr>
              <a:t>Пример</a:t>
            </a:r>
            <a:endParaRPr sz="3600" b="1" i="0" u="none" strike="noStrike" cap="none">
              <a:solidFill>
                <a:schemeClr val="dk1"/>
              </a:solidFill>
              <a:latin typeface="IBM Plex Sans"/>
              <a:ea typeface="IBM Plex Sans"/>
              <a:cs typeface="IBM Plex Sans"/>
              <a:sym typeface="IBM Plex Sans"/>
            </a:endParaRPr>
          </a:p>
        </p:txBody>
      </p:sp>
      <p:grpSp>
        <p:nvGrpSpPr>
          <p:cNvPr id="139" name="Google Shape;139;g3cd43cf902c_0_44"/>
          <p:cNvGrpSpPr/>
          <p:nvPr/>
        </p:nvGrpSpPr>
        <p:grpSpPr>
          <a:xfrm>
            <a:off x="9353973" y="-1553420"/>
            <a:ext cx="2854020" cy="13716631"/>
            <a:chOff x="9353973" y="-1553420"/>
            <a:chExt cx="2854020" cy="13716631"/>
          </a:xfrm>
        </p:grpSpPr>
        <p:grpSp>
          <p:nvGrpSpPr>
            <p:cNvPr id="140" name="Google Shape;140;g3cd43cf902c_0_44"/>
            <p:cNvGrpSpPr/>
            <p:nvPr/>
          </p:nvGrpSpPr>
          <p:grpSpPr>
            <a:xfrm>
              <a:off x="9353973" y="-1553420"/>
              <a:ext cx="2838027" cy="13716631"/>
              <a:chOff x="9353973" y="-6079700"/>
              <a:chExt cx="2838027" cy="13716631"/>
            </a:xfrm>
          </p:grpSpPr>
          <p:pic>
            <p:nvPicPr>
              <p:cNvPr id="141" name="Google Shape;141;g3cd43cf902c_0_44"/>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42" name="Google Shape;142;g3cd43cf902c_0_44"/>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43" name="Google Shape;143;g3cd43cf902c_0_4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4" name="Google Shape;144;g3cd43cf902c_0_4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45" name="Google Shape;145;g3cd43cf902c_0_44"/>
          <p:cNvPicPr preferRelativeResize="0"/>
          <p:nvPr/>
        </p:nvPicPr>
        <p:blipFill rotWithShape="1">
          <a:blip r:embed="rId4">
            <a:alphaModFix/>
          </a:blip>
          <a:srcRect/>
          <a:stretch/>
        </p:blipFill>
        <p:spPr>
          <a:xfrm>
            <a:off x="9297671" y="4482903"/>
            <a:ext cx="2248124" cy="2248124"/>
          </a:xfrm>
          <a:prstGeom prst="rect">
            <a:avLst/>
          </a:prstGeom>
          <a:noFill/>
          <a:ln>
            <a:noFill/>
          </a:ln>
        </p:spPr>
      </p:pic>
      <p:sp>
        <p:nvSpPr>
          <p:cNvPr id="146" name="Google Shape;146;g3cd43cf902c_0_44"/>
          <p:cNvSpPr txBox="1"/>
          <p:nvPr/>
        </p:nvSpPr>
        <p:spPr>
          <a:xfrm>
            <a:off x="979700" y="2134250"/>
            <a:ext cx="5252100" cy="512700"/>
          </a:xfrm>
          <a:prstGeom prst="rect">
            <a:avLst/>
          </a:prstGeom>
          <a:noFill/>
          <a:ln>
            <a:noFill/>
          </a:ln>
        </p:spPr>
        <p:txBody>
          <a:bodyPr spcFirstLastPara="1" wrap="square" lIns="0" tIns="19875" rIns="0" bIns="0" anchor="t" anchorCtr="0">
            <a:spAutoFit/>
          </a:bodyPr>
          <a:lstStyle/>
          <a:p>
            <a:pPr marL="0" marR="0" lvl="0" indent="0" algn="l" rtl="0">
              <a:lnSpc>
                <a:spcPct val="100000"/>
              </a:lnSpc>
              <a:spcBef>
                <a:spcPts val="1000"/>
              </a:spcBef>
              <a:spcAft>
                <a:spcPts val="1000"/>
              </a:spcAft>
              <a:buNone/>
            </a:pPr>
            <a:r>
              <a:rPr lang="ru-RU" sz="1600">
                <a:solidFill>
                  <a:schemeClr val="dk1"/>
                </a:solidFill>
                <a:latin typeface="IBM Plex Sans"/>
                <a:ea typeface="IBM Plex Sans"/>
                <a:cs typeface="IBM Plex Sans"/>
                <a:sym typeface="IBM Plex Sans"/>
              </a:rPr>
              <a:t>Задача - определить по характеристике цветка к какому классу он относится</a:t>
            </a:r>
            <a:endParaRPr sz="1600" b="0" i="0" u="none" strike="noStrike" cap="none">
              <a:solidFill>
                <a:schemeClr val="dk1"/>
              </a:solidFill>
              <a:latin typeface="IBM Plex Sans"/>
              <a:ea typeface="IBM Plex Sans"/>
              <a:cs typeface="IBM Plex Sans"/>
              <a:sym typeface="IBM Plex Sans"/>
            </a:endParaRPr>
          </a:p>
        </p:txBody>
      </p:sp>
      <p:graphicFrame>
        <p:nvGraphicFramePr>
          <p:cNvPr id="147" name="Google Shape;147;g3cd43cf902c_0_44"/>
          <p:cNvGraphicFramePr/>
          <p:nvPr>
            <p:extLst>
              <p:ext uri="{D42A27DB-BD31-4B8C-83A1-F6EECF244321}">
                <p14:modId xmlns:p14="http://schemas.microsoft.com/office/powerpoint/2010/main" val="2409829326"/>
              </p:ext>
            </p:extLst>
          </p:nvPr>
        </p:nvGraphicFramePr>
        <p:xfrm>
          <a:off x="979700" y="2947900"/>
          <a:ext cx="7297275" cy="1794672"/>
        </p:xfrm>
        <a:graphic>
          <a:graphicData uri="http://schemas.openxmlformats.org/drawingml/2006/table">
            <a:tbl>
              <a:tblPr>
                <a:noFill/>
              </a:tblPr>
              <a:tblGrid>
                <a:gridCol w="2432425">
                  <a:extLst>
                    <a:ext uri="{9D8B030D-6E8A-4147-A177-3AD203B41FA5}">
                      <a16:colId xmlns:a16="http://schemas.microsoft.com/office/drawing/2014/main" val="20000"/>
                    </a:ext>
                  </a:extLst>
                </a:gridCol>
                <a:gridCol w="2432425">
                  <a:extLst>
                    <a:ext uri="{9D8B030D-6E8A-4147-A177-3AD203B41FA5}">
                      <a16:colId xmlns:a16="http://schemas.microsoft.com/office/drawing/2014/main" val="20001"/>
                    </a:ext>
                  </a:extLst>
                </a:gridCol>
                <a:gridCol w="2432425">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ru-RU" sz="1600" dirty="0">
                          <a:latin typeface="IBM Plex Sans"/>
                          <a:ea typeface="IBM Plex Sans"/>
                          <a:cs typeface="IBM Plex Sans"/>
                          <a:sym typeface="IBM Plex Sans"/>
                        </a:rPr>
                        <a:t>Количество лепестков</a:t>
                      </a:r>
                      <a:endParaRPr sz="1600" dirty="0">
                        <a:latin typeface="IBM Plex Sans"/>
                        <a:ea typeface="IBM Plex Sans"/>
                        <a:cs typeface="IBM Plex Sans"/>
                        <a:sym typeface="IBM Plex Sans"/>
                      </a:endParaRPr>
                    </a:p>
                  </a:txBody>
                  <a:tcPr marL="91425" marR="91425" marT="91425" marB="91425" anchor="ctr">
                    <a:solidFill>
                      <a:srgbClr val="F8CEEE"/>
                    </a:solidFill>
                  </a:tcPr>
                </a:tc>
                <a:tc>
                  <a:txBody>
                    <a:bodyPr/>
                    <a:lstStyle/>
                    <a:p>
                      <a:pPr marL="0" lvl="0" indent="0" algn="ctr" rtl="0">
                        <a:spcBef>
                          <a:spcPts val="0"/>
                        </a:spcBef>
                        <a:spcAft>
                          <a:spcPts val="0"/>
                        </a:spcAft>
                        <a:buNone/>
                      </a:pPr>
                      <a:r>
                        <a:rPr lang="ru-RU" sz="1600">
                          <a:latin typeface="IBM Plex Sans"/>
                          <a:ea typeface="IBM Plex Sans"/>
                          <a:cs typeface="IBM Plex Sans"/>
                          <a:sym typeface="IBM Plex Sans"/>
                        </a:rPr>
                        <a:t>Длина лепестка (см)</a:t>
                      </a:r>
                      <a:endParaRPr sz="1600">
                        <a:latin typeface="IBM Plex Sans"/>
                        <a:ea typeface="IBM Plex Sans"/>
                        <a:cs typeface="IBM Plex Sans"/>
                        <a:sym typeface="IBM Plex Sans"/>
                      </a:endParaRPr>
                    </a:p>
                  </a:txBody>
                  <a:tcPr marL="91425" marR="91425" marT="91425" marB="91425" anchor="ctr">
                    <a:solidFill>
                      <a:srgbClr val="F8CEEE"/>
                    </a:solidFill>
                  </a:tcPr>
                </a:tc>
                <a:tc>
                  <a:txBody>
                    <a:bodyPr/>
                    <a:lstStyle/>
                    <a:p>
                      <a:pPr marL="0" lvl="0" indent="0" algn="ctr" rtl="0">
                        <a:spcBef>
                          <a:spcPts val="0"/>
                        </a:spcBef>
                        <a:spcAft>
                          <a:spcPts val="0"/>
                        </a:spcAft>
                        <a:buNone/>
                      </a:pPr>
                      <a:r>
                        <a:rPr lang="ru-RU" sz="1600">
                          <a:solidFill>
                            <a:schemeClr val="lt1"/>
                          </a:solidFill>
                          <a:latin typeface="IBM Plex Sans"/>
                          <a:ea typeface="IBM Plex Sans"/>
                          <a:cs typeface="IBM Plex Sans"/>
                          <a:sym typeface="IBM Plex Sans"/>
                        </a:rPr>
                        <a:t>Тип цветка</a:t>
                      </a:r>
                      <a:endParaRPr sz="1600">
                        <a:solidFill>
                          <a:schemeClr val="lt1"/>
                        </a:solidFill>
                        <a:latin typeface="IBM Plex Sans"/>
                        <a:ea typeface="IBM Plex Sans"/>
                        <a:cs typeface="IBM Plex Sans"/>
                        <a:sym typeface="IBM Plex Sans"/>
                      </a:endParaRPr>
                    </a:p>
                  </a:txBody>
                  <a:tcPr marL="91425" marR="91425" marT="91425" marB="91425" anchor="ctr">
                    <a:solidFill>
                      <a:srgbClr val="8E39E2"/>
                    </a:solidFill>
                  </a:tcPr>
                </a:tc>
                <a:extLst>
                  <a:ext uri="{0D108BD9-81ED-4DB2-BD59-A6C34878D82A}">
                    <a16:rowId xmlns:a16="http://schemas.microsoft.com/office/drawing/2014/main" val="10000"/>
                  </a:ext>
                </a:extLst>
              </a:tr>
              <a:tr h="381000">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5</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3.5</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a:solidFill>
                            <a:srgbClr val="202124"/>
                          </a:solidFill>
                          <a:highlight>
                            <a:srgbClr val="FFFFFF"/>
                          </a:highlight>
                          <a:latin typeface="IBM Plex Sans"/>
                          <a:ea typeface="IBM Plex Sans"/>
                          <a:cs typeface="IBM Plex Sans"/>
                          <a:sym typeface="IBM Plex Sans"/>
                        </a:rPr>
                        <a:t>Лютик</a:t>
                      </a:r>
                      <a:endParaRPr sz="1600">
                        <a:solidFill>
                          <a:srgbClr val="202124"/>
                        </a:solidFill>
                        <a:highlight>
                          <a:srgbClr val="FFFFFF"/>
                        </a:highlight>
                        <a:latin typeface="IBM Plex Sans"/>
                        <a:ea typeface="IBM Plex Sans"/>
                        <a:cs typeface="IBM Plex Sans"/>
                        <a:sym typeface="IBM Plex Sans"/>
                      </a:endParaRPr>
                    </a:p>
                  </a:txBody>
                  <a:tcPr marL="76200" marR="76200" marT="66675" marB="76200" anchor="ctr"/>
                </a:tc>
                <a:extLst>
                  <a:ext uri="{0D108BD9-81ED-4DB2-BD59-A6C34878D82A}">
                    <a16:rowId xmlns:a16="http://schemas.microsoft.com/office/drawing/2014/main" val="10001"/>
                  </a:ext>
                </a:extLst>
              </a:tr>
              <a:tr h="381000">
                <a:tc>
                  <a:txBody>
                    <a:bodyPr/>
                    <a:lstStyle/>
                    <a:p>
                      <a:pPr marL="0" lvl="0" indent="0" algn="ctr" rtl="0">
                        <a:lnSpc>
                          <a:spcPct val="142857"/>
                        </a:lnSpc>
                        <a:spcBef>
                          <a:spcPts val="0"/>
                        </a:spcBef>
                        <a:spcAft>
                          <a:spcPts val="0"/>
                        </a:spcAft>
                        <a:buNone/>
                      </a:pPr>
                      <a:r>
                        <a:rPr lang="ru-RU" sz="1600">
                          <a:solidFill>
                            <a:srgbClr val="202124"/>
                          </a:solidFill>
                          <a:highlight>
                            <a:srgbClr val="FFFFFF"/>
                          </a:highlight>
                          <a:latin typeface="IBM Plex Sans"/>
                          <a:ea typeface="IBM Plex Sans"/>
                          <a:cs typeface="IBM Plex Sans"/>
                          <a:sym typeface="IBM Plex Sans"/>
                        </a:rPr>
                        <a:t>4</a:t>
                      </a:r>
                      <a:endParaRPr sz="160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3.69</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a:solidFill>
                            <a:srgbClr val="202124"/>
                          </a:solidFill>
                          <a:highlight>
                            <a:srgbClr val="FFFFFF"/>
                          </a:highlight>
                          <a:latin typeface="IBM Plex Sans"/>
                          <a:ea typeface="IBM Plex Sans"/>
                          <a:cs typeface="IBM Plex Sans"/>
                          <a:sym typeface="IBM Plex Sans"/>
                        </a:rPr>
                        <a:t>Лютик</a:t>
                      </a:r>
                      <a:endParaRPr sz="1600">
                        <a:solidFill>
                          <a:srgbClr val="202124"/>
                        </a:solidFill>
                        <a:highlight>
                          <a:srgbClr val="FFFFFF"/>
                        </a:highlight>
                        <a:latin typeface="IBM Plex Sans"/>
                        <a:ea typeface="IBM Plex Sans"/>
                        <a:cs typeface="IBM Plex Sans"/>
                        <a:sym typeface="IBM Plex Sans"/>
                      </a:endParaRPr>
                    </a:p>
                  </a:txBody>
                  <a:tcPr marL="76200" marR="76200" marT="66675" marB="76200" anchor="ctr"/>
                </a:tc>
                <a:extLst>
                  <a:ext uri="{0D108BD9-81ED-4DB2-BD59-A6C34878D82A}">
                    <a16:rowId xmlns:a16="http://schemas.microsoft.com/office/drawing/2014/main" val="10002"/>
                  </a:ext>
                </a:extLst>
              </a:tr>
              <a:tr h="381000">
                <a:tc>
                  <a:txBody>
                    <a:bodyPr/>
                    <a:lstStyle/>
                    <a:p>
                      <a:pPr marL="0" lvl="0" indent="0" algn="ctr" rtl="0">
                        <a:lnSpc>
                          <a:spcPct val="142857"/>
                        </a:lnSpc>
                        <a:spcBef>
                          <a:spcPts val="0"/>
                        </a:spcBef>
                        <a:spcAft>
                          <a:spcPts val="0"/>
                        </a:spcAft>
                        <a:buNone/>
                      </a:pPr>
                      <a:r>
                        <a:rPr lang="ru-RU" sz="1600">
                          <a:solidFill>
                            <a:srgbClr val="202124"/>
                          </a:solidFill>
                          <a:highlight>
                            <a:srgbClr val="FFFFFF"/>
                          </a:highlight>
                          <a:latin typeface="IBM Plex Sans"/>
                          <a:ea typeface="IBM Plex Sans"/>
                          <a:cs typeface="IBM Plex Sans"/>
                          <a:sym typeface="IBM Plex Sans"/>
                        </a:rPr>
                        <a:t>2</a:t>
                      </a:r>
                      <a:endParaRPr sz="160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5.44</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spcBef>
                          <a:spcPts val="0"/>
                        </a:spcBef>
                        <a:spcAft>
                          <a:spcPts val="0"/>
                        </a:spcAft>
                        <a:buClr>
                          <a:schemeClr val="dk1"/>
                        </a:buClr>
                        <a:buSzPts val="1100"/>
                        <a:buFont typeface="Arial"/>
                        <a:buNone/>
                      </a:pPr>
                      <a:r>
                        <a:rPr lang="ru-RU" sz="1600" dirty="0">
                          <a:solidFill>
                            <a:schemeClr val="dk1"/>
                          </a:solidFill>
                          <a:latin typeface="IBM Plex Sans"/>
                          <a:ea typeface="IBM Plex Sans"/>
                          <a:cs typeface="IBM Plex Sans"/>
                          <a:sym typeface="IBM Plex Sans"/>
                        </a:rPr>
                        <a:t>Василёк</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lvl="0" indent="0" algn="l" rtl="0">
              <a:lnSpc>
                <a:spcPct val="70000"/>
              </a:lnSpc>
              <a:spcBef>
                <a:spcPts val="0"/>
              </a:spcBef>
              <a:spcAft>
                <a:spcPts val="0"/>
              </a:spcAft>
              <a:buClr>
                <a:schemeClr val="dk1"/>
              </a:buClr>
              <a:buSzPts val="1100"/>
              <a:buFont typeface="Arial"/>
              <a:buNone/>
            </a:pPr>
            <a:r>
              <a:rPr lang="ru-RU" sz="3600" b="1">
                <a:solidFill>
                  <a:schemeClr val="dk1"/>
                </a:solidFill>
                <a:latin typeface="IBM Plex Sans"/>
                <a:ea typeface="IBM Plex Sans"/>
                <a:cs typeface="IBM Plex Sans"/>
                <a:sym typeface="IBM Plex Sans"/>
              </a:rPr>
              <a:t>k-Nearest Neighbors</a:t>
            </a:r>
            <a:endParaRPr sz="3600" b="1">
              <a:solidFill>
                <a:schemeClr val="dk1"/>
              </a:solidFill>
              <a:latin typeface="IBM Plex Sans"/>
              <a:ea typeface="IBM Plex Sans"/>
              <a:cs typeface="IBM Plex Sans"/>
              <a:sym typeface="IBM Plex Sans"/>
            </a:endParaRPr>
          </a:p>
        </p:txBody>
      </p:sp>
      <p:grpSp>
        <p:nvGrpSpPr>
          <p:cNvPr id="153" name="Google Shape;153;p7"/>
          <p:cNvGrpSpPr/>
          <p:nvPr/>
        </p:nvGrpSpPr>
        <p:grpSpPr>
          <a:xfrm>
            <a:off x="9353973" y="-1553420"/>
            <a:ext cx="2853949" cy="13716633"/>
            <a:chOff x="9353973" y="-1553420"/>
            <a:chExt cx="2853949" cy="13716633"/>
          </a:xfrm>
        </p:grpSpPr>
        <p:grpSp>
          <p:nvGrpSpPr>
            <p:cNvPr id="154" name="Google Shape;154;p7"/>
            <p:cNvGrpSpPr/>
            <p:nvPr/>
          </p:nvGrpSpPr>
          <p:grpSpPr>
            <a:xfrm>
              <a:off x="9353973" y="-1553420"/>
              <a:ext cx="2838027" cy="13716633"/>
              <a:chOff x="9353973" y="-6079700"/>
              <a:chExt cx="2838027" cy="13716633"/>
            </a:xfrm>
          </p:grpSpPr>
          <p:pic>
            <p:nvPicPr>
              <p:cNvPr id="155" name="Google Shape;155;p7"/>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56" name="Google Shape;156;p7"/>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57" name="Google Shape;157;p7"/>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8" name="Google Shape;158;p7"/>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59" name="Google Shape;159;p7"/>
          <p:cNvPicPr preferRelativeResize="0"/>
          <p:nvPr/>
        </p:nvPicPr>
        <p:blipFill rotWithShape="1">
          <a:blip r:embed="rId4">
            <a:alphaModFix/>
          </a:blip>
          <a:srcRect/>
          <a:stretch/>
        </p:blipFill>
        <p:spPr>
          <a:xfrm>
            <a:off x="8708574" y="4040996"/>
            <a:ext cx="3047977" cy="3052211"/>
          </a:xfrm>
          <a:prstGeom prst="rect">
            <a:avLst/>
          </a:prstGeom>
          <a:noFill/>
          <a:ln>
            <a:noFill/>
          </a:ln>
        </p:spPr>
      </p:pic>
      <p:sp>
        <p:nvSpPr>
          <p:cNvPr id="160" name="Google Shape;160;p7"/>
          <p:cNvSpPr txBox="1"/>
          <p:nvPr/>
        </p:nvSpPr>
        <p:spPr>
          <a:xfrm>
            <a:off x="1105449" y="2644625"/>
            <a:ext cx="3747551" cy="2568300"/>
          </a:xfrm>
          <a:prstGeom prst="rect">
            <a:avLst/>
          </a:prstGeom>
          <a:noFill/>
          <a:ln>
            <a:noFill/>
          </a:ln>
        </p:spPr>
        <p:txBody>
          <a:bodyPr spcFirstLastPara="1" wrap="square" lIns="0" tIns="0" rIns="0" bIns="0" anchor="t" anchorCtr="0">
            <a:noAutofit/>
          </a:bodyPr>
          <a:lstStyle/>
          <a:p>
            <a:pPr marL="457200" lvl="0" indent="-342900" algn="l" rtl="0">
              <a:lnSpc>
                <a:spcPct val="100000"/>
              </a:lnSpc>
              <a:spcBef>
                <a:spcPts val="0"/>
              </a:spcBef>
              <a:spcAft>
                <a:spcPts val="0"/>
              </a:spcAft>
              <a:buClr>
                <a:schemeClr val="dk1"/>
              </a:buClr>
              <a:buSzPts val="1800"/>
              <a:buFont typeface="IBM Plex Sans"/>
              <a:buAutoNum type="arabicPeriod"/>
            </a:pPr>
            <a:r>
              <a:rPr lang="ru-RU" sz="1800" dirty="0">
                <a:solidFill>
                  <a:schemeClr val="dk1"/>
                </a:solidFill>
                <a:latin typeface="IBM Plex Sans"/>
                <a:ea typeface="IBM Plex Sans"/>
                <a:cs typeface="IBM Plex Sans"/>
                <a:sym typeface="IBM Plex Sans"/>
              </a:rPr>
              <a:t>Получаем точку х, в которой надо сделать предсказание.</a:t>
            </a:r>
            <a:endParaRPr sz="1800" dirty="0">
              <a:solidFill>
                <a:schemeClr val="dk1"/>
              </a:solidFill>
              <a:latin typeface="IBM Plex Sans"/>
              <a:ea typeface="IBM Plex Sans"/>
              <a:cs typeface="IBM Plex Sans"/>
              <a:sym typeface="IBM Plex Sans"/>
            </a:endParaRPr>
          </a:p>
          <a:p>
            <a:pPr marL="457200" lvl="0" indent="-342900" algn="l" rtl="0">
              <a:lnSpc>
                <a:spcPct val="100000"/>
              </a:lnSpc>
              <a:spcBef>
                <a:spcPts val="0"/>
              </a:spcBef>
              <a:spcAft>
                <a:spcPts val="0"/>
              </a:spcAft>
              <a:buClr>
                <a:schemeClr val="dk1"/>
              </a:buClr>
              <a:buSzPts val="1800"/>
              <a:buFont typeface="IBM Plex Sans"/>
              <a:buAutoNum type="arabicPeriod"/>
            </a:pPr>
            <a:r>
              <a:rPr lang="ru-RU" sz="1800" dirty="0">
                <a:solidFill>
                  <a:schemeClr val="dk1"/>
                </a:solidFill>
                <a:latin typeface="IBM Plex Sans"/>
                <a:ea typeface="IBM Plex Sans"/>
                <a:cs typeface="IBM Plex Sans"/>
                <a:sym typeface="IBM Plex Sans"/>
              </a:rPr>
              <a:t>Ищем К ближайших соседей.</a:t>
            </a:r>
            <a:endParaRPr sz="1800" dirty="0">
              <a:solidFill>
                <a:schemeClr val="dk1"/>
              </a:solidFill>
              <a:latin typeface="IBM Plex Sans"/>
              <a:ea typeface="IBM Plex Sans"/>
              <a:cs typeface="IBM Plex Sans"/>
              <a:sym typeface="IBM Plex Sans"/>
            </a:endParaRPr>
          </a:p>
          <a:p>
            <a:pPr marL="457200" lvl="0" indent="-342900" algn="l" rtl="0">
              <a:lnSpc>
                <a:spcPct val="100000"/>
              </a:lnSpc>
              <a:spcBef>
                <a:spcPts val="0"/>
              </a:spcBef>
              <a:spcAft>
                <a:spcPts val="0"/>
              </a:spcAft>
              <a:buClr>
                <a:schemeClr val="dk1"/>
              </a:buClr>
              <a:buSzPts val="1800"/>
              <a:buFont typeface="IBM Plex Sans"/>
              <a:buAutoNum type="arabicPeriod"/>
            </a:pPr>
            <a:r>
              <a:rPr lang="ru-RU" sz="1800" dirty="0">
                <a:solidFill>
                  <a:schemeClr val="dk1"/>
                </a:solidFill>
                <a:latin typeface="IBM Plex Sans"/>
                <a:ea typeface="IBM Plex Sans"/>
                <a:cs typeface="IBM Plex Sans"/>
                <a:sym typeface="IBM Plex Sans"/>
              </a:rPr>
              <a:t>В качестве ответа возвращаем класс, которого больше всего среди </a:t>
            </a:r>
            <a:br>
              <a:rPr lang="en-US" sz="1800" dirty="0">
                <a:solidFill>
                  <a:schemeClr val="dk1"/>
                </a:solidFill>
                <a:latin typeface="IBM Plex Sans"/>
                <a:ea typeface="IBM Plex Sans"/>
                <a:cs typeface="IBM Plex Sans"/>
                <a:sym typeface="IBM Plex Sans"/>
              </a:rPr>
            </a:br>
            <a:r>
              <a:rPr lang="ru-RU" sz="1800" dirty="0">
                <a:solidFill>
                  <a:schemeClr val="dk1"/>
                </a:solidFill>
                <a:latin typeface="IBM Plex Sans"/>
                <a:ea typeface="IBM Plex Sans"/>
                <a:cs typeface="IBM Plex Sans"/>
                <a:sym typeface="IBM Plex Sans"/>
              </a:rPr>
              <a:t>соседей.</a:t>
            </a:r>
            <a:endParaRPr sz="1800" dirty="0">
              <a:solidFill>
                <a:schemeClr val="dk1"/>
              </a:solidFill>
              <a:latin typeface="IBM Plex Sans"/>
              <a:ea typeface="IBM Plex Sans"/>
              <a:cs typeface="IBM Plex Sans"/>
              <a:sym typeface="IBM Plex Sans"/>
            </a:endParaRPr>
          </a:p>
        </p:txBody>
      </p:sp>
      <p:pic>
        <p:nvPicPr>
          <p:cNvPr id="161" name="Google Shape;161;p7"/>
          <p:cNvPicPr preferRelativeResize="0"/>
          <p:nvPr/>
        </p:nvPicPr>
        <p:blipFill>
          <a:blip r:embed="rId5">
            <a:alphaModFix/>
          </a:blip>
          <a:stretch>
            <a:fillRect/>
          </a:stretch>
        </p:blipFill>
        <p:spPr>
          <a:xfrm>
            <a:off x="5288450" y="1970250"/>
            <a:ext cx="4257675" cy="3133725"/>
          </a:xfrm>
          <a:prstGeom prst="rect">
            <a:avLst/>
          </a:prstGeom>
          <a:noFill/>
          <a:ln>
            <a:noFill/>
          </a:ln>
        </p:spPr>
      </p:pic>
      <p:sp>
        <p:nvSpPr>
          <p:cNvPr id="162" name="Google Shape;162;p7"/>
          <p:cNvSpPr txBox="1"/>
          <p:nvPr/>
        </p:nvSpPr>
        <p:spPr>
          <a:xfrm>
            <a:off x="1826380" y="1859650"/>
            <a:ext cx="300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200">
                <a:solidFill>
                  <a:srgbClr val="0F1115"/>
                </a:solidFill>
                <a:highlight>
                  <a:srgbClr val="FFFFFF"/>
                </a:highlight>
                <a:latin typeface="IBM Plex Sans"/>
                <a:ea typeface="IBM Plex Sans"/>
                <a:cs typeface="IBM Plex Sans"/>
                <a:sym typeface="IBM Plex Sans"/>
              </a:rPr>
              <a:t>"Скажи мне, кто твой друг, и я скажу, кто ты"</a:t>
            </a:r>
            <a:endParaRPr>
              <a:latin typeface="IBM Plex Sans"/>
              <a:ea typeface="IBM Plex Sans"/>
              <a:cs typeface="IBM Plex Sans"/>
              <a:sym typeface="IBM Plex Sans"/>
            </a:endParaRPr>
          </a:p>
        </p:txBody>
      </p:sp>
      <p:pic>
        <p:nvPicPr>
          <p:cNvPr id="163" name="Google Shape;163;p7"/>
          <p:cNvPicPr preferRelativeResize="0"/>
          <p:nvPr/>
        </p:nvPicPr>
        <p:blipFill rotWithShape="1">
          <a:blip r:embed="rId6">
            <a:alphaModFix/>
          </a:blip>
          <a:srcRect/>
          <a:stretch/>
        </p:blipFill>
        <p:spPr>
          <a:xfrm>
            <a:off x="980103" y="1711790"/>
            <a:ext cx="846277" cy="849803"/>
          </a:xfrm>
          <a:prstGeom prst="rect">
            <a:avLst/>
          </a:prstGeom>
          <a:noFill/>
          <a:ln>
            <a:noFill/>
          </a:ln>
        </p:spPr>
      </p:pic>
      <p:sp>
        <p:nvSpPr>
          <p:cNvPr id="164" name="Google Shape;164;p7"/>
          <p:cNvSpPr txBox="1"/>
          <p:nvPr/>
        </p:nvSpPr>
        <p:spPr>
          <a:xfrm rot="5400000">
            <a:off x="3454825" y="3645938"/>
            <a:ext cx="3000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dirty="0"/>
              <a:t> Количество лепестков</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65" name="Google Shape;165;p7"/>
          <p:cNvSpPr txBox="1"/>
          <p:nvPr/>
        </p:nvSpPr>
        <p:spPr>
          <a:xfrm>
            <a:off x="6215475" y="49964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a:solidFill>
                  <a:schemeClr val="dk1"/>
                </a:solidFill>
              </a:rPr>
              <a:t>Длина лепестка (см)</a:t>
            </a:r>
            <a:endParaRPr>
              <a:solidFill>
                <a:schemeClr val="dk1"/>
              </a:solidFill>
            </a:endParaRPr>
          </a:p>
        </p:txBody>
      </p:sp>
      <p:graphicFrame>
        <p:nvGraphicFramePr>
          <p:cNvPr id="166" name="Google Shape;166;p7"/>
          <p:cNvGraphicFramePr/>
          <p:nvPr/>
        </p:nvGraphicFramePr>
        <p:xfrm>
          <a:off x="8212250" y="2221425"/>
          <a:ext cx="1141725" cy="842709"/>
        </p:xfrm>
        <a:graphic>
          <a:graphicData uri="http://schemas.openxmlformats.org/drawingml/2006/table">
            <a:tbl>
              <a:tblPr>
                <a:noFill/>
              </a:tblPr>
              <a:tblGrid>
                <a:gridCol w="1141725">
                  <a:extLst>
                    <a:ext uri="{9D8B030D-6E8A-4147-A177-3AD203B41FA5}">
                      <a16:colId xmlns:a16="http://schemas.microsoft.com/office/drawing/2014/main" val="20000"/>
                    </a:ext>
                  </a:extLst>
                </a:gridCol>
              </a:tblGrid>
              <a:tr h="381000">
                <a:tc>
                  <a:txBody>
                    <a:bodyPr/>
                    <a:lstStyle/>
                    <a:p>
                      <a:pPr marL="0" lvl="0" indent="0" algn="l" rtl="0">
                        <a:lnSpc>
                          <a:spcPct val="142857"/>
                        </a:lnSpc>
                        <a:spcBef>
                          <a:spcPts val="0"/>
                        </a:spcBef>
                        <a:spcAft>
                          <a:spcPts val="0"/>
                        </a:spcAft>
                        <a:buNone/>
                      </a:pPr>
                      <a:r>
                        <a:rPr lang="ru-RU" sz="1600">
                          <a:solidFill>
                            <a:srgbClr val="202124"/>
                          </a:solidFill>
                          <a:highlight>
                            <a:srgbClr val="9FC5E8"/>
                          </a:highlight>
                          <a:latin typeface="IBM Plex Sans"/>
                          <a:ea typeface="IBM Plex Sans"/>
                          <a:cs typeface="IBM Plex Sans"/>
                          <a:sym typeface="IBM Plex Sans"/>
                        </a:rPr>
                        <a:t>Лютик</a:t>
                      </a:r>
                      <a:endParaRPr sz="1600">
                        <a:solidFill>
                          <a:srgbClr val="202124"/>
                        </a:solidFill>
                        <a:highlight>
                          <a:srgbClr val="9FC5E8"/>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ru-RU" sz="1600">
                          <a:solidFill>
                            <a:schemeClr val="dk1"/>
                          </a:solidFill>
                          <a:highlight>
                            <a:srgbClr val="93C47D"/>
                          </a:highlight>
                          <a:latin typeface="IBM Plex Sans"/>
                          <a:ea typeface="IBM Plex Sans"/>
                          <a:cs typeface="IBM Plex Sans"/>
                          <a:sym typeface="IBM Plex Sans"/>
                        </a:rPr>
                        <a:t>Василёк</a:t>
                      </a:r>
                      <a:endParaRPr sz="1600">
                        <a:solidFill>
                          <a:srgbClr val="202124"/>
                        </a:solidFill>
                        <a:highlight>
                          <a:srgbClr val="93C47D"/>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lvl="0" indent="0" algn="l" rtl="0">
              <a:lnSpc>
                <a:spcPct val="70000"/>
              </a:lnSpc>
              <a:spcBef>
                <a:spcPts val="0"/>
              </a:spcBef>
              <a:spcAft>
                <a:spcPts val="0"/>
              </a:spcAft>
              <a:buClr>
                <a:schemeClr val="dk1"/>
              </a:buClr>
              <a:buSzPts val="1100"/>
              <a:buFont typeface="Arial"/>
              <a:buNone/>
            </a:pPr>
            <a:r>
              <a:rPr lang="ru-RU" sz="3600" b="1">
                <a:solidFill>
                  <a:schemeClr val="dk1"/>
                </a:solidFill>
                <a:latin typeface="IBM Plex Sans"/>
                <a:ea typeface="IBM Plex Sans"/>
                <a:cs typeface="IBM Plex Sans"/>
                <a:sym typeface="IBM Plex Sans"/>
              </a:rPr>
              <a:t>k-Nearest Neighbors</a:t>
            </a:r>
            <a:endParaRPr sz="3600" b="1">
              <a:solidFill>
                <a:schemeClr val="dk1"/>
              </a:solidFill>
              <a:latin typeface="IBM Plex Sans"/>
              <a:ea typeface="IBM Plex Sans"/>
              <a:cs typeface="IBM Plex Sans"/>
              <a:sym typeface="IBM Plex Sans"/>
            </a:endParaRPr>
          </a:p>
        </p:txBody>
      </p:sp>
      <p:grpSp>
        <p:nvGrpSpPr>
          <p:cNvPr id="153" name="Google Shape;153;p7"/>
          <p:cNvGrpSpPr/>
          <p:nvPr/>
        </p:nvGrpSpPr>
        <p:grpSpPr>
          <a:xfrm>
            <a:off x="9353973" y="-1553420"/>
            <a:ext cx="2853949" cy="13716633"/>
            <a:chOff x="9353973" y="-1553420"/>
            <a:chExt cx="2853949" cy="13716633"/>
          </a:xfrm>
        </p:grpSpPr>
        <p:grpSp>
          <p:nvGrpSpPr>
            <p:cNvPr id="154" name="Google Shape;154;p7"/>
            <p:cNvGrpSpPr/>
            <p:nvPr/>
          </p:nvGrpSpPr>
          <p:grpSpPr>
            <a:xfrm>
              <a:off x="9353973" y="-1553420"/>
              <a:ext cx="2838027" cy="13716633"/>
              <a:chOff x="9353973" y="-6079700"/>
              <a:chExt cx="2838027" cy="13716633"/>
            </a:xfrm>
          </p:grpSpPr>
          <p:pic>
            <p:nvPicPr>
              <p:cNvPr id="155" name="Google Shape;155;p7"/>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56" name="Google Shape;156;p7"/>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57" name="Google Shape;157;p7"/>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8" name="Google Shape;158;p7"/>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62" name="Google Shape;162;p7"/>
          <p:cNvSpPr txBox="1"/>
          <p:nvPr/>
        </p:nvSpPr>
        <p:spPr>
          <a:xfrm>
            <a:off x="1826380" y="1859650"/>
            <a:ext cx="300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200">
                <a:solidFill>
                  <a:srgbClr val="0F1115"/>
                </a:solidFill>
                <a:highlight>
                  <a:srgbClr val="FFFFFF"/>
                </a:highlight>
                <a:latin typeface="IBM Plex Sans"/>
                <a:ea typeface="IBM Plex Sans"/>
                <a:cs typeface="IBM Plex Sans"/>
                <a:sym typeface="IBM Plex Sans"/>
              </a:rPr>
              <a:t>"Скажи мне, кто твой друг, и я скажу, кто ты"</a:t>
            </a:r>
            <a:endParaRPr>
              <a:latin typeface="IBM Plex Sans"/>
              <a:ea typeface="IBM Plex Sans"/>
              <a:cs typeface="IBM Plex Sans"/>
              <a:sym typeface="IBM Plex Sans"/>
            </a:endParaRPr>
          </a:p>
        </p:txBody>
      </p:sp>
      <p:pic>
        <p:nvPicPr>
          <p:cNvPr id="163" name="Google Shape;163;p7"/>
          <p:cNvPicPr preferRelativeResize="0"/>
          <p:nvPr/>
        </p:nvPicPr>
        <p:blipFill rotWithShape="1">
          <a:blip r:embed="rId4">
            <a:alphaModFix/>
          </a:blip>
          <a:srcRect/>
          <a:stretch/>
        </p:blipFill>
        <p:spPr>
          <a:xfrm>
            <a:off x="980103" y="1711790"/>
            <a:ext cx="846277" cy="849803"/>
          </a:xfrm>
          <a:prstGeom prst="rect">
            <a:avLst/>
          </a:prstGeom>
          <a:noFill/>
          <a:ln>
            <a:noFill/>
          </a:ln>
        </p:spPr>
      </p:pic>
      <p:grpSp>
        <p:nvGrpSpPr>
          <p:cNvPr id="3" name="Группа 2">
            <a:extLst>
              <a:ext uri="{FF2B5EF4-FFF2-40B4-BE49-F238E27FC236}">
                <a16:creationId xmlns:a16="http://schemas.microsoft.com/office/drawing/2014/main" id="{2FD1B13C-709A-4F56-8B66-A34919DDA62C}"/>
              </a:ext>
            </a:extLst>
          </p:cNvPr>
          <p:cNvGrpSpPr/>
          <p:nvPr/>
        </p:nvGrpSpPr>
        <p:grpSpPr>
          <a:xfrm>
            <a:off x="6569583" y="2413750"/>
            <a:ext cx="4791340" cy="3591338"/>
            <a:chOff x="4754785" y="1970250"/>
            <a:chExt cx="4791340" cy="3591338"/>
          </a:xfrm>
        </p:grpSpPr>
        <p:grpSp>
          <p:nvGrpSpPr>
            <p:cNvPr id="2" name="Группа 1">
              <a:extLst>
                <a:ext uri="{FF2B5EF4-FFF2-40B4-BE49-F238E27FC236}">
                  <a16:creationId xmlns:a16="http://schemas.microsoft.com/office/drawing/2014/main" id="{45CD3D99-29A7-4B50-BE08-515C5C9B2C46}"/>
                </a:ext>
              </a:extLst>
            </p:cNvPr>
            <p:cNvGrpSpPr/>
            <p:nvPr/>
          </p:nvGrpSpPr>
          <p:grpSpPr>
            <a:xfrm>
              <a:off x="4754785" y="1970250"/>
              <a:ext cx="4791340" cy="3591338"/>
              <a:chOff x="4754785" y="1970250"/>
              <a:chExt cx="4791340" cy="3591338"/>
            </a:xfrm>
          </p:grpSpPr>
          <p:pic>
            <p:nvPicPr>
              <p:cNvPr id="161" name="Google Shape;161;p7"/>
              <p:cNvPicPr preferRelativeResize="0"/>
              <p:nvPr/>
            </p:nvPicPr>
            <p:blipFill>
              <a:blip r:embed="rId5">
                <a:alphaModFix/>
              </a:blip>
              <a:stretch>
                <a:fillRect/>
              </a:stretch>
            </p:blipFill>
            <p:spPr>
              <a:xfrm>
                <a:off x="5288450" y="1970250"/>
                <a:ext cx="4257675" cy="3133725"/>
              </a:xfrm>
              <a:prstGeom prst="rect">
                <a:avLst/>
              </a:prstGeom>
              <a:noFill/>
              <a:ln>
                <a:noFill/>
              </a:ln>
            </p:spPr>
          </p:pic>
          <p:sp>
            <p:nvSpPr>
              <p:cNvPr id="164" name="Google Shape;164;p7"/>
              <p:cNvSpPr txBox="1"/>
              <p:nvPr/>
            </p:nvSpPr>
            <p:spPr>
              <a:xfrm rot="5400000">
                <a:off x="3454825" y="3861548"/>
                <a:ext cx="30000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dirty="0"/>
                  <a:t>Количество усов</a:t>
                </a:r>
                <a:endParaRPr dirty="0"/>
              </a:p>
            </p:txBody>
          </p:sp>
          <p:sp>
            <p:nvSpPr>
              <p:cNvPr id="165" name="Google Shape;165;p7"/>
              <p:cNvSpPr txBox="1"/>
              <p:nvPr/>
            </p:nvSpPr>
            <p:spPr>
              <a:xfrm>
                <a:off x="6215475" y="49964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dirty="0">
                    <a:solidFill>
                      <a:schemeClr val="dk1"/>
                    </a:solidFill>
                  </a:rPr>
                  <a:t>Длина морды (см)</a:t>
                </a:r>
                <a:endParaRPr dirty="0">
                  <a:solidFill>
                    <a:schemeClr val="dk1"/>
                  </a:solidFill>
                </a:endParaRPr>
              </a:p>
            </p:txBody>
          </p:sp>
        </p:grpSp>
        <p:graphicFrame>
          <p:nvGraphicFramePr>
            <p:cNvPr id="166" name="Google Shape;166;p7"/>
            <p:cNvGraphicFramePr/>
            <p:nvPr>
              <p:extLst>
                <p:ext uri="{D42A27DB-BD31-4B8C-83A1-F6EECF244321}">
                  <p14:modId xmlns:p14="http://schemas.microsoft.com/office/powerpoint/2010/main" val="4130861624"/>
                </p:ext>
              </p:extLst>
            </p:nvPr>
          </p:nvGraphicFramePr>
          <p:xfrm>
            <a:off x="8212250" y="2221425"/>
            <a:ext cx="1141725" cy="842709"/>
          </p:xfrm>
          <a:graphic>
            <a:graphicData uri="http://schemas.openxmlformats.org/drawingml/2006/table">
              <a:tbl>
                <a:tblPr>
                  <a:noFill/>
                </a:tblPr>
                <a:tblGrid>
                  <a:gridCol w="1141725">
                    <a:extLst>
                      <a:ext uri="{9D8B030D-6E8A-4147-A177-3AD203B41FA5}">
                        <a16:colId xmlns:a16="http://schemas.microsoft.com/office/drawing/2014/main" val="20000"/>
                      </a:ext>
                    </a:extLst>
                  </a:gridCol>
                </a:tblGrid>
                <a:tr h="381000">
                  <a:tc>
                    <a:txBody>
                      <a:bodyPr/>
                      <a:lstStyle/>
                      <a:p>
                        <a:pPr marL="0" lvl="0" indent="0" algn="l" rtl="0">
                          <a:lnSpc>
                            <a:spcPct val="142857"/>
                          </a:lnSpc>
                          <a:spcBef>
                            <a:spcPts val="0"/>
                          </a:spcBef>
                          <a:spcAft>
                            <a:spcPts val="0"/>
                          </a:spcAft>
                          <a:buNone/>
                        </a:pPr>
                        <a:r>
                          <a:rPr lang="ru-RU" sz="1600" dirty="0">
                            <a:solidFill>
                              <a:srgbClr val="202124"/>
                            </a:solidFill>
                            <a:highlight>
                              <a:srgbClr val="9FC5E8"/>
                            </a:highlight>
                            <a:latin typeface="IBM Plex Sans"/>
                            <a:ea typeface="IBM Plex Sans"/>
                            <a:cs typeface="IBM Plex Sans"/>
                            <a:sym typeface="IBM Plex Sans"/>
                          </a:rPr>
                          <a:t>Собака</a:t>
                        </a:r>
                        <a:endParaRPr sz="1600" dirty="0">
                          <a:solidFill>
                            <a:srgbClr val="202124"/>
                          </a:solidFill>
                          <a:highlight>
                            <a:srgbClr val="9FC5E8"/>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ru-RU" sz="1600" dirty="0">
                            <a:solidFill>
                              <a:schemeClr val="dk1"/>
                            </a:solidFill>
                            <a:highlight>
                              <a:srgbClr val="93C47D"/>
                            </a:highlight>
                            <a:latin typeface="IBM Plex Sans"/>
                            <a:ea typeface="IBM Plex Sans"/>
                            <a:cs typeface="IBM Plex Sans"/>
                            <a:sym typeface="IBM Plex Sans"/>
                          </a:rPr>
                          <a:t>Кот</a:t>
                        </a:r>
                        <a:endParaRPr sz="1600" dirty="0">
                          <a:solidFill>
                            <a:srgbClr val="202124"/>
                          </a:solidFill>
                          <a:highlight>
                            <a:srgbClr val="93C47D"/>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pSp>
      <p:graphicFrame>
        <p:nvGraphicFramePr>
          <p:cNvPr id="17" name="Google Shape;147;g3cd43cf902c_0_44">
            <a:extLst>
              <a:ext uri="{FF2B5EF4-FFF2-40B4-BE49-F238E27FC236}">
                <a16:creationId xmlns:a16="http://schemas.microsoft.com/office/drawing/2014/main" id="{96CD65C5-37D3-454C-AECF-A4661F18E802}"/>
              </a:ext>
            </a:extLst>
          </p:cNvPr>
          <p:cNvGraphicFramePr/>
          <p:nvPr>
            <p:extLst>
              <p:ext uri="{D42A27DB-BD31-4B8C-83A1-F6EECF244321}">
                <p14:modId xmlns:p14="http://schemas.microsoft.com/office/powerpoint/2010/main" val="717490793"/>
              </p:ext>
            </p:extLst>
          </p:nvPr>
        </p:nvGraphicFramePr>
        <p:xfrm>
          <a:off x="901374" y="2746749"/>
          <a:ext cx="4499856" cy="2313990"/>
        </p:xfrm>
        <a:graphic>
          <a:graphicData uri="http://schemas.openxmlformats.org/drawingml/2006/table">
            <a:tbl>
              <a:tblPr>
                <a:noFill/>
              </a:tblPr>
              <a:tblGrid>
                <a:gridCol w="1499952">
                  <a:extLst>
                    <a:ext uri="{9D8B030D-6E8A-4147-A177-3AD203B41FA5}">
                      <a16:colId xmlns:a16="http://schemas.microsoft.com/office/drawing/2014/main" val="20000"/>
                    </a:ext>
                  </a:extLst>
                </a:gridCol>
                <a:gridCol w="1499952">
                  <a:extLst>
                    <a:ext uri="{9D8B030D-6E8A-4147-A177-3AD203B41FA5}">
                      <a16:colId xmlns:a16="http://schemas.microsoft.com/office/drawing/2014/main" val="20001"/>
                    </a:ext>
                  </a:extLst>
                </a:gridCol>
                <a:gridCol w="1499952">
                  <a:extLst>
                    <a:ext uri="{9D8B030D-6E8A-4147-A177-3AD203B41FA5}">
                      <a16:colId xmlns:a16="http://schemas.microsoft.com/office/drawing/2014/main" val="20002"/>
                    </a:ext>
                  </a:extLst>
                </a:gridCol>
              </a:tblGrid>
              <a:tr h="512615">
                <a:tc>
                  <a:txBody>
                    <a:bodyPr/>
                    <a:lstStyle/>
                    <a:p>
                      <a:pPr marL="0" lvl="0" indent="0" algn="ctr" rtl="0">
                        <a:spcBef>
                          <a:spcPts val="0"/>
                        </a:spcBef>
                        <a:spcAft>
                          <a:spcPts val="0"/>
                        </a:spcAft>
                        <a:buNone/>
                      </a:pPr>
                      <a:r>
                        <a:rPr lang="ru-RU" sz="1600" dirty="0">
                          <a:latin typeface="IBM Plex Sans"/>
                          <a:ea typeface="IBM Plex Sans"/>
                          <a:cs typeface="IBM Plex Sans"/>
                          <a:sym typeface="IBM Plex Sans"/>
                        </a:rPr>
                        <a:t>Количество усов</a:t>
                      </a:r>
                      <a:endParaRPr sz="1600" dirty="0">
                        <a:latin typeface="IBM Plex Sans"/>
                        <a:ea typeface="IBM Plex Sans"/>
                        <a:cs typeface="IBM Plex Sans"/>
                        <a:sym typeface="IBM Plex Sans"/>
                      </a:endParaRPr>
                    </a:p>
                  </a:txBody>
                  <a:tcPr marL="91425" marR="91425" marT="91425" marB="91425" anchor="ctr">
                    <a:solidFill>
                      <a:srgbClr val="F8CEEE"/>
                    </a:solidFill>
                  </a:tcPr>
                </a:tc>
                <a:tc>
                  <a:txBody>
                    <a:bodyPr/>
                    <a:lstStyle/>
                    <a:p>
                      <a:pPr marL="0" lvl="0" indent="0" algn="ctr" rtl="0">
                        <a:spcBef>
                          <a:spcPts val="0"/>
                        </a:spcBef>
                        <a:spcAft>
                          <a:spcPts val="0"/>
                        </a:spcAft>
                        <a:buNone/>
                      </a:pPr>
                      <a:r>
                        <a:rPr lang="ru-RU" sz="1600" dirty="0">
                          <a:latin typeface="IBM Plex Sans"/>
                          <a:ea typeface="IBM Plex Sans"/>
                          <a:cs typeface="IBM Plex Sans"/>
                          <a:sym typeface="IBM Plex Sans"/>
                        </a:rPr>
                        <a:t>Длина морды (см)</a:t>
                      </a:r>
                      <a:endParaRPr sz="1600" dirty="0">
                        <a:latin typeface="IBM Plex Sans"/>
                        <a:ea typeface="IBM Plex Sans"/>
                        <a:cs typeface="IBM Plex Sans"/>
                        <a:sym typeface="IBM Plex Sans"/>
                      </a:endParaRPr>
                    </a:p>
                  </a:txBody>
                  <a:tcPr marL="91425" marR="91425" marT="91425" marB="91425" anchor="ctr">
                    <a:solidFill>
                      <a:srgbClr val="F8CEEE"/>
                    </a:solidFill>
                  </a:tcPr>
                </a:tc>
                <a:tc>
                  <a:txBody>
                    <a:bodyPr/>
                    <a:lstStyle/>
                    <a:p>
                      <a:pPr marL="0" lvl="0" indent="0" algn="ctr" rtl="0">
                        <a:spcBef>
                          <a:spcPts val="0"/>
                        </a:spcBef>
                        <a:spcAft>
                          <a:spcPts val="0"/>
                        </a:spcAft>
                        <a:buNone/>
                      </a:pPr>
                      <a:r>
                        <a:rPr lang="ru-RU" sz="1600" dirty="0">
                          <a:solidFill>
                            <a:schemeClr val="lt1"/>
                          </a:solidFill>
                          <a:latin typeface="IBM Plex Sans"/>
                          <a:ea typeface="IBM Plex Sans"/>
                          <a:cs typeface="IBM Plex Sans"/>
                          <a:sym typeface="IBM Plex Sans"/>
                        </a:rPr>
                        <a:t>Животное</a:t>
                      </a:r>
                      <a:endParaRPr sz="1600" dirty="0">
                        <a:solidFill>
                          <a:schemeClr val="lt1"/>
                        </a:solidFill>
                        <a:latin typeface="IBM Plex Sans"/>
                        <a:ea typeface="IBM Plex Sans"/>
                        <a:cs typeface="IBM Plex Sans"/>
                        <a:sym typeface="IBM Plex Sans"/>
                      </a:endParaRPr>
                    </a:p>
                  </a:txBody>
                  <a:tcPr marL="91425" marR="91425" marT="91425" marB="91425" anchor="ctr">
                    <a:solidFill>
                      <a:srgbClr val="8E39E2"/>
                    </a:solidFill>
                  </a:tcPr>
                </a:tc>
                <a:extLst>
                  <a:ext uri="{0D108BD9-81ED-4DB2-BD59-A6C34878D82A}">
                    <a16:rowId xmlns:a16="http://schemas.microsoft.com/office/drawing/2014/main" val="10000"/>
                  </a:ext>
                </a:extLst>
              </a:tr>
              <a:tr h="547820">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5</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3.5</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Собака</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extLst>
                  <a:ext uri="{0D108BD9-81ED-4DB2-BD59-A6C34878D82A}">
                    <a16:rowId xmlns:a16="http://schemas.microsoft.com/office/drawing/2014/main" val="10001"/>
                  </a:ext>
                </a:extLst>
              </a:tr>
              <a:tr h="547820">
                <a:tc>
                  <a:txBody>
                    <a:bodyPr/>
                    <a:lstStyle/>
                    <a:p>
                      <a:pPr marL="0" lvl="0" indent="0" algn="ctr" rtl="0">
                        <a:lnSpc>
                          <a:spcPct val="142857"/>
                        </a:lnSpc>
                        <a:spcBef>
                          <a:spcPts val="0"/>
                        </a:spcBef>
                        <a:spcAft>
                          <a:spcPts val="0"/>
                        </a:spcAft>
                        <a:buNone/>
                      </a:pPr>
                      <a:r>
                        <a:rPr lang="ru-RU" sz="1600">
                          <a:solidFill>
                            <a:srgbClr val="202124"/>
                          </a:solidFill>
                          <a:highlight>
                            <a:srgbClr val="FFFFFF"/>
                          </a:highlight>
                          <a:latin typeface="IBM Plex Sans"/>
                          <a:ea typeface="IBM Plex Sans"/>
                          <a:cs typeface="IBM Plex Sans"/>
                          <a:sym typeface="IBM Plex Sans"/>
                        </a:rPr>
                        <a:t>4</a:t>
                      </a:r>
                      <a:endParaRPr sz="160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3.69</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Собака</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extLst>
                  <a:ext uri="{0D108BD9-81ED-4DB2-BD59-A6C34878D82A}">
                    <a16:rowId xmlns:a16="http://schemas.microsoft.com/office/drawing/2014/main" val="10002"/>
                  </a:ext>
                </a:extLst>
              </a:tr>
              <a:tr h="547820">
                <a:tc>
                  <a:txBody>
                    <a:bodyPr/>
                    <a:lstStyle/>
                    <a:p>
                      <a:pPr marL="0" lvl="0" indent="0" algn="ctr" rtl="0">
                        <a:lnSpc>
                          <a:spcPct val="142857"/>
                        </a:lnSpc>
                        <a:spcBef>
                          <a:spcPts val="0"/>
                        </a:spcBef>
                        <a:spcAft>
                          <a:spcPts val="0"/>
                        </a:spcAft>
                        <a:buNone/>
                      </a:pPr>
                      <a:r>
                        <a:rPr lang="ru-RU" sz="1600">
                          <a:solidFill>
                            <a:srgbClr val="202124"/>
                          </a:solidFill>
                          <a:highlight>
                            <a:srgbClr val="FFFFFF"/>
                          </a:highlight>
                          <a:latin typeface="IBM Plex Sans"/>
                          <a:ea typeface="IBM Plex Sans"/>
                          <a:cs typeface="IBM Plex Sans"/>
                          <a:sym typeface="IBM Plex Sans"/>
                        </a:rPr>
                        <a:t>2</a:t>
                      </a:r>
                      <a:endParaRPr sz="160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5.44</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spcBef>
                          <a:spcPts val="0"/>
                        </a:spcBef>
                        <a:spcAft>
                          <a:spcPts val="0"/>
                        </a:spcAft>
                        <a:buClr>
                          <a:schemeClr val="dk1"/>
                        </a:buClr>
                        <a:buSzPts val="1100"/>
                        <a:buFont typeface="Arial"/>
                        <a:buNone/>
                      </a:pPr>
                      <a:r>
                        <a:rPr lang="ru-RU" sz="1600" dirty="0">
                          <a:solidFill>
                            <a:srgbClr val="202124"/>
                          </a:solidFill>
                          <a:highlight>
                            <a:srgbClr val="FFFFFF"/>
                          </a:highlight>
                          <a:latin typeface="IBM Plex Sans"/>
                          <a:ea typeface="IBM Plex Sans"/>
                          <a:cs typeface="IBM Plex Sans"/>
                          <a:sym typeface="IBM Plex Sans"/>
                        </a:rPr>
                        <a:t>Кот</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extLst>
                  <a:ext uri="{0D108BD9-81ED-4DB2-BD59-A6C34878D82A}">
                    <a16:rowId xmlns:a16="http://schemas.microsoft.com/office/drawing/2014/main" val="10003"/>
                  </a:ext>
                </a:extLst>
              </a:tr>
            </a:tbl>
          </a:graphicData>
        </a:graphic>
      </p:graphicFrame>
      <p:sp>
        <p:nvSpPr>
          <p:cNvPr id="4" name="Стрелка: вправо 3">
            <a:extLst>
              <a:ext uri="{FF2B5EF4-FFF2-40B4-BE49-F238E27FC236}">
                <a16:creationId xmlns:a16="http://schemas.microsoft.com/office/drawing/2014/main" id="{6F95ADB5-61BA-4CDD-B230-8FB88132348D}"/>
              </a:ext>
            </a:extLst>
          </p:cNvPr>
          <p:cNvSpPr/>
          <p:nvPr/>
        </p:nvSpPr>
        <p:spPr>
          <a:xfrm>
            <a:off x="5779123" y="3624349"/>
            <a:ext cx="767981" cy="7099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8863793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grpSp>
        <p:nvGrpSpPr>
          <p:cNvPr id="153" name="Google Shape;153;p7"/>
          <p:cNvGrpSpPr/>
          <p:nvPr/>
        </p:nvGrpSpPr>
        <p:grpSpPr>
          <a:xfrm>
            <a:off x="9353973" y="-1553420"/>
            <a:ext cx="2853949" cy="13716633"/>
            <a:chOff x="9353973" y="-1553420"/>
            <a:chExt cx="2853949" cy="13716633"/>
          </a:xfrm>
        </p:grpSpPr>
        <p:grpSp>
          <p:nvGrpSpPr>
            <p:cNvPr id="154" name="Google Shape;154;p7"/>
            <p:cNvGrpSpPr/>
            <p:nvPr/>
          </p:nvGrpSpPr>
          <p:grpSpPr>
            <a:xfrm>
              <a:off x="9353973" y="-1553420"/>
              <a:ext cx="2838027" cy="13716633"/>
              <a:chOff x="9353973" y="-6079700"/>
              <a:chExt cx="2838027" cy="13716633"/>
            </a:xfrm>
          </p:grpSpPr>
          <p:pic>
            <p:nvPicPr>
              <p:cNvPr id="155" name="Google Shape;155;p7"/>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56" name="Google Shape;156;p7"/>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57" name="Google Shape;157;p7"/>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8" name="Google Shape;158;p7"/>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24" name="Группа 23">
            <a:extLst>
              <a:ext uri="{FF2B5EF4-FFF2-40B4-BE49-F238E27FC236}">
                <a16:creationId xmlns:a16="http://schemas.microsoft.com/office/drawing/2014/main" id="{FCA0973A-FDA0-4E70-B7E1-4A9175F7DCB2}"/>
              </a:ext>
            </a:extLst>
          </p:cNvPr>
          <p:cNvGrpSpPr/>
          <p:nvPr/>
        </p:nvGrpSpPr>
        <p:grpSpPr>
          <a:xfrm>
            <a:off x="6569583" y="2413750"/>
            <a:ext cx="4791340" cy="3591338"/>
            <a:chOff x="4754785" y="1970250"/>
            <a:chExt cx="4791340" cy="3591338"/>
          </a:xfrm>
        </p:grpSpPr>
        <p:grpSp>
          <p:nvGrpSpPr>
            <p:cNvPr id="25" name="Группа 24">
              <a:extLst>
                <a:ext uri="{FF2B5EF4-FFF2-40B4-BE49-F238E27FC236}">
                  <a16:creationId xmlns:a16="http://schemas.microsoft.com/office/drawing/2014/main" id="{9A345D53-3108-4F32-AC80-5C254B352797}"/>
                </a:ext>
              </a:extLst>
            </p:cNvPr>
            <p:cNvGrpSpPr/>
            <p:nvPr/>
          </p:nvGrpSpPr>
          <p:grpSpPr>
            <a:xfrm>
              <a:off x="4754785" y="1970250"/>
              <a:ext cx="4791340" cy="3591338"/>
              <a:chOff x="4754785" y="1970250"/>
              <a:chExt cx="4791340" cy="3591338"/>
            </a:xfrm>
          </p:grpSpPr>
          <p:pic>
            <p:nvPicPr>
              <p:cNvPr id="27" name="Google Shape;161;p7">
                <a:extLst>
                  <a:ext uri="{FF2B5EF4-FFF2-40B4-BE49-F238E27FC236}">
                    <a16:creationId xmlns:a16="http://schemas.microsoft.com/office/drawing/2014/main" id="{29DA0CA2-5A55-4BF6-B287-7AFBAA67670A}"/>
                  </a:ext>
                </a:extLst>
              </p:cNvPr>
              <p:cNvPicPr preferRelativeResize="0"/>
              <p:nvPr/>
            </p:nvPicPr>
            <p:blipFill>
              <a:blip r:embed="rId4">
                <a:alphaModFix/>
              </a:blip>
              <a:stretch>
                <a:fillRect/>
              </a:stretch>
            </p:blipFill>
            <p:spPr>
              <a:xfrm>
                <a:off x="5288450" y="1970250"/>
                <a:ext cx="4257675" cy="3133725"/>
              </a:xfrm>
              <a:prstGeom prst="rect">
                <a:avLst/>
              </a:prstGeom>
              <a:noFill/>
              <a:ln>
                <a:noFill/>
              </a:ln>
            </p:spPr>
          </p:pic>
          <p:sp>
            <p:nvSpPr>
              <p:cNvPr id="30" name="Google Shape;164;p7">
                <a:extLst>
                  <a:ext uri="{FF2B5EF4-FFF2-40B4-BE49-F238E27FC236}">
                    <a16:creationId xmlns:a16="http://schemas.microsoft.com/office/drawing/2014/main" id="{E4FAA69E-C8A2-439E-B634-5A231CECDF94}"/>
                  </a:ext>
                </a:extLst>
              </p:cNvPr>
              <p:cNvSpPr txBox="1"/>
              <p:nvPr/>
            </p:nvSpPr>
            <p:spPr>
              <a:xfrm rot="5400000">
                <a:off x="3454825" y="3861548"/>
                <a:ext cx="30000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dirty="0"/>
                  <a:t>Количество усов</a:t>
                </a:r>
                <a:endParaRPr dirty="0"/>
              </a:p>
            </p:txBody>
          </p:sp>
          <p:sp>
            <p:nvSpPr>
              <p:cNvPr id="31" name="Google Shape;165;p7">
                <a:extLst>
                  <a:ext uri="{FF2B5EF4-FFF2-40B4-BE49-F238E27FC236}">
                    <a16:creationId xmlns:a16="http://schemas.microsoft.com/office/drawing/2014/main" id="{80DC0E4D-DF4A-4582-B973-E8EFCC66AFF9}"/>
                  </a:ext>
                </a:extLst>
              </p:cNvPr>
              <p:cNvSpPr txBox="1"/>
              <p:nvPr/>
            </p:nvSpPr>
            <p:spPr>
              <a:xfrm>
                <a:off x="6215475" y="49964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dirty="0">
                    <a:solidFill>
                      <a:schemeClr val="dk1"/>
                    </a:solidFill>
                  </a:rPr>
                  <a:t>Длина морды (см)</a:t>
                </a:r>
                <a:endParaRPr dirty="0">
                  <a:solidFill>
                    <a:schemeClr val="dk1"/>
                  </a:solidFill>
                </a:endParaRPr>
              </a:p>
            </p:txBody>
          </p:sp>
        </p:grpSp>
        <p:graphicFrame>
          <p:nvGraphicFramePr>
            <p:cNvPr id="26" name="Google Shape;166;p7">
              <a:extLst>
                <a:ext uri="{FF2B5EF4-FFF2-40B4-BE49-F238E27FC236}">
                  <a16:creationId xmlns:a16="http://schemas.microsoft.com/office/drawing/2014/main" id="{FB43E765-4E2B-4BD0-8469-73C427BD149F}"/>
                </a:ext>
              </a:extLst>
            </p:cNvPr>
            <p:cNvGraphicFramePr/>
            <p:nvPr>
              <p:extLst>
                <p:ext uri="{D42A27DB-BD31-4B8C-83A1-F6EECF244321}">
                  <p14:modId xmlns:p14="http://schemas.microsoft.com/office/powerpoint/2010/main" val="3728994033"/>
                </p:ext>
              </p:extLst>
            </p:nvPr>
          </p:nvGraphicFramePr>
          <p:xfrm>
            <a:off x="8212250" y="2221425"/>
            <a:ext cx="1141725" cy="842709"/>
          </p:xfrm>
          <a:graphic>
            <a:graphicData uri="http://schemas.openxmlformats.org/drawingml/2006/table">
              <a:tbl>
                <a:tblPr>
                  <a:noFill/>
                </a:tblPr>
                <a:tblGrid>
                  <a:gridCol w="1141725">
                    <a:extLst>
                      <a:ext uri="{9D8B030D-6E8A-4147-A177-3AD203B41FA5}">
                        <a16:colId xmlns:a16="http://schemas.microsoft.com/office/drawing/2014/main" val="20000"/>
                      </a:ext>
                    </a:extLst>
                  </a:gridCol>
                </a:tblGrid>
                <a:tr h="381000">
                  <a:tc>
                    <a:txBody>
                      <a:bodyPr/>
                      <a:lstStyle/>
                      <a:p>
                        <a:pPr marL="0" lvl="0" indent="0" algn="l" rtl="0">
                          <a:lnSpc>
                            <a:spcPct val="142857"/>
                          </a:lnSpc>
                          <a:spcBef>
                            <a:spcPts val="0"/>
                          </a:spcBef>
                          <a:spcAft>
                            <a:spcPts val="0"/>
                          </a:spcAft>
                          <a:buNone/>
                        </a:pPr>
                        <a:r>
                          <a:rPr lang="ru-RU" sz="1600" dirty="0">
                            <a:solidFill>
                              <a:srgbClr val="202124"/>
                            </a:solidFill>
                            <a:highlight>
                              <a:srgbClr val="9FC5E8"/>
                            </a:highlight>
                            <a:latin typeface="IBM Plex Sans"/>
                            <a:ea typeface="IBM Plex Sans"/>
                            <a:cs typeface="IBM Plex Sans"/>
                            <a:sym typeface="IBM Plex Sans"/>
                          </a:rPr>
                          <a:t>Собака</a:t>
                        </a:r>
                        <a:endParaRPr sz="1600" dirty="0">
                          <a:solidFill>
                            <a:srgbClr val="202124"/>
                          </a:solidFill>
                          <a:highlight>
                            <a:srgbClr val="9FC5E8"/>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ru-RU" sz="1600" dirty="0">
                            <a:solidFill>
                              <a:schemeClr val="dk1"/>
                            </a:solidFill>
                            <a:highlight>
                              <a:srgbClr val="93C47D"/>
                            </a:highlight>
                            <a:latin typeface="IBM Plex Sans"/>
                            <a:ea typeface="IBM Plex Sans"/>
                            <a:cs typeface="IBM Plex Sans"/>
                            <a:sym typeface="IBM Plex Sans"/>
                          </a:rPr>
                          <a:t>Кот</a:t>
                        </a:r>
                        <a:endParaRPr sz="1600" dirty="0">
                          <a:solidFill>
                            <a:srgbClr val="202124"/>
                          </a:solidFill>
                          <a:highlight>
                            <a:srgbClr val="93C47D"/>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pSp>
      <p:sp>
        <p:nvSpPr>
          <p:cNvPr id="152" name="Google Shape;152;p7"/>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lvl="0" indent="0" algn="l" rtl="0">
              <a:lnSpc>
                <a:spcPct val="70000"/>
              </a:lnSpc>
              <a:spcBef>
                <a:spcPts val="0"/>
              </a:spcBef>
              <a:spcAft>
                <a:spcPts val="0"/>
              </a:spcAft>
              <a:buClr>
                <a:schemeClr val="dk1"/>
              </a:buClr>
              <a:buSzPts val="1100"/>
              <a:buFont typeface="Arial"/>
              <a:buNone/>
            </a:pPr>
            <a:r>
              <a:rPr lang="ru-RU" sz="3600" b="1" dirty="0">
                <a:solidFill>
                  <a:schemeClr val="dk1"/>
                </a:solidFill>
                <a:latin typeface="IBM Plex Sans"/>
                <a:ea typeface="IBM Plex Sans"/>
                <a:cs typeface="IBM Plex Sans"/>
                <a:sym typeface="IBM Plex Sans"/>
              </a:rPr>
              <a:t>Пропуски в данных</a:t>
            </a:r>
            <a:endParaRPr sz="3600" b="1" dirty="0">
              <a:solidFill>
                <a:schemeClr val="dk1"/>
              </a:solidFill>
              <a:latin typeface="IBM Plex Sans"/>
              <a:ea typeface="IBM Plex Sans"/>
              <a:cs typeface="IBM Plex Sans"/>
              <a:sym typeface="IBM Plex Sans"/>
            </a:endParaRPr>
          </a:p>
        </p:txBody>
      </p:sp>
      <p:sp>
        <p:nvSpPr>
          <p:cNvPr id="162" name="Google Shape;162;p7"/>
          <p:cNvSpPr txBox="1"/>
          <p:nvPr/>
        </p:nvSpPr>
        <p:spPr>
          <a:xfrm>
            <a:off x="1826380" y="1859650"/>
            <a:ext cx="300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200">
                <a:solidFill>
                  <a:srgbClr val="0F1115"/>
                </a:solidFill>
                <a:highlight>
                  <a:srgbClr val="FFFFFF"/>
                </a:highlight>
                <a:latin typeface="IBM Plex Sans"/>
                <a:ea typeface="IBM Plex Sans"/>
                <a:cs typeface="IBM Plex Sans"/>
                <a:sym typeface="IBM Plex Sans"/>
              </a:rPr>
              <a:t>"Скажи мне, кто твой друг, и я скажу, кто ты"</a:t>
            </a:r>
            <a:endParaRPr>
              <a:latin typeface="IBM Plex Sans"/>
              <a:ea typeface="IBM Plex Sans"/>
              <a:cs typeface="IBM Plex Sans"/>
              <a:sym typeface="IBM Plex Sans"/>
            </a:endParaRPr>
          </a:p>
        </p:txBody>
      </p:sp>
      <p:pic>
        <p:nvPicPr>
          <p:cNvPr id="163" name="Google Shape;163;p7"/>
          <p:cNvPicPr preferRelativeResize="0"/>
          <p:nvPr/>
        </p:nvPicPr>
        <p:blipFill rotWithShape="1">
          <a:blip r:embed="rId5">
            <a:alphaModFix/>
          </a:blip>
          <a:srcRect/>
          <a:stretch/>
        </p:blipFill>
        <p:spPr>
          <a:xfrm>
            <a:off x="980103" y="1711790"/>
            <a:ext cx="846277" cy="849803"/>
          </a:xfrm>
          <a:prstGeom prst="rect">
            <a:avLst/>
          </a:prstGeom>
          <a:noFill/>
          <a:ln>
            <a:noFill/>
          </a:ln>
        </p:spPr>
      </p:pic>
      <p:graphicFrame>
        <p:nvGraphicFramePr>
          <p:cNvPr id="17" name="Google Shape;147;g3cd43cf902c_0_44">
            <a:extLst>
              <a:ext uri="{FF2B5EF4-FFF2-40B4-BE49-F238E27FC236}">
                <a16:creationId xmlns:a16="http://schemas.microsoft.com/office/drawing/2014/main" id="{96CD65C5-37D3-454C-AECF-A4661F18E802}"/>
              </a:ext>
            </a:extLst>
          </p:cNvPr>
          <p:cNvGraphicFramePr/>
          <p:nvPr>
            <p:extLst>
              <p:ext uri="{D42A27DB-BD31-4B8C-83A1-F6EECF244321}">
                <p14:modId xmlns:p14="http://schemas.microsoft.com/office/powerpoint/2010/main" val="3509158811"/>
              </p:ext>
            </p:extLst>
          </p:nvPr>
        </p:nvGraphicFramePr>
        <p:xfrm>
          <a:off x="901374" y="2746749"/>
          <a:ext cx="4499856" cy="2313990"/>
        </p:xfrm>
        <a:graphic>
          <a:graphicData uri="http://schemas.openxmlformats.org/drawingml/2006/table">
            <a:tbl>
              <a:tblPr>
                <a:noFill/>
              </a:tblPr>
              <a:tblGrid>
                <a:gridCol w="1499952">
                  <a:extLst>
                    <a:ext uri="{9D8B030D-6E8A-4147-A177-3AD203B41FA5}">
                      <a16:colId xmlns:a16="http://schemas.microsoft.com/office/drawing/2014/main" val="20000"/>
                    </a:ext>
                  </a:extLst>
                </a:gridCol>
                <a:gridCol w="1499952">
                  <a:extLst>
                    <a:ext uri="{9D8B030D-6E8A-4147-A177-3AD203B41FA5}">
                      <a16:colId xmlns:a16="http://schemas.microsoft.com/office/drawing/2014/main" val="20001"/>
                    </a:ext>
                  </a:extLst>
                </a:gridCol>
                <a:gridCol w="1499952">
                  <a:extLst>
                    <a:ext uri="{9D8B030D-6E8A-4147-A177-3AD203B41FA5}">
                      <a16:colId xmlns:a16="http://schemas.microsoft.com/office/drawing/2014/main" val="20002"/>
                    </a:ext>
                  </a:extLst>
                </a:gridCol>
              </a:tblGrid>
              <a:tr h="512615">
                <a:tc>
                  <a:txBody>
                    <a:bodyPr/>
                    <a:lstStyle/>
                    <a:p>
                      <a:pPr marL="0" lvl="0" indent="0" algn="ctr" rtl="0">
                        <a:spcBef>
                          <a:spcPts val="0"/>
                        </a:spcBef>
                        <a:spcAft>
                          <a:spcPts val="0"/>
                        </a:spcAft>
                        <a:buNone/>
                      </a:pPr>
                      <a:r>
                        <a:rPr lang="ru-RU" sz="1600" dirty="0">
                          <a:latin typeface="IBM Plex Sans"/>
                          <a:ea typeface="IBM Plex Sans"/>
                          <a:cs typeface="IBM Plex Sans"/>
                          <a:sym typeface="IBM Plex Sans"/>
                        </a:rPr>
                        <a:t>Количество усов</a:t>
                      </a:r>
                      <a:endParaRPr sz="1600" dirty="0">
                        <a:latin typeface="IBM Plex Sans"/>
                        <a:ea typeface="IBM Plex Sans"/>
                        <a:cs typeface="IBM Plex Sans"/>
                        <a:sym typeface="IBM Plex Sans"/>
                      </a:endParaRPr>
                    </a:p>
                  </a:txBody>
                  <a:tcPr marL="91425" marR="91425" marT="91425" marB="91425" anchor="ctr">
                    <a:solidFill>
                      <a:srgbClr val="F8CEEE"/>
                    </a:solidFill>
                  </a:tcPr>
                </a:tc>
                <a:tc>
                  <a:txBody>
                    <a:bodyPr/>
                    <a:lstStyle/>
                    <a:p>
                      <a:pPr marL="0" lvl="0" indent="0" algn="ctr" rtl="0">
                        <a:spcBef>
                          <a:spcPts val="0"/>
                        </a:spcBef>
                        <a:spcAft>
                          <a:spcPts val="0"/>
                        </a:spcAft>
                        <a:buNone/>
                      </a:pPr>
                      <a:r>
                        <a:rPr lang="ru-RU" sz="1600" dirty="0">
                          <a:latin typeface="IBM Plex Sans"/>
                          <a:ea typeface="IBM Plex Sans"/>
                          <a:cs typeface="IBM Plex Sans"/>
                          <a:sym typeface="IBM Plex Sans"/>
                        </a:rPr>
                        <a:t>Длина морды (см)</a:t>
                      </a:r>
                      <a:endParaRPr sz="1600" dirty="0">
                        <a:latin typeface="IBM Plex Sans"/>
                        <a:ea typeface="IBM Plex Sans"/>
                        <a:cs typeface="IBM Plex Sans"/>
                        <a:sym typeface="IBM Plex Sans"/>
                      </a:endParaRPr>
                    </a:p>
                  </a:txBody>
                  <a:tcPr marL="91425" marR="91425" marT="91425" marB="91425" anchor="ctr">
                    <a:solidFill>
                      <a:srgbClr val="F8CEEE"/>
                    </a:solidFill>
                  </a:tcPr>
                </a:tc>
                <a:tc>
                  <a:txBody>
                    <a:bodyPr/>
                    <a:lstStyle/>
                    <a:p>
                      <a:pPr marL="0" lvl="0" indent="0" algn="ctr" rtl="0">
                        <a:spcBef>
                          <a:spcPts val="0"/>
                        </a:spcBef>
                        <a:spcAft>
                          <a:spcPts val="0"/>
                        </a:spcAft>
                        <a:buNone/>
                      </a:pPr>
                      <a:r>
                        <a:rPr lang="ru-RU" sz="1600" dirty="0">
                          <a:solidFill>
                            <a:schemeClr val="lt1"/>
                          </a:solidFill>
                          <a:latin typeface="IBM Plex Sans"/>
                          <a:ea typeface="IBM Plex Sans"/>
                          <a:cs typeface="IBM Plex Sans"/>
                          <a:sym typeface="IBM Plex Sans"/>
                        </a:rPr>
                        <a:t>Животное</a:t>
                      </a:r>
                      <a:endParaRPr sz="1600" dirty="0">
                        <a:solidFill>
                          <a:schemeClr val="lt1"/>
                        </a:solidFill>
                        <a:latin typeface="IBM Plex Sans"/>
                        <a:ea typeface="IBM Plex Sans"/>
                        <a:cs typeface="IBM Plex Sans"/>
                        <a:sym typeface="IBM Plex Sans"/>
                      </a:endParaRPr>
                    </a:p>
                  </a:txBody>
                  <a:tcPr marL="91425" marR="91425" marT="91425" marB="91425" anchor="ctr">
                    <a:solidFill>
                      <a:srgbClr val="8E39E2"/>
                    </a:solidFill>
                  </a:tcPr>
                </a:tc>
                <a:extLst>
                  <a:ext uri="{0D108BD9-81ED-4DB2-BD59-A6C34878D82A}">
                    <a16:rowId xmlns:a16="http://schemas.microsoft.com/office/drawing/2014/main" val="10000"/>
                  </a:ext>
                </a:extLst>
              </a:tr>
              <a:tr h="547820">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3.5</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Собака</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extLst>
                  <a:ext uri="{0D108BD9-81ED-4DB2-BD59-A6C34878D82A}">
                    <a16:rowId xmlns:a16="http://schemas.microsoft.com/office/drawing/2014/main" val="10001"/>
                  </a:ext>
                </a:extLst>
              </a:tr>
              <a:tr h="547820">
                <a:tc>
                  <a:txBody>
                    <a:bodyPr/>
                    <a:lstStyle/>
                    <a:p>
                      <a:pPr marL="0" lvl="0" indent="0" algn="ctr" rtl="0">
                        <a:lnSpc>
                          <a:spcPct val="142857"/>
                        </a:lnSpc>
                        <a:spcBef>
                          <a:spcPts val="0"/>
                        </a:spcBef>
                        <a:spcAft>
                          <a:spcPts val="0"/>
                        </a:spcAft>
                        <a:buNone/>
                      </a:pPr>
                      <a:r>
                        <a:rPr lang="ru-RU" sz="1600">
                          <a:solidFill>
                            <a:srgbClr val="202124"/>
                          </a:solidFill>
                          <a:highlight>
                            <a:srgbClr val="FFFFFF"/>
                          </a:highlight>
                          <a:latin typeface="IBM Plex Sans"/>
                          <a:ea typeface="IBM Plex Sans"/>
                          <a:cs typeface="IBM Plex Sans"/>
                          <a:sym typeface="IBM Plex Sans"/>
                        </a:rPr>
                        <a:t>4</a:t>
                      </a:r>
                      <a:endParaRPr sz="160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Собака</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extLst>
                  <a:ext uri="{0D108BD9-81ED-4DB2-BD59-A6C34878D82A}">
                    <a16:rowId xmlns:a16="http://schemas.microsoft.com/office/drawing/2014/main" val="10002"/>
                  </a:ext>
                </a:extLst>
              </a:tr>
              <a:tr h="547820">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lnSpc>
                          <a:spcPct val="142857"/>
                        </a:lnSpc>
                        <a:spcBef>
                          <a:spcPts val="0"/>
                        </a:spcBef>
                        <a:spcAft>
                          <a:spcPts val="0"/>
                        </a:spcAft>
                        <a:buNone/>
                      </a:pPr>
                      <a:r>
                        <a:rPr lang="ru-RU" sz="1600" dirty="0">
                          <a:solidFill>
                            <a:srgbClr val="202124"/>
                          </a:solidFill>
                          <a:highlight>
                            <a:srgbClr val="FFFFFF"/>
                          </a:highlight>
                          <a:latin typeface="IBM Plex Sans"/>
                          <a:ea typeface="IBM Plex Sans"/>
                          <a:cs typeface="IBM Plex Sans"/>
                          <a:sym typeface="IBM Plex Sans"/>
                        </a:rPr>
                        <a:t>5.44</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tc>
                  <a:txBody>
                    <a:bodyPr/>
                    <a:lstStyle/>
                    <a:p>
                      <a:pPr marL="0" lvl="0" indent="0" algn="ctr" rtl="0">
                        <a:spcBef>
                          <a:spcPts val="0"/>
                        </a:spcBef>
                        <a:spcAft>
                          <a:spcPts val="0"/>
                        </a:spcAft>
                        <a:buClr>
                          <a:schemeClr val="dk1"/>
                        </a:buClr>
                        <a:buSzPts val="1100"/>
                        <a:buFont typeface="Arial"/>
                        <a:buNone/>
                      </a:pPr>
                      <a:r>
                        <a:rPr lang="ru-RU" sz="1600" dirty="0">
                          <a:solidFill>
                            <a:srgbClr val="202124"/>
                          </a:solidFill>
                          <a:highlight>
                            <a:srgbClr val="FFFFFF"/>
                          </a:highlight>
                          <a:latin typeface="IBM Plex Sans"/>
                          <a:ea typeface="IBM Plex Sans"/>
                          <a:cs typeface="IBM Plex Sans"/>
                          <a:sym typeface="IBM Plex Sans"/>
                        </a:rPr>
                        <a:t>-</a:t>
                      </a:r>
                      <a:endParaRPr sz="1600" dirty="0">
                        <a:solidFill>
                          <a:srgbClr val="202124"/>
                        </a:solidFill>
                        <a:highlight>
                          <a:srgbClr val="FFFFFF"/>
                        </a:highlight>
                        <a:latin typeface="IBM Plex Sans"/>
                        <a:ea typeface="IBM Plex Sans"/>
                        <a:cs typeface="IBM Plex Sans"/>
                        <a:sym typeface="IBM Plex Sans"/>
                      </a:endParaRPr>
                    </a:p>
                  </a:txBody>
                  <a:tcPr marL="76200" marR="76200" marT="66675" marB="76200" anchor="ctr"/>
                </a:tc>
                <a:extLst>
                  <a:ext uri="{0D108BD9-81ED-4DB2-BD59-A6C34878D82A}">
                    <a16:rowId xmlns:a16="http://schemas.microsoft.com/office/drawing/2014/main" val="10003"/>
                  </a:ext>
                </a:extLst>
              </a:tr>
            </a:tbl>
          </a:graphicData>
        </a:graphic>
      </p:graphicFrame>
      <p:sp>
        <p:nvSpPr>
          <p:cNvPr id="4" name="Стрелка: вправо 3">
            <a:extLst>
              <a:ext uri="{FF2B5EF4-FFF2-40B4-BE49-F238E27FC236}">
                <a16:creationId xmlns:a16="http://schemas.microsoft.com/office/drawing/2014/main" id="{6F95ADB5-61BA-4CDD-B230-8FB88132348D}"/>
              </a:ext>
            </a:extLst>
          </p:cNvPr>
          <p:cNvSpPr/>
          <p:nvPr/>
        </p:nvSpPr>
        <p:spPr>
          <a:xfrm>
            <a:off x="5779123" y="3624349"/>
            <a:ext cx="767981" cy="7099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4">
            <a:extLst>
              <a:ext uri="{FF2B5EF4-FFF2-40B4-BE49-F238E27FC236}">
                <a16:creationId xmlns:a16="http://schemas.microsoft.com/office/drawing/2014/main" id="{DEFA44D4-190E-408A-8CA7-426FA82A4598}"/>
              </a:ext>
            </a:extLst>
          </p:cNvPr>
          <p:cNvSpPr/>
          <p:nvPr/>
        </p:nvSpPr>
        <p:spPr>
          <a:xfrm>
            <a:off x="7569930" y="3330341"/>
            <a:ext cx="568086" cy="400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b="1" dirty="0">
                <a:solidFill>
                  <a:schemeClr val="tx1">
                    <a:lumMod val="95000"/>
                    <a:lumOff val="5000"/>
                  </a:schemeClr>
                </a:solidFill>
              </a:rPr>
              <a:t>?</a:t>
            </a:r>
          </a:p>
        </p:txBody>
      </p:sp>
      <p:sp>
        <p:nvSpPr>
          <p:cNvPr id="20" name="Прямоугольник 19">
            <a:extLst>
              <a:ext uri="{FF2B5EF4-FFF2-40B4-BE49-F238E27FC236}">
                <a16:creationId xmlns:a16="http://schemas.microsoft.com/office/drawing/2014/main" id="{42B2F25D-AACA-44AF-9B9D-8EEBAEFB9D93}"/>
              </a:ext>
            </a:extLst>
          </p:cNvPr>
          <p:cNvSpPr/>
          <p:nvPr/>
        </p:nvSpPr>
        <p:spPr>
          <a:xfrm>
            <a:off x="10114306" y="3891593"/>
            <a:ext cx="568086" cy="400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b="1" dirty="0">
                <a:solidFill>
                  <a:schemeClr val="tx1">
                    <a:lumMod val="95000"/>
                    <a:lumOff val="5000"/>
                  </a:schemeClr>
                </a:solidFill>
              </a:rPr>
              <a:t>?</a:t>
            </a:r>
          </a:p>
        </p:txBody>
      </p:sp>
      <p:sp>
        <p:nvSpPr>
          <p:cNvPr id="28" name="Прямоугольник 27">
            <a:extLst>
              <a:ext uri="{FF2B5EF4-FFF2-40B4-BE49-F238E27FC236}">
                <a16:creationId xmlns:a16="http://schemas.microsoft.com/office/drawing/2014/main" id="{6493B815-D959-4683-83A6-D90331B9C133}"/>
              </a:ext>
            </a:extLst>
          </p:cNvPr>
          <p:cNvSpPr/>
          <p:nvPr/>
        </p:nvSpPr>
        <p:spPr>
          <a:xfrm>
            <a:off x="8245831" y="3687531"/>
            <a:ext cx="568086" cy="400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b="1" dirty="0">
                <a:solidFill>
                  <a:schemeClr val="tx1">
                    <a:lumMod val="95000"/>
                    <a:lumOff val="5000"/>
                  </a:schemeClr>
                </a:solidFill>
              </a:rPr>
              <a:t>?</a:t>
            </a:r>
          </a:p>
        </p:txBody>
      </p:sp>
      <p:sp>
        <p:nvSpPr>
          <p:cNvPr id="29" name="Прямоугольник 28">
            <a:extLst>
              <a:ext uri="{FF2B5EF4-FFF2-40B4-BE49-F238E27FC236}">
                <a16:creationId xmlns:a16="http://schemas.microsoft.com/office/drawing/2014/main" id="{40E84FDF-814D-4BF4-89B6-4FD83F3CB51C}"/>
              </a:ext>
            </a:extLst>
          </p:cNvPr>
          <p:cNvSpPr/>
          <p:nvPr/>
        </p:nvSpPr>
        <p:spPr>
          <a:xfrm>
            <a:off x="7441286" y="4660539"/>
            <a:ext cx="568086" cy="400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b="1" dirty="0">
                <a:solidFill>
                  <a:schemeClr val="tx1">
                    <a:lumMod val="95000"/>
                    <a:lumOff val="5000"/>
                  </a:schemeClr>
                </a:solidFill>
              </a:rPr>
              <a:t>?</a:t>
            </a:r>
          </a:p>
        </p:txBody>
      </p:sp>
      <p:sp>
        <p:nvSpPr>
          <p:cNvPr id="33" name="TextBox 32">
            <a:extLst>
              <a:ext uri="{FF2B5EF4-FFF2-40B4-BE49-F238E27FC236}">
                <a16:creationId xmlns:a16="http://schemas.microsoft.com/office/drawing/2014/main" id="{CB22A821-C468-4A51-858C-8690D3DBE255}"/>
              </a:ext>
            </a:extLst>
          </p:cNvPr>
          <p:cNvSpPr txBox="1"/>
          <p:nvPr/>
        </p:nvSpPr>
        <p:spPr>
          <a:xfrm>
            <a:off x="980103" y="607427"/>
            <a:ext cx="6102350" cy="646331"/>
          </a:xfrm>
          <a:prstGeom prst="rect">
            <a:avLst/>
          </a:prstGeom>
          <a:noFill/>
        </p:spPr>
        <p:txBody>
          <a:bodyPr wrap="square">
            <a:spAutoFit/>
          </a:bodyPr>
          <a:lstStyle/>
          <a:p>
            <a:r>
              <a:rPr kumimoji="0" lang="ru-RU" sz="3600" b="1"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1 вызов. </a:t>
            </a:r>
            <a:endParaRPr lang="ru-RU" dirty="0"/>
          </a:p>
        </p:txBody>
      </p:sp>
    </p:spTree>
    <p:extLst>
      <p:ext uri="{BB962C8B-B14F-4D97-AF65-F5344CB8AC3E}">
        <p14:creationId xmlns:p14="http://schemas.microsoft.com/office/powerpoint/2010/main" val="24302888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ccf7679e09_0_532"/>
          <p:cNvSpPr txBox="1"/>
          <p:nvPr/>
        </p:nvSpPr>
        <p:spPr>
          <a:xfrm>
            <a:off x="1105450" y="2644625"/>
            <a:ext cx="3620700" cy="3052200"/>
          </a:xfrm>
          <a:prstGeom prst="rect">
            <a:avLst/>
          </a:prstGeom>
          <a:noFill/>
          <a:ln>
            <a:noFill/>
          </a:ln>
        </p:spPr>
        <p:txBody>
          <a:bodyPr spcFirstLastPara="1" wrap="square" lIns="0" tIns="0" rIns="0" bIns="0" anchor="t" anchorCtr="0">
            <a:noAutofit/>
          </a:bodyPr>
          <a:lstStyle/>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a:solidFill>
                  <a:schemeClr val="dk1"/>
                </a:solidFill>
                <a:latin typeface="IBM Plex Sans"/>
                <a:ea typeface="IBM Plex Sans"/>
                <a:cs typeface="IBM Plex Sans"/>
                <a:sym typeface="IBM Plex Sans"/>
              </a:rPr>
              <a:t>Получаем точку х, в которой надо сделать предсказание.</a:t>
            </a:r>
            <a:endParaRPr sz="1800">
              <a:solidFill>
                <a:schemeClr val="dk1"/>
              </a:solidFill>
              <a:latin typeface="IBM Plex Sans"/>
              <a:ea typeface="IBM Plex Sans"/>
              <a:cs typeface="IBM Plex Sans"/>
              <a:sym typeface="IBM Plex Sans"/>
            </a:endParaRPr>
          </a:p>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a:solidFill>
                  <a:schemeClr val="dk1"/>
                </a:solidFill>
                <a:latin typeface="IBM Plex Sans"/>
                <a:ea typeface="IBM Plex Sans"/>
                <a:cs typeface="IBM Plex Sans"/>
                <a:sym typeface="IBM Plex Sans"/>
              </a:rPr>
              <a:t>Ищем К ближайших соседей.</a:t>
            </a:r>
            <a:endParaRPr sz="1800">
              <a:solidFill>
                <a:schemeClr val="dk1"/>
              </a:solidFill>
              <a:latin typeface="IBM Plex Sans"/>
              <a:ea typeface="IBM Plex Sans"/>
              <a:cs typeface="IBM Plex Sans"/>
              <a:sym typeface="IBM Plex Sans"/>
            </a:endParaRPr>
          </a:p>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a:solidFill>
                  <a:schemeClr val="dk1"/>
                </a:solidFill>
                <a:latin typeface="IBM Plex Sans"/>
                <a:ea typeface="IBM Plex Sans"/>
                <a:cs typeface="IBM Plex Sans"/>
                <a:sym typeface="IBM Plex Sans"/>
              </a:rPr>
              <a:t>В качестве ответа возвращаем класс, которого больше всего среди </a:t>
            </a:r>
            <a:endParaRPr sz="1800">
              <a:solidFill>
                <a:schemeClr val="dk1"/>
              </a:solidFill>
              <a:latin typeface="IBM Plex Sans"/>
              <a:ea typeface="IBM Plex Sans"/>
              <a:cs typeface="IBM Plex Sans"/>
              <a:sym typeface="IBM Plex Sans"/>
            </a:endParaRPr>
          </a:p>
          <a:p>
            <a:pPr marL="457200" marR="0" lvl="0" indent="0" algn="l" rtl="0">
              <a:lnSpc>
                <a:spcPct val="100000"/>
              </a:lnSpc>
              <a:spcBef>
                <a:spcPts val="0"/>
              </a:spcBef>
              <a:spcAft>
                <a:spcPts val="0"/>
              </a:spcAft>
              <a:buNone/>
            </a:pPr>
            <a:r>
              <a:rPr lang="ru-RU" sz="1800">
                <a:solidFill>
                  <a:schemeClr val="dk1"/>
                </a:solidFill>
                <a:latin typeface="IBM Plex Sans"/>
                <a:ea typeface="IBM Plex Sans"/>
                <a:cs typeface="IBM Plex Sans"/>
                <a:sym typeface="IBM Plex Sans"/>
              </a:rPr>
              <a:t>соседей.</a:t>
            </a:r>
            <a:endParaRPr sz="1600">
              <a:solidFill>
                <a:schemeClr val="dk1"/>
              </a:solidFill>
              <a:latin typeface="IBM Plex Sans"/>
              <a:ea typeface="IBM Plex Sans"/>
              <a:cs typeface="IBM Plex Sans"/>
              <a:sym typeface="IBM Plex Sans"/>
            </a:endParaRPr>
          </a:p>
          <a:p>
            <a:pPr marL="0" lvl="0" indent="0" algn="l" rtl="0">
              <a:lnSpc>
                <a:spcPct val="100000"/>
              </a:lnSpc>
              <a:spcBef>
                <a:spcPts val="0"/>
              </a:spcBef>
              <a:spcAft>
                <a:spcPts val="0"/>
              </a:spcAft>
              <a:buNone/>
            </a:pPr>
            <a:endParaRPr sz="1600">
              <a:solidFill>
                <a:schemeClr val="dk1"/>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ru-RU" sz="1600" b="1">
                <a:solidFill>
                  <a:schemeClr val="dk1"/>
                </a:solidFill>
                <a:latin typeface="IBM Plex Sans"/>
                <a:ea typeface="IBM Plex Sans"/>
                <a:cs typeface="IBM Plex Sans"/>
                <a:sym typeface="IBM Plex Sans"/>
              </a:rPr>
              <a:t>K - гиперпараметр</a:t>
            </a:r>
            <a:endParaRPr sz="1600" b="1">
              <a:solidFill>
                <a:schemeClr val="dk1"/>
              </a:solidFill>
              <a:latin typeface="IBM Plex Sans"/>
              <a:ea typeface="IBM Plex Sans"/>
              <a:cs typeface="IBM Plex Sans"/>
              <a:sym typeface="IBM Plex Sans"/>
            </a:endParaRPr>
          </a:p>
          <a:p>
            <a:pPr marL="0" lvl="0" indent="0" algn="l" rtl="0">
              <a:lnSpc>
                <a:spcPct val="100000"/>
              </a:lnSpc>
              <a:spcBef>
                <a:spcPts val="0"/>
              </a:spcBef>
              <a:spcAft>
                <a:spcPts val="0"/>
              </a:spcAft>
              <a:buNone/>
            </a:pPr>
            <a:endParaRPr sz="1600" b="1">
              <a:solidFill>
                <a:schemeClr val="dk1"/>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ru-RU" sz="1600">
                <a:solidFill>
                  <a:schemeClr val="dk1"/>
                </a:solidFill>
                <a:latin typeface="IBM Plex Sans"/>
                <a:ea typeface="IBM Plex Sans"/>
                <a:cs typeface="IBM Plex Sans"/>
                <a:sym typeface="IBM Plex Sans"/>
              </a:rPr>
              <a:t>Гиперпараметр – это параметр, который задается до начала работы алгоритма. </a:t>
            </a:r>
            <a:endParaRPr sz="1600">
              <a:solidFill>
                <a:schemeClr val="dk1"/>
              </a:solidFill>
              <a:latin typeface="IBM Plex Sans"/>
              <a:ea typeface="IBM Plex Sans"/>
              <a:cs typeface="IBM Plex Sans"/>
              <a:sym typeface="IBM Plex Sans"/>
            </a:endParaRPr>
          </a:p>
          <a:p>
            <a:pPr marL="0" lvl="0" indent="0" algn="l" rtl="0">
              <a:lnSpc>
                <a:spcPct val="100000"/>
              </a:lnSpc>
              <a:spcBef>
                <a:spcPts val="0"/>
              </a:spcBef>
              <a:spcAft>
                <a:spcPts val="0"/>
              </a:spcAft>
              <a:buNone/>
            </a:pPr>
            <a:endParaRPr sz="1600">
              <a:solidFill>
                <a:schemeClr val="dk1"/>
              </a:solidFill>
              <a:latin typeface="IBM Plex Sans"/>
              <a:ea typeface="IBM Plex Sans"/>
              <a:cs typeface="IBM Plex Sans"/>
              <a:sym typeface="IBM Plex Sans"/>
            </a:endParaRPr>
          </a:p>
          <a:p>
            <a:pPr marL="0" marR="0" lvl="0" indent="0" algn="l" rtl="0">
              <a:lnSpc>
                <a:spcPct val="100000"/>
              </a:lnSpc>
              <a:spcBef>
                <a:spcPts val="0"/>
              </a:spcBef>
              <a:spcAft>
                <a:spcPts val="0"/>
              </a:spcAft>
              <a:buNone/>
            </a:pPr>
            <a:endParaRPr sz="1600">
              <a:solidFill>
                <a:schemeClr val="dk1"/>
              </a:solidFill>
              <a:latin typeface="IBM Plex Sans"/>
              <a:ea typeface="IBM Plex Sans"/>
              <a:cs typeface="IBM Plex Sans"/>
              <a:sym typeface="IBM Plex Sans"/>
            </a:endParaRPr>
          </a:p>
        </p:txBody>
      </p:sp>
      <p:sp>
        <p:nvSpPr>
          <p:cNvPr id="172" name="Google Shape;172;g3ccf7679e09_0_532"/>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lvl="0" indent="0" algn="l" rtl="0">
              <a:lnSpc>
                <a:spcPct val="70000"/>
              </a:lnSpc>
              <a:spcBef>
                <a:spcPts val="0"/>
              </a:spcBef>
              <a:spcAft>
                <a:spcPts val="0"/>
              </a:spcAft>
              <a:buClr>
                <a:schemeClr val="dk1"/>
              </a:buClr>
              <a:buSzPts val="1100"/>
              <a:buFont typeface="Arial"/>
              <a:buNone/>
            </a:pPr>
            <a:r>
              <a:rPr lang="ru-RU" sz="3600" b="1" dirty="0">
                <a:solidFill>
                  <a:schemeClr val="dk1"/>
                </a:solidFill>
                <a:latin typeface="IBM Plex Sans"/>
                <a:ea typeface="IBM Plex Sans"/>
                <a:cs typeface="IBM Plex Sans"/>
                <a:sym typeface="IBM Plex Sans"/>
              </a:rPr>
              <a:t>Подбор </a:t>
            </a:r>
            <a:r>
              <a:rPr lang="ru-RU" sz="3600" b="1" dirty="0" err="1">
                <a:solidFill>
                  <a:schemeClr val="dk1"/>
                </a:solidFill>
                <a:latin typeface="IBM Plex Sans"/>
                <a:ea typeface="IBM Plex Sans"/>
                <a:cs typeface="IBM Plex Sans"/>
                <a:sym typeface="IBM Plex Sans"/>
              </a:rPr>
              <a:t>гиперпараметров</a:t>
            </a:r>
            <a:endParaRPr sz="3600" b="1" dirty="0">
              <a:solidFill>
                <a:schemeClr val="dk1"/>
              </a:solidFill>
              <a:latin typeface="IBM Plex Sans"/>
              <a:ea typeface="IBM Plex Sans"/>
              <a:cs typeface="IBM Plex Sans"/>
              <a:sym typeface="IBM Plex Sans"/>
            </a:endParaRPr>
          </a:p>
        </p:txBody>
      </p:sp>
      <p:grpSp>
        <p:nvGrpSpPr>
          <p:cNvPr id="173" name="Google Shape;173;g3ccf7679e09_0_532"/>
          <p:cNvGrpSpPr/>
          <p:nvPr/>
        </p:nvGrpSpPr>
        <p:grpSpPr>
          <a:xfrm>
            <a:off x="9353973" y="-1553420"/>
            <a:ext cx="2854020" cy="13716631"/>
            <a:chOff x="9353973" y="-1553420"/>
            <a:chExt cx="2854020" cy="13716631"/>
          </a:xfrm>
        </p:grpSpPr>
        <p:grpSp>
          <p:nvGrpSpPr>
            <p:cNvPr id="174" name="Google Shape;174;g3ccf7679e09_0_532"/>
            <p:cNvGrpSpPr/>
            <p:nvPr/>
          </p:nvGrpSpPr>
          <p:grpSpPr>
            <a:xfrm>
              <a:off x="9353973" y="-1553420"/>
              <a:ext cx="2838027" cy="13716631"/>
              <a:chOff x="9353973" y="-6079700"/>
              <a:chExt cx="2838027" cy="13716631"/>
            </a:xfrm>
          </p:grpSpPr>
          <p:pic>
            <p:nvPicPr>
              <p:cNvPr id="175" name="Google Shape;175;g3ccf7679e09_0_532"/>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76" name="Google Shape;176;g3ccf7679e09_0_532"/>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77" name="Google Shape;177;g3ccf7679e09_0_532"/>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8" name="Google Shape;178;g3ccf7679e09_0_532"/>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79" name="Google Shape;179;g3ccf7679e09_0_532"/>
          <p:cNvPicPr preferRelativeResize="0"/>
          <p:nvPr/>
        </p:nvPicPr>
        <p:blipFill rotWithShape="1">
          <a:blip r:embed="rId4">
            <a:alphaModFix/>
          </a:blip>
          <a:srcRect/>
          <a:stretch/>
        </p:blipFill>
        <p:spPr>
          <a:xfrm>
            <a:off x="8708574" y="4040996"/>
            <a:ext cx="3047978" cy="3052211"/>
          </a:xfrm>
          <a:prstGeom prst="rect">
            <a:avLst/>
          </a:prstGeom>
          <a:noFill/>
          <a:ln>
            <a:noFill/>
          </a:ln>
        </p:spPr>
      </p:pic>
      <p:sp>
        <p:nvSpPr>
          <p:cNvPr id="180" name="Google Shape;180;g3ccf7679e09_0_532"/>
          <p:cNvSpPr txBox="1"/>
          <p:nvPr/>
        </p:nvSpPr>
        <p:spPr>
          <a:xfrm>
            <a:off x="1826380" y="1859650"/>
            <a:ext cx="300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200">
                <a:solidFill>
                  <a:srgbClr val="0F1115"/>
                </a:solidFill>
                <a:highlight>
                  <a:srgbClr val="FFFFFF"/>
                </a:highlight>
                <a:latin typeface="IBM Plex Sans"/>
                <a:ea typeface="IBM Plex Sans"/>
                <a:cs typeface="IBM Plex Sans"/>
                <a:sym typeface="IBM Plex Sans"/>
              </a:rPr>
              <a:t>"Скажи мне, кто твой друг, и я скажу, кто ты"</a:t>
            </a:r>
            <a:endParaRPr>
              <a:latin typeface="IBM Plex Sans"/>
              <a:ea typeface="IBM Plex Sans"/>
              <a:cs typeface="IBM Plex Sans"/>
              <a:sym typeface="IBM Plex Sans"/>
            </a:endParaRPr>
          </a:p>
        </p:txBody>
      </p:sp>
      <p:pic>
        <p:nvPicPr>
          <p:cNvPr id="181" name="Google Shape;181;g3ccf7679e09_0_532"/>
          <p:cNvPicPr preferRelativeResize="0"/>
          <p:nvPr/>
        </p:nvPicPr>
        <p:blipFill rotWithShape="1">
          <a:blip r:embed="rId5">
            <a:alphaModFix/>
          </a:blip>
          <a:srcRect/>
          <a:stretch/>
        </p:blipFill>
        <p:spPr>
          <a:xfrm>
            <a:off x="980103" y="1711790"/>
            <a:ext cx="846277" cy="849803"/>
          </a:xfrm>
          <a:prstGeom prst="rect">
            <a:avLst/>
          </a:prstGeom>
          <a:noFill/>
          <a:ln>
            <a:noFill/>
          </a:ln>
        </p:spPr>
      </p:pic>
      <p:sp>
        <p:nvSpPr>
          <p:cNvPr id="17" name="TextBox 16">
            <a:extLst>
              <a:ext uri="{FF2B5EF4-FFF2-40B4-BE49-F238E27FC236}">
                <a16:creationId xmlns:a16="http://schemas.microsoft.com/office/drawing/2014/main" id="{603C2BB9-D932-4BF8-80D6-7D86CE2FF90F}"/>
              </a:ext>
            </a:extLst>
          </p:cNvPr>
          <p:cNvSpPr txBox="1"/>
          <p:nvPr/>
        </p:nvSpPr>
        <p:spPr>
          <a:xfrm>
            <a:off x="980103" y="607427"/>
            <a:ext cx="6102350" cy="646331"/>
          </a:xfrm>
          <a:prstGeom prst="rect">
            <a:avLst/>
          </a:prstGeom>
          <a:noFill/>
        </p:spPr>
        <p:txBody>
          <a:bodyPr wrap="square">
            <a:spAutoFit/>
          </a:bodyPr>
          <a:lstStyle/>
          <a:p>
            <a:r>
              <a:rPr lang="ru-RU" sz="3600" b="1" dirty="0">
                <a:latin typeface="IBM Plex Sans"/>
                <a:ea typeface="IBM Plex Sans"/>
                <a:cs typeface="IBM Plex Sans"/>
                <a:sym typeface="IBM Plex Sans"/>
              </a:rPr>
              <a:t>2</a:t>
            </a:r>
            <a:r>
              <a:rPr kumimoji="0" lang="ru-RU" sz="3600" b="1"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 вызов. </a:t>
            </a:r>
            <a:endParaRPr lang="ru-RU" dirty="0"/>
          </a:p>
        </p:txBody>
      </p:sp>
      <p:grpSp>
        <p:nvGrpSpPr>
          <p:cNvPr id="18" name="Группа 17">
            <a:extLst>
              <a:ext uri="{FF2B5EF4-FFF2-40B4-BE49-F238E27FC236}">
                <a16:creationId xmlns:a16="http://schemas.microsoft.com/office/drawing/2014/main" id="{7536C4EF-55A0-4ABE-8A9C-A2688A595F9B}"/>
              </a:ext>
            </a:extLst>
          </p:cNvPr>
          <p:cNvGrpSpPr/>
          <p:nvPr/>
        </p:nvGrpSpPr>
        <p:grpSpPr>
          <a:xfrm>
            <a:off x="5012987" y="2105487"/>
            <a:ext cx="4791340" cy="3591338"/>
            <a:chOff x="4754785" y="1970250"/>
            <a:chExt cx="4791340" cy="3591338"/>
          </a:xfrm>
        </p:grpSpPr>
        <p:grpSp>
          <p:nvGrpSpPr>
            <p:cNvPr id="19" name="Группа 18">
              <a:extLst>
                <a:ext uri="{FF2B5EF4-FFF2-40B4-BE49-F238E27FC236}">
                  <a16:creationId xmlns:a16="http://schemas.microsoft.com/office/drawing/2014/main" id="{5D765BA4-DFA5-4727-9C10-A2D64C9B6686}"/>
                </a:ext>
              </a:extLst>
            </p:cNvPr>
            <p:cNvGrpSpPr/>
            <p:nvPr/>
          </p:nvGrpSpPr>
          <p:grpSpPr>
            <a:xfrm>
              <a:off x="4754785" y="1970250"/>
              <a:ext cx="4791340" cy="3591338"/>
              <a:chOff x="4754785" y="1970250"/>
              <a:chExt cx="4791340" cy="3591338"/>
            </a:xfrm>
          </p:grpSpPr>
          <p:pic>
            <p:nvPicPr>
              <p:cNvPr id="21" name="Google Shape;161;p7">
                <a:extLst>
                  <a:ext uri="{FF2B5EF4-FFF2-40B4-BE49-F238E27FC236}">
                    <a16:creationId xmlns:a16="http://schemas.microsoft.com/office/drawing/2014/main" id="{D616A4DD-7914-4417-B89B-D91E224A6A78}"/>
                  </a:ext>
                </a:extLst>
              </p:cNvPr>
              <p:cNvPicPr preferRelativeResize="0"/>
              <p:nvPr/>
            </p:nvPicPr>
            <p:blipFill>
              <a:blip r:embed="rId6">
                <a:alphaModFix/>
              </a:blip>
              <a:stretch>
                <a:fillRect/>
              </a:stretch>
            </p:blipFill>
            <p:spPr>
              <a:xfrm>
                <a:off x="5288450" y="1970250"/>
                <a:ext cx="4257675" cy="3133725"/>
              </a:xfrm>
              <a:prstGeom prst="rect">
                <a:avLst/>
              </a:prstGeom>
              <a:noFill/>
              <a:ln>
                <a:noFill/>
              </a:ln>
            </p:spPr>
          </p:pic>
          <p:sp>
            <p:nvSpPr>
              <p:cNvPr id="22" name="Google Shape;164;p7">
                <a:extLst>
                  <a:ext uri="{FF2B5EF4-FFF2-40B4-BE49-F238E27FC236}">
                    <a16:creationId xmlns:a16="http://schemas.microsoft.com/office/drawing/2014/main" id="{E788D29C-C2BF-4743-AE92-45FDB28D7B3A}"/>
                  </a:ext>
                </a:extLst>
              </p:cNvPr>
              <p:cNvSpPr txBox="1"/>
              <p:nvPr/>
            </p:nvSpPr>
            <p:spPr>
              <a:xfrm rot="5400000">
                <a:off x="3454825" y="3861548"/>
                <a:ext cx="30000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dirty="0"/>
                  <a:t>Количество усов</a:t>
                </a:r>
                <a:endParaRPr dirty="0"/>
              </a:p>
            </p:txBody>
          </p:sp>
          <p:sp>
            <p:nvSpPr>
              <p:cNvPr id="23" name="Google Shape;165;p7">
                <a:extLst>
                  <a:ext uri="{FF2B5EF4-FFF2-40B4-BE49-F238E27FC236}">
                    <a16:creationId xmlns:a16="http://schemas.microsoft.com/office/drawing/2014/main" id="{10C8C59C-1C6F-4271-9618-B4B1C7450FEE}"/>
                  </a:ext>
                </a:extLst>
              </p:cNvPr>
              <p:cNvSpPr txBox="1"/>
              <p:nvPr/>
            </p:nvSpPr>
            <p:spPr>
              <a:xfrm>
                <a:off x="6215475" y="49964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dirty="0">
                    <a:solidFill>
                      <a:schemeClr val="dk1"/>
                    </a:solidFill>
                  </a:rPr>
                  <a:t>Длина морды (см)</a:t>
                </a:r>
                <a:endParaRPr dirty="0">
                  <a:solidFill>
                    <a:schemeClr val="dk1"/>
                  </a:solidFill>
                </a:endParaRPr>
              </a:p>
            </p:txBody>
          </p:sp>
        </p:grpSp>
        <p:graphicFrame>
          <p:nvGraphicFramePr>
            <p:cNvPr id="20" name="Google Shape;166;p7">
              <a:extLst>
                <a:ext uri="{FF2B5EF4-FFF2-40B4-BE49-F238E27FC236}">
                  <a16:creationId xmlns:a16="http://schemas.microsoft.com/office/drawing/2014/main" id="{13846052-2CB7-4861-8185-96959DE1EB1C}"/>
                </a:ext>
              </a:extLst>
            </p:cNvPr>
            <p:cNvGraphicFramePr/>
            <p:nvPr>
              <p:extLst>
                <p:ext uri="{D42A27DB-BD31-4B8C-83A1-F6EECF244321}">
                  <p14:modId xmlns:p14="http://schemas.microsoft.com/office/powerpoint/2010/main" val="3728994033"/>
                </p:ext>
              </p:extLst>
            </p:nvPr>
          </p:nvGraphicFramePr>
          <p:xfrm>
            <a:off x="8212250" y="2221425"/>
            <a:ext cx="1141725" cy="842709"/>
          </p:xfrm>
          <a:graphic>
            <a:graphicData uri="http://schemas.openxmlformats.org/drawingml/2006/table">
              <a:tbl>
                <a:tblPr>
                  <a:noFill/>
                </a:tblPr>
                <a:tblGrid>
                  <a:gridCol w="1141725">
                    <a:extLst>
                      <a:ext uri="{9D8B030D-6E8A-4147-A177-3AD203B41FA5}">
                        <a16:colId xmlns:a16="http://schemas.microsoft.com/office/drawing/2014/main" val="20000"/>
                      </a:ext>
                    </a:extLst>
                  </a:gridCol>
                </a:tblGrid>
                <a:tr h="381000">
                  <a:tc>
                    <a:txBody>
                      <a:bodyPr/>
                      <a:lstStyle/>
                      <a:p>
                        <a:pPr marL="0" lvl="0" indent="0" algn="l" rtl="0">
                          <a:lnSpc>
                            <a:spcPct val="142857"/>
                          </a:lnSpc>
                          <a:spcBef>
                            <a:spcPts val="0"/>
                          </a:spcBef>
                          <a:spcAft>
                            <a:spcPts val="0"/>
                          </a:spcAft>
                          <a:buNone/>
                        </a:pPr>
                        <a:r>
                          <a:rPr lang="ru-RU" sz="1600" dirty="0">
                            <a:solidFill>
                              <a:srgbClr val="202124"/>
                            </a:solidFill>
                            <a:highlight>
                              <a:srgbClr val="9FC5E8"/>
                            </a:highlight>
                            <a:latin typeface="IBM Plex Sans"/>
                            <a:ea typeface="IBM Plex Sans"/>
                            <a:cs typeface="IBM Plex Sans"/>
                            <a:sym typeface="IBM Plex Sans"/>
                          </a:rPr>
                          <a:t>Собака</a:t>
                        </a:r>
                        <a:endParaRPr sz="1600" dirty="0">
                          <a:solidFill>
                            <a:srgbClr val="202124"/>
                          </a:solidFill>
                          <a:highlight>
                            <a:srgbClr val="9FC5E8"/>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ru-RU" sz="1600" dirty="0">
                            <a:solidFill>
                              <a:schemeClr val="dk1"/>
                            </a:solidFill>
                            <a:highlight>
                              <a:srgbClr val="93C47D"/>
                            </a:highlight>
                            <a:latin typeface="IBM Plex Sans"/>
                            <a:ea typeface="IBM Plex Sans"/>
                            <a:cs typeface="IBM Plex Sans"/>
                            <a:sym typeface="IBM Plex Sans"/>
                          </a:rPr>
                          <a:t>Кот</a:t>
                        </a:r>
                        <a:endParaRPr sz="1600" dirty="0">
                          <a:solidFill>
                            <a:srgbClr val="202124"/>
                          </a:solidFill>
                          <a:highlight>
                            <a:srgbClr val="93C47D"/>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cb20f13e01_0_865"/>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lvl="0" indent="0" algn="l" rtl="0">
              <a:lnSpc>
                <a:spcPct val="70000"/>
              </a:lnSpc>
              <a:spcBef>
                <a:spcPts val="0"/>
              </a:spcBef>
              <a:spcAft>
                <a:spcPts val="0"/>
              </a:spcAft>
              <a:buClr>
                <a:schemeClr val="dk1"/>
              </a:buClr>
              <a:buSzPts val="1100"/>
              <a:buFont typeface="Arial"/>
              <a:buNone/>
            </a:pPr>
            <a:r>
              <a:rPr lang="ru-RU" sz="3600" b="1" dirty="0">
                <a:solidFill>
                  <a:schemeClr val="dk1"/>
                </a:solidFill>
                <a:latin typeface="IBM Plex Sans"/>
                <a:ea typeface="IBM Plex Sans"/>
                <a:cs typeface="IBM Plex Sans"/>
                <a:sym typeface="IBM Plex Sans"/>
              </a:rPr>
              <a:t>Подбор </a:t>
            </a:r>
            <a:r>
              <a:rPr lang="ru-RU" sz="3600" b="1" dirty="0" err="1">
                <a:solidFill>
                  <a:schemeClr val="dk1"/>
                </a:solidFill>
                <a:latin typeface="IBM Plex Sans"/>
                <a:ea typeface="IBM Plex Sans"/>
                <a:cs typeface="IBM Plex Sans"/>
                <a:sym typeface="IBM Plex Sans"/>
              </a:rPr>
              <a:t>гиперпараметров</a:t>
            </a:r>
            <a:endParaRPr lang="ru-RU" sz="3600" b="1" dirty="0">
              <a:solidFill>
                <a:schemeClr val="dk1"/>
              </a:solidFill>
              <a:latin typeface="IBM Plex Sans"/>
              <a:ea typeface="IBM Plex Sans"/>
              <a:cs typeface="IBM Plex Sans"/>
              <a:sym typeface="IBM Plex Sans"/>
            </a:endParaRPr>
          </a:p>
        </p:txBody>
      </p:sp>
      <p:grpSp>
        <p:nvGrpSpPr>
          <p:cNvPr id="191" name="Google Shape;191;g3cb20f13e01_0_865"/>
          <p:cNvGrpSpPr/>
          <p:nvPr/>
        </p:nvGrpSpPr>
        <p:grpSpPr>
          <a:xfrm>
            <a:off x="9353973" y="-1553420"/>
            <a:ext cx="2854020" cy="13716631"/>
            <a:chOff x="9353973" y="-1553420"/>
            <a:chExt cx="2854020" cy="13716631"/>
          </a:xfrm>
        </p:grpSpPr>
        <p:grpSp>
          <p:nvGrpSpPr>
            <p:cNvPr id="192" name="Google Shape;192;g3cb20f13e01_0_865"/>
            <p:cNvGrpSpPr/>
            <p:nvPr/>
          </p:nvGrpSpPr>
          <p:grpSpPr>
            <a:xfrm>
              <a:off x="9353973" y="-1553420"/>
              <a:ext cx="2838027" cy="13716631"/>
              <a:chOff x="9353973" y="-6079700"/>
              <a:chExt cx="2838027" cy="13716631"/>
            </a:xfrm>
          </p:grpSpPr>
          <p:pic>
            <p:nvPicPr>
              <p:cNvPr id="193" name="Google Shape;193;g3cb20f13e01_0_865"/>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94" name="Google Shape;194;g3cb20f13e01_0_865"/>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95" name="Google Shape;195;g3cb20f13e01_0_865"/>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 name="Google Shape;196;g3cb20f13e01_0_865"/>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97" name="Google Shape;197;g3cb20f13e01_0_865"/>
          <p:cNvPicPr preferRelativeResize="0"/>
          <p:nvPr/>
        </p:nvPicPr>
        <p:blipFill rotWithShape="1">
          <a:blip r:embed="rId4">
            <a:alphaModFix/>
          </a:blip>
          <a:srcRect/>
          <a:stretch/>
        </p:blipFill>
        <p:spPr>
          <a:xfrm>
            <a:off x="8708574" y="4040996"/>
            <a:ext cx="3047978" cy="3052211"/>
          </a:xfrm>
          <a:prstGeom prst="rect">
            <a:avLst/>
          </a:prstGeom>
          <a:noFill/>
          <a:ln>
            <a:noFill/>
          </a:ln>
        </p:spPr>
      </p:pic>
      <p:grpSp>
        <p:nvGrpSpPr>
          <p:cNvPr id="14" name="Группа 13">
            <a:extLst>
              <a:ext uri="{FF2B5EF4-FFF2-40B4-BE49-F238E27FC236}">
                <a16:creationId xmlns:a16="http://schemas.microsoft.com/office/drawing/2014/main" id="{56DAD0F2-DEC1-40C9-B40B-A2EC679F81AB}"/>
              </a:ext>
            </a:extLst>
          </p:cNvPr>
          <p:cNvGrpSpPr/>
          <p:nvPr/>
        </p:nvGrpSpPr>
        <p:grpSpPr>
          <a:xfrm>
            <a:off x="1420568" y="2245327"/>
            <a:ext cx="5787632" cy="4310456"/>
            <a:chOff x="4724050" y="1970250"/>
            <a:chExt cx="4822075" cy="3591338"/>
          </a:xfrm>
        </p:grpSpPr>
        <p:grpSp>
          <p:nvGrpSpPr>
            <p:cNvPr id="15" name="Группа 14">
              <a:extLst>
                <a:ext uri="{FF2B5EF4-FFF2-40B4-BE49-F238E27FC236}">
                  <a16:creationId xmlns:a16="http://schemas.microsoft.com/office/drawing/2014/main" id="{6A76DFA4-FC67-498A-8A92-DBE9E366627D}"/>
                </a:ext>
              </a:extLst>
            </p:cNvPr>
            <p:cNvGrpSpPr/>
            <p:nvPr/>
          </p:nvGrpSpPr>
          <p:grpSpPr>
            <a:xfrm>
              <a:off x="4724050" y="1970250"/>
              <a:ext cx="4822075" cy="3591338"/>
              <a:chOff x="4724050" y="1970250"/>
              <a:chExt cx="4822075" cy="3591338"/>
            </a:xfrm>
          </p:grpSpPr>
          <p:pic>
            <p:nvPicPr>
              <p:cNvPr id="17" name="Google Shape;161;p7">
                <a:extLst>
                  <a:ext uri="{FF2B5EF4-FFF2-40B4-BE49-F238E27FC236}">
                    <a16:creationId xmlns:a16="http://schemas.microsoft.com/office/drawing/2014/main" id="{18DFEFFB-1447-4D5C-9761-7962589D9133}"/>
                  </a:ext>
                </a:extLst>
              </p:cNvPr>
              <p:cNvPicPr preferRelativeResize="0"/>
              <p:nvPr/>
            </p:nvPicPr>
            <p:blipFill>
              <a:blip r:embed="rId5">
                <a:alphaModFix/>
              </a:blip>
              <a:stretch>
                <a:fillRect/>
              </a:stretch>
            </p:blipFill>
            <p:spPr>
              <a:xfrm>
                <a:off x="5288450" y="1970250"/>
                <a:ext cx="4257675" cy="3133725"/>
              </a:xfrm>
              <a:prstGeom prst="rect">
                <a:avLst/>
              </a:prstGeom>
              <a:noFill/>
              <a:ln>
                <a:noFill/>
              </a:ln>
            </p:spPr>
          </p:pic>
          <p:sp>
            <p:nvSpPr>
              <p:cNvPr id="18" name="Google Shape;164;p7">
                <a:extLst>
                  <a:ext uri="{FF2B5EF4-FFF2-40B4-BE49-F238E27FC236}">
                    <a16:creationId xmlns:a16="http://schemas.microsoft.com/office/drawing/2014/main" id="{737ABEC1-BBCC-487B-8C32-E7E221526A48}"/>
                  </a:ext>
                </a:extLst>
              </p:cNvPr>
              <p:cNvSpPr txBox="1"/>
              <p:nvPr/>
            </p:nvSpPr>
            <p:spPr>
              <a:xfrm rot="5400000">
                <a:off x="3454825" y="3830813"/>
                <a:ext cx="3000000" cy="46154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2400" dirty="0"/>
                  <a:t>Количество усов</a:t>
                </a:r>
                <a:endParaRPr sz="2400" dirty="0"/>
              </a:p>
            </p:txBody>
          </p:sp>
          <p:sp>
            <p:nvSpPr>
              <p:cNvPr id="19" name="Google Shape;165;p7">
                <a:extLst>
                  <a:ext uri="{FF2B5EF4-FFF2-40B4-BE49-F238E27FC236}">
                    <a16:creationId xmlns:a16="http://schemas.microsoft.com/office/drawing/2014/main" id="{18360ADF-6E38-499A-AFA2-AD21B236FE68}"/>
                  </a:ext>
                </a:extLst>
              </p:cNvPr>
              <p:cNvSpPr txBox="1"/>
              <p:nvPr/>
            </p:nvSpPr>
            <p:spPr>
              <a:xfrm>
                <a:off x="6215475" y="4996475"/>
                <a:ext cx="3000000" cy="46154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2400" dirty="0">
                    <a:solidFill>
                      <a:schemeClr val="dk1"/>
                    </a:solidFill>
                  </a:rPr>
                  <a:t>Длина морды (см)</a:t>
                </a:r>
                <a:endParaRPr sz="2400" dirty="0">
                  <a:solidFill>
                    <a:schemeClr val="dk1"/>
                  </a:solidFill>
                </a:endParaRPr>
              </a:p>
            </p:txBody>
          </p:sp>
        </p:grpSp>
        <p:graphicFrame>
          <p:nvGraphicFramePr>
            <p:cNvPr id="16" name="Google Shape;166;p7">
              <a:extLst>
                <a:ext uri="{FF2B5EF4-FFF2-40B4-BE49-F238E27FC236}">
                  <a16:creationId xmlns:a16="http://schemas.microsoft.com/office/drawing/2014/main" id="{E360B6D7-6B31-4A85-969E-85DABDB0D4B6}"/>
                </a:ext>
              </a:extLst>
            </p:cNvPr>
            <p:cNvGraphicFramePr/>
            <p:nvPr>
              <p:extLst>
                <p:ext uri="{D42A27DB-BD31-4B8C-83A1-F6EECF244321}">
                  <p14:modId xmlns:p14="http://schemas.microsoft.com/office/powerpoint/2010/main" val="117370946"/>
                </p:ext>
              </p:extLst>
            </p:nvPr>
          </p:nvGraphicFramePr>
          <p:xfrm>
            <a:off x="8212250" y="2221425"/>
            <a:ext cx="1190596" cy="934112"/>
          </p:xfrm>
          <a:graphic>
            <a:graphicData uri="http://schemas.openxmlformats.org/drawingml/2006/table">
              <a:tbl>
                <a:tblPr>
                  <a:noFill/>
                </a:tblPr>
                <a:tblGrid>
                  <a:gridCol w="1428997">
                    <a:extLst>
                      <a:ext uri="{9D8B030D-6E8A-4147-A177-3AD203B41FA5}">
                        <a16:colId xmlns:a16="http://schemas.microsoft.com/office/drawing/2014/main" val="20000"/>
                      </a:ext>
                    </a:extLst>
                  </a:gridCol>
                </a:tblGrid>
                <a:tr h="381000">
                  <a:tc>
                    <a:txBody>
                      <a:bodyPr/>
                      <a:lstStyle/>
                      <a:p>
                        <a:pPr marL="0" lvl="0" indent="0" algn="l" rtl="0">
                          <a:lnSpc>
                            <a:spcPct val="142857"/>
                          </a:lnSpc>
                          <a:spcBef>
                            <a:spcPts val="0"/>
                          </a:spcBef>
                          <a:spcAft>
                            <a:spcPts val="0"/>
                          </a:spcAft>
                          <a:buNone/>
                        </a:pPr>
                        <a:r>
                          <a:rPr lang="ru-RU" sz="2400" dirty="0">
                            <a:solidFill>
                              <a:srgbClr val="202124"/>
                            </a:solidFill>
                            <a:highlight>
                              <a:srgbClr val="9FC5E8"/>
                            </a:highlight>
                            <a:latin typeface="IBM Plex Sans"/>
                            <a:ea typeface="IBM Plex Sans"/>
                            <a:cs typeface="IBM Plex Sans"/>
                            <a:sym typeface="IBM Plex Sans"/>
                          </a:rPr>
                          <a:t>Собака</a:t>
                        </a:r>
                        <a:endParaRPr sz="2400" dirty="0">
                          <a:solidFill>
                            <a:srgbClr val="202124"/>
                          </a:solidFill>
                          <a:highlight>
                            <a:srgbClr val="9FC5E8"/>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ru-RU" sz="2400" dirty="0">
                            <a:solidFill>
                              <a:schemeClr val="dk1"/>
                            </a:solidFill>
                            <a:highlight>
                              <a:srgbClr val="93C47D"/>
                            </a:highlight>
                            <a:latin typeface="IBM Plex Sans"/>
                            <a:ea typeface="IBM Plex Sans"/>
                            <a:cs typeface="IBM Plex Sans"/>
                            <a:sym typeface="IBM Plex Sans"/>
                          </a:rPr>
                          <a:t>Кот</a:t>
                        </a:r>
                        <a:endParaRPr sz="2400" dirty="0">
                          <a:solidFill>
                            <a:srgbClr val="202124"/>
                          </a:solidFill>
                          <a:highlight>
                            <a:srgbClr val="93C47D"/>
                          </a:highlight>
                          <a:latin typeface="IBM Plex Sans"/>
                          <a:ea typeface="IBM Plex Sans"/>
                          <a:cs typeface="IBM Plex Sans"/>
                          <a:sym typeface="IBM Plex Sans"/>
                        </a:endParaRPr>
                      </a:p>
                    </a:txBody>
                    <a:tcPr marL="76200" marR="76200" marT="66675" marB="76200">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pSp>
      <p:sp>
        <p:nvSpPr>
          <p:cNvPr id="2" name="Овал 1">
            <a:extLst>
              <a:ext uri="{FF2B5EF4-FFF2-40B4-BE49-F238E27FC236}">
                <a16:creationId xmlns:a16="http://schemas.microsoft.com/office/drawing/2014/main" id="{38134BF6-4B62-438F-A8D3-22DBF551CE81}"/>
              </a:ext>
            </a:extLst>
          </p:cNvPr>
          <p:cNvSpPr/>
          <p:nvPr/>
        </p:nvSpPr>
        <p:spPr>
          <a:xfrm>
            <a:off x="2906518" y="2692140"/>
            <a:ext cx="2747209" cy="2807176"/>
          </a:xfrm>
          <a:prstGeom prst="ellipse">
            <a:avLst/>
          </a:prstGeom>
          <a:noFill/>
          <a:ln w="22225" cap="flat">
            <a:solidFill>
              <a:schemeClr val="tx1"/>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42A3624F-4FAB-45BE-A742-1CC4F2D934CA}"/>
              </a:ext>
            </a:extLst>
          </p:cNvPr>
          <p:cNvSpPr txBox="1"/>
          <p:nvPr/>
        </p:nvSpPr>
        <p:spPr>
          <a:xfrm>
            <a:off x="3830855" y="5111015"/>
            <a:ext cx="837398" cy="369332"/>
          </a:xfrm>
          <a:prstGeom prst="rect">
            <a:avLst/>
          </a:prstGeom>
          <a:noFill/>
        </p:spPr>
        <p:txBody>
          <a:bodyPr wrap="square" rtlCol="0">
            <a:spAutoFit/>
          </a:bodyPr>
          <a:lstStyle/>
          <a:p>
            <a:pPr algn="ctr"/>
            <a:r>
              <a:rPr lang="ru-RU" sz="1800" b="1" dirty="0"/>
              <a:t>К = 6</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cd43cf902c_0_137"/>
          <p:cNvSpPr txBox="1"/>
          <p:nvPr/>
        </p:nvSpPr>
        <p:spPr>
          <a:xfrm>
            <a:off x="1055688" y="1327687"/>
            <a:ext cx="8282292" cy="1152041"/>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dirty="0">
                <a:solidFill>
                  <a:schemeClr val="dk1"/>
                </a:solidFill>
                <a:latin typeface="IBM Plex Sans"/>
                <a:ea typeface="IBM Plex Sans"/>
                <a:cs typeface="IBM Plex Sans"/>
                <a:sym typeface="IBM Plex Sans"/>
              </a:rPr>
              <a:t>Влияние </a:t>
            </a:r>
            <a:r>
              <a:rPr lang="ru-RU" sz="3600" b="1" dirty="0" err="1">
                <a:solidFill>
                  <a:schemeClr val="dk1"/>
                </a:solidFill>
                <a:latin typeface="IBM Plex Sans"/>
                <a:ea typeface="IBM Plex Sans"/>
                <a:cs typeface="IBM Plex Sans"/>
                <a:sym typeface="IBM Plex Sans"/>
              </a:rPr>
              <a:t>гиперпараметра</a:t>
            </a:r>
            <a:r>
              <a:rPr lang="ru-RU" sz="3600" b="1" dirty="0">
                <a:solidFill>
                  <a:schemeClr val="dk1"/>
                </a:solidFill>
                <a:latin typeface="IBM Plex Sans"/>
                <a:ea typeface="IBM Plex Sans"/>
                <a:cs typeface="IBM Plex Sans"/>
                <a:sym typeface="IBM Plex Sans"/>
              </a:rPr>
              <a:t> K</a:t>
            </a:r>
            <a:endParaRPr sz="3600" b="1" dirty="0">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3600" b="1" dirty="0" err="1">
                <a:solidFill>
                  <a:schemeClr val="dk1"/>
                </a:solidFill>
                <a:latin typeface="IBM Plex Sans"/>
                <a:ea typeface="IBM Plex Sans"/>
                <a:cs typeface="IBM Plex Sans"/>
                <a:sym typeface="IBM Plex Sans"/>
              </a:rPr>
              <a:t>Недообучение</a:t>
            </a:r>
            <a:r>
              <a:rPr lang="ru-RU" sz="3600" b="1" dirty="0">
                <a:solidFill>
                  <a:schemeClr val="dk1"/>
                </a:solidFill>
                <a:latin typeface="IBM Plex Sans"/>
                <a:ea typeface="IBM Plex Sans"/>
                <a:cs typeface="IBM Plex Sans"/>
                <a:sym typeface="IBM Plex Sans"/>
              </a:rPr>
              <a:t> и переобучение</a:t>
            </a:r>
            <a:endParaRPr sz="3600" b="1" dirty="0">
              <a:solidFill>
                <a:schemeClr val="dk1"/>
              </a:solidFill>
              <a:latin typeface="IBM Plex Sans"/>
              <a:ea typeface="IBM Plex Sans"/>
              <a:cs typeface="IBM Plex Sans"/>
              <a:sym typeface="IBM Plex Sans"/>
            </a:endParaRPr>
          </a:p>
        </p:txBody>
      </p:sp>
      <p:grpSp>
        <p:nvGrpSpPr>
          <p:cNvPr id="207" name="Google Shape;207;g3cd43cf902c_0_137"/>
          <p:cNvGrpSpPr/>
          <p:nvPr/>
        </p:nvGrpSpPr>
        <p:grpSpPr>
          <a:xfrm>
            <a:off x="9353973" y="-1553420"/>
            <a:ext cx="2854020" cy="13716631"/>
            <a:chOff x="9353973" y="-1553420"/>
            <a:chExt cx="2854020" cy="13716631"/>
          </a:xfrm>
        </p:grpSpPr>
        <p:grpSp>
          <p:nvGrpSpPr>
            <p:cNvPr id="208" name="Google Shape;208;g3cd43cf902c_0_137"/>
            <p:cNvGrpSpPr/>
            <p:nvPr/>
          </p:nvGrpSpPr>
          <p:grpSpPr>
            <a:xfrm>
              <a:off x="9353973" y="-1553420"/>
              <a:ext cx="2838027" cy="13716631"/>
              <a:chOff x="9353973" y="-6079700"/>
              <a:chExt cx="2838027" cy="13716631"/>
            </a:xfrm>
          </p:grpSpPr>
          <p:pic>
            <p:nvPicPr>
              <p:cNvPr id="209" name="Google Shape;209;g3cd43cf902c_0_137"/>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210" name="Google Shape;210;g3cd43cf902c_0_137"/>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211" name="Google Shape;211;g3cd43cf902c_0_137"/>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2" name="Google Shape;212;g3cd43cf902c_0_137"/>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28" name="Picture 4" descr="Picture background">
            <a:extLst>
              <a:ext uri="{FF2B5EF4-FFF2-40B4-BE49-F238E27FC236}">
                <a16:creationId xmlns:a16="http://schemas.microsoft.com/office/drawing/2014/main" id="{EABCF1DC-8D18-4A99-8F41-1C4ADBE71A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081" y="2383938"/>
            <a:ext cx="9728464" cy="39886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pic>
        <p:nvPicPr>
          <p:cNvPr id="559" name="Google Shape;559;p71"/>
          <p:cNvPicPr preferRelativeResize="0"/>
          <p:nvPr/>
        </p:nvPicPr>
        <p:blipFill>
          <a:blip r:embed="rId3">
            <a:alphaModFix/>
          </a:blip>
          <a:stretch>
            <a:fillRect/>
          </a:stretch>
        </p:blipFill>
        <p:spPr>
          <a:xfrm>
            <a:off x="3618689" y="1956413"/>
            <a:ext cx="5615644" cy="4137832"/>
          </a:xfrm>
          <a:prstGeom prst="rect">
            <a:avLst/>
          </a:prstGeom>
          <a:noFill/>
          <a:ln>
            <a:noFill/>
          </a:ln>
        </p:spPr>
      </p:pic>
      <p:sp>
        <p:nvSpPr>
          <p:cNvPr id="3" name="Google Shape;172;g3ccf7679e09_0_532">
            <a:extLst>
              <a:ext uri="{FF2B5EF4-FFF2-40B4-BE49-F238E27FC236}">
                <a16:creationId xmlns:a16="http://schemas.microsoft.com/office/drawing/2014/main" id="{47A0C783-7CC7-4C2C-8D54-D3FE12321407}"/>
              </a:ext>
            </a:extLst>
          </p:cNvPr>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lvl="0" indent="0" algn="l" rtl="0">
              <a:lnSpc>
                <a:spcPct val="70000"/>
              </a:lnSpc>
              <a:spcBef>
                <a:spcPts val="0"/>
              </a:spcBef>
              <a:spcAft>
                <a:spcPts val="0"/>
              </a:spcAft>
              <a:buClr>
                <a:schemeClr val="dk1"/>
              </a:buClr>
              <a:buSzPts val="1100"/>
              <a:buFont typeface="Arial"/>
              <a:buNone/>
            </a:pPr>
            <a:r>
              <a:rPr lang="ru-RU" sz="3600" b="1" dirty="0">
                <a:solidFill>
                  <a:schemeClr val="dk1"/>
                </a:solidFill>
                <a:latin typeface="IBM Plex Sans"/>
                <a:ea typeface="IBM Plex Sans"/>
                <a:cs typeface="IBM Plex Sans"/>
                <a:sym typeface="IBM Plex Sans"/>
              </a:rPr>
              <a:t>Подбор признаков</a:t>
            </a:r>
            <a:endParaRPr sz="3600" b="1" dirty="0">
              <a:solidFill>
                <a:schemeClr val="dk1"/>
              </a:solidFill>
              <a:latin typeface="IBM Plex Sans"/>
              <a:ea typeface="IBM Plex Sans"/>
              <a:cs typeface="IBM Plex Sans"/>
              <a:sym typeface="IBM Plex Sans"/>
            </a:endParaRPr>
          </a:p>
        </p:txBody>
      </p:sp>
      <p:sp>
        <p:nvSpPr>
          <p:cNvPr id="4" name="TextBox 3">
            <a:extLst>
              <a:ext uri="{FF2B5EF4-FFF2-40B4-BE49-F238E27FC236}">
                <a16:creationId xmlns:a16="http://schemas.microsoft.com/office/drawing/2014/main" id="{0E066C1C-3FF2-46AB-92D6-46BE95E19941}"/>
              </a:ext>
            </a:extLst>
          </p:cNvPr>
          <p:cNvSpPr txBox="1"/>
          <p:nvPr/>
        </p:nvSpPr>
        <p:spPr>
          <a:xfrm>
            <a:off x="980103" y="607427"/>
            <a:ext cx="6102350" cy="646331"/>
          </a:xfrm>
          <a:prstGeom prst="rect">
            <a:avLst/>
          </a:prstGeom>
          <a:noFill/>
        </p:spPr>
        <p:txBody>
          <a:bodyPr wrap="square">
            <a:spAutoFit/>
          </a:bodyPr>
          <a:lstStyle/>
          <a:p>
            <a:r>
              <a:rPr lang="ru-RU" sz="3600" b="1" dirty="0">
                <a:latin typeface="IBM Plex Sans"/>
                <a:ea typeface="IBM Plex Sans"/>
                <a:cs typeface="IBM Plex Sans"/>
                <a:sym typeface="IBM Plex Sans"/>
              </a:rPr>
              <a:t>2</a:t>
            </a:r>
            <a:r>
              <a:rPr kumimoji="0" lang="ru-RU" sz="3600" b="1"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 вызов. </a:t>
            </a:r>
            <a:endParaRPr lang="ru-RU" dirty="0"/>
          </a:p>
        </p:txBody>
      </p:sp>
      <p:sp>
        <p:nvSpPr>
          <p:cNvPr id="9" name="Google Shape;164;p7">
            <a:extLst>
              <a:ext uri="{FF2B5EF4-FFF2-40B4-BE49-F238E27FC236}">
                <a16:creationId xmlns:a16="http://schemas.microsoft.com/office/drawing/2014/main" id="{99F7A61B-5DF2-4E39-BFB9-5D65183E1CCC}"/>
              </a:ext>
            </a:extLst>
          </p:cNvPr>
          <p:cNvSpPr txBox="1"/>
          <p:nvPr/>
        </p:nvSpPr>
        <p:spPr>
          <a:xfrm rot="5400000">
            <a:off x="1609265" y="4418190"/>
            <a:ext cx="3600710" cy="5539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2400" dirty="0"/>
              <a:t>Количество усов</a:t>
            </a:r>
            <a:endParaRPr sz="2400" dirty="0"/>
          </a:p>
        </p:txBody>
      </p:sp>
      <p:sp>
        <p:nvSpPr>
          <p:cNvPr id="10" name="Google Shape;165;p7">
            <a:extLst>
              <a:ext uri="{FF2B5EF4-FFF2-40B4-BE49-F238E27FC236}">
                <a16:creationId xmlns:a16="http://schemas.microsoft.com/office/drawing/2014/main" id="{6DD5F2CA-D66A-4B7E-9C64-314B2945AB42}"/>
              </a:ext>
            </a:extLst>
          </p:cNvPr>
          <p:cNvSpPr txBox="1"/>
          <p:nvPr/>
        </p:nvSpPr>
        <p:spPr>
          <a:xfrm>
            <a:off x="4922699" y="5817261"/>
            <a:ext cx="3600710" cy="5539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2400" dirty="0">
                <a:solidFill>
                  <a:schemeClr val="dk1"/>
                </a:solidFill>
              </a:rPr>
              <a:t>Длина морды (см)</a:t>
            </a:r>
            <a:endParaRPr sz="2400" dirty="0">
              <a:solidFill>
                <a:schemeClr val="dk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571" name="Google Shape;571;p73"/>
          <p:cNvPicPr preferRelativeResize="0"/>
          <p:nvPr/>
        </p:nvPicPr>
        <p:blipFill rotWithShape="1">
          <a:blip r:embed="rId3">
            <a:alphaModFix/>
          </a:blip>
          <a:srcRect t="5905" b="20738"/>
          <a:stretch/>
        </p:blipFill>
        <p:spPr>
          <a:xfrm>
            <a:off x="1133775" y="3612230"/>
            <a:ext cx="9833533" cy="3063467"/>
          </a:xfrm>
          <a:prstGeom prst="rect">
            <a:avLst/>
          </a:prstGeom>
          <a:noFill/>
          <a:ln>
            <a:noFill/>
          </a:ln>
        </p:spPr>
      </p:pic>
      <p:sp>
        <p:nvSpPr>
          <p:cNvPr id="572" name="Google Shape;572;p73"/>
          <p:cNvSpPr txBox="1"/>
          <p:nvPr/>
        </p:nvSpPr>
        <p:spPr>
          <a:xfrm>
            <a:off x="953400" y="2043265"/>
            <a:ext cx="10919200" cy="1641691"/>
          </a:xfrm>
          <a:prstGeom prst="rect">
            <a:avLst/>
          </a:prstGeom>
          <a:noFill/>
          <a:ln>
            <a:noFill/>
          </a:ln>
        </p:spPr>
        <p:txBody>
          <a:bodyPr spcFirstLastPara="1" wrap="square" lIns="121900" tIns="121900" rIns="121900" bIns="121900" anchor="ctr" anchorCtr="0">
            <a:spAutoFit/>
          </a:bodyPr>
          <a:lstStyle/>
          <a:p>
            <a:r>
              <a:rPr lang="ru" sz="2267" dirty="0">
                <a:solidFill>
                  <a:schemeClr val="dk1"/>
                </a:solidFill>
                <a:latin typeface="Nunito"/>
                <a:ea typeface="Nunito"/>
                <a:cs typeface="Nunito"/>
                <a:sym typeface="Nunito"/>
              </a:rPr>
              <a:t>В KNN мы делаем предположение: близкие точки будут иметь близкие ответы.</a:t>
            </a:r>
            <a:endParaRPr sz="2267" dirty="0">
              <a:solidFill>
                <a:schemeClr val="dk1"/>
              </a:solidFill>
              <a:latin typeface="Nunito"/>
              <a:ea typeface="Nunito"/>
              <a:cs typeface="Nunito"/>
              <a:sym typeface="Nunito"/>
            </a:endParaRPr>
          </a:p>
          <a:p>
            <a:r>
              <a:rPr lang="ru" sz="2267" dirty="0">
                <a:solidFill>
                  <a:schemeClr val="dk1"/>
                </a:solidFill>
                <a:latin typeface="Nunito"/>
                <a:ea typeface="Nunito"/>
                <a:cs typeface="Nunito"/>
                <a:sym typeface="Nunito"/>
              </a:rPr>
              <a:t>При большой размерности данных в близкую область попадет мало объектов.</a:t>
            </a:r>
            <a:endParaRPr sz="2267" dirty="0">
              <a:solidFill>
                <a:schemeClr val="dk1"/>
              </a:solidFill>
              <a:latin typeface="Nunito"/>
              <a:ea typeface="Nunito"/>
              <a:cs typeface="Nunito"/>
              <a:sym typeface="Nunito"/>
            </a:endParaRPr>
          </a:p>
        </p:txBody>
      </p:sp>
      <p:sp>
        <p:nvSpPr>
          <p:cNvPr id="6" name="TextBox 5">
            <a:extLst>
              <a:ext uri="{FF2B5EF4-FFF2-40B4-BE49-F238E27FC236}">
                <a16:creationId xmlns:a16="http://schemas.microsoft.com/office/drawing/2014/main" id="{71D5885B-1943-4052-9083-CB3032F1668F}"/>
              </a:ext>
            </a:extLst>
          </p:cNvPr>
          <p:cNvSpPr txBox="1"/>
          <p:nvPr/>
        </p:nvSpPr>
        <p:spPr>
          <a:xfrm>
            <a:off x="980103" y="607427"/>
            <a:ext cx="6102350" cy="1200329"/>
          </a:xfrm>
          <a:prstGeom prst="rect">
            <a:avLst/>
          </a:prstGeom>
          <a:noFill/>
        </p:spPr>
        <p:txBody>
          <a:bodyPr wrap="square">
            <a:spAutoFit/>
          </a:bodyPr>
          <a:lstStyle/>
          <a:p>
            <a:r>
              <a:rPr kumimoji="0" lang="en-US" sz="3600" b="1"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Curse of Dimensionality</a:t>
            </a:r>
            <a:br>
              <a:rPr kumimoji="0" lang="ru-RU" sz="3600" b="1"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br>
            <a:r>
              <a:rPr kumimoji="0" lang="ru-RU" sz="3600" b="1"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Проклятие размерности </a:t>
            </a:r>
            <a:endParaRPr lang="ru-RU"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3cb20f13e01_0_894"/>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a:solidFill>
                  <a:schemeClr val="dk1"/>
                </a:solidFill>
                <a:latin typeface="IBM Plex Sans"/>
                <a:ea typeface="IBM Plex Sans"/>
                <a:cs typeface="IBM Plex Sans"/>
                <a:sym typeface="IBM Plex Sans"/>
              </a:rPr>
              <a:t>Размерность признаков</a:t>
            </a:r>
            <a:endParaRPr sz="3600" b="1" i="0" u="none" strike="noStrike" cap="none">
              <a:solidFill>
                <a:schemeClr val="dk1"/>
              </a:solidFill>
              <a:latin typeface="IBM Plex Sans"/>
              <a:ea typeface="IBM Plex Sans"/>
              <a:cs typeface="IBM Plex Sans"/>
              <a:sym typeface="IBM Plex Sans"/>
            </a:endParaRPr>
          </a:p>
        </p:txBody>
      </p:sp>
      <p:grpSp>
        <p:nvGrpSpPr>
          <p:cNvPr id="248" name="Google Shape;248;g3cb20f13e01_0_894"/>
          <p:cNvGrpSpPr/>
          <p:nvPr/>
        </p:nvGrpSpPr>
        <p:grpSpPr>
          <a:xfrm>
            <a:off x="9353973" y="-1553420"/>
            <a:ext cx="2854020" cy="13716631"/>
            <a:chOff x="9353973" y="-1553420"/>
            <a:chExt cx="2854020" cy="13716631"/>
          </a:xfrm>
        </p:grpSpPr>
        <p:grpSp>
          <p:nvGrpSpPr>
            <p:cNvPr id="249" name="Google Shape;249;g3cb20f13e01_0_894"/>
            <p:cNvGrpSpPr/>
            <p:nvPr/>
          </p:nvGrpSpPr>
          <p:grpSpPr>
            <a:xfrm>
              <a:off x="9353973" y="-1553420"/>
              <a:ext cx="2838027" cy="13716631"/>
              <a:chOff x="9353973" y="-6079700"/>
              <a:chExt cx="2838027" cy="13716631"/>
            </a:xfrm>
          </p:grpSpPr>
          <p:pic>
            <p:nvPicPr>
              <p:cNvPr id="250" name="Google Shape;250;g3cb20f13e01_0_894"/>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251" name="Google Shape;251;g3cb20f13e01_0_894"/>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252" name="Google Shape;252;g3cb20f13e01_0_89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3" name="Google Shape;253;g3cb20f13e01_0_89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54" name="Google Shape;254;g3cb20f13e01_0_894"/>
          <p:cNvPicPr preferRelativeResize="0"/>
          <p:nvPr/>
        </p:nvPicPr>
        <p:blipFill rotWithShape="1">
          <a:blip r:embed="rId4">
            <a:alphaModFix/>
          </a:blip>
          <a:srcRect/>
          <a:stretch/>
        </p:blipFill>
        <p:spPr>
          <a:xfrm>
            <a:off x="8708574" y="4040996"/>
            <a:ext cx="3047978" cy="3052211"/>
          </a:xfrm>
          <a:prstGeom prst="rect">
            <a:avLst/>
          </a:prstGeom>
          <a:noFill/>
          <a:ln>
            <a:noFill/>
          </a:ln>
        </p:spPr>
      </p:pic>
      <p:sp>
        <p:nvSpPr>
          <p:cNvPr id="255" name="Google Shape;255;g3cb20f13e01_0_894"/>
          <p:cNvSpPr txBox="1"/>
          <p:nvPr/>
        </p:nvSpPr>
        <p:spPr>
          <a:xfrm>
            <a:off x="1055700" y="2525100"/>
            <a:ext cx="2853900" cy="3380400"/>
          </a:xfrm>
          <a:prstGeom prst="rect">
            <a:avLst/>
          </a:prstGeom>
          <a:noFill/>
          <a:ln>
            <a:noFill/>
          </a:ln>
        </p:spPr>
        <p:txBody>
          <a:bodyPr spcFirstLastPara="1" wrap="square" lIns="0" tIns="0" rIns="0" bIns="0" anchor="t" anchorCtr="0">
            <a:noAutofit/>
          </a:bodyPr>
          <a:lstStyle/>
          <a:p>
            <a:pPr marL="0" lvl="0" indent="0" algn="l" rtl="0">
              <a:lnSpc>
                <a:spcPct val="70000"/>
              </a:lnSpc>
              <a:spcBef>
                <a:spcPts val="0"/>
              </a:spcBef>
              <a:spcAft>
                <a:spcPts val="0"/>
              </a:spcAft>
              <a:buClr>
                <a:schemeClr val="dk1"/>
              </a:buClr>
              <a:buSzPts val="1100"/>
              <a:buFont typeface="Arial"/>
              <a:buNone/>
            </a:pPr>
            <a:r>
              <a:rPr lang="ru-RU" sz="1600">
                <a:solidFill>
                  <a:schemeClr val="dk1"/>
                </a:solidFill>
                <a:latin typeface="IBM Plex Sans"/>
                <a:ea typeface="IBM Plex Sans"/>
                <a:cs typeface="IBM Plex Sans"/>
                <a:sym typeface="IBM Plex Sans"/>
              </a:rPr>
              <a:t>Определяя расстояние между векторами возникает проблема масштаба признаков.</a:t>
            </a:r>
            <a:endParaRPr sz="1600">
              <a:solidFill>
                <a:schemeClr val="dk1"/>
              </a:solidFill>
              <a:latin typeface="IBM Plex Sans"/>
              <a:ea typeface="IBM Plex Sans"/>
              <a:cs typeface="IBM Plex Sans"/>
              <a:sym typeface="IBM Plex Sans"/>
            </a:endParaRPr>
          </a:p>
          <a:p>
            <a:pPr marL="0" lvl="0" indent="0" algn="l" rtl="0">
              <a:lnSpc>
                <a:spcPct val="70000"/>
              </a:lnSpc>
              <a:spcBef>
                <a:spcPts val="0"/>
              </a:spcBef>
              <a:spcAft>
                <a:spcPts val="0"/>
              </a:spcAft>
              <a:buClr>
                <a:schemeClr val="dk1"/>
              </a:buClr>
              <a:buSzPts val="1100"/>
              <a:buFont typeface="Arial"/>
              <a:buNone/>
            </a:pPr>
            <a:endParaRPr sz="1600">
              <a:solidFill>
                <a:schemeClr val="dk1"/>
              </a:solidFill>
              <a:latin typeface="IBM Plex Sans"/>
              <a:ea typeface="IBM Plex Sans"/>
              <a:cs typeface="IBM Plex Sans"/>
              <a:sym typeface="IBM Plex Sans"/>
            </a:endParaRPr>
          </a:p>
          <a:p>
            <a:pPr marL="0" lvl="0" indent="0" algn="l" rtl="0">
              <a:lnSpc>
                <a:spcPct val="70000"/>
              </a:lnSpc>
              <a:spcBef>
                <a:spcPts val="0"/>
              </a:spcBef>
              <a:spcAft>
                <a:spcPts val="0"/>
              </a:spcAft>
              <a:buClr>
                <a:schemeClr val="dk1"/>
              </a:buClr>
              <a:buSzPts val="1100"/>
              <a:buFont typeface="Arial"/>
              <a:buNone/>
            </a:pPr>
            <a:r>
              <a:rPr lang="ru-RU" sz="1600">
                <a:solidFill>
                  <a:schemeClr val="dk1"/>
                </a:solidFill>
                <a:latin typeface="IBM Plex Sans"/>
                <a:ea typeface="IBM Plex Sans"/>
                <a:cs typeface="IBM Plex Sans"/>
                <a:sym typeface="IBM Plex Sans"/>
              </a:rPr>
              <a:t>Пример:</a:t>
            </a:r>
            <a:endParaRPr sz="1600">
              <a:solidFill>
                <a:schemeClr val="dk1"/>
              </a:solidFill>
              <a:latin typeface="IBM Plex Sans"/>
              <a:ea typeface="IBM Plex Sans"/>
              <a:cs typeface="IBM Plex Sans"/>
              <a:sym typeface="IBM Plex Sans"/>
            </a:endParaRPr>
          </a:p>
          <a:p>
            <a:pPr marL="0" lvl="0" indent="0" algn="l" rtl="0">
              <a:lnSpc>
                <a:spcPct val="70000"/>
              </a:lnSpc>
              <a:spcBef>
                <a:spcPts val="0"/>
              </a:spcBef>
              <a:spcAft>
                <a:spcPts val="0"/>
              </a:spcAft>
              <a:buClr>
                <a:schemeClr val="dk1"/>
              </a:buClr>
              <a:buSzPts val="1100"/>
              <a:buFont typeface="Arial"/>
              <a:buNone/>
            </a:pPr>
            <a:r>
              <a:rPr lang="ru-RU" sz="1600">
                <a:solidFill>
                  <a:schemeClr val="dk1"/>
                </a:solidFill>
                <a:latin typeface="IBM Plex Sans"/>
                <a:ea typeface="IBM Plex Sans"/>
                <a:cs typeface="IBM Plex Sans"/>
                <a:sym typeface="IBM Plex Sans"/>
              </a:rPr>
              <a:t>Задача определения класса дома по признакам:</a:t>
            </a:r>
            <a:endParaRPr sz="1600">
              <a:solidFill>
                <a:schemeClr val="dk1"/>
              </a:solidFill>
              <a:latin typeface="IBM Plex Sans"/>
              <a:ea typeface="IBM Plex Sans"/>
              <a:cs typeface="IBM Plex Sans"/>
              <a:sym typeface="IBM Plex Sans"/>
            </a:endParaRPr>
          </a:p>
          <a:p>
            <a:pPr marL="0" lvl="0" indent="0" algn="l" rtl="0">
              <a:lnSpc>
                <a:spcPct val="70000"/>
              </a:lnSpc>
              <a:spcBef>
                <a:spcPts val="0"/>
              </a:spcBef>
              <a:spcAft>
                <a:spcPts val="0"/>
              </a:spcAft>
              <a:buClr>
                <a:schemeClr val="dk1"/>
              </a:buClr>
              <a:buSzPts val="1100"/>
              <a:buFont typeface="Arial"/>
              <a:buNone/>
            </a:pPr>
            <a:r>
              <a:rPr lang="ru-RU" sz="1600">
                <a:solidFill>
                  <a:schemeClr val="dk1"/>
                </a:solidFill>
                <a:latin typeface="IBM Plex Sans"/>
                <a:ea typeface="IBM Plex Sans"/>
                <a:cs typeface="IBM Plex Sans"/>
                <a:sym typeface="IBM Plex Sans"/>
              </a:rPr>
              <a:t>Расстояние до метро в метрах</a:t>
            </a:r>
            <a:endParaRPr sz="1600">
              <a:solidFill>
                <a:schemeClr val="dk1"/>
              </a:solidFill>
              <a:latin typeface="IBM Plex Sans"/>
              <a:ea typeface="IBM Plex Sans"/>
              <a:cs typeface="IBM Plex Sans"/>
              <a:sym typeface="IBM Plex Sans"/>
            </a:endParaRPr>
          </a:p>
          <a:p>
            <a:pPr marL="0" lvl="0" indent="0" algn="l" rtl="0">
              <a:lnSpc>
                <a:spcPct val="70000"/>
              </a:lnSpc>
              <a:spcBef>
                <a:spcPts val="0"/>
              </a:spcBef>
              <a:spcAft>
                <a:spcPts val="0"/>
              </a:spcAft>
              <a:buClr>
                <a:schemeClr val="dk1"/>
              </a:buClr>
              <a:buSzPts val="1100"/>
              <a:buFont typeface="Arial"/>
              <a:buNone/>
            </a:pPr>
            <a:r>
              <a:rPr lang="ru-RU" sz="1600">
                <a:solidFill>
                  <a:schemeClr val="dk1"/>
                </a:solidFill>
                <a:latin typeface="IBM Plex Sans"/>
                <a:ea typeface="IBM Plex Sans"/>
                <a:cs typeface="IBM Plex Sans"/>
                <a:sym typeface="IBM Plex Sans"/>
              </a:rPr>
              <a:t>Количество комнат</a:t>
            </a:r>
            <a:endParaRPr sz="1600">
              <a:solidFill>
                <a:schemeClr val="dk1"/>
              </a:solidFill>
              <a:latin typeface="IBM Plex Sans"/>
              <a:ea typeface="IBM Plex Sans"/>
              <a:cs typeface="IBM Plex Sans"/>
              <a:sym typeface="IBM Plex Sans"/>
            </a:endParaRPr>
          </a:p>
          <a:p>
            <a:pPr marL="0" lvl="0" indent="0" algn="l" rtl="0">
              <a:lnSpc>
                <a:spcPct val="70000"/>
              </a:lnSpc>
              <a:spcBef>
                <a:spcPts val="0"/>
              </a:spcBef>
              <a:spcAft>
                <a:spcPts val="0"/>
              </a:spcAft>
              <a:buClr>
                <a:schemeClr val="dk1"/>
              </a:buClr>
              <a:buSzPts val="1100"/>
              <a:buFont typeface="Arial"/>
              <a:buNone/>
            </a:pPr>
            <a:r>
              <a:rPr lang="ru-RU" sz="1600">
                <a:solidFill>
                  <a:schemeClr val="dk1"/>
                </a:solidFill>
                <a:latin typeface="IBM Plex Sans"/>
                <a:ea typeface="IBM Plex Sans"/>
                <a:cs typeface="IBM Plex Sans"/>
                <a:sym typeface="IBM Plex Sans"/>
              </a:rPr>
              <a:t>Количество комнат почти не будет влиять на предсказание</a:t>
            </a:r>
            <a:endParaRPr sz="1600">
              <a:solidFill>
                <a:schemeClr val="dk1"/>
              </a:solidFill>
              <a:latin typeface="IBM Plex Sans"/>
              <a:ea typeface="IBM Plex Sans"/>
              <a:cs typeface="IBM Plex Sans"/>
              <a:sym typeface="IBM Plex Sans"/>
            </a:endParaRPr>
          </a:p>
          <a:p>
            <a:pPr marL="0" lvl="0" indent="0" algn="l" rtl="0">
              <a:lnSpc>
                <a:spcPct val="70000"/>
              </a:lnSpc>
              <a:spcBef>
                <a:spcPts val="0"/>
              </a:spcBef>
              <a:spcAft>
                <a:spcPts val="0"/>
              </a:spcAft>
              <a:buClr>
                <a:schemeClr val="dk1"/>
              </a:buClr>
              <a:buSzPts val="1100"/>
              <a:buFont typeface="Arial"/>
              <a:buNone/>
            </a:pPr>
            <a:endParaRPr sz="1600">
              <a:solidFill>
                <a:schemeClr val="dk1"/>
              </a:solidFill>
              <a:latin typeface="IBM Plex Sans"/>
              <a:ea typeface="IBM Plex Sans"/>
              <a:cs typeface="IBM Plex Sans"/>
              <a:sym typeface="IBM Plex Sans"/>
            </a:endParaRPr>
          </a:p>
          <a:p>
            <a:pPr marL="0" lvl="0" indent="0" algn="l" rtl="0">
              <a:lnSpc>
                <a:spcPct val="70000"/>
              </a:lnSpc>
              <a:spcBef>
                <a:spcPts val="0"/>
              </a:spcBef>
              <a:spcAft>
                <a:spcPts val="0"/>
              </a:spcAft>
              <a:buClr>
                <a:schemeClr val="dk1"/>
              </a:buClr>
              <a:buSzPts val="1100"/>
              <a:buFont typeface="Arial"/>
              <a:buNone/>
            </a:pPr>
            <a:endParaRPr sz="1600">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1600"/>
              <a:buFont typeface="Arial"/>
              <a:buNone/>
            </a:pPr>
            <a:endParaRPr sz="1600">
              <a:solidFill>
                <a:schemeClr val="dk1"/>
              </a:solidFill>
              <a:latin typeface="IBM Plex Sans"/>
              <a:ea typeface="IBM Plex Sans"/>
              <a:cs typeface="IBM Plex Sans"/>
              <a:sym typeface="IBM Plex Sans"/>
            </a:endParaRPr>
          </a:p>
        </p:txBody>
      </p:sp>
      <p:pic>
        <p:nvPicPr>
          <p:cNvPr id="256" name="Google Shape;256;g3cb20f13e01_0_894"/>
          <p:cNvPicPr preferRelativeResize="0"/>
          <p:nvPr/>
        </p:nvPicPr>
        <p:blipFill>
          <a:blip r:embed="rId5">
            <a:alphaModFix/>
          </a:blip>
          <a:stretch>
            <a:fillRect/>
          </a:stretch>
        </p:blipFill>
        <p:spPr>
          <a:xfrm>
            <a:off x="4902388" y="2211088"/>
            <a:ext cx="3458800" cy="4008418"/>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249"/>
        <p:cNvGrpSpPr/>
        <p:nvPr/>
      </p:nvGrpSpPr>
      <p:grpSpPr>
        <a:xfrm>
          <a:off x="0" y="0"/>
          <a:ext cx="0" cy="0"/>
          <a:chOff x="0" y="0"/>
          <a:chExt cx="0" cy="0"/>
        </a:xfrm>
      </p:grpSpPr>
      <p:sp>
        <p:nvSpPr>
          <p:cNvPr id="1250" name="Google Shape;1250;g3d1a00d9b9a_0_45"/>
          <p:cNvSpPr txBox="1"/>
          <p:nvPr/>
        </p:nvSpPr>
        <p:spPr>
          <a:xfrm>
            <a:off x="1060850" y="2662300"/>
            <a:ext cx="6202500" cy="774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SzPts val="4800"/>
              <a:buFont typeface="Arial"/>
              <a:buNone/>
            </a:pPr>
            <a:r>
              <a:rPr lang="ru-RU" sz="4400" b="1" i="0" u="none" strike="noStrike" cap="none">
                <a:solidFill>
                  <a:schemeClr val="dk1"/>
                </a:solidFill>
                <a:latin typeface="IBM Plex Sans"/>
                <a:ea typeface="IBM Plex Sans"/>
                <a:cs typeface="IBM Plex Sans"/>
                <a:sym typeface="IBM Plex Sans"/>
              </a:rPr>
              <a:t>Проект</a:t>
            </a:r>
            <a:endParaRPr sz="4400" b="1" i="0" u="none" strike="noStrike" cap="none">
              <a:solidFill>
                <a:schemeClr val="dk1"/>
              </a:solidFill>
              <a:latin typeface="IBM Plex Sans"/>
              <a:ea typeface="IBM Plex Sans"/>
              <a:cs typeface="IBM Plex Sans"/>
              <a:sym typeface="IBM Plex Sans"/>
            </a:endParaRPr>
          </a:p>
        </p:txBody>
      </p:sp>
      <p:sp>
        <p:nvSpPr>
          <p:cNvPr id="1251" name="Google Shape;1251;g3d1a00d9b9a_0_45"/>
          <p:cNvSpPr txBox="1"/>
          <p:nvPr/>
        </p:nvSpPr>
        <p:spPr>
          <a:xfrm>
            <a:off x="1060857" y="6033838"/>
            <a:ext cx="3771900" cy="235500"/>
          </a:xfrm>
          <a:prstGeom prst="rect">
            <a:avLst/>
          </a:prstGeom>
          <a:noFill/>
          <a:ln>
            <a:noFill/>
          </a:ln>
        </p:spPr>
        <p:txBody>
          <a:bodyPr spcFirstLastPara="1" wrap="square" lIns="0" tIns="19875" rIns="0" bIns="0" anchor="t" anchorCtr="0">
            <a:spAutoFit/>
          </a:bodyPr>
          <a:lstStyle/>
          <a:p>
            <a:pPr marL="20942" marR="8377" lvl="0" indent="0" algn="l" rtl="0">
              <a:lnSpc>
                <a:spcPct val="12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ularionova@mail.tsu.ru</a:t>
            </a:r>
            <a:endParaRPr sz="1400" b="0" i="0" u="none" strike="noStrike" cap="none">
              <a:solidFill>
                <a:schemeClr val="dk1"/>
              </a:solidFill>
              <a:latin typeface="IBM Plex Sans"/>
              <a:ea typeface="IBM Plex Sans"/>
              <a:cs typeface="IBM Plex Sans"/>
              <a:sym typeface="IBM Plex Sans"/>
            </a:endParaRPr>
          </a:p>
        </p:txBody>
      </p:sp>
      <p:sp>
        <p:nvSpPr>
          <p:cNvPr id="1252" name="Google Shape;1252;g3d1a00d9b9a_0_45"/>
          <p:cNvSpPr txBox="1"/>
          <p:nvPr/>
        </p:nvSpPr>
        <p:spPr>
          <a:xfrm>
            <a:off x="1060857" y="5282291"/>
            <a:ext cx="4032300" cy="561900"/>
          </a:xfrm>
          <a:prstGeom prst="rect">
            <a:avLst/>
          </a:prstGeom>
          <a:noFill/>
          <a:ln>
            <a:noFill/>
          </a:ln>
        </p:spPr>
        <p:txBody>
          <a:bodyPr spcFirstLastPara="1" wrap="square" lIns="0" tIns="19875" rIns="0" bIns="0" anchor="t" anchorCtr="0">
            <a:spAutoFit/>
          </a:bodyPr>
          <a:lstStyle/>
          <a:p>
            <a:pPr marL="20942" marR="8377"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Ларионова Ульяна</a:t>
            </a:r>
            <a:endParaRPr sz="1400" b="0" i="0" u="none" strike="noStrike" cap="none">
              <a:solidFill>
                <a:srgbClr val="000000"/>
              </a:solidFill>
              <a:latin typeface="Arial"/>
              <a:ea typeface="Arial"/>
              <a:cs typeface="Arial"/>
              <a:sym typeface="Arial"/>
            </a:endParaRPr>
          </a:p>
          <a:p>
            <a:pPr marL="20942" marR="8377"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Преподаватель</a:t>
            </a:r>
            <a:endParaRPr sz="1600" b="0" i="0" u="none" strike="noStrike" cap="none">
              <a:solidFill>
                <a:schemeClr val="dk1"/>
              </a:solidFill>
              <a:latin typeface="IBM Plex Sans"/>
              <a:ea typeface="IBM Plex Sans"/>
              <a:cs typeface="IBM Plex Sans"/>
              <a:sym typeface="IBM Plex Sans"/>
            </a:endParaRPr>
          </a:p>
        </p:txBody>
      </p:sp>
      <p:pic>
        <p:nvPicPr>
          <p:cNvPr id="1253" name="Google Shape;1253;g3d1a00d9b9a_0_45"/>
          <p:cNvPicPr preferRelativeResize="0"/>
          <p:nvPr/>
        </p:nvPicPr>
        <p:blipFill rotWithShape="1">
          <a:blip r:embed="rId3">
            <a:alphaModFix/>
          </a:blip>
          <a:srcRect/>
          <a:stretch/>
        </p:blipFill>
        <p:spPr>
          <a:xfrm rot="10800000" flipH="1">
            <a:off x="8976462" y="3862790"/>
            <a:ext cx="2872246" cy="2884213"/>
          </a:xfrm>
          <a:prstGeom prst="rect">
            <a:avLst/>
          </a:prstGeom>
          <a:noFill/>
          <a:ln>
            <a:noFill/>
          </a:ln>
        </p:spPr>
      </p:pic>
      <p:grpSp>
        <p:nvGrpSpPr>
          <p:cNvPr id="1254" name="Google Shape;1254;g3d1a00d9b9a_0_45"/>
          <p:cNvGrpSpPr/>
          <p:nvPr/>
        </p:nvGrpSpPr>
        <p:grpSpPr>
          <a:xfrm>
            <a:off x="9353973" y="-1553420"/>
            <a:ext cx="2854020" cy="13716631"/>
            <a:chOff x="9353973" y="-1553420"/>
            <a:chExt cx="2854020" cy="13716631"/>
          </a:xfrm>
        </p:grpSpPr>
        <p:grpSp>
          <p:nvGrpSpPr>
            <p:cNvPr id="1255" name="Google Shape;1255;g3d1a00d9b9a_0_45"/>
            <p:cNvGrpSpPr/>
            <p:nvPr/>
          </p:nvGrpSpPr>
          <p:grpSpPr>
            <a:xfrm>
              <a:off x="9353973" y="-1553420"/>
              <a:ext cx="2838027" cy="13716631"/>
              <a:chOff x="9353973" y="-6079700"/>
              <a:chExt cx="2838027" cy="13716631"/>
            </a:xfrm>
          </p:grpSpPr>
          <p:pic>
            <p:nvPicPr>
              <p:cNvPr id="1256" name="Google Shape;1256;g3d1a00d9b9a_0_45"/>
              <p:cNvPicPr preferRelativeResize="0"/>
              <p:nvPr/>
            </p:nvPicPr>
            <p:blipFill rotWithShape="1">
              <a:blip r:embed="rId4">
                <a:alphaModFix/>
              </a:blip>
              <a:srcRect l="1283"/>
              <a:stretch/>
            </p:blipFill>
            <p:spPr>
              <a:xfrm>
                <a:off x="9353973" y="778933"/>
                <a:ext cx="2838027" cy="6857998"/>
              </a:xfrm>
              <a:prstGeom prst="rect">
                <a:avLst/>
              </a:prstGeom>
              <a:noFill/>
              <a:ln>
                <a:noFill/>
              </a:ln>
            </p:spPr>
          </p:pic>
          <p:pic>
            <p:nvPicPr>
              <p:cNvPr id="1257" name="Google Shape;1257;g3d1a00d9b9a_0_45"/>
              <p:cNvPicPr preferRelativeResize="0"/>
              <p:nvPr/>
            </p:nvPicPr>
            <p:blipFill rotWithShape="1">
              <a:blip r:embed="rId4">
                <a:alphaModFix/>
              </a:blip>
              <a:srcRect l="1283"/>
              <a:stretch/>
            </p:blipFill>
            <p:spPr>
              <a:xfrm>
                <a:off x="9353973" y="-6079700"/>
                <a:ext cx="2838027" cy="6857998"/>
              </a:xfrm>
              <a:prstGeom prst="rect">
                <a:avLst/>
              </a:prstGeom>
              <a:noFill/>
              <a:ln>
                <a:noFill/>
              </a:ln>
            </p:spPr>
          </p:pic>
        </p:grpSp>
        <p:sp>
          <p:nvSpPr>
            <p:cNvPr id="1258" name="Google Shape;1258;g3d1a00d9b9a_0_45"/>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59" name="Google Shape;1259;g3d1a00d9b9a_0_45"/>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260" name="Google Shape;1260;g3d1a00d9b9a_0_45"/>
          <p:cNvPicPr preferRelativeResize="0"/>
          <p:nvPr/>
        </p:nvPicPr>
        <p:blipFill rotWithShape="1">
          <a:blip r:embed="rId5">
            <a:alphaModFix/>
          </a:blip>
          <a:srcRect/>
          <a:stretch/>
        </p:blipFill>
        <p:spPr>
          <a:xfrm>
            <a:off x="1055688" y="285516"/>
            <a:ext cx="677246" cy="77496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264"/>
        <p:cNvGrpSpPr/>
        <p:nvPr/>
      </p:nvGrpSpPr>
      <p:grpSpPr>
        <a:xfrm>
          <a:off x="0" y="0"/>
          <a:ext cx="0" cy="0"/>
          <a:chOff x="0" y="0"/>
          <a:chExt cx="0" cy="0"/>
        </a:xfrm>
      </p:grpSpPr>
      <p:sp>
        <p:nvSpPr>
          <p:cNvPr id="1265" name="Google Shape;1265;p16"/>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Titanic: Machine Learning from Disaster</a:t>
            </a:r>
            <a:endParaRPr sz="3600" b="0" i="0" u="none" strike="noStrike" cap="none">
              <a:solidFill>
                <a:srgbClr val="DFDFDF"/>
              </a:solidFill>
              <a:latin typeface="IBM Plex Sans"/>
              <a:ea typeface="IBM Plex Sans"/>
              <a:cs typeface="IBM Plex Sans"/>
              <a:sym typeface="IBM Plex Sans"/>
            </a:endParaRPr>
          </a:p>
        </p:txBody>
      </p:sp>
      <p:grpSp>
        <p:nvGrpSpPr>
          <p:cNvPr id="1266" name="Google Shape;1266;p16"/>
          <p:cNvGrpSpPr/>
          <p:nvPr/>
        </p:nvGrpSpPr>
        <p:grpSpPr>
          <a:xfrm>
            <a:off x="9353973" y="-1553420"/>
            <a:ext cx="2853949" cy="13716633"/>
            <a:chOff x="9353973" y="-1553420"/>
            <a:chExt cx="2853949" cy="13716633"/>
          </a:xfrm>
        </p:grpSpPr>
        <p:grpSp>
          <p:nvGrpSpPr>
            <p:cNvPr id="1267" name="Google Shape;1267;p16"/>
            <p:cNvGrpSpPr/>
            <p:nvPr/>
          </p:nvGrpSpPr>
          <p:grpSpPr>
            <a:xfrm>
              <a:off x="9353973" y="-1553420"/>
              <a:ext cx="2838027" cy="13716633"/>
              <a:chOff x="9353973" y="-6079700"/>
              <a:chExt cx="2838027" cy="13716633"/>
            </a:xfrm>
          </p:grpSpPr>
          <p:pic>
            <p:nvPicPr>
              <p:cNvPr id="1268" name="Google Shape;1268;p16"/>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269" name="Google Shape;1269;p16"/>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270" name="Google Shape;1270;p16"/>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71" name="Google Shape;1271;p16"/>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272" name="Google Shape;1272;p16"/>
          <p:cNvSpPr txBox="1"/>
          <p:nvPr/>
        </p:nvSpPr>
        <p:spPr>
          <a:xfrm>
            <a:off x="1055688" y="2303732"/>
            <a:ext cx="50229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1600" b="0" i="0" u="none" strike="noStrike" cap="none">
                <a:solidFill>
                  <a:schemeClr val="dk1"/>
                </a:solidFill>
                <a:latin typeface="IBM Plex Sans"/>
                <a:ea typeface="IBM Plex Sans"/>
                <a:cs typeface="IBM Plex Sans"/>
                <a:sym typeface="IBM Plex Sans"/>
              </a:rPr>
              <a:t>15 апреля 1912 года — столкновение с айсбергом в первом рейсе</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1600" b="0" i="0" u="none" strike="noStrike" cap="none">
                <a:solidFill>
                  <a:schemeClr val="dk1"/>
                </a:solidFill>
                <a:latin typeface="IBM Plex Sans"/>
                <a:ea typeface="IBM Plex Sans"/>
                <a:cs typeface="IBM Plex Sans"/>
                <a:sym typeface="IBM Plex Sans"/>
              </a:rPr>
              <a:t>2224 человека на борту, 1502 погибших</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1600" b="0" i="0" u="none" strike="noStrike" cap="none">
                <a:solidFill>
                  <a:schemeClr val="dk1"/>
                </a:solidFill>
                <a:latin typeface="IBM Plex Sans"/>
                <a:ea typeface="IBM Plex Sans"/>
                <a:cs typeface="IBM Plex Sans"/>
                <a:sym typeface="IBM Plex Sans"/>
              </a:rPr>
              <a:t>Выжило всего 32% пассажиров</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1600" b="0" i="0" u="none" strike="noStrike" cap="none">
                <a:solidFill>
                  <a:schemeClr val="dk1"/>
                </a:solidFill>
                <a:latin typeface="IBM Plex Sans"/>
                <a:ea typeface="IBM Plex Sans"/>
                <a:cs typeface="IBM Plex Sans"/>
                <a:sym typeface="IBM Plex Sans"/>
              </a:rPr>
              <a:t>Причина: нехватка шлюпок</a:t>
            </a:r>
            <a:endParaRPr sz="1600" b="0" i="0" u="none" strike="noStrike" cap="none">
              <a:solidFill>
                <a:schemeClr val="dk1"/>
              </a:solidFill>
              <a:latin typeface="IBM Plex Sans"/>
              <a:ea typeface="IBM Plex Sans"/>
              <a:cs typeface="IBM Plex Sans"/>
              <a:sym typeface="IBM Plex Sans"/>
            </a:endParaRPr>
          </a:p>
        </p:txBody>
      </p:sp>
      <p:pic>
        <p:nvPicPr>
          <p:cNvPr id="1273" name="Google Shape;1273;p16"/>
          <p:cNvPicPr preferRelativeResize="0"/>
          <p:nvPr/>
        </p:nvPicPr>
        <p:blipFill rotWithShape="1">
          <a:blip r:embed="rId4">
            <a:alphaModFix/>
          </a:blip>
          <a:srcRect/>
          <a:stretch/>
        </p:blipFill>
        <p:spPr>
          <a:xfrm>
            <a:off x="8835381" y="3877696"/>
            <a:ext cx="2638190" cy="264185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sp>
        <p:nvSpPr>
          <p:cNvPr id="1278" name="Google Shape;1278;g3d4a20b5c44_0_26"/>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Titanic: Machine Learning from Disaster</a:t>
            </a:r>
            <a:endParaRPr sz="3600" b="0" i="0" u="none" strike="noStrike" cap="none">
              <a:solidFill>
                <a:srgbClr val="DFDFDF"/>
              </a:solidFill>
              <a:latin typeface="IBM Plex Sans"/>
              <a:ea typeface="IBM Plex Sans"/>
              <a:cs typeface="IBM Plex Sans"/>
              <a:sym typeface="IBM Plex Sans"/>
            </a:endParaRPr>
          </a:p>
        </p:txBody>
      </p:sp>
      <p:grpSp>
        <p:nvGrpSpPr>
          <p:cNvPr id="1279" name="Google Shape;1279;g3d4a20b5c44_0_26"/>
          <p:cNvGrpSpPr/>
          <p:nvPr/>
        </p:nvGrpSpPr>
        <p:grpSpPr>
          <a:xfrm>
            <a:off x="9353973" y="-1553420"/>
            <a:ext cx="2854020" cy="13716631"/>
            <a:chOff x="9353973" y="-1553420"/>
            <a:chExt cx="2854020" cy="13716631"/>
          </a:xfrm>
        </p:grpSpPr>
        <p:grpSp>
          <p:nvGrpSpPr>
            <p:cNvPr id="1280" name="Google Shape;1280;g3d4a20b5c44_0_26"/>
            <p:cNvGrpSpPr/>
            <p:nvPr/>
          </p:nvGrpSpPr>
          <p:grpSpPr>
            <a:xfrm>
              <a:off x="9353973" y="-1553420"/>
              <a:ext cx="2838027" cy="13716631"/>
              <a:chOff x="9353973" y="-6079700"/>
              <a:chExt cx="2838027" cy="13716631"/>
            </a:xfrm>
          </p:grpSpPr>
          <p:pic>
            <p:nvPicPr>
              <p:cNvPr id="1281" name="Google Shape;1281;g3d4a20b5c44_0_26"/>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282" name="Google Shape;1282;g3d4a20b5c44_0_26"/>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283" name="Google Shape;1283;g3d4a20b5c44_0_26"/>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84" name="Google Shape;1284;g3d4a20b5c44_0_26"/>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285" name="Google Shape;1285;g3d4a20b5c44_0_26"/>
          <p:cNvSpPr txBox="1"/>
          <p:nvPr/>
        </p:nvSpPr>
        <p:spPr>
          <a:xfrm>
            <a:off x="1055688" y="2303732"/>
            <a:ext cx="50229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1600" b="1" i="0" u="none" strike="noStrike" cap="none">
                <a:solidFill>
                  <a:schemeClr val="dk1"/>
                </a:solidFill>
                <a:latin typeface="IBM Plex Sans"/>
                <a:ea typeface="IBM Plex Sans"/>
                <a:cs typeface="IBM Plex Sans"/>
                <a:sym typeface="IBM Plex Sans"/>
              </a:rPr>
              <a:t>Что мы знаем о пассажирах?</a:t>
            </a:r>
            <a:endParaRPr sz="1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1600" b="0" i="0" u="none" strike="noStrike" cap="none">
                <a:solidFill>
                  <a:schemeClr val="dk1"/>
                </a:solidFill>
                <a:latin typeface="IBM Plex Sans"/>
                <a:ea typeface="IBM Plex Sans"/>
                <a:cs typeface="IBM Plex Sans"/>
                <a:sym typeface="IBM Plex Sans"/>
              </a:rPr>
              <a:t>Возраст, пол, класс билета, порт посадки и др.</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1600" b="1" i="0" u="none" strike="noStrike" cap="none">
                <a:solidFill>
                  <a:schemeClr val="dk1"/>
                </a:solidFill>
                <a:latin typeface="IBM Plex Sans"/>
                <a:ea typeface="IBM Plex Sans"/>
                <a:cs typeface="IBM Plex Sans"/>
                <a:sym typeface="IBM Plex Sans"/>
              </a:rPr>
              <a:t>Задача</a:t>
            </a:r>
            <a:r>
              <a:rPr lang="ru-RU" sz="1600" b="0" i="0" u="none" strike="noStrike" cap="none">
                <a:solidFill>
                  <a:schemeClr val="dk1"/>
                </a:solidFill>
                <a:latin typeface="IBM Plex Sans"/>
                <a:ea typeface="IBM Plex Sans"/>
                <a:cs typeface="IBM Plex Sans"/>
                <a:sym typeface="IBM Plex Sans"/>
              </a:rPr>
              <a:t>:</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1600" b="0" i="0" u="none" strike="noStrike" cap="none">
                <a:solidFill>
                  <a:schemeClr val="dk1"/>
                </a:solidFill>
                <a:latin typeface="IBM Plex Sans"/>
                <a:ea typeface="IBM Plex Sans"/>
                <a:cs typeface="IBM Plex Sans"/>
                <a:sym typeface="IBM Plex Sans"/>
              </a:rPr>
              <a:t>Предсказать: выжил пассажир (1) или погиб (0)</a:t>
            </a: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16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1600" b="1" i="0" u="none" strike="noStrike" cap="none">
                <a:solidFill>
                  <a:schemeClr val="dk1"/>
                </a:solidFill>
                <a:latin typeface="IBM Plex Sans"/>
                <a:ea typeface="IBM Plex Sans"/>
                <a:cs typeface="IBM Plex Sans"/>
                <a:sym typeface="IBM Plex Sans"/>
              </a:rPr>
              <a:t>Цель проекта:</a:t>
            </a:r>
            <a:endParaRPr sz="1600" b="1"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1600" b="0" i="0" u="none" strike="noStrike" cap="none">
                <a:solidFill>
                  <a:schemeClr val="dk1"/>
                </a:solidFill>
                <a:latin typeface="IBM Plex Sans"/>
                <a:ea typeface="IBM Plex Sans"/>
                <a:cs typeface="IBM Plex Sans"/>
                <a:sym typeface="IBM Plex Sans"/>
              </a:rPr>
              <a:t>Пройти полный путь data scientist’а: от анализа данных до готовой модели прогнозирования выживания</a:t>
            </a:r>
            <a:endParaRPr sz="1600" b="0" i="0" u="none" strike="noStrike" cap="none">
              <a:solidFill>
                <a:schemeClr val="dk1"/>
              </a:solidFill>
              <a:latin typeface="IBM Plex Sans"/>
              <a:ea typeface="IBM Plex Sans"/>
              <a:cs typeface="IBM Plex Sans"/>
              <a:sym typeface="IBM Plex Sans"/>
            </a:endParaRPr>
          </a:p>
        </p:txBody>
      </p:sp>
      <p:pic>
        <p:nvPicPr>
          <p:cNvPr id="1286" name="Google Shape;1286;g3d4a20b5c44_0_26"/>
          <p:cNvPicPr preferRelativeResize="0"/>
          <p:nvPr/>
        </p:nvPicPr>
        <p:blipFill rotWithShape="1">
          <a:blip r:embed="rId4">
            <a:alphaModFix/>
          </a:blip>
          <a:srcRect/>
          <a:stretch/>
        </p:blipFill>
        <p:spPr>
          <a:xfrm>
            <a:off x="8835381" y="3877696"/>
            <a:ext cx="2638190" cy="264185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p22"/>
          <p:cNvSpPr txBox="1"/>
          <p:nvPr/>
        </p:nvSpPr>
        <p:spPr>
          <a:xfrm>
            <a:off x="1055688" y="1327688"/>
            <a:ext cx="6421729" cy="301087"/>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Этапы работы над проектом</a:t>
            </a:r>
            <a:endParaRPr sz="3600" b="0" i="0" u="none" strike="noStrike" cap="none">
              <a:solidFill>
                <a:srgbClr val="DFDFDF"/>
              </a:solidFill>
              <a:latin typeface="IBM Plex Sans"/>
              <a:ea typeface="IBM Plex Sans"/>
              <a:cs typeface="IBM Plex Sans"/>
              <a:sym typeface="IBM Plex Sans"/>
            </a:endParaRPr>
          </a:p>
        </p:txBody>
      </p:sp>
      <p:grpSp>
        <p:nvGrpSpPr>
          <p:cNvPr id="1292" name="Google Shape;1292;p22"/>
          <p:cNvGrpSpPr/>
          <p:nvPr/>
        </p:nvGrpSpPr>
        <p:grpSpPr>
          <a:xfrm>
            <a:off x="9353973" y="-1553420"/>
            <a:ext cx="2853949" cy="13716633"/>
            <a:chOff x="9353973" y="-1553420"/>
            <a:chExt cx="2853949" cy="13716633"/>
          </a:xfrm>
        </p:grpSpPr>
        <p:grpSp>
          <p:nvGrpSpPr>
            <p:cNvPr id="1293" name="Google Shape;1293;p22"/>
            <p:cNvGrpSpPr/>
            <p:nvPr/>
          </p:nvGrpSpPr>
          <p:grpSpPr>
            <a:xfrm>
              <a:off x="9353973" y="-1553420"/>
              <a:ext cx="2838027" cy="13716633"/>
              <a:chOff x="9353973" y="-6079700"/>
              <a:chExt cx="2838027" cy="13716633"/>
            </a:xfrm>
          </p:grpSpPr>
          <p:pic>
            <p:nvPicPr>
              <p:cNvPr id="1294" name="Google Shape;1294;p22"/>
              <p:cNvPicPr preferRelativeResize="0"/>
              <p:nvPr/>
            </p:nvPicPr>
            <p:blipFill rotWithShape="1">
              <a:blip r:embed="rId3">
                <a:alphaModFix/>
              </a:blip>
              <a:srcRect l="1284" r="1"/>
              <a:stretch/>
            </p:blipFill>
            <p:spPr>
              <a:xfrm>
                <a:off x="9353973" y="778933"/>
                <a:ext cx="2838027" cy="6858000"/>
              </a:xfrm>
              <a:prstGeom prst="rect">
                <a:avLst/>
              </a:prstGeom>
              <a:noFill/>
              <a:ln>
                <a:noFill/>
              </a:ln>
            </p:spPr>
          </p:pic>
          <p:pic>
            <p:nvPicPr>
              <p:cNvPr id="1295" name="Google Shape;1295;p22"/>
              <p:cNvPicPr preferRelativeResize="0"/>
              <p:nvPr/>
            </p:nvPicPr>
            <p:blipFill rotWithShape="1">
              <a:blip r:embed="rId3">
                <a:alphaModFix/>
              </a:blip>
              <a:srcRect l="1284" r="1"/>
              <a:stretch/>
            </p:blipFill>
            <p:spPr>
              <a:xfrm>
                <a:off x="9353973" y="-6079700"/>
                <a:ext cx="2838027" cy="6858000"/>
              </a:xfrm>
              <a:prstGeom prst="rect">
                <a:avLst/>
              </a:prstGeom>
              <a:noFill/>
              <a:ln>
                <a:noFill/>
              </a:ln>
            </p:spPr>
          </p:pic>
        </p:grpSp>
        <p:sp>
          <p:nvSpPr>
            <p:cNvPr id="1296" name="Google Shape;1296;p22"/>
            <p:cNvSpPr/>
            <p:nvPr/>
          </p:nvSpPr>
          <p:spPr>
            <a:xfrm>
              <a:off x="10772986" y="3855493"/>
              <a:ext cx="718429" cy="675564"/>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7" name="Google Shape;1297;p22"/>
            <p:cNvSpPr/>
            <p:nvPr/>
          </p:nvSpPr>
          <p:spPr>
            <a:xfrm>
              <a:off x="11489493" y="4531056"/>
              <a:ext cx="718429" cy="773523"/>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298" name="Google Shape;1298;p22"/>
          <p:cNvSpPr txBox="1"/>
          <p:nvPr/>
        </p:nvSpPr>
        <p:spPr>
          <a:xfrm>
            <a:off x="1055700" y="2091475"/>
            <a:ext cx="5937900" cy="29553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2000"/>
              </a:spcBef>
              <a:spcAft>
                <a:spcPts val="0"/>
              </a:spcAft>
              <a:buClr>
                <a:schemeClr val="dk1"/>
              </a:buClr>
              <a:buSzPts val="1800"/>
              <a:buFont typeface="IBM Plex Sans"/>
              <a:buAutoNum type="arabicPeriod"/>
            </a:pPr>
            <a:r>
              <a:rPr lang="ru-RU" sz="1800" b="0" i="0" u="none" strike="noStrike" cap="none">
                <a:solidFill>
                  <a:schemeClr val="dk1"/>
                </a:solidFill>
                <a:latin typeface="IBM Plex Sans"/>
                <a:ea typeface="IBM Plex Sans"/>
                <a:cs typeface="IBM Plex Sans"/>
                <a:sym typeface="IBM Plex Sans"/>
              </a:rPr>
              <a:t>Определение проблемы (Problem Definition)</a:t>
            </a:r>
            <a:endParaRPr sz="1800" b="0" i="0" u="none" strike="noStrike" cap="none">
              <a:solidFill>
                <a:schemeClr val="dk1"/>
              </a:solidFill>
              <a:latin typeface="IBM Plex Sans"/>
              <a:ea typeface="IBM Plex Sans"/>
              <a:cs typeface="IBM Plex Sans"/>
              <a:sym typeface="IBM Plex Sans"/>
            </a:endParaRPr>
          </a:p>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b="0" i="0" u="none" strike="noStrike" cap="none">
                <a:solidFill>
                  <a:schemeClr val="dk1"/>
                </a:solidFill>
                <a:latin typeface="IBM Plex Sans"/>
                <a:ea typeface="IBM Plex Sans"/>
                <a:cs typeface="IBM Plex Sans"/>
                <a:sym typeface="IBM Plex Sans"/>
              </a:rPr>
              <a:t>Сбор данных (Data Gathering)</a:t>
            </a:r>
            <a:endParaRPr sz="1800" b="0" i="0" u="none" strike="noStrike" cap="none">
              <a:solidFill>
                <a:schemeClr val="dk1"/>
              </a:solidFill>
              <a:latin typeface="IBM Plex Sans"/>
              <a:ea typeface="IBM Plex Sans"/>
              <a:cs typeface="IBM Plex Sans"/>
              <a:sym typeface="IBM Plex Sans"/>
            </a:endParaRPr>
          </a:p>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b="0" i="0" u="none" strike="noStrike" cap="none">
                <a:solidFill>
                  <a:schemeClr val="dk1"/>
                </a:solidFill>
                <a:latin typeface="IBM Plex Sans"/>
                <a:ea typeface="IBM Plex Sans"/>
                <a:cs typeface="IBM Plex Sans"/>
                <a:sym typeface="IBM Plex Sans"/>
              </a:rPr>
              <a:t>Подготовка данных (Data Preparation / Wrangling)</a:t>
            </a:r>
            <a:endParaRPr sz="1800" b="0" i="0" u="none" strike="noStrike" cap="none">
              <a:solidFill>
                <a:schemeClr val="dk1"/>
              </a:solidFill>
              <a:latin typeface="IBM Plex Sans"/>
              <a:ea typeface="IBM Plex Sans"/>
              <a:cs typeface="IBM Plex Sans"/>
              <a:sym typeface="IBM Plex Sans"/>
            </a:endParaRPr>
          </a:p>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b="0" i="0" u="none" strike="noStrike" cap="none">
                <a:solidFill>
                  <a:schemeClr val="dk1"/>
                </a:solidFill>
                <a:latin typeface="IBM Plex Sans"/>
                <a:ea typeface="IBM Plex Sans"/>
                <a:cs typeface="IBM Plex Sans"/>
                <a:sym typeface="IBM Plex Sans"/>
              </a:rPr>
              <a:t>Исследовательский анализ (Exploratory Analysis)</a:t>
            </a:r>
            <a:endParaRPr sz="1800" b="0" i="0" u="none" strike="noStrike" cap="none">
              <a:solidFill>
                <a:schemeClr val="dk1"/>
              </a:solidFill>
              <a:latin typeface="IBM Plex Sans"/>
              <a:ea typeface="IBM Plex Sans"/>
              <a:cs typeface="IBM Plex Sans"/>
              <a:sym typeface="IBM Plex Sans"/>
            </a:endParaRPr>
          </a:p>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b="0" i="0" u="none" strike="noStrike" cap="none">
                <a:solidFill>
                  <a:schemeClr val="dk1"/>
                </a:solidFill>
                <a:latin typeface="IBM Plex Sans"/>
                <a:ea typeface="IBM Plex Sans"/>
                <a:cs typeface="IBM Plex Sans"/>
                <a:sym typeface="IBM Plex Sans"/>
              </a:rPr>
              <a:t>Инженерия признаков (Feature Engineering)</a:t>
            </a:r>
            <a:endParaRPr sz="1800" b="0" i="0" u="none" strike="noStrike" cap="none">
              <a:solidFill>
                <a:schemeClr val="dk1"/>
              </a:solidFill>
              <a:latin typeface="IBM Plex Sans"/>
              <a:ea typeface="IBM Plex Sans"/>
              <a:cs typeface="IBM Plex Sans"/>
              <a:sym typeface="IBM Plex Sans"/>
            </a:endParaRPr>
          </a:p>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b="0" i="0" u="none" strike="noStrike" cap="none">
                <a:solidFill>
                  <a:schemeClr val="dk1"/>
                </a:solidFill>
                <a:latin typeface="IBM Plex Sans"/>
                <a:ea typeface="IBM Plex Sans"/>
                <a:cs typeface="IBM Plex Sans"/>
                <a:sym typeface="IBM Plex Sans"/>
              </a:rPr>
              <a:t>Обучение модели</a:t>
            </a:r>
            <a:endParaRPr sz="1800" b="0" i="0" u="none" strike="noStrike" cap="none">
              <a:solidFill>
                <a:schemeClr val="dk1"/>
              </a:solidFill>
              <a:latin typeface="IBM Plex Sans"/>
              <a:ea typeface="IBM Plex Sans"/>
              <a:cs typeface="IBM Plex Sans"/>
              <a:sym typeface="IBM Plex Sans"/>
            </a:endParaRPr>
          </a:p>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b="0" i="0" u="none" strike="noStrike" cap="none">
                <a:solidFill>
                  <a:schemeClr val="dk1"/>
                </a:solidFill>
                <a:latin typeface="IBM Plex Sans"/>
                <a:ea typeface="IBM Plex Sans"/>
                <a:cs typeface="IBM Plex Sans"/>
                <a:sym typeface="IBM Plex Sans"/>
              </a:rPr>
              <a:t>Валидация и внедрение модели (Validation &amp; Implementation)</a:t>
            </a:r>
            <a:endParaRPr sz="1800" b="0" i="0" u="none" strike="noStrike" cap="none">
              <a:solidFill>
                <a:schemeClr val="dk1"/>
              </a:solidFill>
              <a:latin typeface="IBM Plex Sans"/>
              <a:ea typeface="IBM Plex Sans"/>
              <a:cs typeface="IBM Plex Sans"/>
              <a:sym typeface="IBM Plex Sans"/>
            </a:endParaRPr>
          </a:p>
          <a:p>
            <a:pPr marL="457200" marR="0" lvl="0" indent="-342900" algn="l" rtl="0">
              <a:lnSpc>
                <a:spcPct val="100000"/>
              </a:lnSpc>
              <a:spcBef>
                <a:spcPts val="0"/>
              </a:spcBef>
              <a:spcAft>
                <a:spcPts val="0"/>
              </a:spcAft>
              <a:buClr>
                <a:schemeClr val="dk1"/>
              </a:buClr>
              <a:buSzPts val="1800"/>
              <a:buFont typeface="IBM Plex Sans"/>
              <a:buAutoNum type="arabicPeriod"/>
            </a:pPr>
            <a:r>
              <a:rPr lang="ru-RU" sz="1800" b="0" i="0" u="none" strike="noStrike" cap="none">
                <a:solidFill>
                  <a:schemeClr val="dk1"/>
                </a:solidFill>
                <a:latin typeface="IBM Plex Sans"/>
                <a:ea typeface="IBM Plex Sans"/>
                <a:cs typeface="IBM Plex Sans"/>
                <a:sym typeface="IBM Plex Sans"/>
              </a:rPr>
              <a:t>Оптимизация и стратегирование (Optimization &amp; Strategize)</a:t>
            </a:r>
            <a:endParaRPr sz="18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302"/>
        <p:cNvGrpSpPr/>
        <p:nvPr/>
      </p:nvGrpSpPr>
      <p:grpSpPr>
        <a:xfrm>
          <a:off x="0" y="0"/>
          <a:ext cx="0" cy="0"/>
          <a:chOff x="0" y="0"/>
          <a:chExt cx="0" cy="0"/>
        </a:xfrm>
      </p:grpSpPr>
      <p:sp>
        <p:nvSpPr>
          <p:cNvPr id="1303" name="Google Shape;1303;g3d4a20b5c44_0_14"/>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Kaggle</a:t>
            </a:r>
            <a:endParaRPr sz="3600" b="0" i="0" u="none" strike="noStrike" cap="none">
              <a:solidFill>
                <a:srgbClr val="DFDFDF"/>
              </a:solidFill>
              <a:latin typeface="IBM Plex Sans"/>
              <a:ea typeface="IBM Plex Sans"/>
              <a:cs typeface="IBM Plex Sans"/>
              <a:sym typeface="IBM Plex Sans"/>
            </a:endParaRPr>
          </a:p>
        </p:txBody>
      </p:sp>
      <p:grpSp>
        <p:nvGrpSpPr>
          <p:cNvPr id="1304" name="Google Shape;1304;g3d4a20b5c44_0_14"/>
          <p:cNvGrpSpPr/>
          <p:nvPr/>
        </p:nvGrpSpPr>
        <p:grpSpPr>
          <a:xfrm>
            <a:off x="9353973" y="-1553420"/>
            <a:ext cx="2854020" cy="13716631"/>
            <a:chOff x="9353973" y="-1553420"/>
            <a:chExt cx="2854020" cy="13716631"/>
          </a:xfrm>
        </p:grpSpPr>
        <p:grpSp>
          <p:nvGrpSpPr>
            <p:cNvPr id="1305" name="Google Shape;1305;g3d4a20b5c44_0_14"/>
            <p:cNvGrpSpPr/>
            <p:nvPr/>
          </p:nvGrpSpPr>
          <p:grpSpPr>
            <a:xfrm>
              <a:off x="9353973" y="-1553420"/>
              <a:ext cx="2838027" cy="13716631"/>
              <a:chOff x="9353973" y="-6079700"/>
              <a:chExt cx="2838027" cy="13716631"/>
            </a:xfrm>
          </p:grpSpPr>
          <p:pic>
            <p:nvPicPr>
              <p:cNvPr id="1306" name="Google Shape;1306;g3d4a20b5c44_0_14"/>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307" name="Google Shape;1307;g3d4a20b5c44_0_14"/>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308" name="Google Shape;1308;g3d4a20b5c44_0_1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9" name="Google Shape;1309;g3d4a20b5c44_0_1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310" name="Google Shape;1310;g3d4a20b5c44_0_14"/>
          <p:cNvSpPr txBox="1"/>
          <p:nvPr/>
        </p:nvSpPr>
        <p:spPr>
          <a:xfrm>
            <a:off x="1055701" y="2303725"/>
            <a:ext cx="6730500" cy="18078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2000" b="0" i="0" u="none" strike="noStrike" cap="none">
                <a:solidFill>
                  <a:schemeClr val="dk1"/>
                </a:solidFill>
                <a:latin typeface="IBM Plex Sans"/>
                <a:ea typeface="IBM Plex Sans"/>
                <a:cs typeface="IBM Plex Sans"/>
                <a:sym typeface="IBM Plex Sans"/>
              </a:rPr>
              <a:t>Kaggle - это международная платформа, на которой проводятся соревнования по анализу данных.</a:t>
            </a: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2000" b="0" i="0" u="none" strike="noStrike" cap="none">
                <a:solidFill>
                  <a:schemeClr val="dk1"/>
                </a:solidFill>
                <a:latin typeface="IBM Plex Sans"/>
                <a:ea typeface="IBM Plex Sans"/>
                <a:cs typeface="IBM Plex Sans"/>
                <a:sym typeface="IBM Plex Sans"/>
              </a:rPr>
              <a:t>На платформе есть соревнования для новичков, они помечены тегами:</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70000"/>
              </a:lnSpc>
              <a:spcBef>
                <a:spcPts val="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getting started</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70000"/>
              </a:lnSpc>
              <a:spcBef>
                <a:spcPts val="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knowledge</a:t>
            </a:r>
            <a:endParaRPr sz="2000" b="0" i="0" u="none" strike="noStrike" cap="none">
              <a:solidFill>
                <a:schemeClr val="dk1"/>
              </a:solidFill>
              <a:latin typeface="IBM Plex Sans"/>
              <a:ea typeface="IBM Plex Sans"/>
              <a:cs typeface="IBM Plex Sans"/>
              <a:sym typeface="IBM Plex Sans"/>
            </a:endParaRPr>
          </a:p>
          <a:p>
            <a:pPr marL="457200" marR="0" lvl="0" indent="-355600" algn="l" rtl="0">
              <a:lnSpc>
                <a:spcPct val="70000"/>
              </a:lnSpc>
              <a:spcBef>
                <a:spcPts val="0"/>
              </a:spcBef>
              <a:spcAft>
                <a:spcPts val="0"/>
              </a:spcAft>
              <a:buClr>
                <a:schemeClr val="dk1"/>
              </a:buClr>
              <a:buSzPts val="2000"/>
              <a:buFont typeface="IBM Plex Sans"/>
              <a:buChar char="●"/>
            </a:pPr>
            <a:r>
              <a:rPr lang="ru-RU" sz="2000" b="0" i="0" u="none" strike="noStrike" cap="none">
                <a:solidFill>
                  <a:schemeClr val="dk1"/>
                </a:solidFill>
                <a:latin typeface="IBM Plex Sans"/>
                <a:ea typeface="IBM Plex Sans"/>
                <a:cs typeface="IBM Plex Sans"/>
                <a:sym typeface="IBM Plex Sans"/>
              </a:rPr>
              <a:t>playground</a:t>
            </a: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2000"/>
              <a:buFont typeface="Arial"/>
              <a:buNone/>
            </a:pPr>
            <a:endParaRPr sz="2000" b="0" i="0" u="none" strike="noStrike" cap="none">
              <a:solidFill>
                <a:schemeClr val="dk1"/>
              </a:solidFill>
              <a:latin typeface="IBM Plex Sans"/>
              <a:ea typeface="IBM Plex Sans"/>
              <a:cs typeface="IBM Plex Sans"/>
              <a:sym typeface="IBM Plex Sans"/>
            </a:endParaRPr>
          </a:p>
          <a:p>
            <a:pPr marL="0" marR="0" lvl="0" indent="0" algn="l" rtl="0">
              <a:lnSpc>
                <a:spcPct val="70000"/>
              </a:lnSpc>
              <a:spcBef>
                <a:spcPts val="0"/>
              </a:spcBef>
              <a:spcAft>
                <a:spcPts val="0"/>
              </a:spcAft>
              <a:buClr>
                <a:srgbClr val="000000"/>
              </a:buClr>
              <a:buSzPts val="3600"/>
              <a:buFont typeface="Arial"/>
              <a:buNone/>
            </a:pPr>
            <a:r>
              <a:rPr lang="ru-RU" sz="2000" b="0" i="0" u="none" strike="noStrike" cap="none">
                <a:solidFill>
                  <a:schemeClr val="dk1"/>
                </a:solidFill>
                <a:latin typeface="IBM Plex Sans"/>
                <a:ea typeface="IBM Plex Sans"/>
                <a:cs typeface="IBM Plex Sans"/>
                <a:sym typeface="IBM Plex Sans"/>
              </a:rPr>
              <a:t>Помимо этого, там опубликовано огромное количество датасетов под разные задачи.</a:t>
            </a:r>
            <a:endParaRPr sz="2000" b="0" i="0" u="none" strike="noStrike" cap="none">
              <a:solidFill>
                <a:schemeClr val="dk1"/>
              </a:solidFill>
              <a:latin typeface="IBM Plex Sans"/>
              <a:ea typeface="IBM Plex Sans"/>
              <a:cs typeface="IBM Plex Sans"/>
              <a:sym typeface="IBM Plex Sans"/>
            </a:endParaRPr>
          </a:p>
        </p:txBody>
      </p:sp>
      <p:pic>
        <p:nvPicPr>
          <p:cNvPr id="1311" name="Google Shape;1311;g3d4a20b5c44_0_14"/>
          <p:cNvPicPr preferRelativeResize="0"/>
          <p:nvPr/>
        </p:nvPicPr>
        <p:blipFill rotWithShape="1">
          <a:blip r:embed="rId4">
            <a:alphaModFix/>
          </a:blip>
          <a:srcRect/>
          <a:stretch/>
        </p:blipFill>
        <p:spPr>
          <a:xfrm>
            <a:off x="8835381" y="3877696"/>
            <a:ext cx="2638190" cy="2641856"/>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315"/>
        <p:cNvGrpSpPr/>
        <p:nvPr/>
      </p:nvGrpSpPr>
      <p:grpSpPr>
        <a:xfrm>
          <a:off x="0" y="0"/>
          <a:ext cx="0" cy="0"/>
          <a:chOff x="0" y="0"/>
          <a:chExt cx="0" cy="0"/>
        </a:xfrm>
      </p:grpSpPr>
      <p:sp>
        <p:nvSpPr>
          <p:cNvPr id="1316" name="Google Shape;1316;g3d4a20b5c44_0_65"/>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Kaggle</a:t>
            </a:r>
            <a:endParaRPr sz="3600" b="0" i="0" u="none" strike="noStrike" cap="none">
              <a:solidFill>
                <a:srgbClr val="DFDFDF"/>
              </a:solidFill>
              <a:latin typeface="IBM Plex Sans"/>
              <a:ea typeface="IBM Plex Sans"/>
              <a:cs typeface="IBM Plex Sans"/>
              <a:sym typeface="IBM Plex Sans"/>
            </a:endParaRPr>
          </a:p>
        </p:txBody>
      </p:sp>
      <p:grpSp>
        <p:nvGrpSpPr>
          <p:cNvPr id="1317" name="Google Shape;1317;g3d4a20b5c44_0_65"/>
          <p:cNvGrpSpPr/>
          <p:nvPr/>
        </p:nvGrpSpPr>
        <p:grpSpPr>
          <a:xfrm>
            <a:off x="9353973" y="-1553420"/>
            <a:ext cx="2854020" cy="13716631"/>
            <a:chOff x="9353973" y="-1553420"/>
            <a:chExt cx="2854020" cy="13716631"/>
          </a:xfrm>
        </p:grpSpPr>
        <p:grpSp>
          <p:nvGrpSpPr>
            <p:cNvPr id="1318" name="Google Shape;1318;g3d4a20b5c44_0_65"/>
            <p:cNvGrpSpPr/>
            <p:nvPr/>
          </p:nvGrpSpPr>
          <p:grpSpPr>
            <a:xfrm>
              <a:off x="9353973" y="-1553420"/>
              <a:ext cx="2838027" cy="13716631"/>
              <a:chOff x="9353973" y="-6079700"/>
              <a:chExt cx="2838027" cy="13716631"/>
            </a:xfrm>
          </p:grpSpPr>
          <p:pic>
            <p:nvPicPr>
              <p:cNvPr id="1319" name="Google Shape;1319;g3d4a20b5c44_0_65"/>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320" name="Google Shape;1320;g3d4a20b5c44_0_65"/>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321" name="Google Shape;1321;g3d4a20b5c44_0_65"/>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22" name="Google Shape;1322;g3d4a20b5c44_0_65"/>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323" name="Google Shape;1323;g3d4a20b5c44_0_65"/>
          <p:cNvPicPr preferRelativeResize="0"/>
          <p:nvPr/>
        </p:nvPicPr>
        <p:blipFill rotWithShape="1">
          <a:blip r:embed="rId4">
            <a:alphaModFix/>
          </a:blip>
          <a:srcRect/>
          <a:stretch/>
        </p:blipFill>
        <p:spPr>
          <a:xfrm>
            <a:off x="8835381" y="3877696"/>
            <a:ext cx="2638190" cy="2641856"/>
          </a:xfrm>
          <a:prstGeom prst="rect">
            <a:avLst/>
          </a:prstGeom>
          <a:noFill/>
          <a:ln>
            <a:noFill/>
          </a:ln>
        </p:spPr>
      </p:pic>
      <p:pic>
        <p:nvPicPr>
          <p:cNvPr id="1324" name="Google Shape;1324;g3d4a20b5c44_0_65"/>
          <p:cNvPicPr preferRelativeResize="0"/>
          <p:nvPr/>
        </p:nvPicPr>
        <p:blipFill rotWithShape="1">
          <a:blip r:embed="rId5">
            <a:alphaModFix/>
          </a:blip>
          <a:srcRect/>
          <a:stretch/>
        </p:blipFill>
        <p:spPr>
          <a:xfrm>
            <a:off x="563275" y="1922788"/>
            <a:ext cx="8530582" cy="4596758"/>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g3d4a20b5c44_0_78"/>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Kaggle</a:t>
            </a:r>
            <a:endParaRPr sz="3600" b="0" i="0" u="none" strike="noStrike" cap="none">
              <a:solidFill>
                <a:srgbClr val="DFDFDF"/>
              </a:solidFill>
              <a:latin typeface="IBM Plex Sans"/>
              <a:ea typeface="IBM Plex Sans"/>
              <a:cs typeface="IBM Plex Sans"/>
              <a:sym typeface="IBM Plex Sans"/>
            </a:endParaRPr>
          </a:p>
        </p:txBody>
      </p:sp>
      <p:grpSp>
        <p:nvGrpSpPr>
          <p:cNvPr id="1330" name="Google Shape;1330;g3d4a20b5c44_0_78"/>
          <p:cNvGrpSpPr/>
          <p:nvPr/>
        </p:nvGrpSpPr>
        <p:grpSpPr>
          <a:xfrm>
            <a:off x="9353973" y="-1553420"/>
            <a:ext cx="2854020" cy="13716631"/>
            <a:chOff x="9353973" y="-1553420"/>
            <a:chExt cx="2854020" cy="13716631"/>
          </a:xfrm>
        </p:grpSpPr>
        <p:grpSp>
          <p:nvGrpSpPr>
            <p:cNvPr id="1331" name="Google Shape;1331;g3d4a20b5c44_0_78"/>
            <p:cNvGrpSpPr/>
            <p:nvPr/>
          </p:nvGrpSpPr>
          <p:grpSpPr>
            <a:xfrm>
              <a:off x="9353973" y="-1553420"/>
              <a:ext cx="2838027" cy="13716631"/>
              <a:chOff x="9353973" y="-6079700"/>
              <a:chExt cx="2838027" cy="13716631"/>
            </a:xfrm>
          </p:grpSpPr>
          <p:pic>
            <p:nvPicPr>
              <p:cNvPr id="1332" name="Google Shape;1332;g3d4a20b5c44_0_78"/>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333" name="Google Shape;1333;g3d4a20b5c44_0_78"/>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334" name="Google Shape;1334;g3d4a20b5c44_0_78"/>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35" name="Google Shape;1335;g3d4a20b5c44_0_78"/>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336" name="Google Shape;1336;g3d4a20b5c44_0_78"/>
          <p:cNvPicPr preferRelativeResize="0"/>
          <p:nvPr/>
        </p:nvPicPr>
        <p:blipFill rotWithShape="1">
          <a:blip r:embed="rId4">
            <a:alphaModFix/>
          </a:blip>
          <a:srcRect/>
          <a:stretch/>
        </p:blipFill>
        <p:spPr>
          <a:xfrm>
            <a:off x="8835381" y="3877696"/>
            <a:ext cx="2638190" cy="2641856"/>
          </a:xfrm>
          <a:prstGeom prst="rect">
            <a:avLst/>
          </a:prstGeom>
          <a:noFill/>
          <a:ln>
            <a:noFill/>
          </a:ln>
        </p:spPr>
      </p:pic>
      <p:pic>
        <p:nvPicPr>
          <p:cNvPr id="1337" name="Google Shape;1337;g3d4a20b5c44_0_78"/>
          <p:cNvPicPr preferRelativeResize="0"/>
          <p:nvPr/>
        </p:nvPicPr>
        <p:blipFill rotWithShape="1">
          <a:blip r:embed="rId5">
            <a:alphaModFix/>
          </a:blip>
          <a:srcRect l="23124" b="9739"/>
          <a:stretch/>
        </p:blipFill>
        <p:spPr>
          <a:xfrm>
            <a:off x="1055700" y="1924175"/>
            <a:ext cx="7802926" cy="446197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341"/>
        <p:cNvGrpSpPr/>
        <p:nvPr/>
      </p:nvGrpSpPr>
      <p:grpSpPr>
        <a:xfrm>
          <a:off x="0" y="0"/>
          <a:ext cx="0" cy="0"/>
          <a:chOff x="0" y="0"/>
          <a:chExt cx="0" cy="0"/>
        </a:xfrm>
      </p:grpSpPr>
      <p:sp>
        <p:nvSpPr>
          <p:cNvPr id="1342" name="Google Shape;1342;g3d4bbec988b_0_7"/>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Kaggle</a:t>
            </a:r>
            <a:endParaRPr sz="3600" b="0" i="0" u="none" strike="noStrike" cap="none">
              <a:solidFill>
                <a:srgbClr val="DFDFDF"/>
              </a:solidFill>
              <a:latin typeface="IBM Plex Sans"/>
              <a:ea typeface="IBM Plex Sans"/>
              <a:cs typeface="IBM Plex Sans"/>
              <a:sym typeface="IBM Plex Sans"/>
            </a:endParaRPr>
          </a:p>
        </p:txBody>
      </p:sp>
      <p:grpSp>
        <p:nvGrpSpPr>
          <p:cNvPr id="1343" name="Google Shape;1343;g3d4bbec988b_0_7"/>
          <p:cNvGrpSpPr/>
          <p:nvPr/>
        </p:nvGrpSpPr>
        <p:grpSpPr>
          <a:xfrm>
            <a:off x="9353973" y="-1553420"/>
            <a:ext cx="2854020" cy="13716631"/>
            <a:chOff x="9353973" y="-1553420"/>
            <a:chExt cx="2854020" cy="13716631"/>
          </a:xfrm>
        </p:grpSpPr>
        <p:grpSp>
          <p:nvGrpSpPr>
            <p:cNvPr id="1344" name="Google Shape;1344;g3d4bbec988b_0_7"/>
            <p:cNvGrpSpPr/>
            <p:nvPr/>
          </p:nvGrpSpPr>
          <p:grpSpPr>
            <a:xfrm>
              <a:off x="9353973" y="-1553420"/>
              <a:ext cx="2838027" cy="13716631"/>
              <a:chOff x="9353973" y="-6079700"/>
              <a:chExt cx="2838027" cy="13716631"/>
            </a:xfrm>
          </p:grpSpPr>
          <p:pic>
            <p:nvPicPr>
              <p:cNvPr id="1345" name="Google Shape;1345;g3d4bbec988b_0_7"/>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346" name="Google Shape;1346;g3d4bbec988b_0_7"/>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347" name="Google Shape;1347;g3d4bbec988b_0_7"/>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48" name="Google Shape;1348;g3d4bbec988b_0_7"/>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349" name="Google Shape;1349;g3d4bbec988b_0_7"/>
          <p:cNvPicPr preferRelativeResize="0"/>
          <p:nvPr/>
        </p:nvPicPr>
        <p:blipFill rotWithShape="1">
          <a:blip r:embed="rId4">
            <a:alphaModFix/>
          </a:blip>
          <a:srcRect/>
          <a:stretch/>
        </p:blipFill>
        <p:spPr>
          <a:xfrm>
            <a:off x="8835381" y="3877696"/>
            <a:ext cx="2638190" cy="2641856"/>
          </a:xfrm>
          <a:prstGeom prst="rect">
            <a:avLst/>
          </a:prstGeom>
          <a:noFill/>
          <a:ln>
            <a:noFill/>
          </a:ln>
        </p:spPr>
      </p:pic>
      <p:pic>
        <p:nvPicPr>
          <p:cNvPr id="1350" name="Google Shape;1350;g3d4bbec988b_0_7"/>
          <p:cNvPicPr preferRelativeResize="0"/>
          <p:nvPr/>
        </p:nvPicPr>
        <p:blipFill rotWithShape="1">
          <a:blip r:embed="rId5">
            <a:alphaModFix/>
          </a:blip>
          <a:srcRect/>
          <a:stretch/>
        </p:blipFill>
        <p:spPr>
          <a:xfrm>
            <a:off x="788000" y="1933688"/>
            <a:ext cx="8468601" cy="4924312"/>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sp>
        <p:nvSpPr>
          <p:cNvPr id="1355" name="Google Shape;1355;g3d4bbec988b_0_20"/>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Kaggle</a:t>
            </a:r>
            <a:endParaRPr sz="3600" b="0" i="0" u="none" strike="noStrike" cap="none">
              <a:solidFill>
                <a:srgbClr val="DFDFDF"/>
              </a:solidFill>
              <a:latin typeface="IBM Plex Sans"/>
              <a:ea typeface="IBM Plex Sans"/>
              <a:cs typeface="IBM Plex Sans"/>
              <a:sym typeface="IBM Plex Sans"/>
            </a:endParaRPr>
          </a:p>
        </p:txBody>
      </p:sp>
      <p:grpSp>
        <p:nvGrpSpPr>
          <p:cNvPr id="1356" name="Google Shape;1356;g3d4bbec988b_0_20"/>
          <p:cNvGrpSpPr/>
          <p:nvPr/>
        </p:nvGrpSpPr>
        <p:grpSpPr>
          <a:xfrm>
            <a:off x="9353973" y="-1553420"/>
            <a:ext cx="2854020" cy="13716631"/>
            <a:chOff x="9353973" y="-1553420"/>
            <a:chExt cx="2854020" cy="13716631"/>
          </a:xfrm>
        </p:grpSpPr>
        <p:grpSp>
          <p:nvGrpSpPr>
            <p:cNvPr id="1357" name="Google Shape;1357;g3d4bbec988b_0_20"/>
            <p:cNvGrpSpPr/>
            <p:nvPr/>
          </p:nvGrpSpPr>
          <p:grpSpPr>
            <a:xfrm>
              <a:off x="9353973" y="-1553420"/>
              <a:ext cx="2838027" cy="13716631"/>
              <a:chOff x="9353973" y="-6079700"/>
              <a:chExt cx="2838027" cy="13716631"/>
            </a:xfrm>
          </p:grpSpPr>
          <p:pic>
            <p:nvPicPr>
              <p:cNvPr id="1358" name="Google Shape;1358;g3d4bbec988b_0_20"/>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359" name="Google Shape;1359;g3d4bbec988b_0_20"/>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360" name="Google Shape;1360;g3d4bbec988b_0_20"/>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61" name="Google Shape;1361;g3d4bbec988b_0_20"/>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362" name="Google Shape;1362;g3d4bbec988b_0_20"/>
          <p:cNvPicPr preferRelativeResize="0"/>
          <p:nvPr/>
        </p:nvPicPr>
        <p:blipFill rotWithShape="1">
          <a:blip r:embed="rId4">
            <a:alphaModFix/>
          </a:blip>
          <a:srcRect/>
          <a:stretch/>
        </p:blipFill>
        <p:spPr>
          <a:xfrm>
            <a:off x="8835381" y="3877696"/>
            <a:ext cx="2638190" cy="2641856"/>
          </a:xfrm>
          <a:prstGeom prst="rect">
            <a:avLst/>
          </a:prstGeom>
          <a:noFill/>
          <a:ln>
            <a:noFill/>
          </a:ln>
        </p:spPr>
      </p:pic>
      <p:pic>
        <p:nvPicPr>
          <p:cNvPr id="1363" name="Google Shape;1363;g3d4bbec988b_0_20"/>
          <p:cNvPicPr preferRelativeResize="0"/>
          <p:nvPr/>
        </p:nvPicPr>
        <p:blipFill rotWithShape="1">
          <a:blip r:embed="rId5">
            <a:alphaModFix/>
          </a:blip>
          <a:srcRect/>
          <a:stretch/>
        </p:blipFill>
        <p:spPr>
          <a:xfrm>
            <a:off x="1178075" y="2047423"/>
            <a:ext cx="3525250" cy="457182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367"/>
        <p:cNvGrpSpPr/>
        <p:nvPr/>
      </p:nvGrpSpPr>
      <p:grpSpPr>
        <a:xfrm>
          <a:off x="0" y="0"/>
          <a:ext cx="0" cy="0"/>
          <a:chOff x="0" y="0"/>
          <a:chExt cx="0" cy="0"/>
        </a:xfrm>
      </p:grpSpPr>
      <p:sp>
        <p:nvSpPr>
          <p:cNvPr id="1368" name="Google Shape;1368;g3d4bbec988b_0_34"/>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Kaggle</a:t>
            </a:r>
            <a:endParaRPr sz="3600" b="0" i="0" u="none" strike="noStrike" cap="none">
              <a:solidFill>
                <a:srgbClr val="DFDFDF"/>
              </a:solidFill>
              <a:latin typeface="IBM Plex Sans"/>
              <a:ea typeface="IBM Plex Sans"/>
              <a:cs typeface="IBM Plex Sans"/>
              <a:sym typeface="IBM Plex Sans"/>
            </a:endParaRPr>
          </a:p>
        </p:txBody>
      </p:sp>
      <p:grpSp>
        <p:nvGrpSpPr>
          <p:cNvPr id="1369" name="Google Shape;1369;g3d4bbec988b_0_34"/>
          <p:cNvGrpSpPr/>
          <p:nvPr/>
        </p:nvGrpSpPr>
        <p:grpSpPr>
          <a:xfrm>
            <a:off x="9353973" y="-1553420"/>
            <a:ext cx="2854020" cy="13716631"/>
            <a:chOff x="9353973" y="-1553420"/>
            <a:chExt cx="2854020" cy="13716631"/>
          </a:xfrm>
        </p:grpSpPr>
        <p:grpSp>
          <p:nvGrpSpPr>
            <p:cNvPr id="1370" name="Google Shape;1370;g3d4bbec988b_0_34"/>
            <p:cNvGrpSpPr/>
            <p:nvPr/>
          </p:nvGrpSpPr>
          <p:grpSpPr>
            <a:xfrm>
              <a:off x="9353973" y="-1553420"/>
              <a:ext cx="2838027" cy="13716631"/>
              <a:chOff x="9353973" y="-6079700"/>
              <a:chExt cx="2838027" cy="13716631"/>
            </a:xfrm>
          </p:grpSpPr>
          <p:pic>
            <p:nvPicPr>
              <p:cNvPr id="1371" name="Google Shape;1371;g3d4bbec988b_0_34"/>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372" name="Google Shape;1372;g3d4bbec988b_0_34"/>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373" name="Google Shape;1373;g3d4bbec988b_0_34"/>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74" name="Google Shape;1374;g3d4bbec988b_0_34"/>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375" name="Google Shape;1375;g3d4bbec988b_0_34"/>
          <p:cNvPicPr preferRelativeResize="0"/>
          <p:nvPr/>
        </p:nvPicPr>
        <p:blipFill rotWithShape="1">
          <a:blip r:embed="rId4">
            <a:alphaModFix/>
          </a:blip>
          <a:srcRect/>
          <a:stretch/>
        </p:blipFill>
        <p:spPr>
          <a:xfrm>
            <a:off x="8835381" y="3877696"/>
            <a:ext cx="2638190" cy="2641856"/>
          </a:xfrm>
          <a:prstGeom prst="rect">
            <a:avLst/>
          </a:prstGeom>
          <a:noFill/>
          <a:ln>
            <a:noFill/>
          </a:ln>
        </p:spPr>
      </p:pic>
      <p:pic>
        <p:nvPicPr>
          <p:cNvPr id="1376" name="Google Shape;1376;g3d4bbec988b_0_34"/>
          <p:cNvPicPr preferRelativeResize="0"/>
          <p:nvPr/>
        </p:nvPicPr>
        <p:blipFill rotWithShape="1">
          <a:blip r:embed="rId5">
            <a:alphaModFix/>
          </a:blip>
          <a:srcRect/>
          <a:stretch/>
        </p:blipFill>
        <p:spPr>
          <a:xfrm>
            <a:off x="4703325" y="2153462"/>
            <a:ext cx="7030274" cy="4465788"/>
          </a:xfrm>
          <a:prstGeom prst="rect">
            <a:avLst/>
          </a:prstGeom>
          <a:noFill/>
          <a:ln>
            <a:noFill/>
          </a:ln>
        </p:spPr>
      </p:pic>
      <p:pic>
        <p:nvPicPr>
          <p:cNvPr id="1377" name="Google Shape;1377;g3d4bbec988b_0_34"/>
          <p:cNvPicPr preferRelativeResize="0"/>
          <p:nvPr/>
        </p:nvPicPr>
        <p:blipFill rotWithShape="1">
          <a:blip r:embed="rId6">
            <a:alphaModFix/>
          </a:blip>
          <a:srcRect/>
          <a:stretch/>
        </p:blipFill>
        <p:spPr>
          <a:xfrm>
            <a:off x="1178075" y="2047423"/>
            <a:ext cx="3525250" cy="457182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381"/>
        <p:cNvGrpSpPr/>
        <p:nvPr/>
      </p:nvGrpSpPr>
      <p:grpSpPr>
        <a:xfrm>
          <a:off x="0" y="0"/>
          <a:ext cx="0" cy="0"/>
          <a:chOff x="0" y="0"/>
          <a:chExt cx="0" cy="0"/>
        </a:xfrm>
      </p:grpSpPr>
      <p:sp>
        <p:nvSpPr>
          <p:cNvPr id="1382" name="Google Shape;1382;p1"/>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Работа в команде</a:t>
            </a:r>
            <a:endParaRPr sz="3600" b="0" i="0" u="none" strike="noStrike" cap="none">
              <a:solidFill>
                <a:srgbClr val="DFDFDF"/>
              </a:solidFill>
              <a:latin typeface="IBM Plex Sans"/>
              <a:ea typeface="IBM Plex Sans"/>
              <a:cs typeface="IBM Plex Sans"/>
              <a:sym typeface="IBM Plex Sans"/>
            </a:endParaRPr>
          </a:p>
        </p:txBody>
      </p:sp>
      <p:grpSp>
        <p:nvGrpSpPr>
          <p:cNvPr id="1383" name="Google Shape;1383;p1"/>
          <p:cNvGrpSpPr/>
          <p:nvPr/>
        </p:nvGrpSpPr>
        <p:grpSpPr>
          <a:xfrm>
            <a:off x="9353973" y="-1553420"/>
            <a:ext cx="2854020" cy="13716631"/>
            <a:chOff x="9353973" y="-1553420"/>
            <a:chExt cx="2854020" cy="13716631"/>
          </a:xfrm>
        </p:grpSpPr>
        <p:grpSp>
          <p:nvGrpSpPr>
            <p:cNvPr id="1384" name="Google Shape;1384;p1"/>
            <p:cNvGrpSpPr/>
            <p:nvPr/>
          </p:nvGrpSpPr>
          <p:grpSpPr>
            <a:xfrm>
              <a:off x="9353973" y="-1553420"/>
              <a:ext cx="2838027" cy="13716631"/>
              <a:chOff x="9353973" y="-6079700"/>
              <a:chExt cx="2838027" cy="13716631"/>
            </a:xfrm>
          </p:grpSpPr>
          <p:pic>
            <p:nvPicPr>
              <p:cNvPr id="1385" name="Google Shape;1385;p1"/>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386" name="Google Shape;1386;p1"/>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387" name="Google Shape;1387;p1"/>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88" name="Google Shape;1388;p1"/>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389" name="Google Shape;1389;p1"/>
          <p:cNvPicPr preferRelativeResize="0"/>
          <p:nvPr/>
        </p:nvPicPr>
        <p:blipFill rotWithShape="1">
          <a:blip r:embed="rId4">
            <a:alphaModFix/>
          </a:blip>
          <a:srcRect/>
          <a:stretch/>
        </p:blipFill>
        <p:spPr>
          <a:xfrm>
            <a:off x="8835381" y="3877696"/>
            <a:ext cx="2638190" cy="2641856"/>
          </a:xfrm>
          <a:prstGeom prst="rect">
            <a:avLst/>
          </a:prstGeom>
          <a:noFill/>
          <a:ln>
            <a:noFill/>
          </a:ln>
        </p:spPr>
      </p:pic>
      <p:sp>
        <p:nvSpPr>
          <p:cNvPr id="1390" name="Google Shape;1390;p1"/>
          <p:cNvSpPr txBox="1"/>
          <p:nvPr/>
        </p:nvSpPr>
        <p:spPr>
          <a:xfrm>
            <a:off x="1055701" y="2303725"/>
            <a:ext cx="6730500" cy="18078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None/>
            </a:pPr>
            <a:r>
              <a:rPr lang="ru-RU" sz="2000" b="0" i="0" u="none" strike="noStrike" cap="none">
                <a:solidFill>
                  <a:schemeClr val="dk1"/>
                </a:solidFill>
                <a:latin typeface="IBM Plex Sans"/>
                <a:ea typeface="IBM Plex Sans"/>
                <a:cs typeface="IBM Plex Sans"/>
                <a:sym typeface="IBM Plex Sans"/>
              </a:rPr>
              <a:t>Договоритесь о целях: </a:t>
            </a:r>
            <a:endParaRPr/>
          </a:p>
          <a:p>
            <a:pPr marL="342900" marR="0" lvl="0" indent="-342900" algn="l" rtl="0">
              <a:lnSpc>
                <a:spcPct val="150000"/>
              </a:lnSpc>
              <a:spcBef>
                <a:spcPts val="0"/>
              </a:spcBef>
              <a:spcAft>
                <a:spcPts val="0"/>
              </a:spcAft>
              <a:buClr>
                <a:srgbClr val="000000"/>
              </a:buClr>
              <a:buSzPts val="3600"/>
              <a:buFont typeface="Arial"/>
              <a:buChar char="-"/>
            </a:pPr>
            <a:r>
              <a:rPr lang="ru-RU" sz="2000" b="0" i="0" u="none" strike="noStrike" cap="none">
                <a:solidFill>
                  <a:schemeClr val="dk1"/>
                </a:solidFill>
                <a:latin typeface="IBM Plex Sans"/>
                <a:ea typeface="IBM Plex Sans"/>
                <a:cs typeface="IBM Plex Sans"/>
                <a:sym typeface="IBM Plex Sans"/>
              </a:rPr>
              <a:t>Получить топ по метрикам, закрыть задание на максимум</a:t>
            </a:r>
            <a:endParaRPr/>
          </a:p>
          <a:p>
            <a:pPr marL="342900" marR="0" lvl="0" indent="-342900" algn="l" rtl="0">
              <a:lnSpc>
                <a:spcPct val="150000"/>
              </a:lnSpc>
              <a:spcBef>
                <a:spcPts val="0"/>
              </a:spcBef>
              <a:spcAft>
                <a:spcPts val="0"/>
              </a:spcAft>
              <a:buClr>
                <a:srgbClr val="000000"/>
              </a:buClr>
              <a:buSzPts val="3600"/>
              <a:buFont typeface="Arial"/>
              <a:buChar char="-"/>
            </a:pPr>
            <a:r>
              <a:rPr lang="ru-RU" sz="2000" b="0" i="0" u="none" strike="noStrike" cap="none">
                <a:solidFill>
                  <a:schemeClr val="dk1"/>
                </a:solidFill>
                <a:latin typeface="IBM Plex Sans"/>
                <a:ea typeface="IBM Plex Sans"/>
                <a:cs typeface="IBM Plex Sans"/>
                <a:sym typeface="IBM Plex Sans"/>
              </a:rPr>
              <a:t>Попробовать, поэксперементировать</a:t>
            </a:r>
            <a:endParaRPr sz="2000" b="0" i="0" u="none" strike="noStrike" cap="none">
              <a:solidFill>
                <a:schemeClr val="dk1"/>
              </a:solidFill>
              <a:latin typeface="IBM Plex Sans"/>
              <a:ea typeface="IBM Plex Sans"/>
              <a:cs typeface="IBM Plex Sans"/>
              <a:sym typeface="IBM Plex Sans"/>
            </a:endParaRPr>
          </a:p>
          <a:p>
            <a:pPr marL="342900" marR="0" lvl="0" indent="-342900" algn="l" rtl="0">
              <a:lnSpc>
                <a:spcPct val="150000"/>
              </a:lnSpc>
              <a:spcBef>
                <a:spcPts val="0"/>
              </a:spcBef>
              <a:spcAft>
                <a:spcPts val="0"/>
              </a:spcAft>
              <a:buClr>
                <a:srgbClr val="000000"/>
              </a:buClr>
              <a:buSzPts val="3600"/>
              <a:buFont typeface="Arial"/>
              <a:buChar char="-"/>
            </a:pPr>
            <a:r>
              <a:rPr lang="ru-RU" sz="2000" b="0" i="0" u="none" strike="noStrike" cap="none">
                <a:solidFill>
                  <a:schemeClr val="dk1"/>
                </a:solidFill>
                <a:latin typeface="IBM Plex Sans"/>
                <a:ea typeface="IBM Plex Sans"/>
                <a:cs typeface="IBM Plex Sans"/>
                <a:sym typeface="IBM Plex Sans"/>
              </a:rPr>
              <a:t>Пройти планку сдачи курса</a:t>
            </a:r>
            <a:endParaRPr sz="20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17"/>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Работа в команде</a:t>
            </a:r>
            <a:endParaRPr sz="3600" b="0" i="0" u="none" strike="noStrike" cap="none">
              <a:solidFill>
                <a:srgbClr val="DFDFDF"/>
              </a:solidFill>
              <a:latin typeface="IBM Plex Sans"/>
              <a:ea typeface="IBM Plex Sans"/>
              <a:cs typeface="IBM Plex Sans"/>
              <a:sym typeface="IBM Plex Sans"/>
            </a:endParaRPr>
          </a:p>
        </p:txBody>
      </p:sp>
      <p:grpSp>
        <p:nvGrpSpPr>
          <p:cNvPr id="1396" name="Google Shape;1396;p17"/>
          <p:cNvGrpSpPr/>
          <p:nvPr/>
        </p:nvGrpSpPr>
        <p:grpSpPr>
          <a:xfrm>
            <a:off x="9353973" y="-1553420"/>
            <a:ext cx="2854020" cy="13716631"/>
            <a:chOff x="9353973" y="-1553420"/>
            <a:chExt cx="2854020" cy="13716631"/>
          </a:xfrm>
        </p:grpSpPr>
        <p:grpSp>
          <p:nvGrpSpPr>
            <p:cNvPr id="1397" name="Google Shape;1397;p17"/>
            <p:cNvGrpSpPr/>
            <p:nvPr/>
          </p:nvGrpSpPr>
          <p:grpSpPr>
            <a:xfrm>
              <a:off x="9353973" y="-1553420"/>
              <a:ext cx="2838027" cy="13716631"/>
              <a:chOff x="9353973" y="-6079700"/>
              <a:chExt cx="2838027" cy="13716631"/>
            </a:xfrm>
          </p:grpSpPr>
          <p:pic>
            <p:nvPicPr>
              <p:cNvPr id="1398" name="Google Shape;1398;p17"/>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399" name="Google Shape;1399;p17"/>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400" name="Google Shape;1400;p17"/>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01" name="Google Shape;1401;p17"/>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402" name="Google Shape;1402;p17"/>
          <p:cNvPicPr preferRelativeResize="0"/>
          <p:nvPr/>
        </p:nvPicPr>
        <p:blipFill rotWithShape="1">
          <a:blip r:embed="rId4">
            <a:alphaModFix/>
          </a:blip>
          <a:srcRect/>
          <a:stretch/>
        </p:blipFill>
        <p:spPr>
          <a:xfrm>
            <a:off x="8835381" y="3877696"/>
            <a:ext cx="2638190" cy="2641856"/>
          </a:xfrm>
          <a:prstGeom prst="rect">
            <a:avLst/>
          </a:prstGeom>
          <a:noFill/>
          <a:ln>
            <a:noFill/>
          </a:ln>
        </p:spPr>
      </p:pic>
      <p:sp>
        <p:nvSpPr>
          <p:cNvPr id="1403" name="Google Shape;1403;p17"/>
          <p:cNvSpPr txBox="1"/>
          <p:nvPr/>
        </p:nvSpPr>
        <p:spPr>
          <a:xfrm>
            <a:off x="1055701" y="2303725"/>
            <a:ext cx="6730500" cy="1807800"/>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000000"/>
              </a:buClr>
              <a:buSzPts val="3600"/>
              <a:buFont typeface="Arial"/>
              <a:buChar char="-"/>
            </a:pPr>
            <a:r>
              <a:rPr lang="ru-RU" sz="2000" b="0" i="0" u="none" strike="noStrike" cap="none">
                <a:solidFill>
                  <a:schemeClr val="dk1"/>
                </a:solidFill>
                <a:latin typeface="IBM Plex Sans"/>
                <a:ea typeface="IBM Plex Sans"/>
                <a:cs typeface="IBM Plex Sans"/>
                <a:sym typeface="IBM Plex Sans"/>
              </a:rPr>
              <a:t>Выберите формат встреч и время:</a:t>
            </a:r>
            <a:endParaRPr/>
          </a:p>
          <a:p>
            <a:pPr marL="342900" marR="0" lvl="0" indent="-342900" algn="l" rtl="0">
              <a:lnSpc>
                <a:spcPct val="150000"/>
              </a:lnSpc>
              <a:spcBef>
                <a:spcPts val="0"/>
              </a:spcBef>
              <a:spcAft>
                <a:spcPts val="0"/>
              </a:spcAft>
              <a:buClr>
                <a:srgbClr val="000000"/>
              </a:buClr>
              <a:buSzPts val="3600"/>
              <a:buFont typeface="Arial"/>
              <a:buChar char="-"/>
            </a:pPr>
            <a:r>
              <a:rPr lang="ru-RU" sz="2000" b="0" i="0" u="none" strike="noStrike" cap="none">
                <a:solidFill>
                  <a:schemeClr val="dk1"/>
                </a:solidFill>
                <a:latin typeface="IBM Plex Sans"/>
                <a:ea typeface="IBM Plex Sans"/>
                <a:cs typeface="IBM Plex Sans"/>
                <a:sym typeface="IBM Plex Sans"/>
              </a:rPr>
              <a:t>Встречаетесь очно или онлайн</a:t>
            </a:r>
            <a:endParaRPr/>
          </a:p>
          <a:p>
            <a:pPr marL="342900" marR="0" lvl="0" indent="-342900" algn="l" rtl="0">
              <a:lnSpc>
                <a:spcPct val="150000"/>
              </a:lnSpc>
              <a:spcBef>
                <a:spcPts val="0"/>
              </a:spcBef>
              <a:spcAft>
                <a:spcPts val="0"/>
              </a:spcAft>
              <a:buClr>
                <a:srgbClr val="000000"/>
              </a:buClr>
              <a:buSzPts val="3600"/>
              <a:buFont typeface="Arial"/>
              <a:buChar char="-"/>
            </a:pPr>
            <a:r>
              <a:rPr lang="ru-RU" sz="2000" b="0" i="0" u="none" strike="noStrike" cap="none">
                <a:solidFill>
                  <a:schemeClr val="dk1"/>
                </a:solidFill>
                <a:latin typeface="IBM Plex Sans"/>
                <a:ea typeface="IBM Plex Sans"/>
                <a:cs typeface="IBM Plex Sans"/>
                <a:sym typeface="IBM Plex Sans"/>
              </a:rPr>
              <a:t>Разбираете теорию самостоятельно или вместе</a:t>
            </a:r>
            <a:endParaRPr/>
          </a:p>
          <a:p>
            <a:pPr marL="342900" marR="0" lvl="0" indent="-342900" algn="l" rtl="0">
              <a:lnSpc>
                <a:spcPct val="150000"/>
              </a:lnSpc>
              <a:spcBef>
                <a:spcPts val="0"/>
              </a:spcBef>
              <a:spcAft>
                <a:spcPts val="0"/>
              </a:spcAft>
              <a:buClr>
                <a:srgbClr val="000000"/>
              </a:buClr>
              <a:buSzPts val="3600"/>
              <a:buFont typeface="Arial"/>
              <a:buChar char="-"/>
            </a:pPr>
            <a:r>
              <a:rPr lang="ru-RU" sz="2000" b="0" i="0" u="none" strike="noStrike" cap="none">
                <a:solidFill>
                  <a:schemeClr val="dk1"/>
                </a:solidFill>
                <a:latin typeface="IBM Plex Sans"/>
                <a:ea typeface="IBM Plex Sans"/>
                <a:cs typeface="IBM Plex Sans"/>
                <a:sym typeface="IBM Plex Sans"/>
              </a:rPr>
              <a:t>Пишете код самостоятельно, потом обсуждаете результат и прогресс, либо пишете код одновременно</a:t>
            </a:r>
            <a:endParaRPr sz="20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sp>
        <p:nvSpPr>
          <p:cNvPr id="1408" name="Google Shape;1408;p19"/>
          <p:cNvSpPr txBox="1"/>
          <p:nvPr/>
        </p:nvSpPr>
        <p:spPr>
          <a:xfrm>
            <a:off x="1055688" y="1327688"/>
            <a:ext cx="6421800" cy="3012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rgbClr val="000000"/>
              </a:buClr>
              <a:buSzPts val="3600"/>
              <a:buFont typeface="Arial"/>
              <a:buNone/>
            </a:pPr>
            <a:r>
              <a:rPr lang="ru-RU" sz="3600" b="1" i="0" u="none" strike="noStrike" cap="none">
                <a:solidFill>
                  <a:schemeClr val="dk1"/>
                </a:solidFill>
                <a:latin typeface="IBM Plex Sans"/>
                <a:ea typeface="IBM Plex Sans"/>
                <a:cs typeface="IBM Plex Sans"/>
                <a:sym typeface="IBM Plex Sans"/>
              </a:rPr>
              <a:t>Работа в команде</a:t>
            </a:r>
            <a:endParaRPr sz="3600" b="0" i="0" u="none" strike="noStrike" cap="none">
              <a:solidFill>
                <a:srgbClr val="DFDFDF"/>
              </a:solidFill>
              <a:latin typeface="IBM Plex Sans"/>
              <a:ea typeface="IBM Plex Sans"/>
              <a:cs typeface="IBM Plex Sans"/>
              <a:sym typeface="IBM Plex Sans"/>
            </a:endParaRPr>
          </a:p>
        </p:txBody>
      </p:sp>
      <p:grpSp>
        <p:nvGrpSpPr>
          <p:cNvPr id="1409" name="Google Shape;1409;p19"/>
          <p:cNvGrpSpPr/>
          <p:nvPr/>
        </p:nvGrpSpPr>
        <p:grpSpPr>
          <a:xfrm>
            <a:off x="9353973" y="-1553420"/>
            <a:ext cx="2854020" cy="13716631"/>
            <a:chOff x="9353973" y="-1553420"/>
            <a:chExt cx="2854020" cy="13716631"/>
          </a:xfrm>
        </p:grpSpPr>
        <p:grpSp>
          <p:nvGrpSpPr>
            <p:cNvPr id="1410" name="Google Shape;1410;p19"/>
            <p:cNvGrpSpPr/>
            <p:nvPr/>
          </p:nvGrpSpPr>
          <p:grpSpPr>
            <a:xfrm>
              <a:off x="9353973" y="-1553420"/>
              <a:ext cx="2838027" cy="13716631"/>
              <a:chOff x="9353973" y="-6079700"/>
              <a:chExt cx="2838027" cy="13716631"/>
            </a:xfrm>
          </p:grpSpPr>
          <p:pic>
            <p:nvPicPr>
              <p:cNvPr id="1411" name="Google Shape;1411;p19"/>
              <p:cNvPicPr preferRelativeResize="0"/>
              <p:nvPr/>
            </p:nvPicPr>
            <p:blipFill rotWithShape="1">
              <a:blip r:embed="rId3">
                <a:alphaModFix/>
              </a:blip>
              <a:srcRect l="1283"/>
              <a:stretch/>
            </p:blipFill>
            <p:spPr>
              <a:xfrm>
                <a:off x="9353973" y="778933"/>
                <a:ext cx="2838027" cy="6857998"/>
              </a:xfrm>
              <a:prstGeom prst="rect">
                <a:avLst/>
              </a:prstGeom>
              <a:noFill/>
              <a:ln>
                <a:noFill/>
              </a:ln>
            </p:spPr>
          </p:pic>
          <p:pic>
            <p:nvPicPr>
              <p:cNvPr id="1412" name="Google Shape;1412;p19"/>
              <p:cNvPicPr preferRelativeResize="0"/>
              <p:nvPr/>
            </p:nvPicPr>
            <p:blipFill rotWithShape="1">
              <a:blip r:embed="rId3">
                <a:alphaModFix/>
              </a:blip>
              <a:srcRect l="1283"/>
              <a:stretch/>
            </p:blipFill>
            <p:spPr>
              <a:xfrm>
                <a:off x="9353973" y="-6079700"/>
                <a:ext cx="2838027" cy="6857998"/>
              </a:xfrm>
              <a:prstGeom prst="rect">
                <a:avLst/>
              </a:prstGeom>
              <a:noFill/>
              <a:ln>
                <a:noFill/>
              </a:ln>
            </p:spPr>
          </p:pic>
        </p:grpSp>
        <p:sp>
          <p:nvSpPr>
            <p:cNvPr id="1413" name="Google Shape;1413;p19"/>
            <p:cNvSpPr/>
            <p:nvPr/>
          </p:nvSpPr>
          <p:spPr>
            <a:xfrm>
              <a:off x="10772986" y="3855493"/>
              <a:ext cx="718500" cy="675600"/>
            </a:xfrm>
            <a:prstGeom prst="rect">
              <a:avLst/>
            </a:prstGeom>
            <a:solidFill>
              <a:srgbClr val="8E39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14" name="Google Shape;1414;p19"/>
            <p:cNvSpPr/>
            <p:nvPr/>
          </p:nvSpPr>
          <p:spPr>
            <a:xfrm>
              <a:off x="11489493" y="4531056"/>
              <a:ext cx="718500" cy="773400"/>
            </a:xfrm>
            <a:prstGeom prst="rect">
              <a:avLst/>
            </a:prstGeom>
            <a:solidFill>
              <a:srgbClr val="F8CE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415" name="Google Shape;1415;p19"/>
          <p:cNvPicPr preferRelativeResize="0"/>
          <p:nvPr/>
        </p:nvPicPr>
        <p:blipFill rotWithShape="1">
          <a:blip r:embed="rId4">
            <a:alphaModFix/>
          </a:blip>
          <a:srcRect/>
          <a:stretch/>
        </p:blipFill>
        <p:spPr>
          <a:xfrm>
            <a:off x="8835381" y="3877696"/>
            <a:ext cx="2638190" cy="2641856"/>
          </a:xfrm>
          <a:prstGeom prst="rect">
            <a:avLst/>
          </a:prstGeom>
          <a:noFill/>
          <a:ln>
            <a:noFill/>
          </a:ln>
        </p:spPr>
      </p:pic>
      <p:sp>
        <p:nvSpPr>
          <p:cNvPr id="1416" name="Google Shape;1416;p19"/>
          <p:cNvSpPr txBox="1"/>
          <p:nvPr/>
        </p:nvSpPr>
        <p:spPr>
          <a:xfrm>
            <a:off x="1055701" y="2303725"/>
            <a:ext cx="6730500" cy="18078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None/>
            </a:pPr>
            <a:r>
              <a:rPr lang="ru-RU" sz="2000" b="0" i="0" u="none" strike="noStrike" cap="none">
                <a:solidFill>
                  <a:schemeClr val="dk1"/>
                </a:solidFill>
                <a:latin typeface="IBM Plex Sans"/>
                <a:ea typeface="IBM Plex Sans"/>
                <a:cs typeface="IBM Plex Sans"/>
                <a:sym typeface="IBM Plex Sans"/>
              </a:rPr>
              <a:t>Работайте итеративно:</a:t>
            </a:r>
            <a:endParaRPr/>
          </a:p>
          <a:p>
            <a:pPr marL="0" marR="0" lvl="0" indent="0" algn="l" rtl="0">
              <a:lnSpc>
                <a:spcPct val="150000"/>
              </a:lnSpc>
              <a:spcBef>
                <a:spcPts val="0"/>
              </a:spcBef>
              <a:spcAft>
                <a:spcPts val="0"/>
              </a:spcAft>
              <a:buNone/>
            </a:pPr>
            <a:r>
              <a:rPr lang="ru-RU" sz="2000" b="0" i="0" u="none" strike="noStrike" cap="none">
                <a:solidFill>
                  <a:schemeClr val="dk1"/>
                </a:solidFill>
                <a:latin typeface="IBM Plex Sans"/>
                <a:ea typeface="IBM Plex Sans"/>
                <a:cs typeface="IBM Plex Sans"/>
                <a:sym typeface="IBM Plex Sans"/>
              </a:rPr>
              <a:t>Сначала пройдите все этапы, потом возвращайтесь к прошлым шагам и постепенно их улучшайте</a:t>
            </a:r>
            <a:endParaRPr sz="2000" b="0" i="0" u="none" strike="noStrike" cap="none">
              <a:solidFill>
                <a:schemeClr val="dk1"/>
              </a:solidFill>
              <a:latin typeface="IBM Plex Sans"/>
              <a:ea typeface="IBM Plex Sans"/>
              <a:cs typeface="IBM Plex Sans"/>
              <a:sym typeface="IBM Plex San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sp>
        <p:nvSpPr>
          <p:cNvPr id="1422" name="Google Shape;1422;g3cb20f13e01_0_1073"/>
          <p:cNvSpPr txBox="1"/>
          <p:nvPr/>
        </p:nvSpPr>
        <p:spPr>
          <a:xfrm>
            <a:off x="1055688" y="2561602"/>
            <a:ext cx="6463800" cy="13683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SzPts val="4400"/>
              <a:buFont typeface="Arial"/>
              <a:buNone/>
            </a:pPr>
            <a:r>
              <a:rPr lang="ru-RU" sz="4400" b="1" i="0" u="none" strike="noStrike" cap="none">
                <a:solidFill>
                  <a:schemeClr val="dk1"/>
                </a:solidFill>
                <a:latin typeface="IBM Plex Sans"/>
                <a:ea typeface="IBM Plex Sans"/>
                <a:cs typeface="IBM Plex Sans"/>
                <a:sym typeface="IBM Plex Sans"/>
              </a:rPr>
              <a:t>Спасибо </a:t>
            </a:r>
            <a:br>
              <a:rPr lang="ru-RU" sz="4400" b="1" i="0" u="none" strike="noStrike" cap="none">
                <a:solidFill>
                  <a:schemeClr val="dk1"/>
                </a:solidFill>
                <a:latin typeface="IBM Plex Sans"/>
                <a:ea typeface="IBM Plex Sans"/>
                <a:cs typeface="IBM Plex Sans"/>
                <a:sym typeface="IBM Plex Sans"/>
              </a:rPr>
            </a:br>
            <a:r>
              <a:rPr lang="ru-RU" sz="4400" b="1" i="0" u="none" strike="noStrike" cap="none">
                <a:solidFill>
                  <a:schemeClr val="dk1"/>
                </a:solidFill>
                <a:latin typeface="IBM Plex Sans"/>
                <a:ea typeface="IBM Plex Sans"/>
                <a:cs typeface="IBM Plex Sans"/>
                <a:sym typeface="IBM Plex Sans"/>
              </a:rPr>
              <a:t>за внимание</a:t>
            </a:r>
            <a:endParaRPr sz="4400" b="1" i="0" u="none" strike="noStrike" cap="none">
              <a:solidFill>
                <a:schemeClr val="dk1"/>
              </a:solidFill>
              <a:latin typeface="IBM Plex Sans"/>
              <a:ea typeface="IBM Plex Sans"/>
              <a:cs typeface="IBM Plex Sans"/>
              <a:sym typeface="IBM Plex Sans"/>
            </a:endParaRPr>
          </a:p>
        </p:txBody>
      </p:sp>
      <p:sp>
        <p:nvSpPr>
          <p:cNvPr id="1423" name="Google Shape;1423;g3cb20f13e01_0_1073"/>
          <p:cNvSpPr txBox="1"/>
          <p:nvPr/>
        </p:nvSpPr>
        <p:spPr>
          <a:xfrm>
            <a:off x="1055688" y="5861930"/>
            <a:ext cx="3771900" cy="494100"/>
          </a:xfrm>
          <a:prstGeom prst="rect">
            <a:avLst/>
          </a:prstGeom>
          <a:noFill/>
          <a:ln>
            <a:noFill/>
          </a:ln>
        </p:spPr>
        <p:txBody>
          <a:bodyPr spcFirstLastPara="1" wrap="square" lIns="0" tIns="19875" rIns="0" bIns="0" anchor="t" anchorCtr="0">
            <a:spAutoFit/>
          </a:bodyPr>
          <a:lstStyle/>
          <a:p>
            <a:pPr marL="20942" marR="8376" lvl="0" indent="0" algn="l" rtl="0">
              <a:lnSpc>
                <a:spcPct val="120000"/>
              </a:lnSpc>
              <a:spcBef>
                <a:spcPts val="0"/>
              </a:spcBef>
              <a:spcAft>
                <a:spcPts val="0"/>
              </a:spcAft>
              <a:buClr>
                <a:srgbClr val="000000"/>
              </a:buClr>
              <a:buSzPts val="1400"/>
              <a:buFont typeface="Arial"/>
              <a:buNone/>
            </a:pPr>
            <a:r>
              <a:rPr lang="ru-RU" sz="1400" b="0" i="0" u="none" strike="noStrike" cap="none">
                <a:solidFill>
                  <a:schemeClr val="dk1"/>
                </a:solidFill>
                <a:latin typeface="IBM Plex Sans"/>
                <a:ea typeface="IBM Plex Sans"/>
                <a:cs typeface="IBM Plex Sans"/>
                <a:sym typeface="IBM Plex Sans"/>
              </a:rPr>
              <a:t>ularionova@mail.tsu.ru</a:t>
            </a:r>
            <a:endParaRPr sz="1400" b="0" i="0" u="none" strike="noStrike" cap="none">
              <a:solidFill>
                <a:schemeClr val="dk1"/>
              </a:solidFill>
              <a:latin typeface="IBM Plex Sans"/>
              <a:ea typeface="IBM Plex Sans"/>
              <a:cs typeface="IBM Plex Sans"/>
              <a:sym typeface="IBM Plex Sans"/>
            </a:endParaRPr>
          </a:p>
          <a:p>
            <a:pPr marL="20942" marR="8376" lvl="0" indent="0" algn="l" rtl="0">
              <a:lnSpc>
                <a:spcPct val="120000"/>
              </a:lnSpc>
              <a:spcBef>
                <a:spcPts val="0"/>
              </a:spcBef>
              <a:spcAft>
                <a:spcPts val="0"/>
              </a:spcAft>
              <a:buClr>
                <a:srgbClr val="000000"/>
              </a:buClr>
              <a:buSzPts val="1400"/>
              <a:buFont typeface="Arial"/>
              <a:buNone/>
            </a:pPr>
            <a:endParaRPr sz="1400" b="0" i="0" u="none" strike="noStrike" cap="none">
              <a:solidFill>
                <a:schemeClr val="dk1"/>
              </a:solidFill>
              <a:latin typeface="IBM Plex Sans"/>
              <a:ea typeface="IBM Plex Sans"/>
              <a:cs typeface="IBM Plex Sans"/>
              <a:sym typeface="IBM Plex Sans"/>
            </a:endParaRPr>
          </a:p>
        </p:txBody>
      </p:sp>
      <p:sp>
        <p:nvSpPr>
          <p:cNvPr id="1424" name="Google Shape;1424;g3cb20f13e01_0_1073"/>
          <p:cNvSpPr txBox="1"/>
          <p:nvPr/>
        </p:nvSpPr>
        <p:spPr>
          <a:xfrm>
            <a:off x="1055688" y="5110383"/>
            <a:ext cx="4032300" cy="857400"/>
          </a:xfrm>
          <a:prstGeom prst="rect">
            <a:avLst/>
          </a:prstGeom>
          <a:noFill/>
          <a:ln>
            <a:noFill/>
          </a:ln>
        </p:spPr>
        <p:txBody>
          <a:bodyPr spcFirstLastPara="1" wrap="square" lIns="0" tIns="19875" rIns="0" bIns="0" anchor="t" anchorCtr="0">
            <a:spAutoFit/>
          </a:bodyPr>
          <a:lstStyle/>
          <a:p>
            <a:pPr marL="20942" marR="8376"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Ларионова Ульяна</a:t>
            </a:r>
            <a:endParaRPr sz="1400" b="0" i="0" u="none" strike="noStrike" cap="none">
              <a:solidFill>
                <a:schemeClr val="dk1"/>
              </a:solidFill>
              <a:latin typeface="Arial"/>
              <a:ea typeface="Arial"/>
              <a:cs typeface="Arial"/>
              <a:sym typeface="Arial"/>
            </a:endParaRPr>
          </a:p>
          <a:p>
            <a:pPr marL="20942" marR="8376" lvl="0" indent="0" algn="l" rtl="0">
              <a:lnSpc>
                <a:spcPct val="120000"/>
              </a:lnSpc>
              <a:spcBef>
                <a:spcPts val="0"/>
              </a:spcBef>
              <a:spcAft>
                <a:spcPts val="0"/>
              </a:spcAft>
              <a:buClr>
                <a:srgbClr val="000000"/>
              </a:buClr>
              <a:buSzPts val="1600"/>
              <a:buFont typeface="Arial"/>
              <a:buNone/>
            </a:pPr>
            <a:r>
              <a:rPr lang="ru-RU" sz="1600" b="0" i="0" u="none" strike="noStrike" cap="none">
                <a:solidFill>
                  <a:schemeClr val="dk1"/>
                </a:solidFill>
                <a:latin typeface="IBM Plex Sans"/>
                <a:ea typeface="IBM Plex Sans"/>
                <a:cs typeface="IBM Plex Sans"/>
                <a:sym typeface="IBM Plex Sans"/>
              </a:rPr>
              <a:t>Преподаватель</a:t>
            </a:r>
            <a:endParaRPr sz="1600" b="0" i="0" u="none" strike="noStrike" cap="none">
              <a:solidFill>
                <a:schemeClr val="dk1"/>
              </a:solidFill>
              <a:latin typeface="IBM Plex Sans"/>
              <a:ea typeface="IBM Plex Sans"/>
              <a:cs typeface="IBM Plex Sans"/>
              <a:sym typeface="IBM Plex Sans"/>
            </a:endParaRPr>
          </a:p>
          <a:p>
            <a:pPr marL="20942" marR="8376" lvl="0" indent="0" algn="l" rtl="0">
              <a:lnSpc>
                <a:spcPct val="120000"/>
              </a:lnSpc>
              <a:spcBef>
                <a:spcPts val="0"/>
              </a:spcBef>
              <a:spcAft>
                <a:spcPts val="0"/>
              </a:spcAft>
              <a:buClr>
                <a:srgbClr val="000000"/>
              </a:buClr>
              <a:buSzPts val="1600"/>
              <a:buFont typeface="Arial"/>
              <a:buNone/>
            </a:pPr>
            <a:endParaRPr sz="1600" b="0" i="0" u="none" strike="noStrike" cap="none">
              <a:solidFill>
                <a:schemeClr val="dk1"/>
              </a:solidFill>
              <a:latin typeface="IBM Plex Sans"/>
              <a:ea typeface="IBM Plex Sans"/>
              <a:cs typeface="IBM Plex Sans"/>
              <a:sym typeface="IBM Plex Sans"/>
            </a:endParaRPr>
          </a:p>
        </p:txBody>
      </p:sp>
      <p:pic>
        <p:nvPicPr>
          <p:cNvPr id="1425" name="Google Shape;1425;g3cb20f13e01_0_1073"/>
          <p:cNvPicPr preferRelativeResize="0"/>
          <p:nvPr/>
        </p:nvPicPr>
        <p:blipFill rotWithShape="1">
          <a:blip r:embed="rId3">
            <a:alphaModFix/>
          </a:blip>
          <a:srcRect l="1283"/>
          <a:stretch/>
        </p:blipFill>
        <p:spPr>
          <a:xfrm>
            <a:off x="9353973" y="0"/>
            <a:ext cx="2838027" cy="6857998"/>
          </a:xfrm>
          <a:prstGeom prst="rect">
            <a:avLst/>
          </a:prstGeom>
          <a:noFill/>
          <a:ln>
            <a:noFill/>
          </a:ln>
        </p:spPr>
      </p:pic>
      <p:pic>
        <p:nvPicPr>
          <p:cNvPr id="1426" name="Google Shape;1426;g3cb20f13e01_0_1073"/>
          <p:cNvPicPr preferRelativeResize="0"/>
          <p:nvPr/>
        </p:nvPicPr>
        <p:blipFill rotWithShape="1">
          <a:blip r:embed="rId4">
            <a:alphaModFix/>
          </a:blip>
          <a:srcRect/>
          <a:stretch/>
        </p:blipFill>
        <p:spPr>
          <a:xfrm>
            <a:off x="1055688" y="373794"/>
            <a:ext cx="677246" cy="774960"/>
          </a:xfrm>
          <a:prstGeom prst="rect">
            <a:avLst/>
          </a:prstGeom>
          <a:noFill/>
          <a:ln>
            <a:noFill/>
          </a:ln>
        </p:spPr>
      </p:pic>
      <p:pic>
        <p:nvPicPr>
          <p:cNvPr id="1427" name="Google Shape;1427;g3cb20f13e01_0_1073"/>
          <p:cNvPicPr preferRelativeResize="0"/>
          <p:nvPr/>
        </p:nvPicPr>
        <p:blipFill rotWithShape="1">
          <a:blip r:embed="rId5">
            <a:alphaModFix/>
          </a:blip>
          <a:srcRect/>
          <a:stretch/>
        </p:blipFill>
        <p:spPr>
          <a:xfrm>
            <a:off x="7519551" y="2892706"/>
            <a:ext cx="4439788" cy="444595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6482</Words>
  <Application>Microsoft Office PowerPoint</Application>
  <PresentationFormat>Широкоэкранный</PresentationFormat>
  <Paragraphs>976</Paragraphs>
  <Slides>93</Slides>
  <Notes>93</Notes>
  <HiddenSlides>0</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93</vt:i4>
      </vt:variant>
    </vt:vector>
  </HeadingPairs>
  <TitlesOfParts>
    <vt:vector size="105" baseType="lpstr">
      <vt:lpstr>Montserrat SemiBold</vt:lpstr>
      <vt:lpstr>Wingdings</vt:lpstr>
      <vt:lpstr>Arial</vt:lpstr>
      <vt:lpstr>Roboto Mono</vt:lpstr>
      <vt:lpstr>Calibri</vt:lpstr>
      <vt:lpstr>IBM Plex Sans</vt:lpstr>
      <vt:lpstr>Proxima Nova</vt:lpstr>
      <vt:lpstr>Montserrat Medium</vt:lpstr>
      <vt:lpstr>Roboto</vt:lpstr>
      <vt:lpstr>Nunito</vt:lpstr>
      <vt:lpstr>IBM Plex Sans SemiBold</vt:lpstr>
      <vt:lpstr>Simple Light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UserIDO</dc:creator>
  <cp:lastModifiedBy>Uliana Larionova</cp:lastModifiedBy>
  <cp:revision>8</cp:revision>
  <dcterms:created xsi:type="dcterms:W3CDTF">2022-09-15T07:23:32Z</dcterms:created>
  <dcterms:modified xsi:type="dcterms:W3CDTF">2026-07-02T13:26:26Z</dcterms:modified>
</cp:coreProperties>
</file>