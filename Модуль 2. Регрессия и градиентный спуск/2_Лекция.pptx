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embeddedFontLst>
    <p:embeddedFont>
      <p:font typeface="Alexandria Medium" panose="020B0604020202020204" charset="-78"/>
      <p:regular r:id="rId60"/>
      <p:bold r:id="rId61"/>
    </p:embeddedFont>
    <p:embeddedFont>
      <p:font typeface="Montserrat" panose="00000500000000000000" pitchFamily="2" charset="-52"/>
      <p:regular r:id="rId62"/>
      <p:bold r:id="rId63"/>
      <p:italic r:id="rId64"/>
      <p:boldItalic r:id="rId65"/>
    </p:embeddedFont>
    <p:embeddedFont>
      <p:font typeface="Montserrat Medium" panose="00000600000000000000" pitchFamily="2" charset="-52"/>
      <p:regular r:id="rId66"/>
      <p:bold r:id="rId67"/>
      <p:italic r:id="rId68"/>
      <p:boldItalic r:id="rId69"/>
    </p:embeddedFont>
    <p:embeddedFont>
      <p:font typeface="Montserrat SemiBold" panose="00000700000000000000" pitchFamily="2" charset="-52"/>
      <p:regular r:id="rId70"/>
      <p:bold r:id="rId71"/>
      <p:italic r:id="rId72"/>
      <p:boldItalic r:id="rId73"/>
    </p:embeddedFont>
    <p:embeddedFont>
      <p:font typeface="Nunito" panose="020B0604020202020204" charset="-52"/>
      <p:regular r:id="rId74"/>
      <p:bold r:id="rId75"/>
      <p:italic r:id="rId76"/>
      <p:boldItalic r:id="rId77"/>
    </p:embeddedFont>
    <p:embeddedFont>
      <p:font typeface="Nunito SemiBold" panose="020B0604020202020204" charset="-52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5760" autoAdjust="0"/>
  </p:normalViewPr>
  <p:slideViewPr>
    <p:cSldViewPr snapToGrid="0">
      <p:cViewPr varScale="1">
        <p:scale>
          <a:sx n="36" d="100"/>
          <a:sy n="36" d="100"/>
        </p:scale>
        <p:origin x="464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5.fntdata"/><Relationship Id="rId79" Type="http://schemas.openxmlformats.org/officeDocument/2006/relationships/font" Target="fonts/font20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3.fntdata"/><Relationship Id="rId80" Type="http://schemas.openxmlformats.org/officeDocument/2006/relationships/font" Target="fonts/font21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font" Target="fonts/font19.fntdata"/><Relationship Id="rId8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7.fntdata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7.fntdata"/><Relationship Id="rId61" Type="http://schemas.openxmlformats.org/officeDocument/2006/relationships/font" Target="fonts/font2.fntdata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Итак, приветствую на лекции второго модуля.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прошлом модуле вы разобрались, что такое машинное обучение и прошли полный путь </a:t>
            </a:r>
            <a:r>
              <a:rPr lang="en-US" dirty="0"/>
              <a:t>ML </a:t>
            </a:r>
            <a:r>
              <a:rPr lang="ru-RU" dirty="0"/>
              <a:t>проекта. проектом первого модуля было предсказание выживания пассажиров </a:t>
            </a:r>
            <a:r>
              <a:rPr lang="ru-RU" dirty="0" err="1"/>
              <a:t>Titanic</a:t>
            </a:r>
            <a:r>
              <a:rPr lang="ru-RU" dirty="0"/>
              <a:t> — то есть бинарная классификация. В этом модуле мы делаем шаг в сторону и подробно разбираем второй большой тип задач обучения с учителем — регрессию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Кто помнит, в чем разница между классификацией и регрессией?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8b4a4f3df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8b4a4f3df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8b4a4f3d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8b4a4f3d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8b4a4f3df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8b4a4f3df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8b4a4f3df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8b4a4f3df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8b4a4f3d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8b4a4f3d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8b4a4f3df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8b4a4f3df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8b4a4f3df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8b4a4f3df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 тех пор, как мы изобрели компьютеры, он был основан на определенном стиле написания компьютерных программ, а именно: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Понимание проблемы, для решения которой мы стремимся написать программу.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Постройте логическую структуру решения и закодируйте ее.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Загрузить данные в программу.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Получите желаемый результат на основе жестко закодированной логики.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Этот подход работает очень хорошо до тех пор, пока в игру не вступает определенный тип проблем.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Бывают задачи, которые для людей особенного труда не составляют, но которые почему-то крайне трудно запрограммировать, например: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перевести текст с одного языка на другой;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диагностировать болезнь по симптомам;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сравнить, какой из двух документов в интернете лучше подходит под данный поисковый запрос;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сказать, что изображено на картинке;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>
                <a:solidFill>
                  <a:schemeClr val="dk1"/>
                </a:solidFill>
              </a:rPr>
              <a:t>оценить, по какой цене удастся продать квартиру.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Какие еще примеры таких задач вы можете привести?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8b4a4f3df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8b4a4f3df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написать компьютерную программу, решающую проблемы, которые мы не можем описать, пришлось изменить подход.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обычно процесс машинного обучения выглядит следующим образом: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 данных о проблемах, которые мы можем решить, но не можем описать (параметры квартир)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правильных ответов </a:t>
            </a:r>
            <a:r>
              <a:rPr lang="ru">
                <a:solidFill>
                  <a:schemeClr val="dk1"/>
                </a:solidFill>
              </a:rPr>
              <a:t> (оценка стоимости квартир)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Отправка данных и ответы в программу, которую мы называем «Модель машинного обучения».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Получить правила, решающие задачу с определенным уровнем точности.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мы перешли от написания логической структуры программы к тому, чтобы заставить компьютер написать программу за нас, потому что она слишком сложна для нас, чтобы описать и написать ее.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8b4a4f3df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8b4a4f3df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написать компьютерную программу, решающую проблемы, которые мы не можем описать, пришлось изменить подход.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обычно процесс машинного обучения выглядит следующим образом: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 данных о проблемах, которые мы можем решить, но не можем описать (фото пациентов)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правильных ответов </a:t>
            </a:r>
            <a:r>
              <a:rPr lang="ru">
                <a:solidFill>
                  <a:schemeClr val="dk1"/>
                </a:solidFill>
              </a:rPr>
              <a:t> (у этого пациента рак кожи, у другого — нет)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Отправка данных и ответы в программу, которую мы называем «Модель машинного обучения».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Получить правила, решающие задачу с определенным уровнем точности.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мы перешли от написания логической структуры программы к тому, чтобы заставить компьютер написать программу за нас, потому что она слишком сложна для нас, чтобы описать и написать ее.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8b4a4f3df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8b4a4f3df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написать компьютерную программу, решающую проблемы, которые мы не можем описать, пришлось изменить подход.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обычно процесс машинного обучения выглядит следующим образом: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 данных о проблемах, которые мы можем решить, но не можем описать (фото пациентов)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правильных ответов </a:t>
            </a:r>
            <a:r>
              <a:rPr lang="ru">
                <a:solidFill>
                  <a:schemeClr val="dk1"/>
                </a:solidFill>
              </a:rPr>
              <a:t> (у этого пациента рак кожи, у другого — нет)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Отправка данных и ответы в программу, которую мы называем «Модель машинного обучения».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Получить правила, решающие задачу с определенным уровнем точности.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мы перешли от написания логической структуры программы к тому, чтобы заставить компьютер написать программу за нас, потому что она слишком сложна для нас, чтобы описать и написать ее.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8b4a4f3df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8b4a4f3df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написать компьютерную программу, решающую проблемы, которые мы не можем описать, пришлось изменить подход.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обычно процесс машинного обучения выглядит следующим образом: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 данных (фото пациентов)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правильных ответов </a:t>
            </a:r>
            <a:r>
              <a:rPr lang="ru">
                <a:solidFill>
                  <a:schemeClr val="dk1"/>
                </a:solidFill>
              </a:rPr>
              <a:t> (у этого пациента рак кожи, у другого — нет)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Отправка данных и ответы в программу, которую мы называем «Модель машинного обучения».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Получить правила, решающие задачу с определенным уровнем точности.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мы перешли от написания логической структуры программы к тому, чтобы заставить компьютер написать программу за нас, потому что она слишком сложна для нас, чтобы описать и написать ее.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8b4a4f3df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68b4a4f3df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 - Система, способная решать творческие задачи без участия человека, традиционно считающиеся прерогативой человека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ML - Область ИИ для которой характерны алгоритмы, принимающих решения самостоятельно на основе исторических данных без явно запрограммированных инструкций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DL - Подоблась машинного обучения, основанная на нейронных сетях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 Science - обработка и анализ данных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68b4a4f3df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68b4a4f3df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68b4a4f3df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68b4a4f3df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8b4a4f3df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68b4a4f3df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Во всех задачах, про которые мы говорили есть много общего.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68b4a4f3df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68b4a4f3df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Во-первых, их решение можно записать как функцию, которая отображает объекты или примеры (samples) в ответы(targets). Например, больных надо отобразить в диагнозы, а документы в оценку релевантности.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8b4a4f3df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68b4a4f3df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Во-вторых, вряд ли у этих задач есть единственно верное, идеальное решение. Даже профессиональные переводчики могут по-разному перевести один и тот же текст, и оба перевода будут верными.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8b4a4f3df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68b4a4f3df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В-третьих, у нас есть много примеров правильных ответов (скажем, переводов предложения на другой язык или подписей к заданной картинке), а примеры неправильных ответов (если они нужны), как правило, не составляет труда сконструировать.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68b4a4f3df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68b4a4f3df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Итак, мы назовём функцию, отображающую объекты в предсказания, — моделью, а имеющийся у нас набор примеров — обучающей выборкой или датасетом. Обучающая выборка состоит из: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объектов (к примеру, скачанные из интернета картинки, истории больных, активность пользователей сервиса и так далее), они же Features или на жаргоне фичи;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 ответов (подписи к картинкам, диагнозы, информация об уходе пользователей с сервиса), которые мы также будем иногда называть таргетами.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8b4a4f3df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8b4a4f3df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8b4a4f3df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68b4a4f3d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8b4a4f3df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8b4a4f3df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Описанные выше задачи являются примерами задач обучения с учителем (supervised learning), так как правильные ответы для каждого объекта обучающей выборки заранее известны. Важно понять: под учителем подразумевается именно набор ответов. Никакого реального учителя с указкой нет.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Итак, есть X - множество объектов (), Y - множество ответов (таргетов)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y - функция, которая сопоставляет объектам ответы. (истинная зависимость, закон природы, функция, которую мы хотим восстановить, т)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 данной задаче обучающий датасет состоит из: Набора объектов и соответствующих им ответов. Обратите внимание здесь X - имеет матричный вид. Алгоритмы машинного обучения работают с данными именно такого вида - матрица признаков, где каждая строка — это обьект (sample), а каждый столбец — признак (feature). Даже картинки или аудио в какой-то момент приходят в такой вид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Задачи обучения с учителем делятся на разные виды в зависимости от того, каким может быть множество Y всех возможных ответов (таргетов)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8b4a4f3df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68b4a4f3df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15110E"/>
                </a:solidFill>
                <a:latin typeface="Nunito"/>
                <a:ea typeface="Nunito"/>
                <a:cs typeface="Nunito"/>
                <a:sym typeface="Nunito"/>
              </a:rPr>
              <a:t>Примерами задач регрессии является предсказание продолжительности поездки на каршеринге, спрос на конкретный товар в конкретный день или погода в вашем городе на завтра (температура, влажность и давление — это несколько вещественных чисел, которые формируют вектор нашего предсказания).</a:t>
            </a: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8b4a4f3df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68b4a4f3df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5110E"/>
                </a:solidFill>
                <a:latin typeface="Nunito"/>
                <a:ea typeface="Nunito"/>
                <a:cs typeface="Nunito"/>
                <a:sym typeface="Nunito"/>
              </a:rPr>
              <a:t>Например, мы можем предсказывать, кликнет ли пользователь по рекламному объявлению, вернёт ли клиент кредит в установленный срок, сдаст ли студент сессию, случится ли определённое заболевание у пациента, есть ли на картинке банан.</a:t>
            </a:r>
            <a:endParaRPr sz="1350" b="1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90a4b6fa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90a4b6fa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5110E"/>
                </a:solidFill>
                <a:latin typeface="Nunito"/>
                <a:ea typeface="Nunito"/>
                <a:cs typeface="Nunito"/>
                <a:sym typeface="Nunito"/>
              </a:rPr>
              <a:t>Y=1,…,K — многоклассовая (multiclass) классификация. Например, определение предметной области для научной статьи (математика, биология, психология и т. д.).</a:t>
            </a:r>
            <a:endParaRPr sz="1350" b="1"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890a4b6fa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890a4b6fa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15110E"/>
                </a:solidFill>
                <a:latin typeface="Nunito"/>
                <a:ea typeface="Nunito"/>
                <a:cs typeface="Nunito"/>
                <a:sym typeface="Nunito"/>
              </a:rPr>
              <a:t>Y=0,1 K  — многоклассовая классификация с пересекающимися классами (multilabel classification). Например, задача автоматического проставления тегов для ресторанов (логично, что ресторан может одновременно иметь несколько тегов).</a:t>
            </a: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90a4b6fa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90a4b6fa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5110E"/>
                </a:solidFill>
                <a:latin typeface="Nunito"/>
                <a:ea typeface="Nunito"/>
                <a:cs typeface="Nunito"/>
                <a:sym typeface="Nunito"/>
              </a:rPr>
              <a:t>Y — конечное упорядоченное множество — ранжирование. Основным примером является задача ранжирования поисковой выдачи, где для любого запроса нужно отсортировать все возможные документы по релевантности этому запросу; при этом оценка релевантности имеет смысл только в контексте сравнения двух документов между собой, её абсолютное значение информации не несёт.</a:t>
            </a: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890a4b6fa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890a4b6fa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Есть класс задач, относящихся к обучению без учителя (unsupervised learning), — это задачи, для которых нам известны только данные, а ответы неизвестны или вообще не существуют. Более того, часто поиск "правильных" ответов не является самоцелью.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890a4b6fa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890a4b6fa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Классическим примером обучения без учителя является кластеризация — задача разделения объектов на группы, обладающие некоторыми неизвестными нам, но, как мы в глубине души надеемся, интерпретируемыми свойствами. Примером может служить кластеризация документов из электронной библиотеки по темам или кластеризация новостей с целью выделения крупных сюжетов.</a:t>
            </a:r>
            <a:endParaRPr sz="1200">
              <a:solidFill>
                <a:srgbClr val="15110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890a4b6fa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890a4b6fa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Reinforcement Learning основан па том, что алгоритм за каждое свое действие получает награду или наказание.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Здесь предсказание модели - следующее действие.Желательно самое выгодное :)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AlphaGo сыграл сам с собой миллионы партий.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90a4b6fa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890a4b6fa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Ответ может быть и более сложным. Так, в задаче сегментации изображения требуется для каждого пикселя предсказать, к какому объекту или типу объектов он относится, а в задаче машинного перевода мы должны сгенерировать предложение (или целый текст), являющееся переводом исходного. Интерес представляют и задачи порождения новых объектов, то есть генерации правдоподобных объектов, из ничего или на основе уже существующих. С помощью такой модели также можно научиться увеличивать разрешение изображения и применять любимые всеми маски в Snapchat или Instagram.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90a4b6fa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890a4b6faf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Ирисы фишера - знаменитая задача. Он померил 4 признака и попытался определить по этим признакам к какому типу относится ирис.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вам кажется, какая это задача?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890a4b6faf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890a4b6faf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Это задача регрессии. Модель предсказывает вещественное число, пусть и с небольшим количеством знаков после запятой.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Это задача генерации новых объектов на основе уже существующих.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90a4b6fa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890a4b6fa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 зависимости от того, для чего мы детектируем котиков, это может быть задача регрессии (предсказание координат вершин прямоугольника, в котором находится котик) или классификации (если нас просто интересует, есть котик или нет).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Эту задачу можно решать по-разному. Например, создав физическую модель движения робокота и рассчитав оптимальную последовательность движений. Если мы всё-таки хотим решать её с помощью машинного обучения, то можно поступить следующим образом. Создадим компьютерную симуляцию (чтобы не ломать настоящего робота) и модель, которая будет в каждый момент на основе конфигурации сочленений, высоты от пола, расстояния до стола, фазы Луны и других важных параметров предсказывать, как нужно дальше поворачивать лапы, изгибать спину кота и так далее. Эту модель будем прогонять в симуляции, так или иначе меняя её в зависимости от того, насколько удачно робот справляется со своей задачей. Такая парадигма называется обучением с подкреплением (reinforcement learning), и о ней мы поговорим в отдельном параграфе.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 можете спросить: а почему это не обучение с учителем? Ведь у нас есть объекты — последовательности движений и ответы — запрыгнул кот на стол или нет. Проблема в том, что перебрать кучу траекторий (ввиду сложности задачи — действительно огромную кучу) и для каждой получить ответ — это очень долго и сложно; кроме того, нам хотелось бы иметь фреймворк, в котором можно было бы относительно легко адаптироваться, скажем, к изменению высоты стола.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задача обучения без учителя.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890a4b6fa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890a4b6fa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890a4b6faf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890a4b6faf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890a4b6fa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890a4b6fa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идея в том, что рядом с похожими обьектами будут находиться похожие обьекты.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 ли ее переделать для задачи регрессии? Как?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Да, можно, если возвращать не класс, а целевое значение для новой точки рассчитывается путём усреднения целевых значений K ближайших соседей.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тогда будет выглядеть предсказание?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давайте посмотрим на K. Его надо задать заранее.</a:t>
            </a:r>
            <a:r>
              <a:rPr lang="ru">
                <a:solidFill>
                  <a:schemeClr val="dk1"/>
                </a:solidFill>
              </a:rPr>
              <a:t> Параметры, которые задаются до начала работы алгоритма - гиперпараметры.</a:t>
            </a:r>
            <a:r>
              <a:rPr lang="ru"/>
              <a:t> От его значения очень зависит итоговое значение алгоритма. Например, если мы берем 3 ближайших соседа, какой будет класс предсказан?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если 5?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с вами увидели влияние гиперпараметра K на результат работы алгоритма. Подбирать гиперпараметры важная задача в машинном обучении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890a4b6faf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890a4b6faf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Итак, давайте посмотрим на K. Его надо задать заранее.</a:t>
            </a:r>
            <a:r>
              <a:rPr lang="ru">
                <a:solidFill>
                  <a:schemeClr val="dk1"/>
                </a:solidFill>
              </a:rPr>
              <a:t> Параметры, которые задаются до начала работы алгоритма - гиперпараметры.</a:t>
            </a:r>
            <a:r>
              <a:rPr lang="ru"/>
              <a:t> От его значения очень зависит итоговое значение алгоритма. Например, если мы берем 3 ближайших соседа, какой будет класс предсказан?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если 5?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с вами увидели влияние гиперпараметра K на результат работы алгоритма. Подбирать гиперпараметры важная задача в машинном обучении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890a4b6fa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890a4b6fa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Хорошо, вернемся к основной идее. </a:t>
            </a:r>
            <a:r>
              <a:rPr lang="ru">
                <a:solidFill>
                  <a:schemeClr val="dk1"/>
                </a:solidFill>
              </a:rPr>
              <a:t>Для N обьектов, которые более менее близки, должен быть более менее близкий ответ. Если точка в окружении синих, она синяя. Если точка в окружении 10, она тоже 10. Однако, это предположение нарушается при больших размерностях данных. Что такое размерность - это длина вектора признаков (кол-во признаков)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890a4b6faf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890a4b6faf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Например, мы определяем, какая котенок или собачка. У нас есть признак длина носа и количество усов. Размерность признаков два.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90a4b6fa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890a4b6fa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Однако с увеличением кол-ва признаков размерность пространства увеличивается и оказывается, что в окрестностях нашей точки не оказывается других точек. и 5 ближайших соседей очень далеко.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этой картинке: в двумерном пространстве в круг (окрестность искомой точки) попадает много точек. В 3 мерном пространстве в круг попадает гораздо меньше точек, хотя, их осталось столько же, в n-мерном пространстве может вообще ничего не попасть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большая особенность алгоритмов машинного обучения.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90a4b6fa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90a4b6fa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взять для определения расстояния обычное евклидовое расстояние, возникает проблема. Если признаки на очень разных масштабах, как например расстояние до метро в метрах, которое может быть просто огромное, и кол-во комнат, которое обычно от 1 до 6. Однако, если расстояние на 5 метров больше, это не так весомо, как если бы в квартире было бы на 5 комант больше. Алгоритм не учтёт это.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этим приходится что-то делать. Стандартно, вычесть среднее и поделить на стандартное отклонение. Есть и другие способы, мы их изучим на практиках позже.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90a4b6faf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890a4b6faf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9d04b69d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9d04b69d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9d04b69d1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9d04b69d1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d04b69d1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9d04b69d1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9d04b69d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9d04b69d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9d04b69d1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9d04b69d1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9d04b69d1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9d04b69d1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9d04b69d1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9d04b69d1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9d04b69d1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9d04b69d1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890a4b6fa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890a4b6faf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истинная зависимость, закон природы, функция, которую мы хотим восстановить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90a4b6faf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890a4b6faf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истинная зависимость, закон природы, функция, которую мы хотим восстановить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890a4b6fa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890a4b6fa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истинная зависимость, закон природы, функция, которую мы хотим восстановить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90a4b6fa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890a4b6fa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истинная зависимость, закон природы, функция, которую мы хотим восстановить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890a4b6fa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890a4b6fa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None/>
              <a:defRPr sz="18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8" t="-83399" r="177064" b="41636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 rotWithShape="1">
          <a:blip r:embed="rId2">
            <a:alphaModFix/>
          </a:blip>
          <a:srcRect l="130684" t="-50528" r="175247" b="34586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18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>
            <a:spLocks noGrp="1"/>
          </p:cNvSpPr>
          <p:nvPr>
            <p:ph type="subTitle" idx="1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2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715100" y="6305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715100" y="1459850"/>
            <a:ext cx="7566000" cy="31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>
            <a:spLocks noGrp="1"/>
          </p:cNvSpPr>
          <p:nvPr>
            <p:ph type="subTitle" idx="1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2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3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4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5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6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5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6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7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8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2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3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5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6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7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8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9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13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4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5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>
            <a:spLocks noGrp="1"/>
          </p:cNvSpPr>
          <p:nvPr>
            <p:ph type="title" hasCustomPrompt="1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4"/>
          <p:cNvSpPr txBox="1">
            <a:spLocks noGrp="1"/>
          </p:cNvSpPr>
          <p:nvPr>
            <p:ph type="subTitle" idx="1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4"/>
          <p:cNvSpPr txBox="1">
            <a:spLocks noGrp="1"/>
          </p:cNvSpPr>
          <p:nvPr>
            <p:ph type="subTitle" idx="3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1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3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4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5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emiBold"/>
              <a:buNone/>
              <a:defRPr sz="24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title" idx="6" hasCustomPrompt="1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 rotWithShape="1">
          <a:blip r:embed="rId2">
            <a:alphaModFix/>
          </a:blip>
          <a:srcRect l="-6644" t="-11183" r="27549" b="-111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2" y="-2437"/>
            <a:ext cx="33212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Лекция 2</a:t>
            </a:r>
            <a:endParaRPr dirty="0"/>
          </a:p>
        </p:txBody>
      </p:sp>
      <p:sp>
        <p:nvSpPr>
          <p:cNvPr id="185" name="Google Shape;185;p32"/>
          <p:cNvSpPr txBox="1">
            <a:spLocks noGrp="1"/>
          </p:cNvSpPr>
          <p:nvPr>
            <p:ph type="subTitle" idx="1"/>
          </p:nvPr>
        </p:nvSpPr>
        <p:spPr>
          <a:xfrm>
            <a:off x="3814900" y="535000"/>
            <a:ext cx="46176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Линейная регрессия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3002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Коротко о курсе</a:t>
            </a:r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 семестра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 занятия в неделю: лекция+практика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за курс: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Задавать вопросы, а также отвечать на них – хорошо!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Большая часть курса - машинное обучение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Много практики на семинарах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Фотки котят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/>
          <p:nvPr/>
        </p:nvSpPr>
        <p:spPr>
          <a:xfrm>
            <a:off x="2151024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E4F9FD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Введение в машинное обучение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4288266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Нейронные сети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425507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DFC6D3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Глубокое обучение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3793816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5947177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1" name="Google Shape;201;p34"/>
          <p:cNvSpPr/>
          <p:nvPr/>
        </p:nvSpPr>
        <p:spPr>
          <a:xfrm>
            <a:off x="8100579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564475" y="623350"/>
            <a:ext cx="1342800" cy="1342800"/>
          </a:xfrm>
          <a:prstGeom prst="ellipse">
            <a:avLst/>
          </a:prstGeom>
          <a:solidFill>
            <a:srgbClr val="FFFFFF"/>
          </a:solidFill>
          <a:ln w="21150" cap="flat" cmpd="sng">
            <a:solidFill>
              <a:srgbClr val="7E74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77">
                <a:latin typeface="Montserrat SemiBold"/>
                <a:ea typeface="Montserrat SemiBold"/>
                <a:cs typeface="Montserrat SemiBold"/>
                <a:sym typeface="Montserrat SemiBold"/>
              </a:rPr>
              <a:t>1 семестр</a:t>
            </a:r>
            <a:endParaRPr sz="1377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34"/>
          <p:cNvSpPr txBox="1"/>
          <p:nvPr/>
        </p:nvSpPr>
        <p:spPr>
          <a:xfrm rot="-5400000">
            <a:off x="152308" y="3148321"/>
            <a:ext cx="2167500" cy="422100"/>
          </a:xfrm>
          <a:prstGeom prst="rect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77">
                <a:latin typeface="Montserrat SemiBold"/>
                <a:ea typeface="Montserrat SemiBold"/>
                <a:cs typeface="Montserrat SemiBold"/>
                <a:sym typeface="Montserrat SemiBold"/>
              </a:rPr>
              <a:t>Содержание</a:t>
            </a:r>
            <a:endParaRPr sz="1777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2151024" y="2157838"/>
            <a:ext cx="18861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77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1982925" y="2157875"/>
            <a:ext cx="2137500" cy="2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latin typeface="Montserrat Medium"/>
                <a:ea typeface="Montserrat Medium"/>
                <a:cs typeface="Montserrat Medium"/>
                <a:sym typeface="Montserrat Medium"/>
              </a:rPr>
              <a:t>Основные понятия ML</a:t>
            </a:r>
            <a:endParaRPr sz="1333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SzPts val="1333"/>
              <a:buFont typeface="Montserrat Medium"/>
              <a:buChar char="●"/>
            </a:pPr>
            <a:r>
              <a:rPr lang="ru" sz="1333">
                <a:latin typeface="Montserrat Medium"/>
                <a:ea typeface="Montserrat Medium"/>
                <a:cs typeface="Montserrat Medium"/>
                <a:sym typeface="Montserrat Medium"/>
              </a:rPr>
              <a:t>Классические модели и алгоритмы</a:t>
            </a:r>
            <a:endParaRPr sz="1333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4120150" y="2157850"/>
            <a:ext cx="1883700" cy="2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1111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has life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6257398" y="2157850"/>
            <a:ext cx="1883700" cy="23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big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8" name="Google Shape;208;p34"/>
          <p:cNvCxnSpPr>
            <a:stCxn id="202" idx="6"/>
            <a:endCxn id="196" idx="1"/>
          </p:cNvCxnSpPr>
          <p:nvPr/>
        </p:nvCxnSpPr>
        <p:spPr>
          <a:xfrm>
            <a:off x="1907275" y="1294750"/>
            <a:ext cx="4800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34"/>
          <p:cNvCxnSpPr>
            <a:stCxn id="196" idx="3"/>
            <a:endCxn id="197" idx="1"/>
          </p:cNvCxnSpPr>
          <p:nvPr/>
        </p:nvCxnSpPr>
        <p:spPr>
          <a:xfrm>
            <a:off x="4288524" y="1294804"/>
            <a:ext cx="2361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34"/>
          <p:cNvCxnSpPr>
            <a:stCxn id="197" idx="3"/>
            <a:endCxn id="198" idx="1"/>
          </p:cNvCxnSpPr>
          <p:nvPr/>
        </p:nvCxnSpPr>
        <p:spPr>
          <a:xfrm>
            <a:off x="6425766" y="1294804"/>
            <a:ext cx="2361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34"/>
          <p:cNvCxnSpPr>
            <a:stCxn id="196" idx="2"/>
            <a:endCxn id="204" idx="0"/>
          </p:cNvCxnSpPr>
          <p:nvPr/>
        </p:nvCxnSpPr>
        <p:spPr>
          <a:xfrm flipH="1">
            <a:off x="3094122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34"/>
          <p:cNvCxnSpPr>
            <a:stCxn id="197" idx="2"/>
            <a:endCxn id="213" idx="0"/>
          </p:cNvCxnSpPr>
          <p:nvPr/>
        </p:nvCxnSpPr>
        <p:spPr>
          <a:xfrm flipH="1">
            <a:off x="5231363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34"/>
          <p:cNvCxnSpPr>
            <a:stCxn id="198" idx="2"/>
            <a:endCxn id="215" idx="0"/>
          </p:cNvCxnSpPr>
          <p:nvPr/>
        </p:nvCxnSpPr>
        <p:spPr>
          <a:xfrm flipH="1">
            <a:off x="7368604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/>
          <p:nvPr/>
        </p:nvSpPr>
        <p:spPr>
          <a:xfrm>
            <a:off x="2151024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NLP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35"/>
          <p:cNvSpPr/>
          <p:nvPr/>
        </p:nvSpPr>
        <p:spPr>
          <a:xfrm>
            <a:off x="4288266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Аудио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2" name="Google Shape;222;p35"/>
          <p:cNvSpPr/>
          <p:nvPr/>
        </p:nvSpPr>
        <p:spPr>
          <a:xfrm>
            <a:off x="6425507" y="781654"/>
            <a:ext cx="2137500" cy="1026300"/>
          </a:xfrm>
          <a:prstGeom prst="chevron">
            <a:avLst>
              <a:gd name="adj" fmla="val 23025"/>
            </a:avLst>
          </a:prstGeom>
          <a:solidFill>
            <a:srgbClr val="D0E0E3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latin typeface="Montserrat SemiBold"/>
                <a:ea typeface="Montserrat SemiBold"/>
                <a:cs typeface="Montserrat SemiBold"/>
                <a:sym typeface="Montserrat SemiBold"/>
              </a:rPr>
              <a:t>Временные ряды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3" name="Google Shape;223;p35"/>
          <p:cNvSpPr/>
          <p:nvPr/>
        </p:nvSpPr>
        <p:spPr>
          <a:xfrm>
            <a:off x="3793816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4" name="Google Shape;224;p35"/>
          <p:cNvSpPr/>
          <p:nvPr/>
        </p:nvSpPr>
        <p:spPr>
          <a:xfrm>
            <a:off x="5947177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8100579" y="1534230"/>
            <a:ext cx="422100" cy="422100"/>
          </a:xfrm>
          <a:prstGeom prst="ellipse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5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555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564475" y="623350"/>
            <a:ext cx="1342800" cy="1342800"/>
          </a:xfrm>
          <a:prstGeom prst="ellipse">
            <a:avLst/>
          </a:prstGeom>
          <a:solidFill>
            <a:srgbClr val="FFFFFF"/>
          </a:solidFill>
          <a:ln w="21150" cap="flat" cmpd="sng">
            <a:solidFill>
              <a:srgbClr val="7E74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77">
                <a:latin typeface="Montserrat SemiBold"/>
                <a:ea typeface="Montserrat SemiBold"/>
                <a:cs typeface="Montserrat SemiBold"/>
                <a:sym typeface="Montserrat SemiBold"/>
              </a:rPr>
              <a:t>2 семестр</a:t>
            </a:r>
            <a:endParaRPr sz="1377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7" name="Google Shape;227;p35"/>
          <p:cNvSpPr txBox="1"/>
          <p:nvPr/>
        </p:nvSpPr>
        <p:spPr>
          <a:xfrm rot="-5400000">
            <a:off x="152308" y="3148321"/>
            <a:ext cx="2167500" cy="422100"/>
          </a:xfrm>
          <a:prstGeom prst="rect">
            <a:avLst/>
          </a:prstGeom>
          <a:solidFill>
            <a:srgbClr val="99E0F7"/>
          </a:solidFill>
          <a:ln>
            <a:noFill/>
          </a:ln>
        </p:spPr>
        <p:txBody>
          <a:bodyPr spcFirstLastPara="1" wrap="square" lIns="101550" tIns="101550" rIns="101550" bIns="10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77">
                <a:latin typeface="Montserrat SemiBold"/>
                <a:ea typeface="Montserrat SemiBold"/>
                <a:cs typeface="Montserrat SemiBold"/>
                <a:sym typeface="Montserrat SemiBold"/>
              </a:rPr>
              <a:t>Содержание</a:t>
            </a:r>
            <a:endParaRPr sz="1777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8" name="Google Shape;228;p35"/>
          <p:cNvSpPr txBox="1"/>
          <p:nvPr/>
        </p:nvSpPr>
        <p:spPr>
          <a:xfrm>
            <a:off x="2151024" y="2157838"/>
            <a:ext cx="18861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77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Product</a:t>
            </a:r>
            <a:endParaRPr sz="1777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1982917" y="2579686"/>
            <a:ext cx="18837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</a:t>
            </a:r>
            <a:b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Sun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smallest planet of them all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4288266" y="2157838"/>
            <a:ext cx="18861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77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Engineering</a:t>
            </a:r>
            <a:endParaRPr sz="1777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4120159" y="2579686"/>
            <a:ext cx="18837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1111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has life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6425507" y="2157838"/>
            <a:ext cx="18861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2"/>
              <a:buFont typeface="Arial"/>
              <a:buNone/>
            </a:pPr>
            <a:r>
              <a:rPr lang="ru" sz="1777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Customer</a:t>
            </a:r>
            <a:endParaRPr sz="1777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6257400" y="2579686"/>
            <a:ext cx="18837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50" tIns="101550" rIns="101550" bIns="101550" anchor="t" anchorCtr="0">
            <a:noAutofit/>
          </a:bodyPr>
          <a:lstStyle/>
          <a:p>
            <a:pPr marL="507818" lvl="0" indent="-3385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07818" lvl="0" indent="-338545" algn="l" rtl="0">
              <a:spcBef>
                <a:spcPts val="1111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Montserrat Medium"/>
              <a:buChar char="●"/>
            </a:pPr>
            <a:r>
              <a:rPr lang="ru" sz="1333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big</a:t>
            </a:r>
            <a:endParaRPr sz="1333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4" name="Google Shape;234;p35"/>
          <p:cNvCxnSpPr>
            <a:stCxn id="226" idx="6"/>
            <a:endCxn id="220" idx="1"/>
          </p:cNvCxnSpPr>
          <p:nvPr/>
        </p:nvCxnSpPr>
        <p:spPr>
          <a:xfrm>
            <a:off x="1907275" y="1294750"/>
            <a:ext cx="4800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35"/>
          <p:cNvCxnSpPr>
            <a:stCxn id="220" idx="3"/>
            <a:endCxn id="221" idx="1"/>
          </p:cNvCxnSpPr>
          <p:nvPr/>
        </p:nvCxnSpPr>
        <p:spPr>
          <a:xfrm>
            <a:off x="4288524" y="1294804"/>
            <a:ext cx="2361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35"/>
          <p:cNvCxnSpPr>
            <a:stCxn id="221" idx="3"/>
            <a:endCxn id="222" idx="1"/>
          </p:cNvCxnSpPr>
          <p:nvPr/>
        </p:nvCxnSpPr>
        <p:spPr>
          <a:xfrm>
            <a:off x="6425766" y="1294804"/>
            <a:ext cx="236100" cy="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35"/>
          <p:cNvCxnSpPr>
            <a:stCxn id="220" idx="2"/>
            <a:endCxn id="228" idx="0"/>
          </p:cNvCxnSpPr>
          <p:nvPr/>
        </p:nvCxnSpPr>
        <p:spPr>
          <a:xfrm flipH="1">
            <a:off x="3094122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35"/>
          <p:cNvCxnSpPr>
            <a:stCxn id="221" idx="2"/>
            <a:endCxn id="230" idx="0"/>
          </p:cNvCxnSpPr>
          <p:nvPr/>
        </p:nvCxnSpPr>
        <p:spPr>
          <a:xfrm flipH="1">
            <a:off x="5231363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5"/>
          <p:cNvCxnSpPr>
            <a:stCxn id="222" idx="2"/>
            <a:endCxn id="232" idx="0"/>
          </p:cNvCxnSpPr>
          <p:nvPr/>
        </p:nvCxnSpPr>
        <p:spPr>
          <a:xfrm flipH="1">
            <a:off x="7368604" y="1807954"/>
            <a:ext cx="7500" cy="349800"/>
          </a:xfrm>
          <a:prstGeom prst="straightConnector1">
            <a:avLst/>
          </a:prstGeom>
          <a:noFill/>
          <a:ln w="106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вам этот курс?</a:t>
            </a:r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subTitle" idx="1"/>
          </p:nvPr>
        </p:nvSpPr>
        <p:spPr>
          <a:xfrm>
            <a:off x="2341225" y="535000"/>
            <a:ext cx="6091200" cy="3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После курса можно пробовать себя в роли Junior Machine Learning Engineer или Junior Data Scientist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Применить на практике знания мат. анализа, мат. стата, линейки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Получить аппарат для решения задач в ваших областях (3 курс)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5660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лекции:</a:t>
            </a:r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75660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Основные понятия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Типы задач машинного обучения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KNN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Проблемы машинного обучения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Машинное обучение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Традиционное программирование</a:t>
            </a:r>
            <a:endParaRPr/>
          </a:p>
        </p:txBody>
      </p:sp>
      <p:cxnSp>
        <p:nvCxnSpPr>
          <p:cNvPr id="262" name="Google Shape;262;p39"/>
          <p:cNvCxnSpPr>
            <a:stCxn id="263" idx="3"/>
            <a:endCxn id="264" idx="1"/>
          </p:cNvCxnSpPr>
          <p:nvPr/>
        </p:nvCxnSpPr>
        <p:spPr>
          <a:xfrm>
            <a:off x="2667488" y="2431800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5" name="Google Shape;265;p39"/>
          <p:cNvCxnSpPr>
            <a:stCxn id="266" idx="3"/>
            <a:endCxn id="264" idx="1"/>
          </p:cNvCxnSpPr>
          <p:nvPr/>
        </p:nvCxnSpPr>
        <p:spPr>
          <a:xfrm rot="10800000" flipH="1">
            <a:off x="2667488" y="2864475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3" name="Google Shape;263;p39"/>
          <p:cNvSpPr txBox="1"/>
          <p:nvPr/>
        </p:nvSpPr>
        <p:spPr>
          <a:xfrm>
            <a:off x="715088" y="216195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Правила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715088" y="3118725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Данные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6487538" y="2590900"/>
            <a:ext cx="1952400" cy="547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Ответ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68" name="Google Shape;268;p39"/>
          <p:cNvCxnSpPr>
            <a:stCxn id="264" idx="3"/>
            <a:endCxn id="267" idx="1"/>
          </p:cNvCxnSpPr>
          <p:nvPr/>
        </p:nvCxnSpPr>
        <p:spPr>
          <a:xfrm>
            <a:off x="5918375" y="2864500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4" name="Google Shape;264;p39"/>
          <p:cNvSpPr/>
          <p:nvPr/>
        </p:nvSpPr>
        <p:spPr>
          <a:xfrm>
            <a:off x="3236675" y="2402500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Традиционное программирование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Машинное обучение</a:t>
            </a:r>
            <a:endParaRPr/>
          </a:p>
        </p:txBody>
      </p:sp>
      <p:cxnSp>
        <p:nvCxnSpPr>
          <p:cNvPr id="274" name="Google Shape;274;p40"/>
          <p:cNvCxnSpPr>
            <a:stCxn id="275" idx="3"/>
            <a:endCxn id="276" idx="1"/>
          </p:cNvCxnSpPr>
          <p:nvPr/>
        </p:nvCxnSpPr>
        <p:spPr>
          <a:xfrm>
            <a:off x="2667488" y="2431800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7" name="Google Shape;277;p40"/>
          <p:cNvCxnSpPr>
            <a:stCxn id="278" idx="3"/>
            <a:endCxn id="276" idx="1"/>
          </p:cNvCxnSpPr>
          <p:nvPr/>
        </p:nvCxnSpPr>
        <p:spPr>
          <a:xfrm rot="10800000" flipH="1">
            <a:off x="2667488" y="2864475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75" name="Google Shape;275;p40"/>
          <p:cNvSpPr txBox="1"/>
          <p:nvPr/>
        </p:nvSpPr>
        <p:spPr>
          <a:xfrm>
            <a:off x="715088" y="2161950"/>
            <a:ext cx="1952400" cy="539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Ответ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715088" y="3118725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Данные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6487538" y="2590900"/>
            <a:ext cx="1952400" cy="5472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Правила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80" name="Google Shape;280;p40"/>
          <p:cNvCxnSpPr>
            <a:stCxn id="276" idx="3"/>
            <a:endCxn id="279" idx="1"/>
          </p:cNvCxnSpPr>
          <p:nvPr/>
        </p:nvCxnSpPr>
        <p:spPr>
          <a:xfrm>
            <a:off x="5918375" y="2864500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76" name="Google Shape;276;p40"/>
          <p:cNvSpPr/>
          <p:nvPr/>
        </p:nvSpPr>
        <p:spPr>
          <a:xfrm>
            <a:off x="3236675" y="2402500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Машинное обучение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41"/>
          <p:cNvCxnSpPr>
            <a:stCxn id="286" idx="3"/>
            <a:endCxn id="287" idx="1"/>
          </p:cNvCxnSpPr>
          <p:nvPr/>
        </p:nvCxnSpPr>
        <p:spPr>
          <a:xfrm>
            <a:off x="2659213" y="3099775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8" name="Google Shape;288;p41"/>
          <p:cNvCxnSpPr>
            <a:stCxn id="289" idx="3"/>
            <a:endCxn id="287" idx="1"/>
          </p:cNvCxnSpPr>
          <p:nvPr/>
        </p:nvCxnSpPr>
        <p:spPr>
          <a:xfrm rot="10800000" flipH="1">
            <a:off x="2659213" y="3532450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6" name="Google Shape;286;p41"/>
          <p:cNvSpPr txBox="1"/>
          <p:nvPr/>
        </p:nvSpPr>
        <p:spPr>
          <a:xfrm>
            <a:off x="706813" y="2829925"/>
            <a:ext cx="1952400" cy="539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Ответ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706813" y="378670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Данные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6479263" y="3258875"/>
            <a:ext cx="1952400" cy="5472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Правила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91" name="Google Shape;291;p41"/>
          <p:cNvCxnSpPr>
            <a:stCxn id="287" idx="3"/>
            <a:endCxn id="290" idx="1"/>
          </p:cNvCxnSpPr>
          <p:nvPr/>
        </p:nvCxnSpPr>
        <p:spPr>
          <a:xfrm>
            <a:off x="5910100" y="3532475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7" name="Google Shape;287;p41"/>
          <p:cNvSpPr/>
          <p:nvPr/>
        </p:nvSpPr>
        <p:spPr>
          <a:xfrm>
            <a:off x="3228400" y="3070475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Машинное обучение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92" name="Google Shape;292;p41"/>
          <p:cNvCxnSpPr>
            <a:stCxn id="293" idx="3"/>
            <a:endCxn id="294" idx="1"/>
          </p:cNvCxnSpPr>
          <p:nvPr/>
        </p:nvCxnSpPr>
        <p:spPr>
          <a:xfrm>
            <a:off x="2664738" y="1086950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95" name="Google Shape;295;p41"/>
          <p:cNvCxnSpPr>
            <a:stCxn id="296" idx="3"/>
            <a:endCxn id="294" idx="1"/>
          </p:cNvCxnSpPr>
          <p:nvPr/>
        </p:nvCxnSpPr>
        <p:spPr>
          <a:xfrm rot="10800000" flipH="1">
            <a:off x="2664738" y="1519625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93" name="Google Shape;293;p41"/>
          <p:cNvSpPr txBox="1"/>
          <p:nvPr/>
        </p:nvSpPr>
        <p:spPr>
          <a:xfrm>
            <a:off x="712338" y="81710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Правила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712338" y="1773875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Данные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7" name="Google Shape;297;p41"/>
          <p:cNvSpPr txBox="1"/>
          <p:nvPr/>
        </p:nvSpPr>
        <p:spPr>
          <a:xfrm>
            <a:off x="6484788" y="1246050"/>
            <a:ext cx="1952400" cy="547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Ответ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98" name="Google Shape;298;p41"/>
          <p:cNvCxnSpPr>
            <a:stCxn id="294" idx="3"/>
            <a:endCxn id="297" idx="1"/>
          </p:cNvCxnSpPr>
          <p:nvPr/>
        </p:nvCxnSpPr>
        <p:spPr>
          <a:xfrm>
            <a:off x="5915625" y="1519650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94" name="Google Shape;294;p41"/>
          <p:cNvSpPr/>
          <p:nvPr/>
        </p:nvSpPr>
        <p:spPr>
          <a:xfrm>
            <a:off x="3233925" y="1057650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Традиционное программирование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3" name="Google Shape;303;p42"/>
          <p:cNvCxnSpPr>
            <a:stCxn id="304" idx="3"/>
            <a:endCxn id="305" idx="1"/>
          </p:cNvCxnSpPr>
          <p:nvPr/>
        </p:nvCxnSpPr>
        <p:spPr>
          <a:xfrm>
            <a:off x="2659213" y="3099775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6" name="Google Shape;306;p42"/>
          <p:cNvCxnSpPr>
            <a:stCxn id="307" idx="3"/>
            <a:endCxn id="305" idx="1"/>
          </p:cNvCxnSpPr>
          <p:nvPr/>
        </p:nvCxnSpPr>
        <p:spPr>
          <a:xfrm rot="10800000" flipH="1">
            <a:off x="2659213" y="3532450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04" name="Google Shape;304;p42"/>
          <p:cNvSpPr txBox="1"/>
          <p:nvPr/>
        </p:nvSpPr>
        <p:spPr>
          <a:xfrm>
            <a:off x="706813" y="2829925"/>
            <a:ext cx="1952400" cy="539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706813" y="378670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2 и 2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8" name="Google Shape;308;p42"/>
          <p:cNvSpPr txBox="1"/>
          <p:nvPr/>
        </p:nvSpPr>
        <p:spPr>
          <a:xfrm>
            <a:off x="6479263" y="3258875"/>
            <a:ext cx="1952400" cy="5472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сложить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09" name="Google Shape;309;p42"/>
          <p:cNvCxnSpPr>
            <a:stCxn id="305" idx="3"/>
            <a:endCxn id="308" idx="1"/>
          </p:cNvCxnSpPr>
          <p:nvPr/>
        </p:nvCxnSpPr>
        <p:spPr>
          <a:xfrm>
            <a:off x="5910100" y="3532475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05" name="Google Shape;305;p42"/>
          <p:cNvSpPr/>
          <p:nvPr/>
        </p:nvSpPr>
        <p:spPr>
          <a:xfrm>
            <a:off x="3228400" y="3070475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Машинное обучение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10" name="Google Shape;310;p42"/>
          <p:cNvCxnSpPr>
            <a:stCxn id="311" idx="3"/>
            <a:endCxn id="312" idx="1"/>
          </p:cNvCxnSpPr>
          <p:nvPr/>
        </p:nvCxnSpPr>
        <p:spPr>
          <a:xfrm>
            <a:off x="2664738" y="1086950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3" name="Google Shape;313;p42"/>
          <p:cNvCxnSpPr>
            <a:stCxn id="314" idx="3"/>
            <a:endCxn id="312" idx="1"/>
          </p:cNvCxnSpPr>
          <p:nvPr/>
        </p:nvCxnSpPr>
        <p:spPr>
          <a:xfrm rot="10800000" flipH="1">
            <a:off x="2664738" y="1519625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1" name="Google Shape;311;p42"/>
          <p:cNvSpPr txBox="1"/>
          <p:nvPr/>
        </p:nvSpPr>
        <p:spPr>
          <a:xfrm>
            <a:off x="712338" y="81710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сложи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712338" y="1773875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2 и 2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6484788" y="1246050"/>
            <a:ext cx="1952400" cy="547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16" name="Google Shape;316;p42"/>
          <p:cNvCxnSpPr>
            <a:stCxn id="312" idx="3"/>
            <a:endCxn id="315" idx="1"/>
          </p:cNvCxnSpPr>
          <p:nvPr/>
        </p:nvCxnSpPr>
        <p:spPr>
          <a:xfrm>
            <a:off x="5915625" y="1519650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2" name="Google Shape;312;p42"/>
          <p:cNvSpPr/>
          <p:nvPr/>
        </p:nvSpPr>
        <p:spPr>
          <a:xfrm>
            <a:off x="3233925" y="1057650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Традиционное программирование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43"/>
          <p:cNvCxnSpPr>
            <a:stCxn id="322" idx="3"/>
            <a:endCxn id="323" idx="1"/>
          </p:cNvCxnSpPr>
          <p:nvPr/>
        </p:nvCxnSpPr>
        <p:spPr>
          <a:xfrm>
            <a:off x="2659351" y="3099875"/>
            <a:ext cx="781800" cy="432600"/>
          </a:xfrm>
          <a:prstGeom prst="bentConnector3">
            <a:avLst>
              <a:gd name="adj1" fmla="val 3639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4" name="Google Shape;324;p43"/>
          <p:cNvCxnSpPr>
            <a:stCxn id="325" idx="3"/>
            <a:endCxn id="323" idx="1"/>
          </p:cNvCxnSpPr>
          <p:nvPr/>
        </p:nvCxnSpPr>
        <p:spPr>
          <a:xfrm rot="10800000" flipH="1">
            <a:off x="2659351" y="3532475"/>
            <a:ext cx="781800" cy="524100"/>
          </a:xfrm>
          <a:prstGeom prst="bentConnector3">
            <a:avLst>
              <a:gd name="adj1" fmla="val 3639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6" name="Google Shape;326;p43"/>
          <p:cNvSpPr txBox="1"/>
          <p:nvPr/>
        </p:nvSpPr>
        <p:spPr>
          <a:xfrm>
            <a:off x="6479275" y="2926354"/>
            <a:ext cx="1952400" cy="12045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Правила влияния параметров на стоимость квартиры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27" name="Google Shape;327;p43"/>
          <p:cNvCxnSpPr>
            <a:stCxn id="323" idx="3"/>
            <a:endCxn id="326" idx="1"/>
          </p:cNvCxnSpPr>
          <p:nvPr/>
        </p:nvCxnSpPr>
        <p:spPr>
          <a:xfrm rot="10800000" flipH="1">
            <a:off x="5910100" y="3528575"/>
            <a:ext cx="569100" cy="39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3" name="Google Shape;323;p43"/>
          <p:cNvSpPr/>
          <p:nvPr/>
        </p:nvSpPr>
        <p:spPr>
          <a:xfrm>
            <a:off x="3228400" y="3070475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Машинное обучение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28" name="Google Shape;328;p43"/>
          <p:cNvCxnSpPr>
            <a:stCxn id="329" idx="3"/>
            <a:endCxn id="330" idx="1"/>
          </p:cNvCxnSpPr>
          <p:nvPr/>
        </p:nvCxnSpPr>
        <p:spPr>
          <a:xfrm>
            <a:off x="2664738" y="1086950"/>
            <a:ext cx="781800" cy="4326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1" name="Google Shape;331;p43"/>
          <p:cNvCxnSpPr>
            <a:stCxn id="332" idx="3"/>
            <a:endCxn id="330" idx="1"/>
          </p:cNvCxnSpPr>
          <p:nvPr/>
        </p:nvCxnSpPr>
        <p:spPr>
          <a:xfrm rot="10800000" flipH="1">
            <a:off x="2664738" y="1519625"/>
            <a:ext cx="781800" cy="524100"/>
          </a:xfrm>
          <a:prstGeom prst="bentConnector3">
            <a:avLst>
              <a:gd name="adj1" fmla="val 364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9" name="Google Shape;329;p43"/>
          <p:cNvSpPr txBox="1"/>
          <p:nvPr/>
        </p:nvSpPr>
        <p:spPr>
          <a:xfrm>
            <a:off x="712338" y="817100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????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2" name="Google Shape;332;p43"/>
          <p:cNvSpPr txBox="1"/>
          <p:nvPr/>
        </p:nvSpPr>
        <p:spPr>
          <a:xfrm>
            <a:off x="712338" y="1773875"/>
            <a:ext cx="1952400" cy="539700"/>
          </a:xfrm>
          <a:prstGeom prst="rect">
            <a:avLst/>
          </a:prstGeom>
          <a:solidFill>
            <a:srgbClr val="E4F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Параметры квартиры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6484788" y="1246050"/>
            <a:ext cx="1952400" cy="547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?&amp;#@</a:t>
            </a:r>
            <a:endParaRPr sz="16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4" name="Google Shape;334;p43"/>
          <p:cNvCxnSpPr>
            <a:stCxn id="330" idx="3"/>
            <a:endCxn id="333" idx="1"/>
          </p:cNvCxnSpPr>
          <p:nvPr/>
        </p:nvCxnSpPr>
        <p:spPr>
          <a:xfrm>
            <a:off x="5915625" y="1519650"/>
            <a:ext cx="569100" cy="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30" name="Google Shape;330;p43"/>
          <p:cNvSpPr/>
          <p:nvPr/>
        </p:nvSpPr>
        <p:spPr>
          <a:xfrm>
            <a:off x="3233925" y="1057650"/>
            <a:ext cx="2681700" cy="924000"/>
          </a:xfrm>
          <a:prstGeom prst="chevron">
            <a:avLst>
              <a:gd name="adj" fmla="val 23025"/>
            </a:avLst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Montserrat SemiBold"/>
                <a:ea typeface="Montserrat SemiBold"/>
                <a:cs typeface="Montserrat SemiBold"/>
                <a:sym typeface="Montserrat SemiBold"/>
              </a:rPr>
              <a:t>Традиционное программирование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5" name="Google Shape;335;p43"/>
          <p:cNvSpPr txBox="1"/>
          <p:nvPr/>
        </p:nvSpPr>
        <p:spPr>
          <a:xfrm>
            <a:off x="820863" y="2926350"/>
            <a:ext cx="1952400" cy="539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стоимость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820863" y="3883125"/>
            <a:ext cx="1952400" cy="539700"/>
          </a:xfrm>
          <a:prstGeom prst="rect">
            <a:avLst/>
          </a:prstGeom>
          <a:solidFill>
            <a:srgbClr val="E4F9FD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Параметры квартиры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>
            <a:spLocks noGrp="1"/>
          </p:cNvSpPr>
          <p:nvPr>
            <p:ph type="subTitle" idx="1"/>
          </p:nvPr>
        </p:nvSpPr>
        <p:spPr>
          <a:xfrm>
            <a:off x="701701" y="4180977"/>
            <a:ext cx="38703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Подоблась машинного обучения, основанная на нейронных сетях</a:t>
            </a:r>
            <a:endParaRPr sz="1600"/>
          </a:p>
        </p:txBody>
      </p:sp>
      <p:sp>
        <p:nvSpPr>
          <p:cNvPr id="342" name="Google Shape;342;p44"/>
          <p:cNvSpPr txBox="1">
            <a:spLocks noGrp="1"/>
          </p:cNvSpPr>
          <p:nvPr>
            <p:ph type="subTitle" idx="2"/>
          </p:nvPr>
        </p:nvSpPr>
        <p:spPr>
          <a:xfrm>
            <a:off x="701700" y="3807059"/>
            <a:ext cx="29109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Deep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Глубокое обучение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3"/>
          </p:nvPr>
        </p:nvSpPr>
        <p:spPr>
          <a:xfrm>
            <a:off x="701700" y="2367700"/>
            <a:ext cx="3870300" cy="14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Система, принимающая решения на основе накопленного опыта и состояния мира</a:t>
            </a:r>
            <a:endParaRPr sz="1600"/>
          </a:p>
        </p:txBody>
      </p:sp>
      <p:sp>
        <p:nvSpPr>
          <p:cNvPr id="344" name="Google Shape;344;p44"/>
          <p:cNvSpPr txBox="1">
            <a:spLocks noGrp="1"/>
          </p:cNvSpPr>
          <p:nvPr>
            <p:ph type="subTitle" idx="4"/>
          </p:nvPr>
        </p:nvSpPr>
        <p:spPr>
          <a:xfrm>
            <a:off x="728550" y="1973187"/>
            <a:ext cx="30852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Machine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Машинное обучение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5"/>
          </p:nvPr>
        </p:nvSpPr>
        <p:spPr>
          <a:xfrm>
            <a:off x="701700" y="917425"/>
            <a:ext cx="48426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Система, способная принимать решения на основе состояния мира</a:t>
            </a:r>
            <a:endParaRPr sz="1600"/>
          </a:p>
        </p:txBody>
      </p:sp>
      <p:sp>
        <p:nvSpPr>
          <p:cNvPr id="346" name="Google Shape;346;p44"/>
          <p:cNvSpPr txBox="1">
            <a:spLocks noGrp="1"/>
          </p:cNvSpPr>
          <p:nvPr>
            <p:ph type="subTitle" idx="6"/>
          </p:nvPr>
        </p:nvSpPr>
        <p:spPr>
          <a:xfrm>
            <a:off x="701700" y="477175"/>
            <a:ext cx="3138900" cy="5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Artificial Intelligence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Искусственный интеллект</a:t>
            </a:r>
            <a:endParaRPr/>
          </a:p>
        </p:txBody>
      </p:sp>
      <p:sp>
        <p:nvSpPr>
          <p:cNvPr id="347" name="Google Shape;347;p44"/>
          <p:cNvSpPr/>
          <p:nvPr/>
        </p:nvSpPr>
        <p:spPr>
          <a:xfrm>
            <a:off x="5257125" y="1292300"/>
            <a:ext cx="3564600" cy="3174900"/>
          </a:xfrm>
          <a:prstGeom prst="ellipse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AI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p44"/>
          <p:cNvSpPr/>
          <p:nvPr/>
        </p:nvSpPr>
        <p:spPr>
          <a:xfrm>
            <a:off x="5423950" y="1959850"/>
            <a:ext cx="2910900" cy="2251800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44"/>
          <p:cNvSpPr/>
          <p:nvPr/>
        </p:nvSpPr>
        <p:spPr>
          <a:xfrm>
            <a:off x="5630900" y="2425450"/>
            <a:ext cx="1983600" cy="1556700"/>
          </a:xfrm>
          <a:prstGeom prst="ellipse">
            <a:avLst/>
          </a:prstGeom>
          <a:solidFill>
            <a:srgbClr val="E4F9F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6261600" y="3038550"/>
            <a:ext cx="288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DL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7193325" y="2209600"/>
            <a:ext cx="288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ML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6869450" y="1380650"/>
            <a:ext cx="288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AI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44"/>
          <p:cNvSpPr/>
          <p:nvPr/>
        </p:nvSpPr>
        <p:spPr>
          <a:xfrm>
            <a:off x="6734200" y="3381175"/>
            <a:ext cx="1983600" cy="15567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44"/>
          <p:cNvSpPr txBox="1"/>
          <p:nvPr/>
        </p:nvSpPr>
        <p:spPr>
          <a:xfrm>
            <a:off x="6959700" y="3928675"/>
            <a:ext cx="288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Data Science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нужен ML?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body" idx="1"/>
          </p:nvPr>
        </p:nvSpPr>
        <p:spPr>
          <a:xfrm>
            <a:off x="715100" y="1641400"/>
            <a:ext cx="3856800" cy="20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Руками решать задачу сложно и долго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Решение задачи руками требует много затрат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Нужно учесть множество факторов и условий</a:t>
            </a:r>
            <a:endParaRPr/>
          </a:p>
        </p:txBody>
      </p:sp>
      <p:pic>
        <p:nvPicPr>
          <p:cNvPr id="361" name="Google Shape;361;p45" title="i3m34CmR3Dj6ixmLwrulA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424" r="27419"/>
          <a:stretch/>
        </p:blipFill>
        <p:spPr>
          <a:xfrm>
            <a:off x="5714900" y="-75"/>
            <a:ext cx="3429002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можно ML?</a:t>
            </a:r>
            <a:endParaRPr/>
          </a:p>
        </p:txBody>
      </p:sp>
      <p:sp>
        <p:nvSpPr>
          <p:cNvPr id="367" name="Google Shape;367;p46"/>
          <p:cNvSpPr txBox="1">
            <a:spLocks noGrp="1"/>
          </p:cNvSpPr>
          <p:nvPr>
            <p:ph type="body" idx="1"/>
          </p:nvPr>
        </p:nvSpPr>
        <p:spPr>
          <a:xfrm>
            <a:off x="715100" y="1641400"/>
            <a:ext cx="3856800" cy="20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Есть данные</a:t>
            </a:r>
            <a:endParaRPr/>
          </a:p>
        </p:txBody>
      </p:sp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l="23328" r="15603"/>
          <a:stretch/>
        </p:blipFill>
        <p:spPr>
          <a:xfrm>
            <a:off x="5878809" y="0"/>
            <a:ext cx="32651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понятия</a:t>
            </a:r>
            <a:endParaRPr/>
          </a:p>
        </p:txBody>
      </p:sp>
      <p:sp>
        <p:nvSpPr>
          <p:cNvPr id="374" name="Google Shape;374;p47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/>
        </p:nvSpPr>
        <p:spPr>
          <a:xfrm>
            <a:off x="689650" y="881166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Больной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0" name="Google Shape;380;p48"/>
          <p:cNvSpPr txBox="1"/>
          <p:nvPr/>
        </p:nvSpPr>
        <p:spPr>
          <a:xfrm>
            <a:off x="689650" y="1687654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Документ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689650" y="2494142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Картинка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2" name="Google Shape;382;p48"/>
          <p:cNvSpPr txBox="1"/>
          <p:nvPr/>
        </p:nvSpPr>
        <p:spPr>
          <a:xfrm>
            <a:off x="689650" y="3300631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Квартира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3" name="Google Shape;383;p48"/>
          <p:cNvSpPr txBox="1"/>
          <p:nvPr/>
        </p:nvSpPr>
        <p:spPr>
          <a:xfrm>
            <a:off x="2847260" y="881166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Диагноз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2847260" y="1687654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200">
                <a:latin typeface="Montserrat SemiBold"/>
                <a:ea typeface="Montserrat SemiBold"/>
                <a:cs typeface="Montserrat SemiBold"/>
                <a:sym typeface="Montserrat SemiBold"/>
              </a:rPr>
              <a:t>Оценка релевантности</a:t>
            </a:r>
            <a:endParaRPr sz="12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5" name="Google Shape;385;p48"/>
          <p:cNvSpPr txBox="1"/>
          <p:nvPr/>
        </p:nvSpPr>
        <p:spPr>
          <a:xfrm>
            <a:off x="2847260" y="2494142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6" name="Google Shape;386;p48"/>
          <p:cNvSpPr txBox="1"/>
          <p:nvPr/>
        </p:nvSpPr>
        <p:spPr>
          <a:xfrm>
            <a:off x="2847260" y="3300631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7" name="Google Shape;387;p48"/>
          <p:cNvSpPr txBox="1"/>
          <p:nvPr/>
        </p:nvSpPr>
        <p:spPr>
          <a:xfrm>
            <a:off x="4926225" y="722225"/>
            <a:ext cx="3998700" cy="4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диагностировать болезнь по симптомам;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сравнить, какой из двух документов в интернете лучше подходит под данный поисковый запрос;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сказать, что изображено на картинке;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оценить, по какой цене удастся продать квартиру.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перевести текст с одного языка на другой;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689650" y="4107141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Текст на русском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9" name="Google Shape;389;p48"/>
          <p:cNvSpPr txBox="1"/>
          <p:nvPr/>
        </p:nvSpPr>
        <p:spPr>
          <a:xfrm>
            <a:off x="2847260" y="4107141"/>
            <a:ext cx="15942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90" name="Google Shape;390;p48"/>
          <p:cNvCxnSpPr>
            <a:stCxn id="379" idx="3"/>
            <a:endCxn id="383" idx="1"/>
          </p:cNvCxnSpPr>
          <p:nvPr/>
        </p:nvCxnSpPr>
        <p:spPr>
          <a:xfrm>
            <a:off x="2283850" y="1114266"/>
            <a:ext cx="563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1" name="Google Shape;391;p48"/>
          <p:cNvCxnSpPr>
            <a:stCxn id="380" idx="3"/>
            <a:endCxn id="384" idx="1"/>
          </p:cNvCxnSpPr>
          <p:nvPr/>
        </p:nvCxnSpPr>
        <p:spPr>
          <a:xfrm>
            <a:off x="2283850" y="1920754"/>
            <a:ext cx="563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2" name="Google Shape;392;p48"/>
          <p:cNvCxnSpPr>
            <a:stCxn id="381" idx="3"/>
            <a:endCxn id="385" idx="1"/>
          </p:cNvCxnSpPr>
          <p:nvPr/>
        </p:nvCxnSpPr>
        <p:spPr>
          <a:xfrm>
            <a:off x="2283850" y="2727242"/>
            <a:ext cx="563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3" name="Google Shape;393;p48"/>
          <p:cNvCxnSpPr>
            <a:stCxn id="382" idx="3"/>
            <a:endCxn id="386" idx="1"/>
          </p:cNvCxnSpPr>
          <p:nvPr/>
        </p:nvCxnSpPr>
        <p:spPr>
          <a:xfrm>
            <a:off x="2283850" y="3533731"/>
            <a:ext cx="563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4" name="Google Shape;394;p48"/>
          <p:cNvCxnSpPr>
            <a:stCxn id="388" idx="3"/>
            <a:endCxn id="389" idx="1"/>
          </p:cNvCxnSpPr>
          <p:nvPr/>
        </p:nvCxnSpPr>
        <p:spPr>
          <a:xfrm>
            <a:off x="2283850" y="4340241"/>
            <a:ext cx="563400" cy="6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95" name="Google Shape;395;p48"/>
          <p:cNvSpPr txBox="1"/>
          <p:nvPr/>
        </p:nvSpPr>
        <p:spPr>
          <a:xfrm>
            <a:off x="2342050" y="829975"/>
            <a:ext cx="4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f(x)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2342050" y="1552075"/>
            <a:ext cx="4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f(x)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48"/>
          <p:cNvSpPr txBox="1"/>
          <p:nvPr/>
        </p:nvSpPr>
        <p:spPr>
          <a:xfrm>
            <a:off x="2342050" y="2358550"/>
            <a:ext cx="4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f(x)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8" name="Google Shape;398;p48"/>
          <p:cNvSpPr txBox="1"/>
          <p:nvPr/>
        </p:nvSpPr>
        <p:spPr>
          <a:xfrm>
            <a:off x="2342050" y="3165025"/>
            <a:ext cx="4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f(x)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2342050" y="4033275"/>
            <a:ext cx="44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f(x)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0" name="Google Shape;400;p48"/>
          <p:cNvSpPr txBox="1"/>
          <p:nvPr/>
        </p:nvSpPr>
        <p:spPr>
          <a:xfrm>
            <a:off x="689675" y="398875"/>
            <a:ext cx="159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latin typeface="Montserrat"/>
                <a:ea typeface="Montserrat"/>
                <a:cs typeface="Montserrat"/>
                <a:sym typeface="Montserrat"/>
              </a:rPr>
              <a:t>Samples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48"/>
          <p:cNvSpPr txBox="1"/>
          <p:nvPr/>
        </p:nvSpPr>
        <p:spPr>
          <a:xfrm>
            <a:off x="2807938" y="398875"/>
            <a:ext cx="159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latin typeface="Montserrat"/>
                <a:ea typeface="Montserrat"/>
                <a:cs typeface="Montserrat"/>
                <a:sym typeface="Montserrat"/>
              </a:rPr>
              <a:t>Targets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/>
        </p:nvSpPr>
        <p:spPr>
          <a:xfrm>
            <a:off x="829600" y="2375588"/>
            <a:ext cx="31749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Я люблю программировать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7" name="Google Shape;407;p49"/>
          <p:cNvSpPr txBox="1"/>
          <p:nvPr/>
        </p:nvSpPr>
        <p:spPr>
          <a:xfrm>
            <a:off x="4567863" y="2375588"/>
            <a:ext cx="35130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I love to program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08" name="Google Shape;408;p49"/>
          <p:cNvCxnSpPr>
            <a:stCxn id="406" idx="3"/>
            <a:endCxn id="407" idx="1"/>
          </p:cNvCxnSpPr>
          <p:nvPr/>
        </p:nvCxnSpPr>
        <p:spPr>
          <a:xfrm>
            <a:off x="4004500" y="2608688"/>
            <a:ext cx="5634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09" name="Google Shape;409;p49"/>
          <p:cNvSpPr txBox="1"/>
          <p:nvPr/>
        </p:nvSpPr>
        <p:spPr>
          <a:xfrm>
            <a:off x="4567863" y="1467963"/>
            <a:ext cx="35130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I love programming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0" name="Google Shape;410;p49"/>
          <p:cNvSpPr txBox="1"/>
          <p:nvPr/>
        </p:nvSpPr>
        <p:spPr>
          <a:xfrm>
            <a:off x="4567863" y="3372938"/>
            <a:ext cx="3513000" cy="466200"/>
          </a:xfrm>
          <a:prstGeom prst="rect">
            <a:avLst/>
          </a:prstGeom>
          <a:solidFill>
            <a:srgbClr val="CBD0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600">
                <a:latin typeface="Montserrat SemiBold"/>
                <a:ea typeface="Montserrat SemiBold"/>
                <a:cs typeface="Montserrat SemiBold"/>
                <a:sym typeface="Montserrat SemiBold"/>
              </a:rPr>
              <a:t>I adore coding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11" name="Google Shape;411;p49"/>
          <p:cNvCxnSpPr>
            <a:stCxn id="406" idx="3"/>
            <a:endCxn id="409" idx="1"/>
          </p:cNvCxnSpPr>
          <p:nvPr/>
        </p:nvCxnSpPr>
        <p:spPr>
          <a:xfrm rot="10800000" flipH="1">
            <a:off x="4004500" y="1701188"/>
            <a:ext cx="563400" cy="9075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12" name="Google Shape;412;p49"/>
          <p:cNvCxnSpPr>
            <a:stCxn id="406" idx="3"/>
            <a:endCxn id="410" idx="1"/>
          </p:cNvCxnSpPr>
          <p:nvPr/>
        </p:nvCxnSpPr>
        <p:spPr>
          <a:xfrm>
            <a:off x="4004500" y="2608688"/>
            <a:ext cx="563400" cy="9975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375" y="804875"/>
            <a:ext cx="1933308" cy="213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762" y="804875"/>
            <a:ext cx="2492857" cy="213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4700" y="804875"/>
            <a:ext cx="2135574" cy="213557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0"/>
          <p:cNvSpPr txBox="1"/>
          <p:nvPr/>
        </p:nvSpPr>
        <p:spPr>
          <a:xfrm>
            <a:off x="1681800" y="2940450"/>
            <a:ext cx="746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cat 					    cat					    dog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>
            <a:spLocks noGrp="1"/>
          </p:cNvSpPr>
          <p:nvPr>
            <p:ph type="title"/>
          </p:nvPr>
        </p:nvSpPr>
        <p:spPr>
          <a:xfrm>
            <a:off x="717600" y="4163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Термины</a:t>
            </a:r>
            <a:endParaRPr/>
          </a:p>
        </p:txBody>
      </p:sp>
      <p:sp>
        <p:nvSpPr>
          <p:cNvPr id="426" name="Google Shape;426;p51"/>
          <p:cNvSpPr txBox="1">
            <a:spLocks noGrp="1"/>
          </p:cNvSpPr>
          <p:nvPr>
            <p:ph type="subTitle" idx="1"/>
          </p:nvPr>
        </p:nvSpPr>
        <p:spPr>
          <a:xfrm>
            <a:off x="717600" y="1384550"/>
            <a:ext cx="78933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AutoNum type="arabicPeriod"/>
            </a:pPr>
            <a:r>
              <a:rPr lang="ru" sz="1800"/>
              <a:t>Истинная зависимость - </a:t>
            </a:r>
            <a:r>
              <a:rPr lang="ru" sz="1800" i="1">
                <a:solidFill>
                  <a:srgbClr val="0F1115"/>
                </a:solidFill>
              </a:rPr>
              <a:t>функция, которая отображает объекты в ответы</a:t>
            </a:r>
            <a:endParaRPr sz="1800">
              <a:solidFill>
                <a:srgbClr val="0F1115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AutoNum type="arabicPeriod"/>
            </a:pPr>
            <a:r>
              <a:rPr lang="ru" sz="1800">
                <a:solidFill>
                  <a:srgbClr val="0F1115"/>
                </a:solidFill>
              </a:rPr>
              <a:t>Модель </a:t>
            </a:r>
            <a:r>
              <a:rPr lang="ru" sz="1800" i="1">
                <a:solidFill>
                  <a:srgbClr val="0F1115"/>
                </a:solidFill>
              </a:rPr>
              <a:t>- функция, которая отображает объекты в предсказания.</a:t>
            </a:r>
            <a:endParaRPr sz="1800" i="1">
              <a:solidFill>
                <a:srgbClr val="0F1115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AutoNum type="arabicPeriod"/>
            </a:pPr>
            <a:r>
              <a:rPr lang="ru" sz="1800">
                <a:solidFill>
                  <a:srgbClr val="0F1115"/>
                </a:solidFill>
              </a:rPr>
              <a:t>Обучающая выборка (Датасет)</a:t>
            </a:r>
            <a:endParaRPr sz="1800">
              <a:solidFill>
                <a:srgbClr val="0F1115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Char char="○"/>
            </a:pPr>
            <a:r>
              <a:rPr lang="ru" sz="1800" i="1">
                <a:solidFill>
                  <a:srgbClr val="0F1115"/>
                </a:solidFill>
              </a:rPr>
              <a:t>Набор примеров для обучения модели.</a:t>
            </a:r>
            <a:endParaRPr sz="1800" i="1">
              <a:solidFill>
                <a:srgbClr val="0F1115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Char char="○"/>
            </a:pPr>
            <a:r>
              <a:rPr lang="ru" sz="1800">
                <a:solidFill>
                  <a:srgbClr val="0F1115"/>
                </a:solidFill>
              </a:rPr>
              <a:t>Состоит из двух частей:</a:t>
            </a:r>
            <a:br>
              <a:rPr lang="ru" sz="1800">
                <a:solidFill>
                  <a:srgbClr val="0F1115"/>
                </a:solidFill>
              </a:rPr>
            </a:br>
            <a:r>
              <a:rPr lang="ru" sz="1800">
                <a:solidFill>
                  <a:srgbClr val="0F1115"/>
                </a:solidFill>
              </a:rPr>
              <a:t>а) Объекты</a:t>
            </a:r>
            <a:endParaRPr sz="1800">
              <a:solidFill>
                <a:srgbClr val="0F1115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Char char="■"/>
            </a:pPr>
            <a:r>
              <a:rPr lang="ru" sz="1800">
                <a:solidFill>
                  <a:srgbClr val="0F1115"/>
                </a:solidFill>
              </a:rPr>
              <a:t>Примеры: картинки, истории больных, активность пользователей.</a:t>
            </a:r>
            <a:endParaRPr sz="1800">
              <a:solidFill>
                <a:srgbClr val="0F1115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Char char="○"/>
            </a:pPr>
            <a:r>
              <a:rPr lang="ru" sz="1800">
                <a:solidFill>
                  <a:srgbClr val="0F1115"/>
                </a:solidFill>
              </a:rPr>
              <a:t>б) Ответы</a:t>
            </a:r>
            <a:endParaRPr sz="1800">
              <a:solidFill>
                <a:srgbClr val="0F1115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Nunito"/>
              <a:buChar char="■"/>
            </a:pPr>
            <a:r>
              <a:rPr lang="ru" sz="1800">
                <a:solidFill>
                  <a:srgbClr val="0F1115"/>
                </a:solidFill>
              </a:rPr>
              <a:t>Примеры: подписи к картинкам, диагнозы и тд.</a:t>
            </a:r>
            <a:endParaRPr sz="1800">
              <a:solidFill>
                <a:srgbClr val="0F111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машинного обучения</a:t>
            </a:r>
            <a:endParaRPr/>
          </a:p>
        </p:txBody>
      </p:sp>
      <p:sp>
        <p:nvSpPr>
          <p:cNvPr id="432" name="Google Shape;432;p5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375" y="152400"/>
            <a:ext cx="67576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>
            <a:spLocks noGrp="1"/>
          </p:cNvSpPr>
          <p:nvPr>
            <p:ph type="title"/>
          </p:nvPr>
        </p:nvSpPr>
        <p:spPr>
          <a:xfrm>
            <a:off x="715100" y="277825"/>
            <a:ext cx="46584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с учителем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supervised learning</a:t>
            </a:r>
            <a:endParaRPr/>
          </a:p>
        </p:txBody>
      </p:sp>
      <p:sp>
        <p:nvSpPr>
          <p:cNvPr id="443" name="Google Shape;443;p54"/>
          <p:cNvSpPr txBox="1">
            <a:spLocks noGrp="1"/>
          </p:cNvSpPr>
          <p:nvPr>
            <p:ph type="body" idx="1"/>
          </p:nvPr>
        </p:nvSpPr>
        <p:spPr>
          <a:xfrm>
            <a:off x="715100" y="1046600"/>
            <a:ext cx="5719800" cy="2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Правильные ответы для каждого объекта обучающей выборки заранее известны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 - множество объектов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y - множество ответов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 -&gt; y - истинная зависимость.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Обучающий датасет - множество наборов из фичей и значений целевой переменной. Мы обозначим его X</a:t>
            </a:r>
            <a:r>
              <a:rPr lang="ru" sz="1500"/>
              <a:t>train ⊂</a:t>
            </a:r>
            <a:r>
              <a:rPr lang="ru"/>
              <a:t> Х.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54" title="image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67" r="16667"/>
          <a:stretch/>
        </p:blipFill>
        <p:spPr>
          <a:xfrm>
            <a:off x="5715175" y="75"/>
            <a:ext cx="3429000" cy="5143500"/>
          </a:xfrm>
          <a:prstGeom prst="rect">
            <a:avLst/>
          </a:prstGeom>
        </p:spPr>
      </p:pic>
      <p:pic>
        <p:nvPicPr>
          <p:cNvPr id="445" name="Google Shape;44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850" y="3959853"/>
            <a:ext cx="6296300" cy="10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Регрессия</a:t>
            </a:r>
            <a:endParaRPr/>
          </a:p>
        </p:txBody>
      </p:sp>
      <p:sp>
        <p:nvSpPr>
          <p:cNvPr id="451" name="Google Shape;451;p55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𝕐=ℝ или</a:t>
            </a:r>
            <a:endParaRPr/>
          </a:p>
        </p:txBody>
      </p:sp>
      <p:sp>
        <p:nvSpPr>
          <p:cNvPr id="452" name="Google Shape;452;p55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предсказание продолжительности поездки на каршеринге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спрос на конкретный товар в конкретный день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погода в вашем городе на завтра</a:t>
            </a:r>
            <a:endParaRPr/>
          </a:p>
        </p:txBody>
      </p:sp>
      <p:sp>
        <p:nvSpPr>
          <p:cNvPr id="453" name="Google Shape;453;p55"/>
          <p:cNvSpPr txBox="1">
            <a:spLocks noGrp="1"/>
          </p:cNvSpPr>
          <p:nvPr>
            <p:ph type="title" idx="2"/>
          </p:nvPr>
        </p:nvSpPr>
        <p:spPr>
          <a:xfrm>
            <a:off x="4144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𝕐=ℝ</a:t>
            </a:r>
            <a:endParaRPr/>
          </a:p>
        </p:txBody>
      </p:sp>
      <p:sp>
        <p:nvSpPr>
          <p:cNvPr id="454" name="Google Shape;454;p55"/>
          <p:cNvSpPr txBox="1">
            <a:spLocks noGrp="1"/>
          </p:cNvSpPr>
          <p:nvPr>
            <p:ph type="title" idx="2"/>
          </p:nvPr>
        </p:nvSpPr>
        <p:spPr>
          <a:xfrm>
            <a:off x="5702899" y="2184800"/>
            <a:ext cx="836100" cy="7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i="1"/>
              <a:t>K</a:t>
            </a:r>
            <a:endParaRPr sz="3000" i="1"/>
          </a:p>
        </p:txBody>
      </p:sp>
      <p:pic>
        <p:nvPicPr>
          <p:cNvPr id="455" name="Google Shape;45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1000" y="3009300"/>
            <a:ext cx="2606948" cy="17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 txBox="1">
            <a:spLocks noGrp="1"/>
          </p:cNvSpPr>
          <p:nvPr>
            <p:ph type="title"/>
          </p:nvPr>
        </p:nvSpPr>
        <p:spPr>
          <a:xfrm>
            <a:off x="715100" y="3190800"/>
            <a:ext cx="7708800" cy="13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Бинарная классификация</a:t>
            </a:r>
            <a:endParaRPr/>
          </a:p>
        </p:txBody>
      </p:sp>
      <p:sp>
        <p:nvSpPr>
          <p:cNvPr id="461" name="Google Shape;461;p56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𝕐=0, 1</a:t>
            </a:r>
            <a:endParaRPr/>
          </a:p>
        </p:txBody>
      </p:sp>
      <p:sp>
        <p:nvSpPr>
          <p:cNvPr id="462" name="Google Shape;462;p56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кликнет ли пользователь по рекламному объявлению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вернёт ли клиент кредит в установленный срок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сдаст ли студент сессию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 txBox="1">
            <a:spLocks noGrp="1"/>
          </p:cNvSpPr>
          <p:nvPr>
            <p:ph type="title"/>
          </p:nvPr>
        </p:nvSpPr>
        <p:spPr>
          <a:xfrm>
            <a:off x="715100" y="3190800"/>
            <a:ext cx="7708800" cy="13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Многоклассовая классификация</a:t>
            </a:r>
            <a:endParaRPr/>
          </a:p>
        </p:txBody>
      </p:sp>
      <p:sp>
        <p:nvSpPr>
          <p:cNvPr id="468" name="Google Shape;468;p57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𝕐=1,…,K</a:t>
            </a:r>
            <a:endParaRPr/>
          </a:p>
        </p:txBody>
      </p:sp>
      <p:sp>
        <p:nvSpPr>
          <p:cNvPr id="469" name="Google Shape;469;p57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определение предметной области для научной статьи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8"/>
          <p:cNvSpPr txBox="1">
            <a:spLocks noGrp="1"/>
          </p:cNvSpPr>
          <p:nvPr>
            <p:ph type="title"/>
          </p:nvPr>
        </p:nvSpPr>
        <p:spPr>
          <a:xfrm>
            <a:off x="715100" y="3190800"/>
            <a:ext cx="7708800" cy="13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multilabel classification</a:t>
            </a:r>
            <a:endParaRPr/>
          </a:p>
        </p:txBody>
      </p:sp>
      <p:sp>
        <p:nvSpPr>
          <p:cNvPr id="475" name="Google Shape;475;p58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𝕐=0,1</a:t>
            </a:r>
            <a:endParaRPr/>
          </a:p>
        </p:txBody>
      </p:sp>
      <p:sp>
        <p:nvSpPr>
          <p:cNvPr id="476" name="Google Shape;476;p58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определение предметной области для научной статьи</a:t>
            </a:r>
            <a:endParaRPr/>
          </a:p>
        </p:txBody>
      </p:sp>
      <p:sp>
        <p:nvSpPr>
          <p:cNvPr id="477" name="Google Shape;477;p58"/>
          <p:cNvSpPr txBox="1">
            <a:spLocks noGrp="1"/>
          </p:cNvSpPr>
          <p:nvPr>
            <p:ph type="title" idx="2"/>
          </p:nvPr>
        </p:nvSpPr>
        <p:spPr>
          <a:xfrm>
            <a:off x="2775825" y="2184800"/>
            <a:ext cx="836100" cy="7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i="1"/>
              <a:t>K</a:t>
            </a:r>
            <a:endParaRPr sz="3000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title"/>
          </p:nvPr>
        </p:nvSpPr>
        <p:spPr>
          <a:xfrm>
            <a:off x="715100" y="3190800"/>
            <a:ext cx="7708800" cy="13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Ранжирование</a:t>
            </a:r>
            <a:endParaRPr/>
          </a:p>
        </p:txBody>
      </p:sp>
      <p:sp>
        <p:nvSpPr>
          <p:cNvPr id="483" name="Google Shape;483;p5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𝕐 - конечное упорядоченное множество</a:t>
            </a:r>
            <a:endParaRPr sz="3900"/>
          </a:p>
        </p:txBody>
      </p:sp>
      <p:sp>
        <p:nvSpPr>
          <p:cNvPr id="484" name="Google Shape;484;p59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ранжирования поисковой выдачи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6584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без учителя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unsupervised learning</a:t>
            </a:r>
            <a:endParaRPr/>
          </a:p>
        </p:txBody>
      </p:sp>
      <p:sp>
        <p:nvSpPr>
          <p:cNvPr id="490" name="Google Shape;490;p60"/>
          <p:cNvSpPr txBox="1">
            <a:spLocks noGrp="1"/>
          </p:cNvSpPr>
          <p:nvPr>
            <p:ph type="body" idx="1"/>
          </p:nvPr>
        </p:nvSpPr>
        <p:spPr>
          <a:xfrm>
            <a:off x="715100" y="1303775"/>
            <a:ext cx="5000100" cy="2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Правильные ответы для каждого объекта обучающей выборки заранее НЕ известны</a:t>
            </a:r>
            <a:endParaRPr/>
          </a:p>
        </p:txBody>
      </p:sp>
      <p:pic>
        <p:nvPicPr>
          <p:cNvPr id="491" name="Google Shape;491;p60" title="image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67" r="16667"/>
          <a:stretch/>
        </p:blipFill>
        <p:spPr>
          <a:xfrm>
            <a:off x="5715175" y="75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 txBox="1">
            <a:spLocks noGrp="1"/>
          </p:cNvSpPr>
          <p:nvPr>
            <p:ph type="title"/>
          </p:nvPr>
        </p:nvSpPr>
        <p:spPr>
          <a:xfrm>
            <a:off x="717600" y="3447975"/>
            <a:ext cx="7708800" cy="13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300"/>
              <a:t>Кластеризация </a:t>
            </a:r>
            <a:endParaRPr sz="5300"/>
          </a:p>
        </p:txBody>
      </p:sp>
      <p:sp>
        <p:nvSpPr>
          <p:cNvPr id="497" name="Google Shape;497;p61"/>
          <p:cNvSpPr txBox="1">
            <a:spLocks noGrp="1"/>
          </p:cNvSpPr>
          <p:nvPr>
            <p:ph type="subTitle" idx="1"/>
          </p:nvPr>
        </p:nvSpPr>
        <p:spPr>
          <a:xfrm>
            <a:off x="3994625" y="535000"/>
            <a:ext cx="4434000" cy="15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кластеризация документов из электронной библиотеки по темам</a:t>
            </a:r>
            <a:endParaRPr/>
          </a:p>
        </p:txBody>
      </p:sp>
      <p:pic>
        <p:nvPicPr>
          <p:cNvPr id="498" name="Google Shape;49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425" y="1235300"/>
            <a:ext cx="6594676" cy="242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6584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с подкреплением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Reinforcement learning</a:t>
            </a:r>
            <a:endParaRPr/>
          </a:p>
        </p:txBody>
      </p:sp>
      <p:sp>
        <p:nvSpPr>
          <p:cNvPr id="504" name="Google Shape;504;p62"/>
          <p:cNvSpPr txBox="1">
            <a:spLocks noGrp="1"/>
          </p:cNvSpPr>
          <p:nvPr>
            <p:ph type="body" idx="1"/>
          </p:nvPr>
        </p:nvSpPr>
        <p:spPr>
          <a:xfrm>
            <a:off x="715100" y="1929700"/>
            <a:ext cx="50001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Алгоритм за каждое действие получает награду или наказание</a:t>
            </a:r>
            <a:endParaRPr/>
          </a:p>
        </p:txBody>
      </p:sp>
      <p:pic>
        <p:nvPicPr>
          <p:cNvPr id="505" name="Google Shape;505;p62" title="image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67" r="16667"/>
          <a:stretch/>
        </p:blipFill>
        <p:spPr>
          <a:xfrm>
            <a:off x="5715175" y="75"/>
            <a:ext cx="3429000" cy="5143500"/>
          </a:xfrm>
          <a:prstGeom prst="rect">
            <a:avLst/>
          </a:prstGeom>
        </p:spPr>
      </p:pic>
      <p:pic>
        <p:nvPicPr>
          <p:cNvPr id="506" name="Google Shape;50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623" y="2503214"/>
            <a:ext cx="5000100" cy="2426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>
            <a:spLocks noGrp="1"/>
          </p:cNvSpPr>
          <p:nvPr>
            <p:ph type="title"/>
          </p:nvPr>
        </p:nvSpPr>
        <p:spPr>
          <a:xfrm>
            <a:off x="720000" y="299400"/>
            <a:ext cx="59253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</a:t>
            </a:r>
            <a:endParaRPr/>
          </a:p>
        </p:txBody>
      </p:sp>
      <p:sp>
        <p:nvSpPr>
          <p:cNvPr id="517" name="Google Shape;517;p64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8" name="Google Shape;518;p64"/>
          <p:cNvPicPr preferRelativeResize="0"/>
          <p:nvPr/>
        </p:nvPicPr>
        <p:blipFill rotWithShape="1">
          <a:blip r:embed="rId3">
            <a:alphaModFix/>
          </a:blip>
          <a:srcRect t="14843"/>
          <a:stretch/>
        </p:blipFill>
        <p:spPr>
          <a:xfrm>
            <a:off x="1172050" y="1580350"/>
            <a:ext cx="6985124" cy="33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5"/>
          <p:cNvSpPr txBox="1">
            <a:spLocks noGrp="1"/>
          </p:cNvSpPr>
          <p:nvPr>
            <p:ph type="title"/>
          </p:nvPr>
        </p:nvSpPr>
        <p:spPr>
          <a:xfrm>
            <a:off x="720000" y="299400"/>
            <a:ext cx="59253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</a:t>
            </a:r>
            <a:endParaRPr/>
          </a:p>
        </p:txBody>
      </p:sp>
      <p:sp>
        <p:nvSpPr>
          <p:cNvPr id="524" name="Google Shape;524;p65"/>
          <p:cNvSpPr txBox="1">
            <a:spLocks noGrp="1"/>
          </p:cNvSpPr>
          <p:nvPr>
            <p:ph type="subTitle" idx="1"/>
          </p:nvPr>
        </p:nvSpPr>
        <p:spPr>
          <a:xfrm>
            <a:off x="720000" y="1300200"/>
            <a:ext cx="7708800" cy="33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 тип следующих задач. По возможности попробуйте отнести их к более узким видам задач.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Предсказание курса евро к доллару на следующий день.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Стилизация текста. Например, перевод на бюрократический язык: «Пиппина и Мерри похитили!» ↦ «Граждане Тук, Перегрин Паладинович, 2990 года рождения, и Брендибак, Мериадок Сарадокович, 2982 года рождения, были похищены неустановленными лицами».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6"/>
          <p:cNvSpPr txBox="1">
            <a:spLocks noGrp="1"/>
          </p:cNvSpPr>
          <p:nvPr>
            <p:ph type="title"/>
          </p:nvPr>
        </p:nvSpPr>
        <p:spPr>
          <a:xfrm>
            <a:off x="720000" y="299400"/>
            <a:ext cx="59253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</a:t>
            </a:r>
            <a:endParaRPr/>
          </a:p>
        </p:txBody>
      </p:sp>
      <p:sp>
        <p:nvSpPr>
          <p:cNvPr id="530" name="Google Shape;530;p66"/>
          <p:cNvSpPr txBox="1">
            <a:spLocks noGrp="1"/>
          </p:cNvSpPr>
          <p:nvPr>
            <p:ph type="subTitle" idx="1"/>
          </p:nvPr>
        </p:nvSpPr>
        <p:spPr>
          <a:xfrm>
            <a:off x="720000" y="1300200"/>
            <a:ext cx="7708800" cy="33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 тип следующих задач. По возможности попробуйте отнести их к более узким видам задач.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Детектирование котиков на изображении.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Обучение робокота запрыгивать на стол из произвольной позы.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Поиск наборов товаров, которые посетители супермаркета часто покупают вместе.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 txBox="1">
            <a:spLocks noGrp="1"/>
          </p:cNvSpPr>
          <p:nvPr>
            <p:ph type="title"/>
          </p:nvPr>
        </p:nvSpPr>
        <p:spPr>
          <a:xfrm>
            <a:off x="720000" y="299400"/>
            <a:ext cx="59253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</a:t>
            </a:r>
            <a:endParaRPr/>
          </a:p>
        </p:txBody>
      </p:sp>
      <p:sp>
        <p:nvSpPr>
          <p:cNvPr id="536" name="Google Shape;536;p67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из этого модель?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8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5667300" cy="26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KNN</a:t>
            </a:r>
            <a:endParaRPr/>
          </a:p>
        </p:txBody>
      </p:sp>
      <p:sp>
        <p:nvSpPr>
          <p:cNvPr id="542" name="Google Shape;542;p68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 большие проблемы ML на его примере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k-Nearest Neighbors</a:t>
            </a:r>
            <a:endParaRPr/>
          </a:p>
        </p:txBody>
      </p:sp>
      <p:sp>
        <p:nvSpPr>
          <p:cNvPr id="548" name="Google Shape;548;p69"/>
          <p:cNvSpPr txBox="1">
            <a:spLocks noGrp="1"/>
          </p:cNvSpPr>
          <p:nvPr>
            <p:ph type="subTitle" idx="1"/>
          </p:nvPr>
        </p:nvSpPr>
        <p:spPr>
          <a:xfrm>
            <a:off x="720000" y="1193200"/>
            <a:ext cx="3675600" cy="3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задачи классификации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Обучение: Просто запоминаем обучающую выборку.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Предсказание: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Получаем точку х, в которой надо сделать предсказание.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Ищем К ближайших соседей.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В качестве ответа возвращаем класс, которого больше всего среди соседей.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 - гиперпараметр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9" name="Google Shape;54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8000" y="1236100"/>
            <a:ext cx="4257675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70"/>
          <p:cNvPicPr preferRelativeResize="0"/>
          <p:nvPr/>
        </p:nvPicPr>
        <p:blipFill rotWithShape="1">
          <a:blip r:embed="rId3">
            <a:alphaModFix/>
          </a:blip>
          <a:srcRect l="23884" r="23680"/>
          <a:stretch/>
        </p:blipFill>
        <p:spPr>
          <a:xfrm>
            <a:off x="2117500" y="619752"/>
            <a:ext cx="4909000" cy="39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250" y="837413"/>
            <a:ext cx="4707500" cy="34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250" y="837413"/>
            <a:ext cx="4707500" cy="34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2"/>
          <p:cNvSpPr txBox="1"/>
          <p:nvPr/>
        </p:nvSpPr>
        <p:spPr>
          <a:xfrm>
            <a:off x="2022250" y="4112375"/>
            <a:ext cx="4903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Длина носа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6" name="Google Shape;566;p72"/>
          <p:cNvSpPr txBox="1"/>
          <p:nvPr/>
        </p:nvSpPr>
        <p:spPr>
          <a:xfrm rot="-5400000">
            <a:off x="-479800" y="2445450"/>
            <a:ext cx="4903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Количество усов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3"/>
          <p:cNvPicPr preferRelativeResize="0"/>
          <p:nvPr/>
        </p:nvPicPr>
        <p:blipFill rotWithShape="1">
          <a:blip r:embed="rId3">
            <a:alphaModFix/>
          </a:blip>
          <a:srcRect t="5905" b="20738"/>
          <a:stretch/>
        </p:blipFill>
        <p:spPr>
          <a:xfrm>
            <a:off x="733600" y="2315200"/>
            <a:ext cx="7375150" cy="22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73"/>
          <p:cNvSpPr txBox="1"/>
          <p:nvPr/>
        </p:nvSpPr>
        <p:spPr>
          <a:xfrm>
            <a:off x="715050" y="1196725"/>
            <a:ext cx="8189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KNN мы делаем очень слабое предположение: близкие точки будут иметь близкие ответы.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 большой размерности данных в близкую область попадет мало объектов.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3" name="Google Shape;573;p73"/>
          <p:cNvSpPr txBox="1">
            <a:spLocks noGrp="1"/>
          </p:cNvSpPr>
          <p:nvPr>
            <p:ph type="title" idx="4294967295"/>
          </p:nvPr>
        </p:nvSpPr>
        <p:spPr>
          <a:xfrm>
            <a:off x="715050" y="3089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Curse of Dimensionality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Проклятие размерности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Feature Scale</a:t>
            </a:r>
            <a:endParaRPr/>
          </a:p>
        </p:txBody>
      </p:sp>
      <p:sp>
        <p:nvSpPr>
          <p:cNvPr id="579" name="Google Shape;579;p74"/>
          <p:cNvSpPr txBox="1">
            <a:spLocks noGrp="1"/>
          </p:cNvSpPr>
          <p:nvPr>
            <p:ph type="body" idx="1"/>
          </p:nvPr>
        </p:nvSpPr>
        <p:spPr>
          <a:xfrm>
            <a:off x="715100" y="1316475"/>
            <a:ext cx="4665300" cy="22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Определяя расстояние между векторами возникает проблема масштаба признаков.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 определения класса дома по признакам: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Расстояние до метро в метрах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Количество комнат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Количество комнат почти не будет влиять на предсказание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0" name="Google Shape;5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500" y="567538"/>
            <a:ext cx="3458800" cy="400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6050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с учителем (supervised learning)</a:t>
            </a:r>
            <a:endParaRPr/>
          </a:p>
        </p:txBody>
      </p:sp>
      <p:sp>
        <p:nvSpPr>
          <p:cNvPr id="586" name="Google Shape;586;p75"/>
          <p:cNvSpPr txBox="1">
            <a:spLocks noGrp="1"/>
          </p:cNvSpPr>
          <p:nvPr>
            <p:ph type="body" idx="1"/>
          </p:nvPr>
        </p:nvSpPr>
        <p:spPr>
          <a:xfrm>
            <a:off x="715100" y="1260875"/>
            <a:ext cx="7438800" cy="3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Наша задача - найти функцию хорошо приближающую реальную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зависимость y(x).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Назовем такое решение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7" name="Google Shape;5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450" y="2126649"/>
            <a:ext cx="1075525" cy="34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Функция потерь</a:t>
            </a:r>
            <a:endParaRPr/>
          </a:p>
        </p:txBody>
      </p:sp>
      <p:sp>
        <p:nvSpPr>
          <p:cNvPr id="593" name="Google Shape;593;p76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Эмпирический риск</a:t>
            </a:r>
            <a:endParaRPr/>
          </a:p>
        </p:txBody>
      </p:sp>
      <p:sp>
        <p:nvSpPr>
          <p:cNvPr id="599" name="Google Shape;599;p77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77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78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173" y="781050"/>
            <a:ext cx="5885550" cy="28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818" y="2113054"/>
            <a:ext cx="5800583" cy="288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229" y="2704199"/>
            <a:ext cx="4538475" cy="275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79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79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  <p:pic>
        <p:nvPicPr>
          <p:cNvPr id="617" name="Google Shape;61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657225"/>
            <a:ext cx="788670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80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80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  <p:pic>
        <p:nvPicPr>
          <p:cNvPr id="625" name="Google Shape;6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988" y="514350"/>
            <a:ext cx="62960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81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81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  <p:pic>
        <p:nvPicPr>
          <p:cNvPr id="633" name="Google Shape;63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8049"/>
            <a:ext cx="9144002" cy="466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82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2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  <p:pic>
        <p:nvPicPr>
          <p:cNvPr id="641" name="Google Shape;64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588" y="476250"/>
            <a:ext cx="583882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83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47121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83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</p:spPr>
      </p:sp>
      <p:pic>
        <p:nvPicPr>
          <p:cNvPr id="649" name="Google Shape;64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628"/>
            <a:ext cx="9144000" cy="4808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8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Термины</a:t>
            </a:r>
            <a:endParaRPr/>
          </a:p>
        </p:txBody>
      </p:sp>
      <p:sp>
        <p:nvSpPr>
          <p:cNvPr id="655" name="Google Shape;655;p84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dataset / выборка - набор данных.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sample / example / instance / объект / наблюдение - один элемент (строка) из набора данных, содержащая значения признаков.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feature / фича / признак / атрибут - характеристика объекта. 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ru"/>
              <a:t>X / feature matrix / матрица признаков - вся таблица данных, где строки - объекты (instances), столбцы - признаки (features). Совокупность всех признаков для одного объекта называется вектором признаков (feature vector).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Термины</a:t>
            </a:r>
            <a:endParaRPr/>
          </a:p>
        </p:txBody>
      </p:sp>
      <p:sp>
        <p:nvSpPr>
          <p:cNvPr id="661" name="Google Shape;661;p85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label / target / y / целевая переменная / метка - то, что мы хотим предсказывать по признакам. Используется для обучения модели с учителем (supervised learning).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y - истинное, правильное значение целевой переменной для объекта.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ru"/>
              <a:t>true function / истинная зависимость / закон природы - гипотетическая идеальная функция f(X) -&gt; y, которую модель пытается приблизить.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Термины</a:t>
            </a:r>
            <a:endParaRPr/>
          </a:p>
        </p:txBody>
      </p:sp>
      <p:sp>
        <p:nvSpPr>
          <p:cNvPr id="667" name="Google Shape;667;p86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model / модель - алгоритм, который обучается находить взаимосвязь между X и y. Модель создается в результате применения алгоритма (algorithm), такого как Linear Regression или Decision Trees, к данным.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predict / предсказание / ŷ (y-hat) - выход модели, предсказанное значение для данного объекта.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training / обучение - процесс настройки параметров (parameters) модели (например, весов (weights) нейронной сети) на обучающих данных. Процесс часто включает использование оптимизаторов (optimizers), таких как Gradient Descent, для минимизации функции потерь (loss).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train dataset / обучающая выборка - данные, на которых происходит обучение модели.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test dataset / тестовая выборка / тестовый набор - данные, которые не участвовали в обучении, используются для финальной оценки способности модели к обобщению (generalisability).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overfitting / переобучение - ситуация, когда модель слишком сложная и подстроилась под шум (noise) в обучающих данных, потеряв способность к обобщению. При этом ошибка на обучении (training error) становится значительно меньше, чем ошибка на тесте (testing error). Метод борьбы с переобучением — регуляризация (regularization).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Термины</a:t>
            </a:r>
            <a:endParaRPr/>
          </a:p>
        </p:txBody>
      </p:sp>
      <p:sp>
        <p:nvSpPr>
          <p:cNvPr id="673" name="Google Shape;673;p87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train dataset / обучающая выборка - данные, на которых происходит обучение модели.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test dataset / тестовая выборка / тестовый набор - данные, которые не участвовали в обучении, используются для финальной оценки способности модели к обобщению (generalisability).</a:t>
            </a:r>
            <a:endParaRPr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"/>
              <a:t>overfitting / переобучение - ситуация, когда модель слишком сложная и подстроилась под шум (noise) в обучающих данных, потеряв способность к обобщению. При этом ошибка на обучении (training error) становится значительно меньше, чем ошибка на тесте (testing error). Метод борьбы с переобучением — регуляризация (regularization).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88"/>
          <p:cNvSpPr txBox="1">
            <a:spLocks noGrp="1"/>
          </p:cNvSpPr>
          <p:nvPr>
            <p:ph type="subTitle" idx="1"/>
          </p:nvPr>
        </p:nvSpPr>
        <p:spPr>
          <a:xfrm>
            <a:off x="720000" y="1661075"/>
            <a:ext cx="7708800" cy="29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Гиперпапарметр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Размерность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49692</TotalTime>
  <Words>3763</Words>
  <Application>Microsoft Office PowerPoint</Application>
  <PresentationFormat>Экран (16:9)</PresentationFormat>
  <Paragraphs>403</Paragraphs>
  <Slides>57</Slides>
  <Notes>57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57</vt:i4>
      </vt:variant>
    </vt:vector>
  </HeadingPairs>
  <TitlesOfParts>
    <vt:vector size="65" baseType="lpstr">
      <vt:lpstr>Montserrat Medium</vt:lpstr>
      <vt:lpstr>Montserrat</vt:lpstr>
      <vt:lpstr>Nunito SemiBold</vt:lpstr>
      <vt:lpstr>Arial</vt:lpstr>
      <vt:lpstr>Nunito</vt:lpstr>
      <vt:lpstr>Montserrat SemiBold</vt:lpstr>
      <vt:lpstr>Alexandria Medium</vt:lpstr>
      <vt:lpstr>Lead Funnel by Slidesgo</vt:lpstr>
      <vt:lpstr>Лекция 2</vt:lpstr>
      <vt:lpstr>Коротко о курсе</vt:lpstr>
      <vt:lpstr>Презентация PowerPoint</vt:lpstr>
      <vt:lpstr>Презентация PowerPoint</vt:lpstr>
      <vt:lpstr>Зачем вам этот курс?</vt:lpstr>
      <vt:lpstr>План лекции:</vt:lpstr>
      <vt:lpstr>Что такое Машинное обучение  </vt:lpstr>
      <vt:lpstr>Традиционное программирование</vt:lpstr>
      <vt:lpstr>Машинное обучение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Когда нужен ML?</vt:lpstr>
      <vt:lpstr>Когда можно ML?</vt:lpstr>
      <vt:lpstr>Основные понятия</vt:lpstr>
      <vt:lpstr>Презентация PowerPoint</vt:lpstr>
      <vt:lpstr>Презентация PowerPoint</vt:lpstr>
      <vt:lpstr>Презентация PowerPoint</vt:lpstr>
      <vt:lpstr>Термины</vt:lpstr>
      <vt:lpstr>Виды машинного обучения</vt:lpstr>
      <vt:lpstr>Презентация PowerPoint</vt:lpstr>
      <vt:lpstr>Обучение с учителем supervised learning</vt:lpstr>
      <vt:lpstr>Регрессия</vt:lpstr>
      <vt:lpstr>Бинарная классификация</vt:lpstr>
      <vt:lpstr>Многоклассовая классификация</vt:lpstr>
      <vt:lpstr>multilabel classification</vt:lpstr>
      <vt:lpstr>Ранжирование</vt:lpstr>
      <vt:lpstr>Обучение без учителя unsupervised learning</vt:lpstr>
      <vt:lpstr>Кластеризация </vt:lpstr>
      <vt:lpstr>Обучение с подкреплением Reinforcement learning</vt:lpstr>
      <vt:lpstr>Презентация PowerPoint</vt:lpstr>
      <vt:lpstr>Вопросы</vt:lpstr>
      <vt:lpstr>Вопросы</vt:lpstr>
      <vt:lpstr>Вопросы</vt:lpstr>
      <vt:lpstr>Вопросы</vt:lpstr>
      <vt:lpstr>KNN</vt:lpstr>
      <vt:lpstr>k-Nearest Neighbors</vt:lpstr>
      <vt:lpstr>Презентация PowerPoint</vt:lpstr>
      <vt:lpstr>Презентация PowerPoint</vt:lpstr>
      <vt:lpstr>Презентация PowerPoint</vt:lpstr>
      <vt:lpstr>Curse of Dimensionality Проклятие размерности</vt:lpstr>
      <vt:lpstr>Feature Scale</vt:lpstr>
      <vt:lpstr>Обучение с учителем (supervised learning)</vt:lpstr>
      <vt:lpstr>Функция потерь</vt:lpstr>
      <vt:lpstr>Эмпирический риск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Термины</vt:lpstr>
      <vt:lpstr>Термины</vt:lpstr>
      <vt:lpstr>Термины</vt:lpstr>
      <vt:lpstr>Термины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</dc:title>
  <cp:lastModifiedBy>Uliana Larionova</cp:lastModifiedBy>
  <cp:revision>2</cp:revision>
  <dcterms:modified xsi:type="dcterms:W3CDTF">2026-08-09T05:00:28Z</dcterms:modified>
</cp:coreProperties>
</file>