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IBM Plex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26">
          <p15:clr>
            <a:srgbClr val="A4A3A4"/>
          </p15:clr>
        </p15:guide>
        <p15:guide id="2" pos="665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hGaCl7pF56GiIeLoDRdQpaUJBq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6" orient="horz"/>
        <p:guide pos="6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-italic.fntdata"/><Relationship Id="rId30" Type="http://schemas.openxmlformats.org/officeDocument/2006/relationships/font" Target="fonts/IBMPlex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IBMPlex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Приветствую на 4 лекции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Сегодняшняя лекция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посвящена одному из самых мощных инструментов современного искусственного интеллекта — нейронным сетям. В последнее десятилетие они совершили революцию в таких областях, как компьютерное зрение, обработка естественного языка и генерация изображений.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2a215817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Нейронная сеть — это вычислительная система, вдохновленная принципами работы биологических нейронных структур. Когда их применяют?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02a215817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02a215817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Давайте рассмотрим конкретную задачу. Например, мы хотим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, чтобы компьютер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научился распознавать животных на фотографиях.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Для нас, людей, это просто: мы видим кота. Но для компьютера картинка — это просто огромный набор пикселей. Он не видит кота.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02a215817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144744beb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Раньше программистам приходилось делать тяжелую работу вручную. Они думали: «По каким признакам мне отличать кота от собаки?» Ну, например: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Расположение ушей.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Размер глах.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Окрас шерсти.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 основе таких ручных признаков можно обучить классификатор. Но здесь возникает сразу две проблемы: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Как вообще «объяснить» компьютеру, что такое «форма ушей» в цифрах?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А вдруг мы что-то упустили? Вдруг самый главный признак — это не усы, а форма зрачка?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d144744beb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2a215817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 тут в игру вступают нейронные сети, а именно их современное направление —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глубокое обучение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Нейронные сети не только решают поставленную задачу, но и в процессе ее решения самостоятельно извлекают из данных необходимые признаки.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То есть мы не говорим сети: «Смотри на усы». Мы просто показываем тысячи фотографий котов и собак. В процессе обучения сеть сама, шаг за шагом, учится замечать сначала края и линии, потом простые формы, а затем и сложные образы, которые и отличают кота от собаки.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d02a215817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20b299ad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Однако важно помнить два нюанса.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Первый: признаки, которые находит нейросеть, не всегда понятны человеку. Она может отличить кота по каким-то неуловимым для нас закономерностям пикселей, которые невозможно описать словами «длина шерсти».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Второй: нейросети — не магия. Они не работают с "сырыми" данными. Мы всё равно должны провести предварительную работу, например, нормализовать данные — привести их к единому масштабу.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Но именно там, где данные сложно структурированы (картинки, текст, звук, видео), и где человеку очень трудно вручную прописать все правила, нейронные сети незаменимы.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d20b299ad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02a215817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Как же это устроено технически? Сначала разберемся, что такое нейрон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Это простой вычислительный элемент, некий кирпичик сети.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Нейрон получает несколько чисел на входе - это либо признаки, либо результат работы прошлых нейронов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Затем происходит умножение каждого в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ходного значения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на свой «коэффициент важности» (вес). складывает их, добавляет «смещение» и пропускает результат через функцию активации.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Изначально веса - случаные. и именно их значения вычисляются при обучении.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А что такое функция активации?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d02a215817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144744beb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Функция активации — это простой фильтр, который решает: Насколько сильно этот нейрон зажжётся и передаст сигнал дальше?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Несколько популярных функц активаций - гиперболисчей тангенс и сигмойда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d144744beb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144744beb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давайте попробуем на конкретных значениях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представим структуру нейрона в виде формулы. Здесь сумма всех входных значений на их веса + смещение. и для этой суммы считаем значение функции активации.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предположим у нас есть некоторые веса 3 для х1, -2 для х2 4 для х3 и 2 для смещения.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а в качестве функции активации берем сигмойду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144744beb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144744beb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тогда формула этого нейрона принимает следущ вид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d144744beb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144744beb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предположим на вход пришли значения 1 3 и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подставим в формулу. умножаем их на веса, складываем. получаем три. Сигмойда трех равна 0,953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именно это значение будет передано на следущий слой нейронной сети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d144744beb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144744be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d144744be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Именно из таких нейронов и строится нейронная сеть. Первый слой — входной — состоит из значений признаков, на основе которых мы обучаем модель. Например, если для обучения используется 4 признака, входной слой будет содержать 4 нейрона.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Выходы этих нейронов передаются на вход нейронам следующего слоя. Важно отметить, что каждый нейрон последующего слоя получает данные от всех нейронов предыдущего слоя. Такая архитектура называется полносвязной нейронной сетью.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Выходной слой зависит от типа решаемой задачи: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d144744be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20b299ad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20b299ad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Для классификации: количество нейронов равно числу классов, которые нужно предсказать. Например, если модель различает кошку, собаку и сову, выходной слой будет состоять из трех нейронов.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Для регрессии: количество нейронов соответствует числу значений, которые требуется предсказать. Если необходимо предсказать одно число (например, стоимость квартиры), выходной нейрон будет один.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Далее происходит самое интересное — обучение.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20b299ad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02a215817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Во время обучения происходит настройка весов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для каждого обьекта обучащ выборки выполняется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алгоритм в 3 шага: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Сети показывают обьект обучщ выборки (например, фото кота). Она пропускает его через все слои и выдает свой ответ (например: 75% уверенности что это собкак, 25% — кот).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d02a215817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d144744beb_0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далее происходит Подсчет ошибки: Поскольку мы учим сеть, мы знаем правильный ответ (что это фото кота). Мы сравниваем правильный ответ с тем, что выдала сеть, и вычисляем ошибку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d144744beb_0_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144744beb_0_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далее происходит Самый хитрый момент. Ошибка передается обратно по сети (с выходного слоя к входному). и В зависимости от того, какой нейрон внес больший вклад в ошибочный ответ, веса этого нейрона коррективаются сильнее.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d144744beb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144744beb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1 такой проход по всей обучающей выборке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называется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эпохой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Для получения оптимального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результата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обучение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проводится десятки, а то и сотни эпох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. то есть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модель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обучается несколько раз на одних и тех же данных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Сотни и тысячи раз повторяя шаги обучения, сеть постепенно меняет свои веса так, чтобы ошибка становилась всё меньше и меньше. В конце концов, веса настраиваются почти идеально, и сеть начинает давать правильные ответы.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d144744beb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144744beb_0_3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посмотрим на области применения нейронных сетей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мы уже упоминали, работа с изображениями - классификация, детекця, сегментация, отслеивание и тд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например, в видеонаблюдении или в автопилотах автомобилей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d144744beb_0_3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144744beb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работа с естественным языком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например, в большинстве современных переводчиков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или в анализе тона сообщений, чтобы например, выявлять токсичные комментарии под публикациями в интернете.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d144744beb_0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144744beb_0_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работа с аудио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например, превод аудио записи в текст, когда нам лень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слушать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голосовое сообщение и мы нажимаем перевести его в текст.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или генерация аудио по тексту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d144744beb_0_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144744beb_0_4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генерация изображений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d144744beb_0_4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144744beb_0_4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или </a:t>
            </a:r>
            <a:r>
              <a:rPr lang="ru-RU"/>
              <a:t>Вопросно-ответные системы, такие как чат гпт и другие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7" name="Google Shape;507;g3d144744beb_0_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02a215817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d02a215817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g3d02a215817_0_3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з лектора">
  <p:cSld name="Без лектор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 1">
  <p:cSld name="TITLE_ONLY_1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g3ccf7679e09_0_224"/>
          <p:cNvPicPr preferRelativeResize="0"/>
          <p:nvPr/>
        </p:nvPicPr>
        <p:blipFill rotWithShape="1">
          <a:blip r:embed="rId2">
            <a:alphaModFix/>
          </a:blip>
          <a:srcRect b="47851" l="104756" r="280063" t="-108210"/>
          <a:stretch/>
        </p:blipFill>
        <p:spPr>
          <a:xfrm rot="10800000">
            <a:off x="1767" y="-2182"/>
            <a:ext cx="12188600" cy="686236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g3ccf7679e09_0_224"/>
          <p:cNvSpPr txBox="1"/>
          <p:nvPr>
            <p:ph type="title"/>
          </p:nvPr>
        </p:nvSpPr>
        <p:spPr>
          <a:xfrm>
            <a:off x="953467" y="713333"/>
            <a:ext cx="10285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g3ccf7679e09_0_224"/>
          <p:cNvSpPr txBox="1"/>
          <p:nvPr>
            <p:ph idx="1" type="subTitle"/>
          </p:nvPr>
        </p:nvSpPr>
        <p:spPr>
          <a:xfrm>
            <a:off x="960000" y="2214767"/>
            <a:ext cx="10278300" cy="3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g3ccf7679e09_0_228"/>
          <p:cNvPicPr preferRelativeResize="0"/>
          <p:nvPr/>
        </p:nvPicPr>
        <p:blipFill rotWithShape="1">
          <a:blip r:embed="rId2">
            <a:alphaModFix/>
          </a:blip>
          <a:srcRect b="2272" l="-19690" r="19690" t="414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ccf7679e09_0_228"/>
          <p:cNvSpPr txBox="1"/>
          <p:nvPr>
            <p:ph type="title"/>
          </p:nvPr>
        </p:nvSpPr>
        <p:spPr>
          <a:xfrm>
            <a:off x="953467" y="713333"/>
            <a:ext cx="10285200" cy="30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g3ccf7679e09_0_23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g3ccf7679e09_0_23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2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g3ccf7679e09_0_234"/>
          <p:cNvPicPr preferRelativeResize="0"/>
          <p:nvPr/>
        </p:nvPicPr>
        <p:blipFill rotWithShape="1">
          <a:blip r:embed="rId2">
            <a:alphaModFix/>
          </a:blip>
          <a:srcRect b="-35825" l="-6644" r="27549" t="13471"/>
          <a:stretch/>
        </p:blipFill>
        <p:spPr>
          <a:xfrm flipH="1">
            <a:off x="-14245" y="-3250"/>
            <a:ext cx="44283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ccf7679e09_0_234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flipH="1" rot="10800000">
            <a:off x="-14240" y="-3250"/>
            <a:ext cx="12192105" cy="68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g3ccf7679e09_0_237"/>
          <p:cNvPicPr preferRelativeResize="0"/>
          <p:nvPr/>
        </p:nvPicPr>
        <p:blipFill rotWithShape="1">
          <a:blip r:embed="rId2">
            <a:alphaModFix/>
          </a:blip>
          <a:srcRect b="41636" l="174698" r="177064" t="-83399"/>
          <a:stretch/>
        </p:blipFill>
        <p:spPr>
          <a:xfrm>
            <a:off x="1767" y="-2183"/>
            <a:ext cx="12188600" cy="686236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ccf7679e09_0_237"/>
          <p:cNvSpPr txBox="1"/>
          <p:nvPr>
            <p:ph type="title"/>
          </p:nvPr>
        </p:nvSpPr>
        <p:spPr>
          <a:xfrm>
            <a:off x="953467" y="713333"/>
            <a:ext cx="51423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ccf7679e09_0_237"/>
          <p:cNvSpPr txBox="1"/>
          <p:nvPr>
            <p:ph idx="1" type="body"/>
          </p:nvPr>
        </p:nvSpPr>
        <p:spPr>
          <a:xfrm>
            <a:off x="953467" y="2181733"/>
            <a:ext cx="6282900" cy="2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5pPr>
            <a:lvl6pPr indent="-3810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6pPr>
            <a:lvl7pPr indent="-3810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7pPr>
            <a:lvl8pPr indent="-3810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8pPr>
            <a:lvl9pPr indent="-3810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g3ccf7679e09_0_237"/>
          <p:cNvSpPr/>
          <p:nvPr>
            <p:ph idx="2" type="pic"/>
          </p:nvPr>
        </p:nvSpPr>
        <p:spPr>
          <a:xfrm>
            <a:off x="7620233" y="100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5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5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0" name="Google Shape;80;p5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5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9353973" y="-1553420"/>
            <a:ext cx="2853949" cy="13716633"/>
            <a:chOff x="9353973" y="-1553420"/>
            <a:chExt cx="2853949" cy="13716633"/>
          </a:xfrm>
        </p:grpSpPr>
        <p:grpSp>
          <p:nvGrpSpPr>
            <p:cNvPr id="108" name="Google Shape;108;p2"/>
            <p:cNvGrpSpPr/>
            <p:nvPr/>
          </p:nvGrpSpPr>
          <p:grpSpPr>
            <a:xfrm>
              <a:off x="9353973" y="-1553420"/>
              <a:ext cx="2838027" cy="13716633"/>
              <a:chOff x="9353973" y="-6079700"/>
              <a:chExt cx="2838027" cy="13716633"/>
            </a:xfrm>
          </p:grpSpPr>
          <p:pic>
            <p:nvPicPr>
              <p:cNvPr id="109" name="Google Shape;109;p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4" r="1" t="0"/>
              <a:stretch/>
            </p:blipFill>
            <p:spPr>
              <a:xfrm>
                <a:off x="9353973" y="778933"/>
                <a:ext cx="2838027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" name="Google Shape;110;p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4" r="1" t="0"/>
              <a:stretch/>
            </p:blipFill>
            <p:spPr>
              <a:xfrm>
                <a:off x="9353973" y="-6079700"/>
                <a:ext cx="2838027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1" name="Google Shape;111;p2"/>
            <p:cNvSpPr/>
            <p:nvPr/>
          </p:nvSpPr>
          <p:spPr>
            <a:xfrm>
              <a:off x="10772986" y="3855493"/>
              <a:ext cx="718429" cy="675564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489493" y="4531056"/>
              <a:ext cx="718429" cy="773523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 txBox="1"/>
          <p:nvPr/>
        </p:nvSpPr>
        <p:spPr>
          <a:xfrm>
            <a:off x="1060850" y="2662300"/>
            <a:ext cx="6202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ru-RU" sz="4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Нейронные сети и глубокое обучение</a:t>
            </a:r>
            <a:endParaRPr b="1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60850" y="3862804"/>
            <a:ext cx="64218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60857" y="6033838"/>
            <a:ext cx="3771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ularionova@mail.tsu.ru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60857" y="5282291"/>
            <a:ext cx="403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Ларионова Ульяна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942" marR="837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Преподаватель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5" cy="288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0216" y="336521"/>
            <a:ext cx="1565995" cy="5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5688" y="285516"/>
            <a:ext cx="677246" cy="77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g3d02a215817_0_56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125" name="Google Shape;125;g3d02a215817_0_56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126" name="Google Shape;126;g3d02a215817_0_56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" name="Google Shape;127;g3d02a215817_0_56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8" name="Google Shape;128;g3d02a215817_0_56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g3d02a215817_0_56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0" name="Google Shape;130;g3d02a215817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d02a215817_0_56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Нейронная сеть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2" name="Google Shape;132;g3d02a215817_0_56"/>
          <p:cNvPicPr preferRelativeResize="0"/>
          <p:nvPr/>
        </p:nvPicPr>
        <p:blipFill rotWithShape="1">
          <a:blip r:embed="rId5">
            <a:alphaModFix/>
          </a:blip>
          <a:srcRect b="62" l="2910" r="-2910" t="21953"/>
          <a:stretch/>
        </p:blipFill>
        <p:spPr>
          <a:xfrm>
            <a:off x="5372550" y="2545463"/>
            <a:ext cx="5575401" cy="3256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d02a215817_0_56"/>
          <p:cNvSpPr txBox="1"/>
          <p:nvPr/>
        </p:nvSpPr>
        <p:spPr>
          <a:xfrm>
            <a:off x="1736550" y="5140075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смещение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34" name="Google Shape;134;g3d02a215817_0_56"/>
          <p:cNvCxnSpPr/>
          <p:nvPr/>
        </p:nvCxnSpPr>
        <p:spPr>
          <a:xfrm rot="10800000">
            <a:off x="2109450" y="5075950"/>
            <a:ext cx="361800" cy="2658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5" name="Google Shape;135;g3d02a215817_0_56"/>
          <p:cNvSpPr/>
          <p:nvPr/>
        </p:nvSpPr>
        <p:spPr>
          <a:xfrm>
            <a:off x="591856" y="2894025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g3d02a215817_0_56"/>
          <p:cNvSpPr/>
          <p:nvPr/>
        </p:nvSpPr>
        <p:spPr>
          <a:xfrm>
            <a:off x="600515" y="3683343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02a215817_0_56"/>
          <p:cNvSpPr/>
          <p:nvPr/>
        </p:nvSpPr>
        <p:spPr>
          <a:xfrm>
            <a:off x="591840" y="4472668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d02a215817_0_56"/>
          <p:cNvSpPr/>
          <p:nvPr/>
        </p:nvSpPr>
        <p:spPr>
          <a:xfrm>
            <a:off x="591840" y="5261991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g3d02a215817_0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5298" y="3952648"/>
            <a:ext cx="789700" cy="7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d02a215817_0_56"/>
          <p:cNvSpPr/>
          <p:nvPr/>
        </p:nvSpPr>
        <p:spPr>
          <a:xfrm>
            <a:off x="2677100" y="3946100"/>
            <a:ext cx="806100" cy="806100"/>
          </a:xfrm>
          <a:prstGeom prst="ellipse">
            <a:avLst/>
          </a:prstGeom>
          <a:noFill/>
          <a:ln cap="flat" cmpd="sng" w="2857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g3d02a215817_0_56"/>
          <p:cNvCxnSpPr>
            <a:stCxn id="135" idx="6"/>
            <a:endCxn id="140" idx="1"/>
          </p:cNvCxnSpPr>
          <p:nvPr/>
        </p:nvCxnSpPr>
        <p:spPr>
          <a:xfrm>
            <a:off x="1129756" y="3162975"/>
            <a:ext cx="1665300" cy="9012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g3d02a215817_0_56"/>
          <p:cNvCxnSpPr>
            <a:stCxn id="136" idx="6"/>
          </p:cNvCxnSpPr>
          <p:nvPr/>
        </p:nvCxnSpPr>
        <p:spPr>
          <a:xfrm>
            <a:off x="1138415" y="3952293"/>
            <a:ext cx="1555800" cy="2835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g3d02a215817_0_56"/>
          <p:cNvCxnSpPr>
            <a:stCxn id="137" idx="6"/>
          </p:cNvCxnSpPr>
          <p:nvPr/>
        </p:nvCxnSpPr>
        <p:spPr>
          <a:xfrm flipH="1" rot="10800000">
            <a:off x="1129740" y="4462618"/>
            <a:ext cx="1564500" cy="2790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g3d02a215817_0_56"/>
          <p:cNvCxnSpPr>
            <a:stCxn id="138" idx="6"/>
            <a:endCxn id="140" idx="3"/>
          </p:cNvCxnSpPr>
          <p:nvPr/>
        </p:nvCxnSpPr>
        <p:spPr>
          <a:xfrm flipH="1" rot="10800000">
            <a:off x="1129740" y="4634241"/>
            <a:ext cx="1665300" cy="8967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g3d02a215817_0_56"/>
          <p:cNvSpPr txBox="1"/>
          <p:nvPr/>
        </p:nvSpPr>
        <p:spPr>
          <a:xfrm>
            <a:off x="1539050" y="3065625"/>
            <a:ext cx="1059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w1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w3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w4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6" name="Google Shape;146;g3d02a215817_0_56"/>
          <p:cNvSpPr txBox="1"/>
          <p:nvPr/>
        </p:nvSpPr>
        <p:spPr>
          <a:xfrm>
            <a:off x="1937575" y="2425250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веса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47" name="Google Shape;147;g3d02a215817_0_56"/>
          <p:cNvCxnSpPr/>
          <p:nvPr/>
        </p:nvCxnSpPr>
        <p:spPr>
          <a:xfrm flipH="1">
            <a:off x="2015425" y="2835175"/>
            <a:ext cx="359700" cy="4860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8" name="Google Shape;148;g3d02a215817_0_56"/>
          <p:cNvSpPr txBox="1"/>
          <p:nvPr/>
        </p:nvSpPr>
        <p:spPr>
          <a:xfrm>
            <a:off x="217875" y="2209850"/>
            <a:ext cx="1303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входные 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данные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49" name="Google Shape;149;g3d02a215817_0_56"/>
          <p:cNvCxnSpPr/>
          <p:nvPr/>
        </p:nvCxnSpPr>
        <p:spPr>
          <a:xfrm flipH="1">
            <a:off x="3434100" y="3709300"/>
            <a:ext cx="341700" cy="3309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50" name="Google Shape;150;g3d02a215817_0_56"/>
          <p:cNvSpPr txBox="1"/>
          <p:nvPr/>
        </p:nvSpPr>
        <p:spPr>
          <a:xfrm>
            <a:off x="3561650" y="3321175"/>
            <a:ext cx="156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функция активации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51" name="Google Shape;151;g3d02a215817_0_56"/>
          <p:cNvCxnSpPr>
            <a:stCxn id="140" idx="6"/>
            <a:endCxn id="152" idx="0"/>
          </p:cNvCxnSpPr>
          <p:nvPr/>
        </p:nvCxnSpPr>
        <p:spPr>
          <a:xfrm>
            <a:off x="3483200" y="4349150"/>
            <a:ext cx="1304700" cy="276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g3d02a215817_0_56"/>
          <p:cNvSpPr txBox="1"/>
          <p:nvPr/>
        </p:nvSpPr>
        <p:spPr>
          <a:xfrm>
            <a:off x="4005625" y="4376875"/>
            <a:ext cx="156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результат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g3d02a215817_0_174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158" name="Google Shape;158;g3d02a215817_0_174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159" name="Google Shape;159;g3d02a215817_0_17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g3d02a215817_0_17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1" name="Google Shape;161;g3d02a215817_0_174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3d02a215817_0_174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3d02a215817_0_174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Распознавание животных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64" name="Google Shape;164;g3d02a215817_0_174"/>
          <p:cNvPicPr preferRelativeResize="0"/>
          <p:nvPr/>
        </p:nvPicPr>
        <p:blipFill rotWithShape="1">
          <a:blip r:embed="rId4">
            <a:alphaModFix/>
          </a:blip>
          <a:srcRect b="0" l="23328" r="15603" t="0"/>
          <a:stretch/>
        </p:blipFill>
        <p:spPr>
          <a:xfrm>
            <a:off x="5033600" y="1962625"/>
            <a:ext cx="32651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d02a215817_0_1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009324" y="3360224"/>
            <a:ext cx="1969100" cy="19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d02a215817_0_174"/>
          <p:cNvSpPr/>
          <p:nvPr/>
        </p:nvSpPr>
        <p:spPr>
          <a:xfrm>
            <a:off x="827925" y="2461850"/>
            <a:ext cx="1392000" cy="1190700"/>
          </a:xfrm>
          <a:prstGeom prst="wedgeEllipseCallout">
            <a:avLst>
              <a:gd fmla="val 61852" name="adj1"/>
              <a:gd fmla="val 56148" name="adj2"/>
            </a:avLst>
          </a:prstGeom>
          <a:solidFill>
            <a:srgbClr val="F8CEEE"/>
          </a:solidFill>
          <a:ln cap="flat" cmpd="sng" w="38100">
            <a:solidFill>
              <a:srgbClr val="8E39E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latin typeface="IBM Plex Sans"/>
                <a:ea typeface="IBM Plex Sans"/>
                <a:cs typeface="IBM Plex Sans"/>
                <a:sym typeface="IBM Plex Sans"/>
              </a:rPr>
              <a:t>ну точно кот!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g3d144744beb_0_25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172" name="Google Shape;172;g3d144744beb_0_25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173" name="Google Shape;173;g3d144744beb_0_2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" name="Google Shape;174;g3d144744beb_0_2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5" name="Google Shape;175;g3d144744beb_0_25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3d144744beb_0_25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d144744beb_0_25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Распознавание животных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78" name="Google Shape;178;g3d144744beb_0_25"/>
          <p:cNvPicPr preferRelativeResize="0"/>
          <p:nvPr/>
        </p:nvPicPr>
        <p:blipFill rotWithShape="1">
          <a:blip r:embed="rId4">
            <a:alphaModFix/>
          </a:blip>
          <a:srcRect b="0" l="23328" r="15603" t="0"/>
          <a:stretch/>
        </p:blipFill>
        <p:spPr>
          <a:xfrm>
            <a:off x="5033600" y="1962625"/>
            <a:ext cx="326519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g3d144744beb_0_25"/>
          <p:cNvCxnSpPr/>
          <p:nvPr/>
        </p:nvCxnSpPr>
        <p:spPr>
          <a:xfrm flipH="1" rot="10800000">
            <a:off x="4545680" y="2995900"/>
            <a:ext cx="1331400" cy="3981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g3d144744beb_0_25"/>
          <p:cNvSpPr txBox="1"/>
          <p:nvPr/>
        </p:nvSpPr>
        <p:spPr>
          <a:xfrm>
            <a:off x="2420228" y="3394000"/>
            <a:ext cx="24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Расположение ушей</a:t>
            </a:r>
            <a:endParaRPr i="0" sz="16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g3d144744beb_0_25"/>
          <p:cNvSpPr txBox="1"/>
          <p:nvPr/>
        </p:nvSpPr>
        <p:spPr>
          <a:xfrm>
            <a:off x="2420228" y="3929002"/>
            <a:ext cx="24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Размер глаз</a:t>
            </a:r>
            <a:endParaRPr i="0" sz="16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g3d144744beb_0_25"/>
          <p:cNvSpPr txBox="1"/>
          <p:nvPr/>
        </p:nvSpPr>
        <p:spPr>
          <a:xfrm>
            <a:off x="2607630" y="4464003"/>
            <a:ext cx="211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Форма носа</a:t>
            </a:r>
            <a:endParaRPr i="0" sz="16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g3d144744beb_0_25"/>
          <p:cNvSpPr txBox="1"/>
          <p:nvPr/>
        </p:nvSpPr>
        <p:spPr>
          <a:xfrm>
            <a:off x="2401595" y="5663324"/>
            <a:ext cx="211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Наличие когтей</a:t>
            </a:r>
            <a:endParaRPr i="0" sz="16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4" name="Google Shape;184;g3d144744beb_0_25"/>
          <p:cNvCxnSpPr/>
          <p:nvPr/>
        </p:nvCxnSpPr>
        <p:spPr>
          <a:xfrm flipH="1" rot="10800000">
            <a:off x="4291479" y="4044677"/>
            <a:ext cx="2493300" cy="6111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g3d144744beb_0_25"/>
          <p:cNvCxnSpPr/>
          <p:nvPr/>
        </p:nvCxnSpPr>
        <p:spPr>
          <a:xfrm flipH="1" rot="10800000">
            <a:off x="4212496" y="3621224"/>
            <a:ext cx="2025600" cy="4662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g3d144744beb_0_25"/>
          <p:cNvCxnSpPr/>
          <p:nvPr/>
        </p:nvCxnSpPr>
        <p:spPr>
          <a:xfrm>
            <a:off x="4545680" y="5841306"/>
            <a:ext cx="1212900" cy="4161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g3d144744beb_0_25"/>
          <p:cNvSpPr txBox="1"/>
          <p:nvPr/>
        </p:nvSpPr>
        <p:spPr>
          <a:xfrm>
            <a:off x="2102552" y="4974433"/>
            <a:ext cx="211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Цвета окраса</a:t>
            </a:r>
            <a:endParaRPr i="0" sz="16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8" name="Google Shape;188;g3d144744beb_0_25"/>
          <p:cNvCxnSpPr/>
          <p:nvPr/>
        </p:nvCxnSpPr>
        <p:spPr>
          <a:xfrm>
            <a:off x="4015489" y="5156953"/>
            <a:ext cx="1946400" cy="687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g3d02a215817_0_208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194" name="Google Shape;194;g3d02a215817_0_208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195" name="Google Shape;195;g3d02a215817_0_20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6" name="Google Shape;196;g3d02a215817_0_20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7" name="Google Shape;197;g3d02a215817_0_208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g3d02a215817_0_208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g3d02a215817_0_208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Распознавание животных</a:t>
            </a:r>
            <a:endParaRPr b="1"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00" name="Google Shape;200;g3d02a215817_0_208"/>
          <p:cNvPicPr preferRelativeResize="0"/>
          <p:nvPr/>
        </p:nvPicPr>
        <p:blipFill rotWithShape="1">
          <a:blip r:embed="rId4">
            <a:alphaModFix/>
          </a:blip>
          <a:srcRect b="22810" l="0" r="29053" t="0"/>
          <a:stretch/>
        </p:blipFill>
        <p:spPr>
          <a:xfrm>
            <a:off x="3097825" y="2636950"/>
            <a:ext cx="2661720" cy="26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d02a215817_0_2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8697" y="2901192"/>
            <a:ext cx="2365430" cy="2375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d02a215817_0_2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2636938"/>
            <a:ext cx="2793027" cy="281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02a215817_0_20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3275" y="2878938"/>
            <a:ext cx="2452784" cy="241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g3d20b299ad7_0_1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209" name="Google Shape;209;g3d20b299ad7_0_1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210" name="Google Shape;210;g3d20b299ad7_0_1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" name="Google Shape;211;g3d20b299ad7_0_1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2" name="Google Shape;212;g3d20b299ad7_0_1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d20b299ad7_0_1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d20b299ad7_0_1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Распознавание животных</a:t>
            </a:r>
            <a:endParaRPr b="1"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5" name="Google Shape;215;g3d20b299ad7_0_1"/>
          <p:cNvPicPr preferRelativeResize="0"/>
          <p:nvPr/>
        </p:nvPicPr>
        <p:blipFill rotWithShape="1">
          <a:blip r:embed="rId4">
            <a:alphaModFix/>
          </a:blip>
          <a:srcRect b="22810" l="0" r="29053" t="0"/>
          <a:stretch/>
        </p:blipFill>
        <p:spPr>
          <a:xfrm>
            <a:off x="3097825" y="2636950"/>
            <a:ext cx="2661720" cy="26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d20b299ad7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8697" y="2901192"/>
            <a:ext cx="2365430" cy="2375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d20b299ad7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2636938"/>
            <a:ext cx="2793027" cy="281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d20b299ad7_0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3275" y="2878938"/>
            <a:ext cx="2452784" cy="241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g3d02a215817_0_100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224" name="Google Shape;224;g3d02a215817_0_100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225" name="Google Shape;225;g3d02a215817_0_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6" name="Google Shape;226;g3d02a215817_0_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7" name="Google Shape;227;g3d02a215817_0_100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d02a215817_0_100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g3d02a215817_0_100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0" name="Google Shape;230;g3d02a215817_0_100"/>
          <p:cNvSpPr txBox="1"/>
          <p:nvPr/>
        </p:nvSpPr>
        <p:spPr>
          <a:xfrm>
            <a:off x="3601025" y="4975800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смещение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1" name="Google Shape;231;g3d02a215817_0_100"/>
          <p:cNvCxnSpPr/>
          <p:nvPr/>
        </p:nvCxnSpPr>
        <p:spPr>
          <a:xfrm rot="10800000">
            <a:off x="3973925" y="4911675"/>
            <a:ext cx="361800" cy="2658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2" name="Google Shape;232;g3d02a215817_0_100"/>
          <p:cNvSpPr/>
          <p:nvPr/>
        </p:nvSpPr>
        <p:spPr>
          <a:xfrm>
            <a:off x="2456331" y="2729750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3" name="Google Shape;233;g3d02a215817_0_100"/>
          <p:cNvSpPr/>
          <p:nvPr/>
        </p:nvSpPr>
        <p:spPr>
          <a:xfrm>
            <a:off x="2464990" y="3519068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02a215817_0_100"/>
          <p:cNvSpPr/>
          <p:nvPr/>
        </p:nvSpPr>
        <p:spPr>
          <a:xfrm>
            <a:off x="2456315" y="4308393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02a215817_0_100"/>
          <p:cNvSpPr/>
          <p:nvPr/>
        </p:nvSpPr>
        <p:spPr>
          <a:xfrm>
            <a:off x="2456315" y="5097716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g3d02a215817_0_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9773" y="3788373"/>
            <a:ext cx="789700" cy="7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d02a215817_0_100"/>
          <p:cNvSpPr/>
          <p:nvPr/>
        </p:nvSpPr>
        <p:spPr>
          <a:xfrm>
            <a:off x="4541575" y="3781825"/>
            <a:ext cx="806100" cy="806100"/>
          </a:xfrm>
          <a:prstGeom prst="ellipse">
            <a:avLst/>
          </a:prstGeom>
          <a:noFill/>
          <a:ln cap="flat" cmpd="sng" w="2857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g3d02a215817_0_100"/>
          <p:cNvCxnSpPr>
            <a:stCxn id="232" idx="6"/>
            <a:endCxn id="237" idx="1"/>
          </p:cNvCxnSpPr>
          <p:nvPr/>
        </p:nvCxnSpPr>
        <p:spPr>
          <a:xfrm>
            <a:off x="2994231" y="2998700"/>
            <a:ext cx="1665300" cy="9012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g3d02a215817_0_100"/>
          <p:cNvCxnSpPr>
            <a:stCxn id="233" idx="6"/>
          </p:cNvCxnSpPr>
          <p:nvPr/>
        </p:nvCxnSpPr>
        <p:spPr>
          <a:xfrm>
            <a:off x="3002890" y="3788018"/>
            <a:ext cx="1555800" cy="2835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g3d02a215817_0_100"/>
          <p:cNvCxnSpPr>
            <a:stCxn id="234" idx="6"/>
          </p:cNvCxnSpPr>
          <p:nvPr/>
        </p:nvCxnSpPr>
        <p:spPr>
          <a:xfrm flipH="1" rot="10800000">
            <a:off x="2994215" y="4298343"/>
            <a:ext cx="1564500" cy="2790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g3d02a215817_0_100"/>
          <p:cNvCxnSpPr>
            <a:stCxn id="235" idx="6"/>
            <a:endCxn id="237" idx="3"/>
          </p:cNvCxnSpPr>
          <p:nvPr/>
        </p:nvCxnSpPr>
        <p:spPr>
          <a:xfrm flipH="1" rot="10800000">
            <a:off x="2994215" y="4469966"/>
            <a:ext cx="1665300" cy="8967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g3d02a215817_0_100"/>
          <p:cNvSpPr txBox="1"/>
          <p:nvPr/>
        </p:nvSpPr>
        <p:spPr>
          <a:xfrm>
            <a:off x="3403525" y="2901350"/>
            <a:ext cx="1059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w1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w3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w4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3" name="Google Shape;243;g3d02a215817_0_100"/>
          <p:cNvSpPr txBox="1"/>
          <p:nvPr/>
        </p:nvSpPr>
        <p:spPr>
          <a:xfrm>
            <a:off x="3802050" y="2260975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веса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4" name="Google Shape;244;g3d02a215817_0_100"/>
          <p:cNvCxnSpPr/>
          <p:nvPr/>
        </p:nvCxnSpPr>
        <p:spPr>
          <a:xfrm flipH="1">
            <a:off x="3879900" y="2670900"/>
            <a:ext cx="359700" cy="4860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45" name="Google Shape;245;g3d02a215817_0_100"/>
          <p:cNvSpPr txBox="1"/>
          <p:nvPr/>
        </p:nvSpPr>
        <p:spPr>
          <a:xfrm>
            <a:off x="2082350" y="2045575"/>
            <a:ext cx="1303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входные 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данные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6" name="Google Shape;246;g3d02a215817_0_100"/>
          <p:cNvCxnSpPr/>
          <p:nvPr/>
        </p:nvCxnSpPr>
        <p:spPr>
          <a:xfrm flipH="1">
            <a:off x="5298575" y="3545025"/>
            <a:ext cx="341700" cy="3309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47" name="Google Shape;247;g3d02a215817_0_100"/>
          <p:cNvSpPr txBox="1"/>
          <p:nvPr/>
        </p:nvSpPr>
        <p:spPr>
          <a:xfrm>
            <a:off x="5426125" y="3156900"/>
            <a:ext cx="156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функция активации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8" name="Google Shape;248;g3d02a215817_0_100"/>
          <p:cNvCxnSpPr>
            <a:stCxn id="237" idx="6"/>
          </p:cNvCxnSpPr>
          <p:nvPr/>
        </p:nvCxnSpPr>
        <p:spPr>
          <a:xfrm flipH="1" rot="10800000">
            <a:off x="5347675" y="4180975"/>
            <a:ext cx="2795700" cy="39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g3d02a215817_0_100"/>
          <p:cNvSpPr txBox="1"/>
          <p:nvPr/>
        </p:nvSpPr>
        <p:spPr>
          <a:xfrm>
            <a:off x="6174100" y="4180975"/>
            <a:ext cx="156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результат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g3d144744beb_0_58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255" name="Google Shape;255;g3d144744beb_0_58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256" name="Google Shape;256;g3d144744beb_0_5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" name="Google Shape;257;g3d144744beb_0_5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58" name="Google Shape;258;g3d144744beb_0_58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d144744beb_0_58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g3d144744beb_0_58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Функция активации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61" name="Google Shape;261;g3d144744beb_0_58"/>
          <p:cNvPicPr preferRelativeResize="0"/>
          <p:nvPr/>
        </p:nvPicPr>
        <p:blipFill rotWithShape="1">
          <a:blip r:embed="rId4">
            <a:alphaModFix/>
          </a:blip>
          <a:srcRect b="7356" l="0" r="0" t="0"/>
          <a:stretch/>
        </p:blipFill>
        <p:spPr>
          <a:xfrm>
            <a:off x="1460325" y="2563224"/>
            <a:ext cx="6638925" cy="195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d144744beb_0_58"/>
          <p:cNvSpPr txBox="1"/>
          <p:nvPr/>
        </p:nvSpPr>
        <p:spPr>
          <a:xfrm>
            <a:off x="1460325" y="4857750"/>
            <a:ext cx="806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гиперболический тангенс                     </a:t>
            </a: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сигмоида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g3d144744beb_0_162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268" name="Google Shape;268;g3d144744beb_0_162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269" name="Google Shape;269;g3d144744beb_0_16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" name="Google Shape;270;g3d144744beb_0_16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1" name="Google Shape;271;g3d144744beb_0_162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g3d144744beb_0_162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d144744beb_0_162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4" name="Google Shape;274;g3d144744beb_0_162"/>
          <p:cNvSpPr txBox="1"/>
          <p:nvPr/>
        </p:nvSpPr>
        <p:spPr>
          <a:xfrm>
            <a:off x="3382750" y="4678150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смещение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5" name="Google Shape;275;g3d144744beb_0_162"/>
          <p:cNvCxnSpPr/>
          <p:nvPr/>
        </p:nvCxnSpPr>
        <p:spPr>
          <a:xfrm rot="10800000">
            <a:off x="3755650" y="4614025"/>
            <a:ext cx="361800" cy="2658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76" name="Google Shape;276;g3d144744beb_0_162"/>
          <p:cNvSpPr/>
          <p:nvPr/>
        </p:nvSpPr>
        <p:spPr>
          <a:xfrm>
            <a:off x="2238056" y="2432100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7" name="Google Shape;277;g3d144744beb_0_162"/>
          <p:cNvSpPr/>
          <p:nvPr/>
        </p:nvSpPr>
        <p:spPr>
          <a:xfrm>
            <a:off x="2246715" y="3221418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144744beb_0_162"/>
          <p:cNvSpPr/>
          <p:nvPr/>
        </p:nvSpPr>
        <p:spPr>
          <a:xfrm>
            <a:off x="2238040" y="4010743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d144744beb_0_162"/>
          <p:cNvSpPr/>
          <p:nvPr/>
        </p:nvSpPr>
        <p:spPr>
          <a:xfrm>
            <a:off x="2238040" y="4800066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g3d144744beb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1498" y="3490723"/>
            <a:ext cx="789700" cy="7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d144744beb_0_162"/>
          <p:cNvSpPr/>
          <p:nvPr/>
        </p:nvSpPr>
        <p:spPr>
          <a:xfrm>
            <a:off x="4323300" y="3484175"/>
            <a:ext cx="806100" cy="806100"/>
          </a:xfrm>
          <a:prstGeom prst="ellipse">
            <a:avLst/>
          </a:prstGeom>
          <a:noFill/>
          <a:ln cap="flat" cmpd="sng" w="2857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g3d144744beb_0_162"/>
          <p:cNvCxnSpPr>
            <a:stCxn id="276" idx="6"/>
            <a:endCxn id="281" idx="1"/>
          </p:cNvCxnSpPr>
          <p:nvPr/>
        </p:nvCxnSpPr>
        <p:spPr>
          <a:xfrm>
            <a:off x="2775956" y="2701050"/>
            <a:ext cx="1665300" cy="9012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g3d144744beb_0_162"/>
          <p:cNvCxnSpPr>
            <a:stCxn id="277" idx="6"/>
          </p:cNvCxnSpPr>
          <p:nvPr/>
        </p:nvCxnSpPr>
        <p:spPr>
          <a:xfrm>
            <a:off x="2784615" y="3490368"/>
            <a:ext cx="1555800" cy="2835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g3d144744beb_0_162"/>
          <p:cNvCxnSpPr>
            <a:stCxn id="278" idx="6"/>
          </p:cNvCxnSpPr>
          <p:nvPr/>
        </p:nvCxnSpPr>
        <p:spPr>
          <a:xfrm flipH="1" rot="10800000">
            <a:off x="2775940" y="4000693"/>
            <a:ext cx="1564500" cy="2790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g3d144744beb_0_162"/>
          <p:cNvCxnSpPr>
            <a:stCxn id="279" idx="6"/>
            <a:endCxn id="281" idx="3"/>
          </p:cNvCxnSpPr>
          <p:nvPr/>
        </p:nvCxnSpPr>
        <p:spPr>
          <a:xfrm flipH="1" rot="10800000">
            <a:off x="2775940" y="4172316"/>
            <a:ext cx="1665300" cy="8967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g3d144744beb_0_162"/>
          <p:cNvSpPr txBox="1"/>
          <p:nvPr/>
        </p:nvSpPr>
        <p:spPr>
          <a:xfrm>
            <a:off x="3185250" y="2603700"/>
            <a:ext cx="1059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-2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7" name="Google Shape;287;g3d144744beb_0_162"/>
          <p:cNvSpPr txBox="1"/>
          <p:nvPr/>
        </p:nvSpPr>
        <p:spPr>
          <a:xfrm>
            <a:off x="3583775" y="1963325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веса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8" name="Google Shape;288;g3d144744beb_0_162"/>
          <p:cNvCxnSpPr/>
          <p:nvPr/>
        </p:nvCxnSpPr>
        <p:spPr>
          <a:xfrm flipH="1">
            <a:off x="3661625" y="2373250"/>
            <a:ext cx="359700" cy="4860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89" name="Google Shape;289;g3d144744beb_0_162"/>
          <p:cNvSpPr txBox="1"/>
          <p:nvPr/>
        </p:nvSpPr>
        <p:spPr>
          <a:xfrm>
            <a:off x="1864075" y="1747925"/>
            <a:ext cx="1303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входные 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данные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0" name="Google Shape;290;g3d144744beb_0_162"/>
          <p:cNvCxnSpPr/>
          <p:nvPr/>
        </p:nvCxnSpPr>
        <p:spPr>
          <a:xfrm flipH="1">
            <a:off x="5080300" y="3247375"/>
            <a:ext cx="341700" cy="3309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91" name="Google Shape;291;g3d144744beb_0_162"/>
          <p:cNvSpPr txBox="1"/>
          <p:nvPr/>
        </p:nvSpPr>
        <p:spPr>
          <a:xfrm>
            <a:off x="5207850" y="2859250"/>
            <a:ext cx="156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функция активации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2" name="Google Shape;292;g3d144744beb_0_162"/>
          <p:cNvCxnSpPr>
            <a:stCxn id="281" idx="6"/>
          </p:cNvCxnSpPr>
          <p:nvPr/>
        </p:nvCxnSpPr>
        <p:spPr>
          <a:xfrm flipH="1" rot="10800000">
            <a:off x="5129400" y="3883325"/>
            <a:ext cx="2795700" cy="39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g3d144744beb_0_162"/>
          <p:cNvSpPr txBox="1"/>
          <p:nvPr/>
        </p:nvSpPr>
        <p:spPr>
          <a:xfrm>
            <a:off x="5955825" y="3883325"/>
            <a:ext cx="156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результат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94" name="Google Shape;294;g3d144744beb_0_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6675" y="5257025"/>
            <a:ext cx="51530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g3d144744beb_0_227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00" name="Google Shape;300;g3d144744beb_0_227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01" name="Google Shape;301;g3d144744beb_0_22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" name="Google Shape;302;g3d144744beb_0_22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3" name="Google Shape;303;g3d144744beb_0_227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g3d144744beb_0_227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g3d144744beb_0_227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6" name="Google Shape;306;g3d144744beb_0_227"/>
          <p:cNvSpPr txBox="1"/>
          <p:nvPr/>
        </p:nvSpPr>
        <p:spPr>
          <a:xfrm>
            <a:off x="3382750" y="4678150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смещение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7" name="Google Shape;307;g3d144744beb_0_227"/>
          <p:cNvCxnSpPr/>
          <p:nvPr/>
        </p:nvCxnSpPr>
        <p:spPr>
          <a:xfrm rot="10800000">
            <a:off x="3755650" y="4614025"/>
            <a:ext cx="361800" cy="2658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08" name="Google Shape;308;g3d144744beb_0_227"/>
          <p:cNvSpPr/>
          <p:nvPr/>
        </p:nvSpPr>
        <p:spPr>
          <a:xfrm>
            <a:off x="2238056" y="2432100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9" name="Google Shape;309;g3d144744beb_0_227"/>
          <p:cNvSpPr/>
          <p:nvPr/>
        </p:nvSpPr>
        <p:spPr>
          <a:xfrm>
            <a:off x="2246715" y="3221418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d144744beb_0_227"/>
          <p:cNvSpPr/>
          <p:nvPr/>
        </p:nvSpPr>
        <p:spPr>
          <a:xfrm>
            <a:off x="2238040" y="4010743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d144744beb_0_227"/>
          <p:cNvSpPr/>
          <p:nvPr/>
        </p:nvSpPr>
        <p:spPr>
          <a:xfrm>
            <a:off x="2238040" y="4800066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g3d144744beb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1498" y="3490723"/>
            <a:ext cx="789700" cy="7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d144744beb_0_227"/>
          <p:cNvSpPr/>
          <p:nvPr/>
        </p:nvSpPr>
        <p:spPr>
          <a:xfrm>
            <a:off x="4323300" y="3484175"/>
            <a:ext cx="806100" cy="806100"/>
          </a:xfrm>
          <a:prstGeom prst="ellipse">
            <a:avLst/>
          </a:prstGeom>
          <a:noFill/>
          <a:ln cap="flat" cmpd="sng" w="2857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g3d144744beb_0_227"/>
          <p:cNvCxnSpPr>
            <a:stCxn id="308" idx="6"/>
            <a:endCxn id="313" idx="1"/>
          </p:cNvCxnSpPr>
          <p:nvPr/>
        </p:nvCxnSpPr>
        <p:spPr>
          <a:xfrm>
            <a:off x="2775956" y="2701050"/>
            <a:ext cx="1665300" cy="9012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g3d144744beb_0_227"/>
          <p:cNvCxnSpPr>
            <a:stCxn id="309" idx="6"/>
          </p:cNvCxnSpPr>
          <p:nvPr/>
        </p:nvCxnSpPr>
        <p:spPr>
          <a:xfrm>
            <a:off x="2784615" y="3490368"/>
            <a:ext cx="1555800" cy="2835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g3d144744beb_0_227"/>
          <p:cNvCxnSpPr>
            <a:stCxn id="310" idx="6"/>
          </p:cNvCxnSpPr>
          <p:nvPr/>
        </p:nvCxnSpPr>
        <p:spPr>
          <a:xfrm flipH="1" rot="10800000">
            <a:off x="2775940" y="4000693"/>
            <a:ext cx="1564500" cy="2790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g3d144744beb_0_227"/>
          <p:cNvCxnSpPr>
            <a:stCxn id="311" idx="6"/>
            <a:endCxn id="313" idx="3"/>
          </p:cNvCxnSpPr>
          <p:nvPr/>
        </p:nvCxnSpPr>
        <p:spPr>
          <a:xfrm flipH="1" rot="10800000">
            <a:off x="2775940" y="4172316"/>
            <a:ext cx="1665300" cy="8967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g3d144744beb_0_227"/>
          <p:cNvSpPr txBox="1"/>
          <p:nvPr/>
        </p:nvSpPr>
        <p:spPr>
          <a:xfrm>
            <a:off x="3185250" y="2603700"/>
            <a:ext cx="1059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-2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9" name="Google Shape;319;g3d144744beb_0_227"/>
          <p:cNvSpPr txBox="1"/>
          <p:nvPr/>
        </p:nvSpPr>
        <p:spPr>
          <a:xfrm>
            <a:off x="3583775" y="1963325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веса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0" name="Google Shape;320;g3d144744beb_0_227"/>
          <p:cNvCxnSpPr/>
          <p:nvPr/>
        </p:nvCxnSpPr>
        <p:spPr>
          <a:xfrm flipH="1">
            <a:off x="3661625" y="2373250"/>
            <a:ext cx="359700" cy="4860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21" name="Google Shape;321;g3d144744beb_0_227"/>
          <p:cNvSpPr txBox="1"/>
          <p:nvPr/>
        </p:nvSpPr>
        <p:spPr>
          <a:xfrm>
            <a:off x="1864075" y="1747925"/>
            <a:ext cx="1303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входные 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данные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2" name="Google Shape;322;g3d144744beb_0_227"/>
          <p:cNvCxnSpPr/>
          <p:nvPr/>
        </p:nvCxnSpPr>
        <p:spPr>
          <a:xfrm flipH="1">
            <a:off x="5080300" y="3247375"/>
            <a:ext cx="341700" cy="3309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23" name="Google Shape;323;g3d144744beb_0_227"/>
          <p:cNvSpPr txBox="1"/>
          <p:nvPr/>
        </p:nvSpPr>
        <p:spPr>
          <a:xfrm>
            <a:off x="5207850" y="2859250"/>
            <a:ext cx="156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функция активации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4" name="Google Shape;324;g3d144744beb_0_227"/>
          <p:cNvCxnSpPr>
            <a:stCxn id="313" idx="6"/>
          </p:cNvCxnSpPr>
          <p:nvPr/>
        </p:nvCxnSpPr>
        <p:spPr>
          <a:xfrm flipH="1" rot="10800000">
            <a:off x="5129400" y="3883325"/>
            <a:ext cx="2795700" cy="39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g3d144744beb_0_227"/>
          <p:cNvSpPr txBox="1"/>
          <p:nvPr/>
        </p:nvSpPr>
        <p:spPr>
          <a:xfrm>
            <a:off x="5955825" y="3883325"/>
            <a:ext cx="156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результат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26" name="Google Shape;326;g3d144744beb_0_2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6675" y="5257025"/>
            <a:ext cx="51530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d144744beb_0_2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1075" y="5767575"/>
            <a:ext cx="332422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g3d144744beb_0_259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33" name="Google Shape;333;g3d144744beb_0_259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34" name="Google Shape;334;g3d144744beb_0_259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5" name="Google Shape;335;g3d144744beb_0_259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6" name="Google Shape;336;g3d144744beb_0_259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g3d144744beb_0_259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g3d144744beb_0_259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" name="Google Shape;339;g3d144744beb_0_259"/>
          <p:cNvSpPr txBox="1"/>
          <p:nvPr/>
        </p:nvSpPr>
        <p:spPr>
          <a:xfrm>
            <a:off x="3382750" y="4678150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смещение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0" name="Google Shape;340;g3d144744beb_0_259"/>
          <p:cNvCxnSpPr/>
          <p:nvPr/>
        </p:nvCxnSpPr>
        <p:spPr>
          <a:xfrm rot="10800000">
            <a:off x="3755650" y="4614025"/>
            <a:ext cx="361800" cy="2658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41" name="Google Shape;341;g3d144744beb_0_259"/>
          <p:cNvSpPr/>
          <p:nvPr/>
        </p:nvSpPr>
        <p:spPr>
          <a:xfrm>
            <a:off x="2238056" y="2432100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2" name="Google Shape;342;g3d144744beb_0_259"/>
          <p:cNvSpPr/>
          <p:nvPr/>
        </p:nvSpPr>
        <p:spPr>
          <a:xfrm>
            <a:off x="2246715" y="3221418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144744beb_0_259"/>
          <p:cNvSpPr/>
          <p:nvPr/>
        </p:nvSpPr>
        <p:spPr>
          <a:xfrm>
            <a:off x="2238040" y="4010743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d144744beb_0_259"/>
          <p:cNvSpPr/>
          <p:nvPr/>
        </p:nvSpPr>
        <p:spPr>
          <a:xfrm>
            <a:off x="2238040" y="4800066"/>
            <a:ext cx="537900" cy="537900"/>
          </a:xfrm>
          <a:prstGeom prst="ellipse">
            <a:avLst/>
          </a:prstGeom>
          <a:noFill/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g3d144744beb_0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1498" y="3490723"/>
            <a:ext cx="789700" cy="7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d144744beb_0_259"/>
          <p:cNvSpPr/>
          <p:nvPr/>
        </p:nvSpPr>
        <p:spPr>
          <a:xfrm>
            <a:off x="4323300" y="3484175"/>
            <a:ext cx="806100" cy="806100"/>
          </a:xfrm>
          <a:prstGeom prst="ellipse">
            <a:avLst/>
          </a:prstGeom>
          <a:noFill/>
          <a:ln cap="flat" cmpd="sng" w="2857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g3d144744beb_0_259"/>
          <p:cNvCxnSpPr>
            <a:stCxn id="341" idx="6"/>
            <a:endCxn id="346" idx="1"/>
          </p:cNvCxnSpPr>
          <p:nvPr/>
        </p:nvCxnSpPr>
        <p:spPr>
          <a:xfrm>
            <a:off x="2775956" y="2701050"/>
            <a:ext cx="1665300" cy="9012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g3d144744beb_0_259"/>
          <p:cNvCxnSpPr>
            <a:stCxn id="342" idx="6"/>
          </p:cNvCxnSpPr>
          <p:nvPr/>
        </p:nvCxnSpPr>
        <p:spPr>
          <a:xfrm>
            <a:off x="2784615" y="3490368"/>
            <a:ext cx="1555800" cy="2835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g3d144744beb_0_259"/>
          <p:cNvCxnSpPr>
            <a:stCxn id="343" idx="6"/>
          </p:cNvCxnSpPr>
          <p:nvPr/>
        </p:nvCxnSpPr>
        <p:spPr>
          <a:xfrm flipH="1" rot="10800000">
            <a:off x="2775940" y="4000693"/>
            <a:ext cx="1564500" cy="2790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g3d144744beb_0_259"/>
          <p:cNvCxnSpPr>
            <a:stCxn id="344" idx="6"/>
            <a:endCxn id="346" idx="3"/>
          </p:cNvCxnSpPr>
          <p:nvPr/>
        </p:nvCxnSpPr>
        <p:spPr>
          <a:xfrm flipH="1" rot="10800000">
            <a:off x="2775940" y="4172316"/>
            <a:ext cx="1665300" cy="8967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g3d144744beb_0_259"/>
          <p:cNvSpPr txBox="1"/>
          <p:nvPr/>
        </p:nvSpPr>
        <p:spPr>
          <a:xfrm>
            <a:off x="3185250" y="2603700"/>
            <a:ext cx="1059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-2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2" name="Google Shape;352;g3d144744beb_0_259"/>
          <p:cNvSpPr txBox="1"/>
          <p:nvPr/>
        </p:nvSpPr>
        <p:spPr>
          <a:xfrm>
            <a:off x="3583775" y="1963325"/>
            <a:ext cx="809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веса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3" name="Google Shape;353;g3d144744beb_0_259"/>
          <p:cNvCxnSpPr/>
          <p:nvPr/>
        </p:nvCxnSpPr>
        <p:spPr>
          <a:xfrm flipH="1">
            <a:off x="3661625" y="2373250"/>
            <a:ext cx="359700" cy="4860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54" name="Google Shape;354;g3d144744beb_0_259"/>
          <p:cNvSpPr txBox="1"/>
          <p:nvPr/>
        </p:nvSpPr>
        <p:spPr>
          <a:xfrm>
            <a:off x="1864075" y="1747925"/>
            <a:ext cx="1303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входные 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данные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5" name="Google Shape;355;g3d144744beb_0_259"/>
          <p:cNvCxnSpPr/>
          <p:nvPr/>
        </p:nvCxnSpPr>
        <p:spPr>
          <a:xfrm flipH="1">
            <a:off x="5080300" y="3247375"/>
            <a:ext cx="341700" cy="330900"/>
          </a:xfrm>
          <a:prstGeom prst="straightConnector1">
            <a:avLst/>
          </a:prstGeom>
          <a:noFill/>
          <a:ln cap="flat" cmpd="sng" w="9525">
            <a:solidFill>
              <a:srgbClr val="8E39E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56" name="Google Shape;356;g3d144744beb_0_259"/>
          <p:cNvSpPr txBox="1"/>
          <p:nvPr/>
        </p:nvSpPr>
        <p:spPr>
          <a:xfrm>
            <a:off x="5207850" y="2859250"/>
            <a:ext cx="156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функция активации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7" name="Google Shape;357;g3d144744beb_0_259"/>
          <p:cNvCxnSpPr>
            <a:stCxn id="346" idx="6"/>
          </p:cNvCxnSpPr>
          <p:nvPr/>
        </p:nvCxnSpPr>
        <p:spPr>
          <a:xfrm flipH="1" rot="10800000">
            <a:off x="5129400" y="3883325"/>
            <a:ext cx="2795700" cy="3900"/>
          </a:xfrm>
          <a:prstGeom prst="straightConnector1">
            <a:avLst/>
          </a:prstGeom>
          <a:noFill/>
          <a:ln cap="flat" cmpd="sng" w="19050">
            <a:solidFill>
              <a:srgbClr val="8E39E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g3d144744beb_0_259"/>
          <p:cNvSpPr txBox="1"/>
          <p:nvPr/>
        </p:nvSpPr>
        <p:spPr>
          <a:xfrm>
            <a:off x="5955825" y="3883325"/>
            <a:ext cx="156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результат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59" name="Google Shape;359;g3d144744beb_0_2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6675" y="5257025"/>
            <a:ext cx="51530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d144744beb_0_2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1075" y="5767575"/>
            <a:ext cx="33242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d144744beb_0_2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7275" y="6120000"/>
            <a:ext cx="5915358" cy="8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g3d144744beb_0_0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68" name="Google Shape;368;g3d144744beb_0_0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69" name="Google Shape;369;g3d144744beb_0_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0" name="Google Shape;370;g3d144744beb_0_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71" name="Google Shape;371;g3d144744beb_0_0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g3d144744beb_0_0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g3d144744beb_0_0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Нейронная сеть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74" name="Google Shape;374;g3d144744be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437" y="2022350"/>
            <a:ext cx="8221612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g3d20b299ad7_0_15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81" name="Google Shape;381;g3d20b299ad7_0_15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82" name="Google Shape;382;g3d20b299ad7_0_1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3" name="Google Shape;383;g3d20b299ad7_0_1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4" name="Google Shape;384;g3d20b299ad7_0_15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g3d20b299ad7_0_15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g3d20b299ad7_0_15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Нейронная сеть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87" name="Google Shape;387;g3d20b299ad7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437" y="2022350"/>
            <a:ext cx="8221612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g3d02a215817_0_287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93" name="Google Shape;393;g3d02a215817_0_287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94" name="Google Shape;394;g3d02a215817_0_28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5" name="Google Shape;395;g3d02a215817_0_28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96" name="Google Shape;396;g3d02a215817_0_287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g3d02a215817_0_287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8" name="Google Shape;398;g3d02a215817_0_2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d02a215817_0_287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Обучение нейронных сетей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0" name="Google Shape;400;g3d02a215817_0_287"/>
          <p:cNvSpPr txBox="1"/>
          <p:nvPr/>
        </p:nvSpPr>
        <p:spPr>
          <a:xfrm>
            <a:off x="979700" y="2513925"/>
            <a:ext cx="4354200" cy="3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Обучение нейросети — это процесс настройки весов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Шаги обучение: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Прямой проход: Сеть получает </a:t>
            </a: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объект</a:t>
            </a: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 обучающей выборки. Она пропускает его через все слои и выдает свой ответ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Подсчет ошибки: Мы сравниваем правильный ответ с тем, что выдала сеть, и вычисляем ошибку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Обратный проход: Ошибка передается обратно по сети. В зависимости от того, какой нейрон внес больший вклад в ошибочный ответ, веса этого нейрона </a:t>
            </a: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корректируются</a:t>
            </a: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 сильнее.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01" name="Google Shape;401;g3d02a215817_0_2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1850" y="2345749"/>
            <a:ext cx="1503975" cy="151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d02a215817_0_2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5937" y="3991570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d02a215817_0_287"/>
          <p:cNvSpPr txBox="1"/>
          <p:nvPr/>
        </p:nvSpPr>
        <p:spPr>
          <a:xfrm>
            <a:off x="6719200" y="5140375"/>
            <a:ext cx="548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75% собака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25% кот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4" name="Google Shape;404;g3d02a215817_0_287"/>
          <p:cNvSpPr/>
          <p:nvPr/>
        </p:nvSpPr>
        <p:spPr>
          <a:xfrm>
            <a:off x="7340200" y="3932050"/>
            <a:ext cx="137400" cy="223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E39E2"/>
          </a:solidFill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d02a215817_0_287"/>
          <p:cNvSpPr/>
          <p:nvPr/>
        </p:nvSpPr>
        <p:spPr>
          <a:xfrm>
            <a:off x="7340200" y="4998850"/>
            <a:ext cx="137400" cy="223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E39E2"/>
          </a:solidFill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144744beb_0_300"/>
          <p:cNvSpPr/>
          <p:nvPr/>
        </p:nvSpPr>
        <p:spPr>
          <a:xfrm>
            <a:off x="6719200" y="3956200"/>
            <a:ext cx="1380900" cy="492600"/>
          </a:xfrm>
          <a:prstGeom prst="roundRect">
            <a:avLst>
              <a:gd fmla="val 16667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d144744beb_0_300"/>
          <p:cNvSpPr/>
          <p:nvPr/>
        </p:nvSpPr>
        <p:spPr>
          <a:xfrm>
            <a:off x="8175825" y="3802300"/>
            <a:ext cx="2022600" cy="800400"/>
          </a:xfrm>
          <a:prstGeom prst="roundRect">
            <a:avLst>
              <a:gd fmla="val 16667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g3d144744beb_0_300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13" name="Google Shape;413;g3d144744beb_0_300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14" name="Google Shape;414;g3d144744beb_0_30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5" name="Google Shape;415;g3d144744beb_0_30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16" name="Google Shape;416;g3d144744beb_0_300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g3d144744beb_0_300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8" name="Google Shape;418;g3d144744beb_0_3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d144744beb_0_300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Обучение нейронных сетей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0" name="Google Shape;420;g3d144744beb_0_300"/>
          <p:cNvSpPr txBox="1"/>
          <p:nvPr/>
        </p:nvSpPr>
        <p:spPr>
          <a:xfrm>
            <a:off x="979700" y="2513925"/>
            <a:ext cx="4354200" cy="3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Обучение нейросети — это процесс настройки весов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Шаги обучение: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Прямой проход: Сеть получает объект обучающей выборки. Она пропускает его через все слои и выдает свой ответ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Подсчет ошибки: Мы сравниваем правильный ответ с тем, что выдала сеть, и вычисляем ошибку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Обратный проход: Ошибка передается обратно по сети. В зависимости от того, какой нейрон внес больший вклад в ошибочный ответ, веса этого нейрона корректируются сильнее.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21" name="Google Shape;421;g3d144744beb_0_3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1850" y="2345749"/>
            <a:ext cx="1503975" cy="151705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d144744beb_0_300"/>
          <p:cNvSpPr txBox="1"/>
          <p:nvPr/>
        </p:nvSpPr>
        <p:spPr>
          <a:xfrm>
            <a:off x="8259775" y="3802300"/>
            <a:ext cx="548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75% собака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25% кот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3" name="Google Shape;423;g3d144744beb_0_300"/>
          <p:cNvSpPr/>
          <p:nvPr/>
        </p:nvSpPr>
        <p:spPr>
          <a:xfrm>
            <a:off x="8026000" y="4617850"/>
            <a:ext cx="137400" cy="223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E39E2"/>
          </a:solidFill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d144744beb_0_300"/>
          <p:cNvSpPr txBox="1"/>
          <p:nvPr/>
        </p:nvSpPr>
        <p:spPr>
          <a:xfrm>
            <a:off x="6719200" y="3956200"/>
            <a:ext cx="54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100% кот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5" name="Google Shape;425;g3d144744beb_0_300"/>
          <p:cNvSpPr txBox="1"/>
          <p:nvPr/>
        </p:nvSpPr>
        <p:spPr>
          <a:xfrm>
            <a:off x="7308075" y="4841050"/>
            <a:ext cx="54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нет, это кот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26" name="Google Shape;426;g3d144744beb_0_3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6837" y="2782257"/>
            <a:ext cx="1015809" cy="1020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g3d144744beb_0_342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32" name="Google Shape;432;g3d144744beb_0_342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33" name="Google Shape;433;g3d144744beb_0_34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4" name="Google Shape;434;g3d144744beb_0_34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35" name="Google Shape;435;g3d144744beb_0_342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g3d144744beb_0_342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g3d144744beb_0_342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Обучение нейронных сетей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8" name="Google Shape;438;g3d144744beb_0_342"/>
          <p:cNvSpPr txBox="1"/>
          <p:nvPr/>
        </p:nvSpPr>
        <p:spPr>
          <a:xfrm>
            <a:off x="979700" y="2513925"/>
            <a:ext cx="4354200" cy="3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Обучение нейросети — это процесс настройки весов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Шаги обучение: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Прямой проход: Сеть получает объект обучающей выборки. Она пропускает его через все слои и выдает свой ответ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Подсчет ошибки: Мы сравниваем правильный ответ с тем, что выдала сеть, и вычисляем ошибку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Обратный проход: Ошибка передается обратно по сети. В зависимости от того, какой нейрон внес больший вклад в ошибочный ответ, веса этого нейрона корректируются сильнее.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9" name="Google Shape;439;g3d144744beb_0_342"/>
          <p:cNvSpPr/>
          <p:nvPr/>
        </p:nvSpPr>
        <p:spPr>
          <a:xfrm rot="10800000">
            <a:off x="8026000" y="4617850"/>
            <a:ext cx="137400" cy="223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E39E2"/>
          </a:solidFill>
          <a:ln cap="flat" cmpd="sng" w="952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144744beb_0_342"/>
          <p:cNvSpPr txBox="1"/>
          <p:nvPr/>
        </p:nvSpPr>
        <p:spPr>
          <a:xfrm>
            <a:off x="7308075" y="4841050"/>
            <a:ext cx="54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нет, это кот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41" name="Google Shape;441;g3d144744beb_0_3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6800" y="3597820"/>
            <a:ext cx="1015809" cy="1020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g3d144744beb_0_364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47" name="Google Shape;447;g3d144744beb_0_364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48" name="Google Shape;448;g3d144744beb_0_36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9" name="Google Shape;449;g3d144744beb_0_36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50" name="Google Shape;450;g3d144744beb_0_364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g3d144744beb_0_364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g3d144744beb_0_364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Обучение нейронных сетей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3" name="Google Shape;453;g3d144744beb_0_364"/>
          <p:cNvSpPr txBox="1"/>
          <p:nvPr/>
        </p:nvSpPr>
        <p:spPr>
          <a:xfrm>
            <a:off x="979700" y="2513925"/>
            <a:ext cx="4354200" cy="3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Обучение нейросети — это процесс настройки весов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Шаги обучение: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Прямой проход: Сеть получает объект обучающей выборки. Она пропускает его через все слои и выдает свой ответ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Подсчет ошибки: Мы сравниваем правильный ответ с тем, что выдала сеть, и вычисляем ошибку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BM Plex Sans"/>
              <a:buAutoNum type="arabicPeriod"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Обратный проход: Ошибка передается обратно по сети. В зависимости от того, какой нейрон внес больший вклад в ошибочный ответ, веса этого нейрона корректируются сильнее.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4" name="Google Shape;454;g3d144744beb_0_364"/>
          <p:cNvSpPr/>
          <p:nvPr/>
        </p:nvSpPr>
        <p:spPr>
          <a:xfrm>
            <a:off x="5405125" y="2809250"/>
            <a:ext cx="279300" cy="2674500"/>
          </a:xfrm>
          <a:prstGeom prst="rightBracket">
            <a:avLst>
              <a:gd fmla="val 90673" name="adj"/>
            </a:avLst>
          </a:prstGeom>
          <a:noFill/>
          <a:ln cap="flat" cmpd="sng" w="28575">
            <a:solidFill>
              <a:srgbClr val="8E3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d144744beb_0_364"/>
          <p:cNvSpPr txBox="1"/>
          <p:nvPr/>
        </p:nvSpPr>
        <p:spPr>
          <a:xfrm>
            <a:off x="5815475" y="4104225"/>
            <a:ext cx="43542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Эпоха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g3d144744beb_0_388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61" name="Google Shape;461;g3d144744beb_0_388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62" name="Google Shape;462;g3d144744beb_0_38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3" name="Google Shape;463;g3d144744beb_0_38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4" name="Google Shape;464;g3d144744beb_0_388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g3d144744beb_0_388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g3d144744beb_0_388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Области применения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67" name="Google Shape;467;g3d144744beb_0_388"/>
          <p:cNvPicPr preferRelativeResize="0"/>
          <p:nvPr/>
        </p:nvPicPr>
        <p:blipFill rotWithShape="1">
          <a:blip r:embed="rId4">
            <a:alphaModFix/>
          </a:blip>
          <a:srcRect b="19381" l="0" r="55371" t="0"/>
          <a:stretch/>
        </p:blipFill>
        <p:spPr>
          <a:xfrm>
            <a:off x="1196050" y="1785975"/>
            <a:ext cx="4703551" cy="247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d144744beb_0_388"/>
          <p:cNvPicPr preferRelativeResize="0"/>
          <p:nvPr/>
        </p:nvPicPr>
        <p:blipFill rotWithShape="1">
          <a:blip r:embed="rId4">
            <a:alphaModFix/>
          </a:blip>
          <a:srcRect b="19381" l="45280" r="0" t="0"/>
          <a:stretch/>
        </p:blipFill>
        <p:spPr>
          <a:xfrm>
            <a:off x="1196050" y="4243113"/>
            <a:ext cx="4951724" cy="21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g3d144744beb_0_403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74" name="Google Shape;474;g3d144744beb_0_403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75" name="Google Shape;475;g3d144744beb_0_403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6" name="Google Shape;476;g3d144744beb_0_403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77" name="Google Shape;477;g3d144744beb_0_403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g3d144744beb_0_403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9" name="Google Shape;479;g3d144744beb_0_403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Области применения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80" name="Google Shape;480;g3d144744beb_0_4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200" y="1761013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g3d144744beb_0_416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86" name="Google Shape;486;g3d144744beb_0_416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87" name="Google Shape;487;g3d144744beb_0_416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8" name="Google Shape;488;g3d144744beb_0_416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89" name="Google Shape;489;g3d144744beb_0_416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g3d144744beb_0_416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g3d144744beb_0_416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Области применения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92" name="Google Shape;492;g3d144744beb_0_4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824" y="2618349"/>
            <a:ext cx="6531202" cy="248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g3d144744beb_0_439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98" name="Google Shape;498;g3d144744beb_0_439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99" name="Google Shape;499;g3d144744beb_0_439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0" name="Google Shape;500;g3d144744beb_0_439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01" name="Google Shape;501;g3d144744beb_0_439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g3d144744beb_0_439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3" name="Google Shape;503;g3d144744beb_0_439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Области применения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04" name="Google Shape;504;g3d144744beb_0_4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125" y="1881075"/>
            <a:ext cx="86021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g3d144744beb_0_459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510" name="Google Shape;510;g3d144744beb_0_459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511" name="Google Shape;511;g3d144744beb_0_459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2" name="Google Shape;512;g3d144744beb_0_459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13" name="Google Shape;513;g3d144744beb_0_459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g3d144744beb_0_459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5" name="Google Shape;515;g3d144744beb_0_459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Области применения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16" name="Google Shape;516;g3d144744beb_0_4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300" y="2464254"/>
            <a:ext cx="8145875" cy="2138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02a215817_0_364"/>
          <p:cNvSpPr txBox="1"/>
          <p:nvPr/>
        </p:nvSpPr>
        <p:spPr>
          <a:xfrm>
            <a:off x="1055688" y="2561602"/>
            <a:ext cx="64638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Спасибо </a:t>
            </a:r>
            <a:b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 внимание</a:t>
            </a:r>
            <a:endParaRPr b="1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3" name="Google Shape;523;g3d02a215817_0_364"/>
          <p:cNvSpPr txBox="1"/>
          <p:nvPr/>
        </p:nvSpPr>
        <p:spPr>
          <a:xfrm>
            <a:off x="1055688" y="5861930"/>
            <a:ext cx="3771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ularionova@mail.tsu.ru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4" name="Google Shape;524;g3d02a215817_0_364"/>
          <p:cNvSpPr txBox="1"/>
          <p:nvPr/>
        </p:nvSpPr>
        <p:spPr>
          <a:xfrm>
            <a:off x="1055688" y="5110383"/>
            <a:ext cx="4032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Ларионова Ульяна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Преподаватель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25" name="Google Shape;525;g3d02a215817_0_364"/>
          <p:cNvPicPr preferRelativeResize="0"/>
          <p:nvPr/>
        </p:nvPicPr>
        <p:blipFill rotWithShape="1">
          <a:blip r:embed="rId3">
            <a:alphaModFix/>
          </a:blip>
          <a:srcRect b="0" l="1283" r="0" t="0"/>
          <a:stretch/>
        </p:blipFill>
        <p:spPr>
          <a:xfrm>
            <a:off x="9353973" y="0"/>
            <a:ext cx="283802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d02a215817_0_3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0216" y="424799"/>
            <a:ext cx="1565995" cy="5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d02a215817_0_3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688" y="373794"/>
            <a:ext cx="677246" cy="77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d02a215817_0_3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9551" y="2892706"/>
            <a:ext cx="4439788" cy="444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2022-09-15T07:23:32Z</dcterms:created>
  <dc:creator>UserIDO</dc:creator>
</cp:coreProperties>
</file>